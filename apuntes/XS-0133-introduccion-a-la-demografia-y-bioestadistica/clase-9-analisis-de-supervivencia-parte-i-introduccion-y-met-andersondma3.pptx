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312" r:id="rId5"/>
    <p:sldId id="290" r:id="rId6"/>
    <p:sldId id="314" r:id="rId7"/>
    <p:sldId id="323" r:id="rId8"/>
    <p:sldId id="324" r:id="rId9"/>
    <p:sldId id="292" r:id="rId10"/>
    <p:sldId id="317" r:id="rId11"/>
    <p:sldId id="325" r:id="rId12"/>
    <p:sldId id="326" r:id="rId13"/>
    <p:sldId id="32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13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43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F9E0F-2E37-D02F-547A-10F255FF2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671617-3171-C0BB-7B2D-FFAD6F3446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47B137-18FE-FB7D-8BF6-535881DF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8E15A3-A9FB-E51A-6027-7A459C712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AEB6A8-87B8-0FE2-8510-B477863A1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11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4B53C-26E4-4134-73B5-99607FF8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0AA165-019D-8D97-5339-692E5ECA0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A95A2F-9947-C6DB-7193-A2165E6B7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D0C00C-8058-4459-BB83-F55E2DC1B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8232C3-9540-7A94-419A-AEFD82DCD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59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CBEECA-3AA7-4D32-7042-A8B54A6B3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5696CA-D73C-A1A6-BA95-E0D7B4237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58304-32CA-3CA1-1FEA-B54A6997C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2470CC-025A-4FA6-3440-70494EFBF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8631FF-C52A-37B0-1CB5-4C47A825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33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65B9E0-5F65-F95C-75A5-FFDFA572D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C07C85-FC85-A278-CBB6-F7BA37D38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A9137E-6DA1-1130-C0F6-0EFAF2564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243844-8075-2FD4-1CCF-DE1ABECC0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5AC555-78FE-1B1B-7737-E79DCF371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3F9F5C-5DFD-32D8-7DB2-B044BEA4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59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255C0-1415-85BE-1165-9C0C54F07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0A1395-0A9F-B80E-E211-F1ACA8325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FD740BA-BF8A-108D-EACE-225C192F9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3784550-95A2-77DC-D665-4337294435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B531739-FB3E-B2CC-A0DB-6D8ED7CF8A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E871342-3E4B-6DB6-2FF7-A0D5D2DE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35E8FDE-7414-CF64-FF6E-FEC0CC281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508BCD7-8715-678B-A4B2-84F06478D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172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D7687-04E9-D6B1-A4FF-1A9CFCF2C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F5849E-DE97-5A76-F782-8354D71D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80C7457-F67A-3A13-2724-40313EE3E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9BA60A-5909-F0B8-0EAE-8FAEA7530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967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5915CA-E095-FAA6-F2FB-AD27D9CF4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83CBB2E-B003-4EBF-5D10-DD61FA6D2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3DFD563-37EF-1088-2DAD-86E1CDA5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18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996882-6B5B-134A-1A76-8B29181B5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057575-A3C6-3476-6CBD-2E57BA6BF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8DF928-6051-AFCD-7EF8-FFFC297FD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598E56-7530-3052-762D-51C64A133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B0D834-54DF-9448-9C2A-E3F16D772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5B2950-AC42-85DE-D11F-EED4223FF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13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3BEFF3-A2EC-EED8-FEA5-1DFF3828E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566923D-B92D-3492-502B-2AC57CC19C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B5D60C-0915-EA6A-7D7B-93EDA3F78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856C2D-73B1-4F36-1491-9038AEE4D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9C87A3-772E-817F-E0BD-CEB52B825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A8470E-36E1-7796-C269-F5FABC64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19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5BD62-80B5-73AC-247B-557D541B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356E60C-69ED-36D4-E379-D90AA993E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8533B8-B990-570F-2FF9-F5CB4C8AC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2D7539-EC26-3063-B6AA-BDDD30A42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213976-546D-B209-4AE5-55B62C103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375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032FBA-D46B-9AD9-6A4A-CCC671639B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0765D1-3113-7EE5-5D68-7C2610512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BF1DF9-8FBB-EF60-5CB8-B832135B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117F01-7DF1-4C58-D99D-DDCD27503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479F5B-A745-4D30-0645-6FD930FF9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506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C587F12-B27F-FB1F-C6A6-F70AD3126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0B90C4-B84F-C1FB-760E-72D4EA32F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73809E-B4B5-A1E4-417D-0E7C53210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1F3F1-497C-47B9-A18E-83DECA3909B3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296595-A99A-7B3C-D00D-B8BF2287F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634B69-AF7A-9040-FD3E-70FCCA37CA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844222-9D2F-4AD5-8895-FD80843607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8975F5-9759-D9DD-E21A-5B7FE4D546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R" dirty="0"/>
              <a:t>XS-3010 Introducción a la demografía y bioestadística</a:t>
            </a:r>
            <a:br>
              <a:rPr lang="en-US" dirty="0"/>
            </a:br>
            <a:r>
              <a:rPr lang="en-US" dirty="0"/>
              <a:t>2025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45B192-1ED3-E270-42E8-2C7C1D9FDD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Profesor</a:t>
            </a:r>
            <a:r>
              <a:rPr lang="en-US" dirty="0"/>
              <a:t> Gilbert </a:t>
            </a:r>
            <a:r>
              <a:rPr lang="en-US" dirty="0" err="1"/>
              <a:t>Brenes</a:t>
            </a:r>
            <a:r>
              <a:rPr lang="en-US" dirty="0"/>
              <a:t> Camacho, Grupo 01</a:t>
            </a:r>
          </a:p>
          <a:p>
            <a:endParaRPr lang="en-US" dirty="0"/>
          </a:p>
          <a:p>
            <a:endParaRPr lang="en-US" dirty="0"/>
          </a:p>
          <a:p>
            <a:r>
              <a:rPr lang="es-CR" dirty="0"/>
              <a:t>Tema 9. </a:t>
            </a:r>
            <a:r>
              <a:rPr lang="es-CR" dirty="0" err="1"/>
              <a:t>Intro</a:t>
            </a:r>
            <a:r>
              <a:rPr lang="es-CR" dirty="0"/>
              <a:t> al Análisis de Supervivencia.  Parte 1.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622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E3B47C-32F1-1ECC-95EB-A077866F1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Guía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7D0468-056F-7E17-F512-4EFD0D5D0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193"/>
            <a:ext cx="10515600" cy="5026682"/>
          </a:xfrm>
        </p:spPr>
        <p:txBody>
          <a:bodyPr>
            <a:normAutofit/>
          </a:bodyPr>
          <a:lstStyle/>
          <a:p>
            <a:r>
              <a:rPr lang="es-CR" dirty="0"/>
              <a:t>Conceptos de análisis de supervivencia</a:t>
            </a:r>
          </a:p>
          <a:p>
            <a:r>
              <a:rPr lang="es-CR" dirty="0"/>
              <a:t>Relación con la tabla de vida</a:t>
            </a:r>
          </a:p>
          <a:p>
            <a:r>
              <a:rPr lang="es-CR" dirty="0"/>
              <a:t>Estimaciones no paramétricas:</a:t>
            </a:r>
          </a:p>
          <a:p>
            <a:pPr lvl="1"/>
            <a:r>
              <a:rPr lang="es-CR" dirty="0"/>
              <a:t>Estimador de Kaplan-Meier.</a:t>
            </a:r>
          </a:p>
          <a:p>
            <a:pPr lvl="1"/>
            <a:r>
              <a:rPr lang="es-CR" dirty="0"/>
              <a:t>Pruebas no paramétricas</a:t>
            </a:r>
          </a:p>
          <a:p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88393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0F746-29AE-1097-D16D-27F7E1537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F888-D33A-2737-EA61-9ECBDE46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 err="1"/>
              <a:t>Intro</a:t>
            </a:r>
            <a:r>
              <a:rPr lang="es-CR" dirty="0"/>
              <a:t> a Análisis de Supervivencia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DB1BE9-ED97-ACCA-103D-B9103B96D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0127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El análisis de sobrevivencia comprende técnicas para:</a:t>
            </a:r>
          </a:p>
          <a:p>
            <a:pPr lvl="1"/>
            <a:r>
              <a:rPr lang="es-ES" dirty="0"/>
              <a:t>Analizar tiempos o duraciones a un evento</a:t>
            </a:r>
          </a:p>
          <a:p>
            <a:pPr lvl="1"/>
            <a:r>
              <a:rPr lang="es-ES" dirty="0"/>
              <a:t>En el que el evento no necesariamente siempre ocurre en la muestra que estamos observando</a:t>
            </a:r>
          </a:p>
          <a:p>
            <a:pPr lvl="1"/>
            <a:r>
              <a:rPr lang="es-ES" dirty="0"/>
              <a:t>Y en las que las distribuciones de las variables de tiempo no necesariamente son normales (modelo lineal gaussiano).</a:t>
            </a:r>
          </a:p>
          <a:p>
            <a:pPr lvl="1"/>
            <a:r>
              <a:rPr lang="es-ES" dirty="0"/>
              <a:t>E inclusive en que las variables que determinan la ocurrencia del evento o el efecto de estas variables cambian a través del tiempo.</a:t>
            </a:r>
          </a:p>
          <a:p>
            <a:endParaRPr lang="es-ES" dirty="0"/>
          </a:p>
          <a:p>
            <a:r>
              <a:rPr lang="es-ES" dirty="0"/>
              <a:t>En otras palabras, la variable dependiente en un análisis de sobrevivencia es simultáneamente:</a:t>
            </a:r>
          </a:p>
          <a:p>
            <a:pPr lvl="1"/>
            <a:r>
              <a:rPr lang="es-ES" dirty="0"/>
              <a:t>la ocurrencia del evento</a:t>
            </a:r>
          </a:p>
          <a:p>
            <a:pPr lvl="1"/>
            <a:r>
              <a:rPr lang="es-ES" dirty="0"/>
              <a:t>el tiempo que se dura para que el evento ocurra.</a:t>
            </a:r>
          </a:p>
          <a:p>
            <a:pPr lvl="1"/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957573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C8C86-0399-63B8-47B0-9F673A15C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AC5F9F-F941-BFA8-477B-5E0B23BDD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1523"/>
          </a:xfrm>
        </p:spPr>
        <p:txBody>
          <a:bodyPr/>
          <a:lstStyle/>
          <a:p>
            <a:r>
              <a:rPr lang="es-CR" dirty="0"/>
              <a:t>Conceptos básicos</a:t>
            </a:r>
            <a:endParaRPr lang="en-US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C6553FC0-DB3A-29F6-912D-71046ECBE6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4773284"/>
              </p:ext>
            </p:extLst>
          </p:nvPr>
        </p:nvGraphicFramePr>
        <p:xfrm>
          <a:off x="617483" y="1475334"/>
          <a:ext cx="10515600" cy="580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2007">
                  <a:extLst>
                    <a:ext uri="{9D8B030D-6E8A-4147-A177-3AD203B41FA5}">
                      <a16:colId xmlns:a16="http://schemas.microsoft.com/office/drawing/2014/main" val="3435089583"/>
                    </a:ext>
                  </a:extLst>
                </a:gridCol>
                <a:gridCol w="7333593">
                  <a:extLst>
                    <a:ext uri="{9D8B030D-6E8A-4147-A177-3AD203B41FA5}">
                      <a16:colId xmlns:a16="http://schemas.microsoft.com/office/drawing/2014/main" val="9824610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505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dirty="0"/>
                        <a:t>Estado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dirty="0"/>
                        <a:t>Resultado de interés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738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dirty="0"/>
                        <a:t>Transición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Paso de un estado a otro.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555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dirty="0"/>
                        <a:t>Tiempo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Puede ser edad, duración, tiempo de calendario, etc.</a:t>
                      </a:r>
                      <a:endParaRPr lang="en-US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167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dirty="0"/>
                        <a:t>Censura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imposibilidad de observar todos los eventos en el tiempo que dura el estudio.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187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dirty="0"/>
                        <a:t>Truncamiento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dirty="0"/>
                        <a:t>Tiempo no observado completamente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132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dirty="0"/>
                        <a:t>Censura a la izquierda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dirty="0"/>
                        <a:t>Casos no observados durante la ventana del estudio, por lo que causan sesgo de selección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281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dirty="0"/>
                        <a:t>Truncamiento a la izquierda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dirty="0"/>
                        <a:t>Se observa a la unidad estadística a partir de un tiempo más avanzado.  Por ej., una persona recibe un tratamiento pero no la observamos desde que se le dio el tratamiento inicialmente, sino en una etapa posterior.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016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dirty="0"/>
                        <a:t>Censura a la derecha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dirty="0"/>
                        <a:t>Se observa a la unidad desde el inicio, pero no se observa en qué momento le ocurrió el evento dentro de la ventana de estudio.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887479"/>
                  </a:ext>
                </a:extLst>
              </a:tr>
              <a:tr h="1112520">
                <a:tc>
                  <a:txBody>
                    <a:bodyPr/>
                    <a:lstStyle/>
                    <a:p>
                      <a:r>
                        <a:rPr lang="es-CR" dirty="0"/>
                        <a:t>Truncamiento a la derecha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dirty="0"/>
                        <a:t>El evento ocurre posterior  que se termina la ventana de observación.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663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9921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AB2CC-BCB0-CC8A-AAC7-8A3C46334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21C13C-2C33-E173-8615-9AA2CBB05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1523"/>
          </a:xfrm>
        </p:spPr>
        <p:txBody>
          <a:bodyPr/>
          <a:lstStyle/>
          <a:p>
            <a:r>
              <a:rPr lang="es-CR" dirty="0"/>
              <a:t>Conceptos estadísticos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9B95510-CF0A-9E40-739C-9473058E9B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66648"/>
                <a:ext cx="10515600" cy="5439104"/>
              </a:xfrm>
            </p:spPr>
            <p:txBody>
              <a:bodyPr>
                <a:normAutofit fontScale="92500"/>
              </a:bodyPr>
              <a:lstStyle/>
              <a:p>
                <a:pPr marL="0" marR="0">
                  <a:buNone/>
                </a:pPr>
                <a:r>
                  <a:rPr lang="es-CR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Sea T la variable aleatoria de tiempo de ocurrencia al evento, y t el valor que adopta dicha variable.  Los valores de t siempre son positivos:		t </a:t>
                </a:r>
                <a:r>
                  <a:rPr lang="es-CR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[0,+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sym typeface="Symbol" panose="05050102010706020507" pitchFamily="18" charset="2"/>
                  </a:rPr>
                  <a:t>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[</a:t>
                </a:r>
              </a:p>
              <a:p>
                <a:pPr marL="0" marR="0">
                  <a:buNone/>
                </a:pP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r>
                  <a:rPr lang="es-CR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o en términos demográficos:				t </a:t>
                </a:r>
                <a:r>
                  <a:rPr lang="es-CR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es-CR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[0,</a:t>
                </a:r>
                <a:r>
                  <a:rPr lang="es-CR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sym typeface="Symbol" panose="05050102010706020507" pitchFamily="18" charset="2"/>
                  </a:rPr>
                  <a:t></a:t>
                </a:r>
                <a:r>
                  <a:rPr lang="es-CR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[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 indent="0">
                  <a:buNone/>
                </a:pPr>
                <a:endParaRPr lang="es-CR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>
                  <a:buNone/>
                </a:pPr>
                <a:r>
                  <a:rPr lang="es-CR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Densidad:  Esta es la función de densidad de probabilidad de la variable tiempo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 f(t)=</a:t>
                </a:r>
                <a:r>
                  <a:rPr lang="es-CR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P(T=t)</a:t>
                </a:r>
              </a:p>
              <a:p>
                <a:pPr marL="0">
                  <a:buNone/>
                </a:pPr>
                <a:r>
                  <a:rPr lang="es-CR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Función de Probabilidad Acumulada:		F(t) = P( T &lt; t )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>
                  <a:buNone/>
                </a:pPr>
                <a:r>
                  <a:rPr lang="es-CR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Función de sobrevivencia o supervivencia:	S(t)= 1-F(t) =	P( T </a:t>
                </a:r>
                <a:r>
                  <a:rPr lang="es-CR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sym typeface="Symbol" panose="05050102010706020507" pitchFamily="18" charset="2"/>
                  </a:rPr>
                  <a:t></a:t>
                </a:r>
                <a:r>
                  <a:rPr lang="es-CR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t )</a:t>
                </a: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>
                  <a:buNone/>
                </a:pPr>
                <a:r>
                  <a:rPr lang="es-CR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Riesgo o </a:t>
                </a:r>
                <a:r>
                  <a:rPr lang="es-CR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hazard</a:t>
                </a:r>
                <a:r>
                  <a:rPr lang="es-CR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o </a:t>
                </a:r>
                <a:r>
                  <a:rPr lang="es-CR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hazard</a:t>
                </a:r>
                <a:r>
                  <a:rPr lang="es-CR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s-CR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rate</a:t>
                </a:r>
                <a:r>
                  <a:rPr lang="es-CR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:			h(t)</a:t>
                </a:r>
              </a:p>
              <a:p>
                <a:pPr marL="0">
                  <a:buNone/>
                </a:pP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R" sz="24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C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s-CR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CR" sz="24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s-C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a:rPr lang="es-C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s-C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s-C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R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𝑇</m:t>
                                  </m:r>
                                  <m:r>
                                    <a:rPr lang="es-CR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&lt;</m:t>
                                  </m:r>
                                  <m:r>
                                    <a:rPr lang="es-CR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s-CR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+∆</m:t>
                                  </m:r>
                                  <m:r>
                                    <a:rPr lang="es-CR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  <m:e>
                                  <m:r>
                                    <a:rPr lang="es-CR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𝑇</m:t>
                                  </m:r>
                                  <m:r>
                                    <a:rPr lang="es-CR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≥</m:t>
                                  </m:r>
                                  <m:r>
                                    <a:rPr lang="es-CR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r>
                                <a:rPr lang="es-C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a:rPr lang="es-C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func>
                      <m:r>
                        <a:rPr lang="es-CR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CR" sz="24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s-C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a:rPr lang="es-C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s-C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s-C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𝑃</m:t>
                              </m:r>
                              <m:r>
                                <a:rPr lang="es-C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s-C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s-C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≤</m:t>
                              </m:r>
                              <m:r>
                                <a:rPr lang="es-C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𝑇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&lt;</m:t>
                              </m:r>
                              <m:r>
                                <a:rPr lang="es-C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s-C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+∆</m:t>
                              </m:r>
                              <m:r>
                                <a:rPr lang="es-C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s-C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s-C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a:rPr lang="es-CR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func>
                      <m:r>
                        <a:rPr lang="es-CR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C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𝑓</m:t>
                          </m:r>
                          <m:r>
                            <a:rPr lang="es-C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</m:t>
                          </m:r>
                          <m:r>
                            <a:rPr lang="es-C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𝑡</m:t>
                          </m:r>
                          <m:r>
                            <a:rPr lang="es-C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C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1−</m:t>
                          </m:r>
                          <m:r>
                            <a:rPr lang="es-C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𝐹</m:t>
                          </m:r>
                          <m:r>
                            <a:rPr lang="es-C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</m:t>
                          </m:r>
                          <m:r>
                            <a:rPr lang="es-C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𝑡</m:t>
                          </m:r>
                          <m:r>
                            <a:rPr lang="es-C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  <m:r>
                        <a:rPr lang="es-CR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C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𝑓</m:t>
                          </m:r>
                          <m:r>
                            <a:rPr lang="es-C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</m:t>
                          </m:r>
                          <m:r>
                            <a:rPr lang="es-C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𝑡</m:t>
                          </m:r>
                          <m:r>
                            <a:rPr lang="es-C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C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𝑆</m:t>
                          </m:r>
                          <m:r>
                            <a:rPr lang="es-C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</m:t>
                          </m:r>
                          <m:r>
                            <a:rPr lang="es-C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𝑡</m:t>
                          </m:r>
                          <m:r>
                            <a:rPr lang="es-CR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>
                  <a:buNone/>
                </a:pPr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>
                  <a:buNone/>
                </a:pPr>
                <a:r>
                  <a:rPr lang="es-CR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Hazard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integrado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(integrated hazard):		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𝐻</m:t>
                    </m:r>
                    <m:d>
                      <m:d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𝑡</m:t>
                        </m:r>
                      </m:sup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h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(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𝑢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)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𝑑𝑢</m:t>
                        </m:r>
                      </m:e>
                    </m:nary>
                  </m:oMath>
                </a14:m>
                <a:endParaRPr lang="en-US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 indent="0">
                  <a:buNone/>
                </a:pPr>
                <a:endParaRPr lang="en-US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9B95510-CF0A-9E40-739C-9473058E9B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66648"/>
                <a:ext cx="10515600" cy="5439104"/>
              </a:xfrm>
              <a:blipFill>
                <a:blip r:embed="rId2"/>
                <a:stretch>
                  <a:fillRect l="-754" t="-1232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4281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ED2C6-835D-B1DA-4927-D22D2B793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806B55-29BF-6D3B-B79F-2DB78F42B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607" y="365125"/>
            <a:ext cx="10991193" cy="1325563"/>
          </a:xfrm>
        </p:spPr>
        <p:txBody>
          <a:bodyPr/>
          <a:lstStyle/>
          <a:p>
            <a:r>
              <a:rPr lang="es-CR" dirty="0"/>
              <a:t>Equivalencias en las funciones de tabla de vida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0033361-BAFB-46A7-C101-949DC87C88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81960"/>
                <a:ext cx="10515600" cy="5123792"/>
              </a:xfrm>
            </p:spPr>
            <p:txBody>
              <a:bodyPr>
                <a:normAutofit/>
              </a:bodyPr>
              <a:lstStyle/>
              <a:p>
                <a:pPr marL="0" marR="0"/>
                <a:r>
                  <a:rPr lang="es-ES" b="1" i="1" dirty="0">
                    <a:solidFill>
                      <a:srgbClr val="000000"/>
                    </a:solidFill>
                    <a:latin typeface="Cambria" panose="02040503050406030204" pitchFamily="18" charset="0"/>
                  </a:rPr>
                  <a:t>Si se usa una raíz de uno entonces:</a:t>
                </a:r>
                <a:endParaRPr lang="es-ES" b="1" i="1" dirty="0">
                  <a:solidFill>
                    <a:srgbClr val="000000"/>
                  </a:solidFill>
                  <a:effectLst/>
                  <a:latin typeface="Cambria" panose="02040503050406030204" pitchFamily="18" charset="0"/>
                </a:endParaRPr>
              </a:p>
              <a:p>
                <a:pPr marL="0" marR="0"/>
                <a:endParaRPr lang="es-ES" b="1" i="1" dirty="0">
                  <a:solidFill>
                    <a:srgbClr val="000000"/>
                  </a:solidFill>
                  <a:effectLst/>
                  <a:latin typeface="Cambria" panose="02040503050406030204" pitchFamily="18" charset="0"/>
                </a:endParaRPr>
              </a:p>
              <a:p>
                <a:pPr marL="457200" lvl="1"/>
                <a:r>
                  <a:rPr lang="es-ES" b="1" i="1" dirty="0"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Número de sobrevivientes:</a:t>
                </a:r>
              </a:p>
              <a:p>
                <a:pPr marL="914400" lvl="2"/>
                <a:r>
                  <a:rPr lang="es-ES" b="1" i="1" dirty="0"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 l</a:t>
                </a:r>
                <a:r>
                  <a:rPr lang="es-ES" b="1" i="1" baseline="-25000" dirty="0"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x</a:t>
                </a:r>
                <a:r>
                  <a:rPr lang="es-ES" b="1" i="1" dirty="0"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 =S(x)=1-F(x)</a:t>
                </a:r>
                <a:endParaRPr lang="en-US" b="1" i="1" dirty="0">
                  <a:solidFill>
                    <a:srgbClr val="000000"/>
                  </a:solidFill>
                  <a:effectLst/>
                  <a:latin typeface="Cambria" panose="02040503050406030204" pitchFamily="18" charset="0"/>
                </a:endParaRPr>
              </a:p>
              <a:p>
                <a:pPr marL="457200" lvl="1"/>
                <a:endParaRPr lang="es-ES" sz="2200" b="1" i="1" dirty="0">
                  <a:solidFill>
                    <a:srgbClr val="000000"/>
                  </a:solidFill>
                  <a:effectLst/>
                  <a:latin typeface="Cambria" panose="02040503050406030204" pitchFamily="18" charset="0"/>
                </a:endParaRPr>
              </a:p>
              <a:p>
                <a:pPr marL="457200" lvl="1"/>
                <a:r>
                  <a:rPr lang="es-ES" sz="2200" b="1" i="1" dirty="0"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Defunciones de la tabla de vida:</a:t>
                </a:r>
              </a:p>
              <a:p>
                <a:pPr marL="914400" lvl="2"/>
                <a:r>
                  <a:rPr lang="es-ES" sz="1800" b="1" i="1" dirty="0" err="1"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d</a:t>
                </a:r>
                <a:r>
                  <a:rPr lang="es-ES" sz="1800" b="1" i="1" baseline="-25000" dirty="0" err="1"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x</a:t>
                </a:r>
                <a:r>
                  <a:rPr lang="es-ES" sz="1800" b="1" i="1" dirty="0"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 =f(x)</a:t>
                </a:r>
                <a:endParaRPr lang="en-US" sz="1800" b="1" i="1" dirty="0">
                  <a:solidFill>
                    <a:srgbClr val="000000"/>
                  </a:solidFill>
                  <a:effectLst/>
                  <a:latin typeface="Cambria" panose="02040503050406030204" pitchFamily="18" charset="0"/>
                </a:endParaRPr>
              </a:p>
              <a:p>
                <a:pPr marL="457200" lvl="1"/>
                <a:endParaRPr lang="es-ES" sz="2200" b="1" i="1" dirty="0">
                  <a:solidFill>
                    <a:srgbClr val="000000"/>
                  </a:solidFill>
                  <a:effectLst/>
                  <a:latin typeface="Cambria" panose="02040503050406030204" pitchFamily="18" charset="0"/>
                </a:endParaRPr>
              </a:p>
              <a:p>
                <a:pPr marL="457200" lvl="1"/>
                <a:r>
                  <a:rPr lang="es-ES" sz="2200" b="1" i="1" dirty="0">
                    <a:solidFill>
                      <a:srgbClr val="000000"/>
                    </a:solidFill>
                    <a:effectLst/>
                    <a:latin typeface="Cambria" panose="02040503050406030204" pitchFamily="18" charset="0"/>
                  </a:rPr>
                  <a:t>Esperanza de vida a la edad x: </a:t>
                </a:r>
              </a:p>
              <a:p>
                <a:pPr marL="914400" lvl="2"/>
                <a14:m>
                  <m:oMath xmlns:m="http://schemas.openxmlformats.org/officeDocument/2006/math">
                    <m:sSub>
                      <m:sSubPr>
                        <m:ctrlPr>
                          <a:rPr lang="es-ES" sz="18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sz="18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s-CR" sz="18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s-CR" sz="1800" b="1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s-CR" sz="18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CR" sz="18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/>
                      <m:e>
                        <m:r>
                          <a:rPr lang="es-CR" sz="18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s-CR" sz="18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s-CR" sz="18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s-CR" sz="1800" b="1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R" sz="1800" b="1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s-CR" sz="1800" b="1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𝒅𝒙</m:t>
                        </m:r>
                      </m:e>
                    </m:nary>
                  </m:oMath>
                </a14:m>
                <a:endPara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0033361-BAFB-46A7-C101-949DC87C88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81960"/>
                <a:ext cx="10515600" cy="5123792"/>
              </a:xfrm>
              <a:blipFill>
                <a:blip r:embed="rId2"/>
                <a:stretch>
                  <a:fillRect l="-1043" t="-2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9299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E50DF-B04C-C9CD-229A-E57E6BF20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B024C8-1DC2-7124-9463-0F88A95A3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365125"/>
            <a:ext cx="11797861" cy="1325563"/>
          </a:xfrm>
        </p:spPr>
        <p:txBody>
          <a:bodyPr>
            <a:normAutofit/>
          </a:bodyPr>
          <a:lstStyle/>
          <a:p>
            <a:r>
              <a:rPr lang="es-CR" sz="4000" dirty="0"/>
              <a:t>Estimador de la curva de supervivencia de Kaplan-Meier</a:t>
            </a:r>
            <a:endParaRPr lang="en-U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52047D-17DD-63FE-EECC-1C6C8FA5B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15063"/>
          </a:xfrm>
        </p:spPr>
        <p:txBody>
          <a:bodyPr>
            <a:normAutofit/>
          </a:bodyPr>
          <a:lstStyle/>
          <a:p>
            <a:r>
              <a:rPr lang="es-ES" dirty="0"/>
              <a:t>La estimación Kaplan Meier de la curva de Sobrevivencia se puede plantear de la siguiente forma:</a:t>
            </a:r>
          </a:p>
          <a:p>
            <a:endParaRPr lang="es-ES" dirty="0"/>
          </a:p>
          <a:p>
            <a:r>
              <a:rPr lang="es-ES" dirty="0"/>
              <a:t> 	</a:t>
            </a:r>
          </a:p>
          <a:p>
            <a:endParaRPr lang="es-ES" dirty="0"/>
          </a:p>
          <a:p>
            <a:r>
              <a:rPr lang="es-ES" dirty="0"/>
              <a:t>donde p</a:t>
            </a:r>
            <a:r>
              <a:rPr lang="es-ES" baseline="-25000" dirty="0"/>
              <a:t>i</a:t>
            </a:r>
            <a:r>
              <a:rPr lang="es-ES" dirty="0"/>
              <a:t> es la probabilidad de sobrevivir desde el tiempo i-1 hasta el tiempo i, y </a:t>
            </a:r>
            <a:r>
              <a:rPr lang="es-ES" dirty="0" err="1"/>
              <a:t>q</a:t>
            </a:r>
            <a:r>
              <a:rPr lang="es-ES" baseline="-25000" dirty="0" err="1"/>
              <a:t>i</a:t>
            </a:r>
            <a:r>
              <a:rPr lang="es-ES" dirty="0"/>
              <a:t> es la probabilidad de morir (de que ocurra el evento) en el tiempo i.</a:t>
            </a:r>
          </a:p>
          <a:p>
            <a:endParaRPr lang="es-ES" dirty="0"/>
          </a:p>
          <a:p>
            <a:endParaRPr lang="es-CR" dirty="0"/>
          </a:p>
          <a:p>
            <a:pPr lvl="1"/>
            <a:endParaRPr lang="es-CR" dirty="0"/>
          </a:p>
          <a:p>
            <a:pPr lvl="1"/>
            <a:endParaRPr lang="es-C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9F50A3F-1DEE-3DB4-BCB1-9414153FC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501" y="2797175"/>
            <a:ext cx="4293638" cy="1018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9444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5AD6B-08C5-D378-20C5-129957F82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F3CD11-58A1-3ABE-E2A6-5D0254C9D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365125"/>
            <a:ext cx="11797861" cy="1325563"/>
          </a:xfrm>
        </p:spPr>
        <p:txBody>
          <a:bodyPr>
            <a:normAutofit/>
          </a:bodyPr>
          <a:lstStyle/>
          <a:p>
            <a:r>
              <a:rPr lang="es-CR" sz="4000" dirty="0"/>
              <a:t>Estimador de la curva de supervivencia de Kaplan-Meier</a:t>
            </a:r>
            <a:endParaRPr lang="en-U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AD3A47-180E-1A7A-52DC-3A9D615F8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15063"/>
          </a:xfrm>
        </p:spPr>
        <p:txBody>
          <a:bodyPr>
            <a:normAutofit/>
          </a:bodyPr>
          <a:lstStyle/>
          <a:p>
            <a:r>
              <a:rPr lang="es-CR" dirty="0"/>
              <a:t>Si se observa como una tabla con datos agregados (o se, como una tabla de vida), el estimador de KM se puede expresar de la siguiente forma:</a:t>
            </a:r>
          </a:p>
          <a:p>
            <a:endParaRPr lang="es-CR" dirty="0"/>
          </a:p>
          <a:p>
            <a:endParaRPr lang="es-CR" dirty="0"/>
          </a:p>
          <a:p>
            <a:endParaRPr lang="es-CR" dirty="0"/>
          </a:p>
          <a:p>
            <a:r>
              <a:rPr lang="es-CR" dirty="0"/>
              <a:t>Que con las funciones de la tabla de vida, se podría expresar como:</a:t>
            </a:r>
          </a:p>
          <a:p>
            <a:endParaRPr lang="es-CR" dirty="0"/>
          </a:p>
          <a:p>
            <a:pPr lvl="1"/>
            <a:endParaRPr lang="es-CR" dirty="0"/>
          </a:p>
          <a:p>
            <a:pPr lvl="1"/>
            <a:endParaRPr lang="es-CR" dirty="0"/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412376CE-1E09-581E-293A-0A7497609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7556" y="3219450"/>
            <a:ext cx="9177499" cy="936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9424B2F0-91DB-6A38-4934-CDF73EE0139F}"/>
                  </a:ext>
                </a:extLst>
              </p:cNvPr>
              <p:cNvSpPr txBox="1"/>
              <p:nvPr/>
            </p:nvSpPr>
            <p:spPr>
              <a:xfrm>
                <a:off x="1712422" y="5685125"/>
                <a:ext cx="7148945" cy="7276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CR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R" sz="2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s-CR" sz="2400" b="0" i="1" smtClean="0">
                            <a:latin typeface="Cambria Math" panose="02040503050406030204" pitchFamily="18" charset="0"/>
                          </a:rPr>
                          <m:t>𝐾𝑀</m:t>
                        </m:r>
                      </m:sub>
                    </m:sSub>
                    <m:d>
                      <m:dPr>
                        <m:ctrlPr>
                          <a:rPr lang="es-C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C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s-CR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CR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s-CR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e>
                    </m:d>
                    <m:r>
                      <a:rPr lang="es-CR" sz="2400" b="0" i="1" smtClean="0">
                        <a:latin typeface="Cambria Math" panose="02040503050406030204" pitchFamily="18" charset="0"/>
                      </a:rPr>
                      <m:t>=1∗</m:t>
                    </m:r>
                    <m:f>
                      <m:fPr>
                        <m:ctrlPr>
                          <a:rPr lang="es-C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C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R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s-CR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CR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C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R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s-CR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C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R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s-CR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s-CR" sz="2400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s-CR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C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C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R" sz="2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s-CR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CR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C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R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s-CR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CR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C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R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s-C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C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R" sz="2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s-CR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CR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C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R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s-CR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s-CR" sz="2400" b="0" i="1" smtClean="0">
                        <a:latin typeface="Cambria Math" panose="02040503050406030204" pitchFamily="18" charset="0"/>
                      </a:rPr>
                      <m:t>∗…∗</m:t>
                    </m:r>
                    <m:f>
                      <m:fPr>
                        <m:ctrlPr>
                          <a:rPr lang="es-C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C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R" sz="2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s-CR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CR" sz="2400" i="1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∑"/>
                            <m:ctrlPr>
                              <a:rPr lang="es-CR" sz="24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CR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s-CR" sz="24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s-CR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  <m:e>
                            <m:sSub>
                              <m:sSubPr>
                                <m:ctrlPr>
                                  <a:rPr lang="es-CR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R" sz="24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s-CR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num>
                      <m:den>
                        <m:sSub>
                          <m:sSubPr>
                            <m:ctrlPr>
                              <a:rPr lang="es-C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R" sz="24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s-CR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CR" sz="2400" i="1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∑"/>
                            <m:ctrlPr>
                              <a:rPr lang="es-CR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CR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s-CR" sz="24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s-CR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s-CR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es-C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CR" sz="24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s-CR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9424B2F0-91DB-6A38-4934-CDF73EE01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422" y="5685125"/>
                <a:ext cx="7148945" cy="7276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0893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E9F0E-046B-EAF0-91E0-45B3D2DE0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B1BE20-1032-43FD-6288-D197BE056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09" y="365126"/>
            <a:ext cx="11621193" cy="748780"/>
          </a:xfrm>
        </p:spPr>
        <p:txBody>
          <a:bodyPr>
            <a:normAutofit/>
          </a:bodyPr>
          <a:lstStyle/>
          <a:p>
            <a:r>
              <a:rPr lang="es-CR" sz="3800" dirty="0"/>
              <a:t>Estimadores de Kaplan-Meier</a:t>
            </a:r>
            <a:endParaRPr lang="en-US" sz="3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460FEA-5686-9AC5-DE94-40A48D184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036"/>
            <a:ext cx="10515600" cy="5275715"/>
          </a:xfrm>
        </p:spPr>
        <p:txBody>
          <a:bodyPr>
            <a:normAutofit/>
          </a:bodyPr>
          <a:lstStyle/>
          <a:p>
            <a:r>
              <a:rPr lang="es-CR" sz="3600" dirty="0"/>
              <a:t>El caso de las censuras:</a:t>
            </a:r>
          </a:p>
          <a:p>
            <a:pPr lvl="1"/>
            <a:endParaRPr lang="es-CR" sz="2800" dirty="0"/>
          </a:p>
          <a:p>
            <a:pPr lvl="1"/>
            <a:r>
              <a:rPr lang="es-CR" sz="2800" dirty="0"/>
              <a:t>Cuando hay censuras, entonces se le resta la cantidad de censuras a la cantidad de individuos expuestos al riesgo.</a:t>
            </a:r>
          </a:p>
          <a:p>
            <a:pPr lvl="1"/>
            <a:endParaRPr lang="es-CR" sz="2800" dirty="0"/>
          </a:p>
          <a:p>
            <a:pPr lvl="1"/>
            <a:r>
              <a:rPr lang="es-CR" sz="2800" dirty="0"/>
              <a:t>Se restan porque a los individuos censuras ya no les puede ocurrir el evento.</a:t>
            </a:r>
          </a:p>
        </p:txBody>
      </p:sp>
    </p:spTree>
    <p:extLst>
      <p:ext uri="{BB962C8B-B14F-4D97-AF65-F5344CB8AC3E}">
        <p14:creationId xmlns:p14="http://schemas.microsoft.com/office/powerpoint/2010/main" val="4155956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D5121-2D2E-E9E3-7A24-C165B817E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8E296F-3243-92F2-2410-D36849B07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323" y="365126"/>
            <a:ext cx="11083159" cy="765406"/>
          </a:xfrm>
        </p:spPr>
        <p:txBody>
          <a:bodyPr/>
          <a:lstStyle/>
          <a:p>
            <a:r>
              <a:rPr lang="es-CR" dirty="0"/>
              <a:t>Pruebas no paramétricas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DAF8BA5-DE89-4CA6-83F0-8359DA2BFE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6662"/>
                <a:ext cx="10515600" cy="5259089"/>
              </a:xfrm>
            </p:spPr>
            <p:txBody>
              <a:bodyPr>
                <a:normAutofit/>
              </a:bodyPr>
              <a:lstStyle/>
              <a:p>
                <a:r>
                  <a:rPr lang="es-CR" dirty="0"/>
                  <a:t>Se usan para comparar dos o más curvas de supervivencia.</a:t>
                </a:r>
              </a:p>
              <a:p>
                <a:endParaRPr lang="es-CR" dirty="0"/>
              </a:p>
              <a:p>
                <a:r>
                  <a:rPr lang="es-CR" dirty="0"/>
                  <a:t>Sea g la cantidad de grupos, entonces la hipótesis nula de las pruebas no paramétricas es:</a:t>
                </a:r>
              </a:p>
              <a:p>
                <a:pPr lvl="1"/>
                <a:r>
                  <a:rPr lang="es-CR" dirty="0"/>
                  <a:t>H0: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C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CR" b="0" i="1" smtClean="0">
                        <a:latin typeface="Cambria Math" panose="02040503050406030204" pitchFamily="18" charset="0"/>
                      </a:rPr>
                      <m:t>=…=</m:t>
                    </m:r>
                    <m:sSub>
                      <m:sSub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d>
                      <m:d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s-CR" dirty="0"/>
              </a:p>
              <a:p>
                <a:pPr lvl="1"/>
                <a:r>
                  <a:rPr lang="es-CR" dirty="0"/>
                  <a:t>H1: Al menos una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s-C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nor/>
                      </m:rPr>
                      <a:rPr lang="es-CR" dirty="0">
                        <a:sym typeface="Symbol" panose="05050102010706020507" pitchFamily="18" charset="2"/>
                      </a:rPr>
                      <m:t></m:t>
                    </m:r>
                    <m:sSub>
                      <m:sSub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d>
                      <m:d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s-CR" dirty="0"/>
                  <a:t> para todo   j  </a:t>
                </a:r>
                <a:r>
                  <a:rPr lang="es-CR" dirty="0">
                    <a:sym typeface="Symbol" panose="05050102010706020507" pitchFamily="18" charset="2"/>
                  </a:rPr>
                  <a:t></a:t>
                </a:r>
                <a:r>
                  <a:rPr lang="es-CR" dirty="0"/>
                  <a:t> l</a:t>
                </a:r>
              </a:p>
              <a:p>
                <a:endParaRPr lang="es-CR" dirty="0"/>
              </a:p>
              <a:p>
                <a:pPr lvl="1"/>
                <a:endParaRPr lang="es-CR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8DAF8BA5-DE89-4CA6-83F0-8359DA2BFE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6662"/>
                <a:ext cx="10515600" cy="5259089"/>
              </a:xfrm>
              <a:blipFill>
                <a:blip r:embed="rId2"/>
                <a:stretch>
                  <a:fillRect l="-1043" t="-2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6277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0D4D7-73F4-ECB1-0D42-13BBF62ED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9513C-724F-A333-4BAE-CB8327645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323" y="365126"/>
            <a:ext cx="11083159" cy="765406"/>
          </a:xfrm>
        </p:spPr>
        <p:txBody>
          <a:bodyPr/>
          <a:lstStyle/>
          <a:p>
            <a:r>
              <a:rPr lang="es-CR" dirty="0"/>
              <a:t>Pruebas no paramétricas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21C8474-C84C-A991-FCB2-FD5EAAC334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6662"/>
                <a:ext cx="10515600" cy="5511338"/>
              </a:xfrm>
            </p:spPr>
            <p:txBody>
              <a:bodyPr>
                <a:normAutofit/>
              </a:bodyPr>
              <a:lstStyle/>
              <a:p>
                <a:pPr marR="0" algn="l" rtl="0"/>
                <a:r>
                  <a:rPr lang="es-ES" sz="2800" b="0" i="0" u="none" strike="noStrike" baseline="0" dirty="0">
                    <a:latin typeface="Times New Roman" panose="02020603050405020304" pitchFamily="18" charset="0"/>
                  </a:rPr>
                  <a:t>Supóngase que se tiene : t</a:t>
                </a:r>
                <a:r>
                  <a:rPr lang="es-ES" sz="2800" b="0" i="0" u="none" strike="noStrike" baseline="-25000" dirty="0">
                    <a:latin typeface="Times New Roman" panose="02020603050405020304" pitchFamily="18" charset="0"/>
                  </a:rPr>
                  <a:t>1</a:t>
                </a:r>
                <a:r>
                  <a:rPr lang="es-ES" sz="2800" b="0" i="0" u="none" strike="noStrike" baseline="0" dirty="0">
                    <a:latin typeface="Times New Roman" panose="02020603050405020304" pitchFamily="18" charset="0"/>
                  </a:rPr>
                  <a:t>&lt;t</a:t>
                </a:r>
                <a:r>
                  <a:rPr lang="es-ES" sz="2800" b="0" i="0" u="none" strike="noStrike" baseline="-25000" dirty="0">
                    <a:latin typeface="Times New Roman" panose="02020603050405020304" pitchFamily="18" charset="0"/>
                  </a:rPr>
                  <a:t>2</a:t>
                </a:r>
                <a:r>
                  <a:rPr lang="es-ES" sz="2800" b="0" i="0" u="none" strike="noStrike" baseline="0" dirty="0">
                    <a:latin typeface="Times New Roman" panose="02020603050405020304" pitchFamily="18" charset="0"/>
                  </a:rPr>
                  <a:t>&lt;...&lt;</a:t>
                </a:r>
                <a:r>
                  <a:rPr lang="es-ES" sz="2800" b="0" i="0" u="none" strike="noStrike" baseline="0" dirty="0" err="1">
                    <a:latin typeface="Times New Roman" panose="02020603050405020304" pitchFamily="18" charset="0"/>
                  </a:rPr>
                  <a:t>t</a:t>
                </a:r>
                <a:r>
                  <a:rPr lang="es-ES" sz="2800" b="0" i="0" u="none" strike="noStrike" baseline="-25000" dirty="0" err="1">
                    <a:latin typeface="Times New Roman" panose="02020603050405020304" pitchFamily="18" charset="0"/>
                  </a:rPr>
                  <a:t>D</a:t>
                </a:r>
                <a:r>
                  <a:rPr lang="es-ES" sz="2800" b="0" i="0" u="none" strike="noStrike" baseline="0" dirty="0">
                    <a:latin typeface="Times New Roman" panose="02020603050405020304" pitchFamily="18" charset="0"/>
                  </a:rPr>
                  <a:t> tiempos al fallo en la muestra total.  El subíndice i se refiere al individuo al que le ocurre el evento en el tiempo t</a:t>
                </a:r>
                <a:r>
                  <a:rPr lang="es-ES" sz="2800" b="0" i="0" u="none" strike="noStrike" baseline="-25000" dirty="0">
                    <a:latin typeface="Times New Roman" panose="02020603050405020304" pitchFamily="18" charset="0"/>
                  </a:rPr>
                  <a:t>i</a:t>
                </a:r>
                <a:r>
                  <a:rPr lang="es-ES" sz="2800" b="0" i="0" u="none" strike="noStrike" baseline="0" dirty="0">
                    <a:latin typeface="Times New Roman" panose="02020603050405020304" pitchFamily="18" charset="0"/>
                  </a:rPr>
                  <a:t>.</a:t>
                </a:r>
              </a:p>
              <a:p>
                <a:pPr marR="0" algn="l" rtl="0"/>
                <a:r>
                  <a:rPr lang="es-ES" sz="2800" b="0" i="0" u="none" strike="noStrike" baseline="0" dirty="0">
                    <a:latin typeface="Times New Roman" panose="02020603050405020304" pitchFamily="18" charset="0"/>
                  </a:rPr>
                  <a:t>En el tiempo t</a:t>
                </a:r>
                <a:r>
                  <a:rPr lang="es-ES" sz="2800" b="0" i="0" u="none" strike="noStrike" baseline="-25000" dirty="0">
                    <a:latin typeface="Times New Roman" panose="02020603050405020304" pitchFamily="18" charset="0"/>
                  </a:rPr>
                  <a:t>i</a:t>
                </a:r>
                <a:r>
                  <a:rPr lang="es-ES" sz="2800" b="0" i="0" u="none" strike="noStrike" baseline="0" dirty="0">
                    <a:latin typeface="Times New Roman" panose="02020603050405020304" pitchFamily="18" charset="0"/>
                  </a:rPr>
                  <a:t>, observamos </a:t>
                </a:r>
                <a:r>
                  <a:rPr lang="es-ES" sz="2800" b="0" i="0" u="none" strike="noStrike" baseline="0" dirty="0" err="1">
                    <a:latin typeface="Times New Roman" panose="02020603050405020304" pitchFamily="18" charset="0"/>
                  </a:rPr>
                  <a:t>d</a:t>
                </a:r>
                <a:r>
                  <a:rPr lang="es-ES" sz="2800" b="0" i="0" u="none" strike="noStrike" baseline="-25000" dirty="0" err="1">
                    <a:latin typeface="Times New Roman" panose="02020603050405020304" pitchFamily="18" charset="0"/>
                  </a:rPr>
                  <a:t>ij</a:t>
                </a:r>
                <a:r>
                  <a:rPr lang="es-ES" sz="2800" b="0" i="0" u="none" strike="noStrike" baseline="0" dirty="0">
                    <a:latin typeface="Times New Roman" panose="02020603050405020304" pitchFamily="18" charset="0"/>
                  </a:rPr>
                  <a:t> eventos en la submuestra j de un total de </a:t>
                </a:r>
                <a:r>
                  <a:rPr lang="es-ES" sz="2800" b="0" i="0" u="none" strike="noStrike" baseline="0" dirty="0" err="1">
                    <a:latin typeface="Times New Roman" panose="02020603050405020304" pitchFamily="18" charset="0"/>
                  </a:rPr>
                  <a:t>Y</a:t>
                </a:r>
                <a:r>
                  <a:rPr lang="es-ES" sz="2800" b="0" i="0" u="none" strike="noStrike" baseline="-25000" dirty="0" err="1">
                    <a:latin typeface="Times New Roman" panose="02020603050405020304" pitchFamily="18" charset="0"/>
                  </a:rPr>
                  <a:t>ij</a:t>
                </a:r>
                <a:r>
                  <a:rPr lang="es-ES" sz="2800" b="0" i="0" u="none" strike="noStrike" baseline="0" dirty="0">
                    <a:latin typeface="Times New Roman" panose="02020603050405020304" pitchFamily="18" charset="0"/>
                  </a:rPr>
                  <a:t> individuos expuestos al riesgo.</a:t>
                </a:r>
              </a:p>
              <a:p>
                <a:pPr marR="0" algn="l" rtl="0"/>
                <a:r>
                  <a:rPr lang="es-ES" sz="2800" b="0" i="0" u="none" strike="noStrike" baseline="0" dirty="0">
                    <a:latin typeface="Times New Roman" panose="02020603050405020304" pitchFamily="18" charset="0"/>
                  </a:rPr>
                  <a:t>Defínase:</a:t>
                </a:r>
              </a:p>
              <a:p>
                <a:pPr marL="0" marR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800" b="0" i="1" u="none" strike="noStrike" baseline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R" sz="2800" b="0" i="1" u="none" strike="noStrike" baseline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CR" sz="2800" b="0" i="1" u="none" strike="noStrike" baseline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R" sz="2800" b="0" i="1" u="none" strike="noStrike" baseline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CR" sz="2800" b="0" i="1" u="none" strike="noStrike" baseline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R" sz="2800" b="0" i="1" u="none" strike="noStrike" baseline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R" sz="2800" b="0" i="1" u="none" strike="noStrike" baseline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CR" sz="2800" b="0" i="1" u="none" strike="noStrike" baseline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s-CR" sz="2800" b="0" i="1" u="none" strike="noStrike" baseline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R" sz="2800" b="0" i="1" u="none" strike="noStrike" baseline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CR" sz="2800" b="0" i="1" u="none" strike="noStrike" baseline="0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" sz="2800" b="0" i="0" u="none" strike="noStrike" baseline="0" dirty="0">
                  <a:latin typeface="Times New Roman" panose="02020603050405020304" pitchFamily="18" charset="0"/>
                </a:endParaRPr>
              </a:p>
              <a:p>
                <a:pPr marL="0" marR="0" indent="0" algn="l" rtl="0">
                  <a:buNone/>
                </a:pPr>
                <a:r>
                  <a:rPr lang="es-ES" sz="2800" b="0" i="0" u="none" strike="noStrike" baseline="0" dirty="0">
                    <a:latin typeface="Times New Roman" panose="02020603050405020304" pitchFamily="18" charset="0"/>
                  </a:rPr>
                  <a:t>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s-CR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R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C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R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s-CR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CR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s-C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R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s-CR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" sz="2800" b="0" i="0" u="none" strike="noStrike" baseline="0" dirty="0">
                  <a:latin typeface="Times New Roman" panose="02020603050405020304" pitchFamily="18" charset="0"/>
                </a:endParaRPr>
              </a:p>
              <a:p>
                <a:pPr lvl="1"/>
                <a:endParaRPr lang="es-CR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21C8474-C84C-A991-FCB2-FD5EAAC334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6662"/>
                <a:ext cx="10515600" cy="5511338"/>
              </a:xfrm>
              <a:blipFill>
                <a:blip r:embed="rId2"/>
                <a:stretch>
                  <a:fillRect l="-1217" t="-19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1653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07C73-3DC1-9EEB-0F35-49B489EE0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7869C0-FC17-38B3-AA9D-3EBA6EBBC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323" y="365126"/>
            <a:ext cx="11083159" cy="765406"/>
          </a:xfrm>
        </p:spPr>
        <p:txBody>
          <a:bodyPr/>
          <a:lstStyle/>
          <a:p>
            <a:r>
              <a:rPr lang="es-CR" dirty="0"/>
              <a:t>Pruebas no paramétricas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07E4971-BA86-3A82-6516-783FB2DF50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6662"/>
                <a:ext cx="10515600" cy="5511338"/>
              </a:xfrm>
            </p:spPr>
            <p:txBody>
              <a:bodyPr>
                <a:normAutofit/>
              </a:bodyPr>
              <a:lstStyle/>
              <a:p>
                <a:pPr marR="0" algn="l" rtl="0"/>
                <a:r>
                  <a:rPr lang="es-ES" sz="2800" b="0" i="0" u="none" strike="noStrike" baseline="0" dirty="0">
                    <a:latin typeface="+mj-lt"/>
                    <a:cs typeface="Times New Roman" panose="02020603050405020304" pitchFamily="18" charset="0"/>
                  </a:rPr>
                  <a:t>El estadístico de prue</a:t>
                </a:r>
                <a:r>
                  <a:rPr lang="es-ES" dirty="0">
                    <a:latin typeface="+mj-lt"/>
                    <a:cs typeface="Times New Roman" panose="02020603050405020304" pitchFamily="18" charset="0"/>
                  </a:rPr>
                  <a:t>ba para esta hipótesis nula sería:</a:t>
                </a:r>
              </a:p>
              <a:p>
                <a:pPr marR="0" algn="l" rtl="0"/>
                <a:endParaRPr lang="es-ES" sz="2800" b="0" i="0" u="none" strike="noStrike" baseline="0" dirty="0">
                  <a:latin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b>
                              <m:r>
                                <a:rPr lang="es-C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a:rPr lang="es-C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C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s-C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s-C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s-C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s-CR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s-CR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sup>
                                    <m:e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s-C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CR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  <m:d>
                                            <m:dPr>
                                              <m:ctrlPr>
                                                <a:rPr lang="es-C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s-CR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s-CR" i="1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s-CR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  <m:r>
                                            <a:rPr lang="es-CR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es-C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s-CR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s-CR" i="1">
                                                      <a:latin typeface="Cambria Math" panose="02040503050406030204" pitchFamily="18" charset="0"/>
                                                    </a:rPr>
                                                    <m:t>𝑑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s-CR" i="1">
                                                      <a:latin typeface="Cambria Math" panose="02040503050406030204" pitchFamily="18" charset="0"/>
                                                    </a:rPr>
                                                    <m:t>𝑖𝑗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s-CR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s-CR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s-CR" i="1">
                                                      <a:latin typeface="Cambria Math" panose="02040503050406030204" pitchFamily="18" charset="0"/>
                                                    </a:rPr>
                                                    <m:t>𝑌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s-CR" i="1">
                                                      <a:latin typeface="Cambria Math" panose="02040503050406030204" pitchFamily="18" charset="0"/>
                                                    </a:rPr>
                                                    <m:t>𝑖𝑗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s-CR" i="1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  <m:f>
                                                <m:fPr>
                                                  <m:ctrlPr>
                                                    <a:rPr lang="es-CR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sSub>
                                                    <m:sSubPr>
                                                      <m:ctrlPr>
                                                        <a:rPr lang="es-CR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s-CR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𝑑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s-CR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</m:num>
                                                <m:den>
                                                  <m:sSub>
                                                    <m:sSubPr>
                                                      <m:ctrlPr>
                                                        <a:rPr lang="es-CR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s-CR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𝑌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s-CR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sub>
                                                  </m:sSub>
                                                </m:den>
                                              </m:f>
                                            </m:e>
                                          </m:d>
                                        </m:e>
                                      </m:d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s-C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s-C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s-C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C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CR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s-C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s-C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CR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d>
                                        <m:dPr>
                                          <m:ctrlPr>
                                            <a:rPr lang="es-C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s-C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CR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lang="es-CR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C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s-CR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f>
                                    <m:fPr>
                                      <m:ctrlPr>
                                        <a:rPr lang="es-C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s-CR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R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s-CR" b="0" i="1" smtClean="0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s-CR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R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s-CR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s-CR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s-C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R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f>
                                        <m:fPr>
                                          <m:ctrlPr>
                                            <a:rPr lang="es-C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s-C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CR" i="1">
                                                  <a:latin typeface="Cambria Math" panose="02040503050406030204" pitchFamily="18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  <m:sub>
                                              <m:r>
                                                <a:rPr lang="es-CR" i="1">
                                                  <a:latin typeface="Cambria Math" panose="02040503050406030204" pitchFamily="18" charset="0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s-C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CR" i="1">
                                                  <a:latin typeface="Cambria Math" panose="02040503050406030204" pitchFamily="18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  <m:sub>
                                              <m:r>
                                                <a:rPr lang="es-C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s-C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s-C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s-C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s-CR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s-C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𝑌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s-CR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s-CR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s-CR" i="1">
                                                  <a:latin typeface="Cambria Math" panose="02040503050406030204" pitchFamily="18" charset="0"/>
                                                </a:rPr>
                                                <m:t>𝑑</m:t>
                                              </m:r>
                                            </m:e>
                                            <m:sub>
                                              <m:r>
                                                <a:rPr lang="es-C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s-C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CR" i="1">
                                                  <a:latin typeface="Cambria Math" panose="02040503050406030204" pitchFamily="18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  <m:sub>
                                              <m:r>
                                                <a:rPr lang="es-CR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s-CR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den>
                                      </m:f>
                                    </m:e>
                                  </m:d>
                                  <m:r>
                                    <a:rPr lang="es-CR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sSub>
                                    <m:sSubPr>
                                      <m:ctrlPr>
                                        <a:rPr lang="es-C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R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s-C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s-ES" sz="2800" b="0" i="0" u="none" strike="noStrike" baseline="0" dirty="0">
                  <a:latin typeface="Times New Roman" panose="02020603050405020304" pitchFamily="18" charset="0"/>
                </a:endParaRPr>
              </a:p>
              <a:p>
                <a:pPr lvl="1"/>
                <a:endParaRPr lang="es-CR" dirty="0"/>
              </a:p>
              <a:p>
                <a:pPr lvl="1"/>
                <a:endParaRPr lang="es-CR" dirty="0"/>
              </a:p>
              <a:p>
                <a:pPr lvl="1"/>
                <a:r>
                  <a:rPr lang="es-CR" dirty="0"/>
                  <a:t>Y se contrasta con un chi-cuadrado con g-1 grados de libertad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07E4971-BA86-3A82-6516-783FB2DF50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6662"/>
                <a:ext cx="10515600" cy="5511338"/>
              </a:xfrm>
              <a:blipFill>
                <a:blip r:embed="rId2"/>
                <a:stretch>
                  <a:fillRect l="-1043" t="-19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2">
            <a:extLst>
              <a:ext uri="{FF2B5EF4-FFF2-40B4-BE49-F238E27FC236}">
                <a16:creationId xmlns:a16="http://schemas.microsoft.com/office/drawing/2014/main" id="{8B69B062-90C7-2CC9-B70E-0C4565DE3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3350" y="354234"/>
            <a:ext cx="1649551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14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698E8-B157-4ADB-33CE-EDAF42E21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A3FC03-D04B-1FD5-5C2D-98E77CF50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323" y="365126"/>
            <a:ext cx="11083159" cy="765406"/>
          </a:xfrm>
        </p:spPr>
        <p:txBody>
          <a:bodyPr/>
          <a:lstStyle/>
          <a:p>
            <a:r>
              <a:rPr lang="es-CR" dirty="0"/>
              <a:t>Pruebas no paramétricas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B76DD1-9984-D2E6-806C-9828D8462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662"/>
            <a:ext cx="10515600" cy="5511338"/>
          </a:xfrm>
        </p:spPr>
        <p:txBody>
          <a:bodyPr>
            <a:normAutofit/>
          </a:bodyPr>
          <a:lstStyle/>
          <a:p>
            <a:pPr marR="0" algn="l" rtl="0"/>
            <a:r>
              <a:rPr lang="es-CR" dirty="0"/>
              <a:t>La escogencia del w(t</a:t>
            </a:r>
            <a:r>
              <a:rPr lang="es-CR" baseline="-25000" dirty="0"/>
              <a:t>i</a:t>
            </a:r>
            <a:r>
              <a:rPr lang="es-CR" dirty="0"/>
              <a:t>) hace que se tengan distintas pruebas.</a:t>
            </a:r>
          </a:p>
          <a:p>
            <a:pPr marR="0" algn="l" rtl="0"/>
            <a:r>
              <a:rPr lang="es-CR" dirty="0"/>
              <a:t>Por ejemplo:</a:t>
            </a:r>
          </a:p>
          <a:p>
            <a:pPr marR="0" algn="l" rtl="0"/>
            <a:endParaRPr lang="es-CR" dirty="0"/>
          </a:p>
          <a:p>
            <a:pPr marR="0" algn="l" rtl="0"/>
            <a:endParaRPr lang="es-CR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C485E3D-D91B-B26C-3F06-FD37C7E7D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3350" y="354234"/>
            <a:ext cx="1649551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8CFE824-946E-DEF3-75C5-F0CB777E4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566" y="2755322"/>
            <a:ext cx="11998466" cy="451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1702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2284</TotalTime>
  <Words>882</Words>
  <Application>Microsoft Office PowerPoint</Application>
  <PresentationFormat>Panorámica</PresentationFormat>
  <Paragraphs>108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1" baseType="lpstr">
      <vt:lpstr>Aptos</vt:lpstr>
      <vt:lpstr>Aptos Display</vt:lpstr>
      <vt:lpstr>Arial</vt:lpstr>
      <vt:lpstr>Cambria</vt:lpstr>
      <vt:lpstr>Cambria Math</vt:lpstr>
      <vt:lpstr>Symbol</vt:lpstr>
      <vt:lpstr>Times New Roman</vt:lpstr>
      <vt:lpstr>Tema de Office</vt:lpstr>
      <vt:lpstr>XS-3010 Introducción a la demografía y bioestadística 2025</vt:lpstr>
      <vt:lpstr>Guía</vt:lpstr>
      <vt:lpstr>Intro a Análisis de Supervivencia</vt:lpstr>
      <vt:lpstr>Conceptos básicos</vt:lpstr>
      <vt:lpstr>Conceptos estadísticos</vt:lpstr>
      <vt:lpstr>Equivalencias en las funciones de tabla de vida</vt:lpstr>
      <vt:lpstr>Estimador de la curva de supervivencia de Kaplan-Meier</vt:lpstr>
      <vt:lpstr>Estimador de la curva de supervivencia de Kaplan-Meier</vt:lpstr>
      <vt:lpstr>Estimadores de Kaplan-Meier</vt:lpstr>
      <vt:lpstr>Pruebas no paramétricas</vt:lpstr>
      <vt:lpstr>Pruebas no paramétricas</vt:lpstr>
      <vt:lpstr>Pruebas no paramétricas</vt:lpstr>
      <vt:lpstr>Pruebas no paramétricas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Gilbert Brenes-Camacho</dc:creator>
  <cp:lastModifiedBy>Gilbert Brenes</cp:lastModifiedBy>
  <cp:revision>52</cp:revision>
  <dcterms:created xsi:type="dcterms:W3CDTF">2025-01-10T18:14:17Z</dcterms:created>
  <dcterms:modified xsi:type="dcterms:W3CDTF">2026-03-06T15:30:38Z</dcterms:modified>
</cp:coreProperties>
</file>