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312" r:id="rId5"/>
    <p:sldId id="290" r:id="rId6"/>
    <p:sldId id="313" r:id="rId7"/>
    <p:sldId id="314" r:id="rId8"/>
    <p:sldId id="315" r:id="rId9"/>
    <p:sldId id="316" r:id="rId10"/>
    <p:sldId id="292" r:id="rId11"/>
    <p:sldId id="317" r:id="rId12"/>
    <p:sldId id="318" r:id="rId13"/>
    <p:sldId id="293" r:id="rId14"/>
    <p:sldId id="319" r:id="rId15"/>
    <p:sldId id="320" r:id="rId16"/>
    <p:sldId id="321" r:id="rId17"/>
    <p:sldId id="32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513" autoAdjust="0"/>
    <p:restoredTop sz="94660"/>
  </p:normalViewPr>
  <p:slideViewPr>
    <p:cSldViewPr snapToGrid="0" showGuides="1">
      <p:cViewPr varScale="1">
        <p:scale>
          <a:sx n="74" d="100"/>
          <a:sy n="74" d="100"/>
        </p:scale>
        <p:origin x="605"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4F9E0F-2E37-D02F-547A-10F255FF2CC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ítulo 2">
            <a:extLst>
              <a:ext uri="{FF2B5EF4-FFF2-40B4-BE49-F238E27FC236}">
                <a16:creationId xmlns:a16="http://schemas.microsoft.com/office/drawing/2014/main" id="{2F671617-3171-C0BB-7B2D-FFAD6F3446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Marcador de fecha 3">
            <a:extLst>
              <a:ext uri="{FF2B5EF4-FFF2-40B4-BE49-F238E27FC236}">
                <a16:creationId xmlns:a16="http://schemas.microsoft.com/office/drawing/2014/main" id="{E747B137-18FE-FB7D-8BF6-535881DF992F}"/>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5" name="Marcador de pie de página 4">
            <a:extLst>
              <a:ext uri="{FF2B5EF4-FFF2-40B4-BE49-F238E27FC236}">
                <a16:creationId xmlns:a16="http://schemas.microsoft.com/office/drawing/2014/main" id="{C48E15A3-A9FB-E51A-6027-7A459C71260E}"/>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7DAEB6A8-87B8-0FE2-8510-B477863A1D51}"/>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568511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14B53C-26E4-4134-73B5-99607FF8E6D6}"/>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3D0AA165-019D-8D97-5339-692E5ECA01D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D0A95A2F-9947-C6DB-7193-A2165E6B7508}"/>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5" name="Marcador de pie de página 4">
            <a:extLst>
              <a:ext uri="{FF2B5EF4-FFF2-40B4-BE49-F238E27FC236}">
                <a16:creationId xmlns:a16="http://schemas.microsoft.com/office/drawing/2014/main" id="{7CD0C00C-8058-4459-BB83-F55E2DC1BACB}"/>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208232C3-9540-7A94-419A-AEFD82DCDE52}"/>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655259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CBEECA-3AA7-4D32-7042-A8B54A6B37C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3A5696CA-D73C-A1A6-BA95-E0D7B42370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A558304-32CA-3CA1-1FEA-B54A6997C5DC}"/>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5" name="Marcador de pie de página 4">
            <a:extLst>
              <a:ext uri="{FF2B5EF4-FFF2-40B4-BE49-F238E27FC236}">
                <a16:creationId xmlns:a16="http://schemas.microsoft.com/office/drawing/2014/main" id="{F62470CC-025A-4FA6-3440-70494EFBF05F}"/>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F78631FF-C52A-37B0-1CB5-4C47A82549D9}"/>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219133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65B9E0-5F65-F95C-75A5-FFDFA572DD9F}"/>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A8C07C85-FC85-A278-CBB6-F7BA37D3876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contenido 3">
            <a:extLst>
              <a:ext uri="{FF2B5EF4-FFF2-40B4-BE49-F238E27FC236}">
                <a16:creationId xmlns:a16="http://schemas.microsoft.com/office/drawing/2014/main" id="{FDA9137E-6DA1-1130-C0F6-0EFAF25643D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fecha 4">
            <a:extLst>
              <a:ext uri="{FF2B5EF4-FFF2-40B4-BE49-F238E27FC236}">
                <a16:creationId xmlns:a16="http://schemas.microsoft.com/office/drawing/2014/main" id="{1E243844-8075-2FD4-1CCF-DE1ABECC07FA}"/>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6" name="Marcador de pie de página 5">
            <a:extLst>
              <a:ext uri="{FF2B5EF4-FFF2-40B4-BE49-F238E27FC236}">
                <a16:creationId xmlns:a16="http://schemas.microsoft.com/office/drawing/2014/main" id="{8B5AC555-78FE-1B1B-7737-E79DCF371535}"/>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F13F9F5C-5DFD-32D8-7DB2-B044BEA4ABD7}"/>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2708259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E255C0-1415-85BE-1165-9C0C54F0778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BB0A1395-0A9F-B80E-E211-F1ACA83250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FD740BA-BF8A-108D-EACE-225C192F923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Marcador de texto 4">
            <a:extLst>
              <a:ext uri="{FF2B5EF4-FFF2-40B4-BE49-F238E27FC236}">
                <a16:creationId xmlns:a16="http://schemas.microsoft.com/office/drawing/2014/main" id="{63784550-95A2-77DC-D665-4337294435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B531739-FB3E-B2CC-A0DB-6D8ED7CF8A8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Marcador de fecha 6">
            <a:extLst>
              <a:ext uri="{FF2B5EF4-FFF2-40B4-BE49-F238E27FC236}">
                <a16:creationId xmlns:a16="http://schemas.microsoft.com/office/drawing/2014/main" id="{EE871342-3E4B-6DB6-2FF7-A0D5D2DEFED8}"/>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8" name="Marcador de pie de página 7">
            <a:extLst>
              <a:ext uri="{FF2B5EF4-FFF2-40B4-BE49-F238E27FC236}">
                <a16:creationId xmlns:a16="http://schemas.microsoft.com/office/drawing/2014/main" id="{A35E8FDE-7414-CF64-FF6E-FEC0CC281343}"/>
              </a:ext>
            </a:extLst>
          </p:cNvPr>
          <p:cNvSpPr>
            <a:spLocks noGrp="1"/>
          </p:cNvSpPr>
          <p:nvPr>
            <p:ph type="ftr" sz="quarter" idx="11"/>
          </p:nvPr>
        </p:nvSpPr>
        <p:spPr/>
        <p:txBody>
          <a:bodyPr/>
          <a:lstStyle/>
          <a:p>
            <a:endParaRPr lang="en-US"/>
          </a:p>
        </p:txBody>
      </p:sp>
      <p:sp>
        <p:nvSpPr>
          <p:cNvPr id="9" name="Marcador de número de diapositiva 8">
            <a:extLst>
              <a:ext uri="{FF2B5EF4-FFF2-40B4-BE49-F238E27FC236}">
                <a16:creationId xmlns:a16="http://schemas.microsoft.com/office/drawing/2014/main" id="{4508BCD7-8715-678B-A4B2-84F06478DC70}"/>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827172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BD7687-04E9-D6B1-A4FF-1A9CFCF2C80D}"/>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fecha 2">
            <a:extLst>
              <a:ext uri="{FF2B5EF4-FFF2-40B4-BE49-F238E27FC236}">
                <a16:creationId xmlns:a16="http://schemas.microsoft.com/office/drawing/2014/main" id="{89F5849E-DE97-5A76-F782-8354D71D5A58}"/>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4" name="Marcador de pie de página 3">
            <a:extLst>
              <a:ext uri="{FF2B5EF4-FFF2-40B4-BE49-F238E27FC236}">
                <a16:creationId xmlns:a16="http://schemas.microsoft.com/office/drawing/2014/main" id="{280C7457-F67A-3A13-2724-40313EE3E676}"/>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C49BA60A-5909-F0B8-0EAE-8FAEA7530A76}"/>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1725967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5915CA-E095-FAA6-F2FB-AD27D9CF409B}"/>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3" name="Marcador de pie de página 2">
            <a:extLst>
              <a:ext uri="{FF2B5EF4-FFF2-40B4-BE49-F238E27FC236}">
                <a16:creationId xmlns:a16="http://schemas.microsoft.com/office/drawing/2014/main" id="{C83CBB2E-B003-4EBF-5D10-DD61FA6D2E1C}"/>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33DFD563-37EF-1088-2DAD-86E1CDA531B0}"/>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066218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996882-6B5B-134A-1A76-8B29181B5B1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contenido 2">
            <a:extLst>
              <a:ext uri="{FF2B5EF4-FFF2-40B4-BE49-F238E27FC236}">
                <a16:creationId xmlns:a16="http://schemas.microsoft.com/office/drawing/2014/main" id="{FF057575-A3C6-3476-6CBD-2E57BA6BF9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texto 3">
            <a:extLst>
              <a:ext uri="{FF2B5EF4-FFF2-40B4-BE49-F238E27FC236}">
                <a16:creationId xmlns:a16="http://schemas.microsoft.com/office/drawing/2014/main" id="{388DF928-6051-AFCD-7EF8-FFFC297FD5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E598E56-7530-3052-762D-51C64A133480}"/>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6" name="Marcador de pie de página 5">
            <a:extLst>
              <a:ext uri="{FF2B5EF4-FFF2-40B4-BE49-F238E27FC236}">
                <a16:creationId xmlns:a16="http://schemas.microsoft.com/office/drawing/2014/main" id="{68B0D834-54DF-9448-9C2A-E3F16D772E60}"/>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995B2950-AC42-85DE-D11F-EED4223FFACD}"/>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69391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3BEFF3-A2EC-EED8-FEA5-1DFF3828E72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Marcador de posición de imagen 2">
            <a:extLst>
              <a:ext uri="{FF2B5EF4-FFF2-40B4-BE49-F238E27FC236}">
                <a16:creationId xmlns:a16="http://schemas.microsoft.com/office/drawing/2014/main" id="{3566923D-B92D-3492-502B-2AC57CC19C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Marcador de texto 3">
            <a:extLst>
              <a:ext uri="{FF2B5EF4-FFF2-40B4-BE49-F238E27FC236}">
                <a16:creationId xmlns:a16="http://schemas.microsoft.com/office/drawing/2014/main" id="{CAB5D60C-0915-EA6A-7D7B-93EDA3F78E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C856C2D-73B1-4F36-1491-9038AEE4DD71}"/>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6" name="Marcador de pie de página 5">
            <a:extLst>
              <a:ext uri="{FF2B5EF4-FFF2-40B4-BE49-F238E27FC236}">
                <a16:creationId xmlns:a16="http://schemas.microsoft.com/office/drawing/2014/main" id="{DC9C87A3-772E-817F-E0BD-CEB52B825BE3}"/>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8BA8470E-36E1-7796-C269-F5FABC646D54}"/>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696019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05BD62-80B5-73AC-247B-557D541BCBCC}"/>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6356E60C-69ED-36D4-E379-D90AA993E81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128533B8-B990-570F-2FF9-F5CB4C8ACC9C}"/>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5" name="Marcador de pie de página 4">
            <a:extLst>
              <a:ext uri="{FF2B5EF4-FFF2-40B4-BE49-F238E27FC236}">
                <a16:creationId xmlns:a16="http://schemas.microsoft.com/office/drawing/2014/main" id="{5A2D7539-EC26-3063-B6AA-BDDD30A4274D}"/>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C6213976-546D-B209-4AE5-55B62C103C11}"/>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984375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C032FBA-D46B-9AD9-6A4A-CCC671639BF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7E0765D1-3113-7EE5-5D68-7C2610512D2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19BF1DF9-8FBB-EF60-5CB8-B832135B2B50}"/>
              </a:ext>
            </a:extLst>
          </p:cNvPr>
          <p:cNvSpPr>
            <a:spLocks noGrp="1"/>
          </p:cNvSpPr>
          <p:nvPr>
            <p:ph type="dt" sz="half" idx="10"/>
          </p:nvPr>
        </p:nvSpPr>
        <p:spPr/>
        <p:txBody>
          <a:bodyPr/>
          <a:lstStyle/>
          <a:p>
            <a:fld id="{B981F3F1-497C-47B9-A18E-83DECA3909B3}" type="datetimeFigureOut">
              <a:rPr lang="en-US" smtClean="0"/>
              <a:t>3/6/2026</a:t>
            </a:fld>
            <a:endParaRPr lang="en-US"/>
          </a:p>
        </p:txBody>
      </p:sp>
      <p:sp>
        <p:nvSpPr>
          <p:cNvPr id="5" name="Marcador de pie de página 4">
            <a:extLst>
              <a:ext uri="{FF2B5EF4-FFF2-40B4-BE49-F238E27FC236}">
                <a16:creationId xmlns:a16="http://schemas.microsoft.com/office/drawing/2014/main" id="{C4117F01-7DF1-4C58-D99D-DDCD2750329C}"/>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84479F5B-A745-4D30-0645-6FD930FF9504}"/>
              </a:ext>
            </a:extLst>
          </p:cNvPr>
          <p:cNvSpPr>
            <a:spLocks noGrp="1"/>
          </p:cNvSpPr>
          <p:nvPr>
            <p:ph type="sldNum" sz="quarter" idx="12"/>
          </p:nvPr>
        </p:nvSpPr>
        <p:spPr/>
        <p:txBody>
          <a:bodyPr/>
          <a:lstStyle/>
          <a:p>
            <a:fld id="{B8844222-9D2F-4AD5-8895-FD8084360767}" type="slidenum">
              <a:rPr lang="en-US" smtClean="0"/>
              <a:t>‹Nº›</a:t>
            </a:fld>
            <a:endParaRPr lang="en-US"/>
          </a:p>
        </p:txBody>
      </p:sp>
    </p:spTree>
    <p:extLst>
      <p:ext uri="{BB962C8B-B14F-4D97-AF65-F5344CB8AC3E}">
        <p14:creationId xmlns:p14="http://schemas.microsoft.com/office/powerpoint/2010/main" val="3371506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C587F12-B27F-FB1F-C6A6-F70AD31262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Marcador de texto 2">
            <a:extLst>
              <a:ext uri="{FF2B5EF4-FFF2-40B4-BE49-F238E27FC236}">
                <a16:creationId xmlns:a16="http://schemas.microsoft.com/office/drawing/2014/main" id="{F80B90C4-B84F-C1FB-760E-72D4EA32F8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FF73809E-B4B5-A1E4-417D-0E7C53210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81F3F1-497C-47B9-A18E-83DECA3909B3}" type="datetimeFigureOut">
              <a:rPr lang="en-US" smtClean="0"/>
              <a:t>3/6/2026</a:t>
            </a:fld>
            <a:endParaRPr lang="en-US"/>
          </a:p>
        </p:txBody>
      </p:sp>
      <p:sp>
        <p:nvSpPr>
          <p:cNvPr id="5" name="Marcador de pie de página 4">
            <a:extLst>
              <a:ext uri="{FF2B5EF4-FFF2-40B4-BE49-F238E27FC236}">
                <a16:creationId xmlns:a16="http://schemas.microsoft.com/office/drawing/2014/main" id="{D9296595-A99A-7B3C-D00D-B8BF2287F5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Marcador de número de diapositiva 5">
            <a:extLst>
              <a:ext uri="{FF2B5EF4-FFF2-40B4-BE49-F238E27FC236}">
                <a16:creationId xmlns:a16="http://schemas.microsoft.com/office/drawing/2014/main" id="{E2634B69-AF7A-9040-FD3E-70FCCA37CA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8844222-9D2F-4AD5-8895-FD8084360767}" type="slidenum">
              <a:rPr lang="en-US" smtClean="0"/>
              <a:t>‹Nº›</a:t>
            </a:fld>
            <a:endParaRPr lang="en-US"/>
          </a:p>
        </p:txBody>
      </p:sp>
    </p:spTree>
    <p:extLst>
      <p:ext uri="{BB962C8B-B14F-4D97-AF65-F5344CB8AC3E}">
        <p14:creationId xmlns:p14="http://schemas.microsoft.com/office/powerpoint/2010/main" val="189311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8975F5-9759-D9DD-E21A-5B7FE4D5467A}"/>
              </a:ext>
            </a:extLst>
          </p:cNvPr>
          <p:cNvSpPr>
            <a:spLocks noGrp="1"/>
          </p:cNvSpPr>
          <p:nvPr>
            <p:ph type="ctrTitle"/>
          </p:nvPr>
        </p:nvSpPr>
        <p:spPr/>
        <p:txBody>
          <a:bodyPr>
            <a:normAutofit fontScale="90000"/>
          </a:bodyPr>
          <a:lstStyle/>
          <a:p>
            <a:r>
              <a:rPr lang="es-CR" dirty="0"/>
              <a:t>XS-3010 Introducción a la demografía y bioestadística</a:t>
            </a:r>
            <a:br>
              <a:rPr lang="en-US" dirty="0"/>
            </a:br>
            <a:r>
              <a:rPr lang="en-US" dirty="0"/>
              <a:t>2025</a:t>
            </a:r>
          </a:p>
        </p:txBody>
      </p:sp>
      <p:sp>
        <p:nvSpPr>
          <p:cNvPr id="3" name="Subtítulo 2">
            <a:extLst>
              <a:ext uri="{FF2B5EF4-FFF2-40B4-BE49-F238E27FC236}">
                <a16:creationId xmlns:a16="http://schemas.microsoft.com/office/drawing/2014/main" id="{D645B192-1ED3-E270-42E8-2C7C1D9FDD4C}"/>
              </a:ext>
            </a:extLst>
          </p:cNvPr>
          <p:cNvSpPr>
            <a:spLocks noGrp="1"/>
          </p:cNvSpPr>
          <p:nvPr>
            <p:ph type="subTitle" idx="1"/>
          </p:nvPr>
        </p:nvSpPr>
        <p:spPr/>
        <p:txBody>
          <a:bodyPr>
            <a:normAutofit lnSpcReduction="10000"/>
          </a:bodyPr>
          <a:lstStyle/>
          <a:p>
            <a:r>
              <a:rPr lang="en-US" dirty="0" err="1"/>
              <a:t>Profesor</a:t>
            </a:r>
            <a:r>
              <a:rPr lang="en-US" dirty="0"/>
              <a:t> Gilbert </a:t>
            </a:r>
            <a:r>
              <a:rPr lang="en-US" dirty="0" err="1"/>
              <a:t>Brenes</a:t>
            </a:r>
            <a:r>
              <a:rPr lang="en-US" dirty="0"/>
              <a:t> Camacho, Grupo 01</a:t>
            </a:r>
          </a:p>
          <a:p>
            <a:endParaRPr lang="en-US" dirty="0"/>
          </a:p>
          <a:p>
            <a:endParaRPr lang="en-US" dirty="0"/>
          </a:p>
          <a:p>
            <a:r>
              <a:rPr lang="es-CR" dirty="0"/>
              <a:t>Tema 8. TABLAS DE VIDA</a:t>
            </a:r>
            <a:endParaRPr lang="en-US" dirty="0"/>
          </a:p>
        </p:txBody>
      </p:sp>
    </p:spTree>
    <p:extLst>
      <p:ext uri="{BB962C8B-B14F-4D97-AF65-F5344CB8AC3E}">
        <p14:creationId xmlns:p14="http://schemas.microsoft.com/office/powerpoint/2010/main" val="3347622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E3B47C-32F1-1ECC-95EB-A077866F1A94}"/>
              </a:ext>
            </a:extLst>
          </p:cNvPr>
          <p:cNvSpPr>
            <a:spLocks noGrp="1"/>
          </p:cNvSpPr>
          <p:nvPr>
            <p:ph type="title"/>
          </p:nvPr>
        </p:nvSpPr>
        <p:spPr/>
        <p:txBody>
          <a:bodyPr/>
          <a:lstStyle/>
          <a:p>
            <a:r>
              <a:rPr lang="es-CR" dirty="0"/>
              <a:t>Guía</a:t>
            </a:r>
            <a:endParaRPr lang="en-US" dirty="0"/>
          </a:p>
        </p:txBody>
      </p:sp>
      <p:sp>
        <p:nvSpPr>
          <p:cNvPr id="3" name="Marcador de contenido 2">
            <a:extLst>
              <a:ext uri="{FF2B5EF4-FFF2-40B4-BE49-F238E27FC236}">
                <a16:creationId xmlns:a16="http://schemas.microsoft.com/office/drawing/2014/main" id="{CF7D0468-056F-7E17-F512-4EFD0D5D0ACD}"/>
              </a:ext>
            </a:extLst>
          </p:cNvPr>
          <p:cNvSpPr>
            <a:spLocks noGrp="1"/>
          </p:cNvSpPr>
          <p:nvPr>
            <p:ph idx="1"/>
          </p:nvPr>
        </p:nvSpPr>
        <p:spPr>
          <a:xfrm>
            <a:off x="838200" y="1466193"/>
            <a:ext cx="10515600" cy="5026682"/>
          </a:xfrm>
        </p:spPr>
        <p:txBody>
          <a:bodyPr>
            <a:normAutofit/>
          </a:bodyPr>
          <a:lstStyle/>
          <a:p>
            <a:r>
              <a:rPr lang="es-CR" dirty="0"/>
              <a:t>Tabla de vida</a:t>
            </a:r>
          </a:p>
          <a:p>
            <a:r>
              <a:rPr lang="es-CR" dirty="0"/>
              <a:t>Visión de tabla de vida como una cohorte sintética</a:t>
            </a:r>
          </a:p>
          <a:p>
            <a:pPr lvl="1"/>
            <a:r>
              <a:rPr lang="es-CR" dirty="0"/>
              <a:t>Recordatorio de definición de cohorte sintética.</a:t>
            </a:r>
          </a:p>
          <a:p>
            <a:pPr lvl="1"/>
            <a:r>
              <a:rPr lang="es-CR" dirty="0"/>
              <a:t>Funciones de la tabla de vida.</a:t>
            </a:r>
          </a:p>
          <a:p>
            <a:r>
              <a:rPr lang="es-CR" dirty="0"/>
              <a:t>Visión de tabla de vida desde perspectiva probabilística</a:t>
            </a:r>
          </a:p>
          <a:p>
            <a:pPr lvl="1"/>
            <a:r>
              <a:rPr lang="es-CR" dirty="0"/>
              <a:t>Función de densidad y de probabilidad acumulada.</a:t>
            </a:r>
          </a:p>
          <a:p>
            <a:r>
              <a:rPr lang="es-CR" dirty="0"/>
              <a:t>Construcción de tabla de vida</a:t>
            </a:r>
          </a:p>
          <a:p>
            <a:pPr lvl="1"/>
            <a:r>
              <a:rPr lang="es-CR" dirty="0"/>
              <a:t>Tabla de vida abreviada</a:t>
            </a:r>
          </a:p>
          <a:p>
            <a:pPr lvl="1"/>
            <a:r>
              <a:rPr lang="es-CR" dirty="0"/>
              <a:t>Tabla de vida completa.</a:t>
            </a:r>
          </a:p>
        </p:txBody>
      </p:sp>
    </p:spTree>
    <p:extLst>
      <p:ext uri="{BB962C8B-B14F-4D97-AF65-F5344CB8AC3E}">
        <p14:creationId xmlns:p14="http://schemas.microsoft.com/office/powerpoint/2010/main" val="288393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0F746-29AE-1097-D16D-27F7E1537C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79EF888-D33A-2737-EA61-9ECBDE469D0C}"/>
              </a:ext>
            </a:extLst>
          </p:cNvPr>
          <p:cNvSpPr>
            <a:spLocks noGrp="1"/>
          </p:cNvSpPr>
          <p:nvPr>
            <p:ph type="title"/>
          </p:nvPr>
        </p:nvSpPr>
        <p:spPr/>
        <p:txBody>
          <a:bodyPr/>
          <a:lstStyle/>
          <a:p>
            <a:r>
              <a:rPr lang="es-CR" dirty="0"/>
              <a:t>Definición de Tabla de Vida</a:t>
            </a:r>
            <a:endParaRPr lang="en-US" dirty="0"/>
          </a:p>
        </p:txBody>
      </p:sp>
      <p:sp>
        <p:nvSpPr>
          <p:cNvPr id="3" name="Marcador de contenido 2">
            <a:extLst>
              <a:ext uri="{FF2B5EF4-FFF2-40B4-BE49-F238E27FC236}">
                <a16:creationId xmlns:a16="http://schemas.microsoft.com/office/drawing/2014/main" id="{E6DB1BE9-ED97-ACCA-103D-B9103B96DC99}"/>
              </a:ext>
            </a:extLst>
          </p:cNvPr>
          <p:cNvSpPr>
            <a:spLocks noGrp="1"/>
          </p:cNvSpPr>
          <p:nvPr>
            <p:ph idx="1"/>
          </p:nvPr>
        </p:nvSpPr>
        <p:spPr>
          <a:xfrm>
            <a:off x="838200" y="1825624"/>
            <a:ext cx="10515600" cy="4780127"/>
          </a:xfrm>
        </p:spPr>
        <p:txBody>
          <a:bodyPr>
            <a:normAutofit lnSpcReduction="10000"/>
          </a:bodyPr>
          <a:lstStyle/>
          <a:p>
            <a:r>
              <a:rPr lang="es-CR" dirty="0"/>
              <a:t>“Cuadro que presenta varias piezas de información sobre cómo se muere una cohorte”</a:t>
            </a:r>
          </a:p>
          <a:p>
            <a:pPr lvl="1"/>
            <a:r>
              <a:rPr lang="es-CR" dirty="0"/>
              <a:t>Los componentes de la tabla de vida resumen las características de mortalidad de una población.</a:t>
            </a:r>
          </a:p>
          <a:p>
            <a:pPr lvl="1"/>
            <a:r>
              <a:rPr lang="es-CR" dirty="0"/>
              <a:t>Estos componentes también se consideran como un conjunto de indicadores de mortalidad, como la esperanza de vida, las probabilidades de muerte, o las razones de supervivencia.</a:t>
            </a:r>
          </a:p>
          <a:p>
            <a:r>
              <a:rPr lang="es-CR" dirty="0"/>
              <a:t>La variable más importante es la edad, porque se analiza la evolución de la cohorte desde que nace hasta que muere.</a:t>
            </a:r>
          </a:p>
          <a:p>
            <a:r>
              <a:rPr lang="es-CR" dirty="0"/>
              <a:t>Por eso se utiliza una población base con un “número bonito”, como 100 000, o 1 000 000.  </a:t>
            </a:r>
          </a:p>
          <a:p>
            <a:pPr lvl="1"/>
            <a:r>
              <a:rPr lang="es-CR" dirty="0"/>
              <a:t>Se le conoce como la raíz o el </a:t>
            </a:r>
            <a:r>
              <a:rPr lang="es-CR" dirty="0" err="1"/>
              <a:t>radix</a:t>
            </a:r>
            <a:r>
              <a:rPr lang="es-CR" dirty="0"/>
              <a:t>.</a:t>
            </a:r>
          </a:p>
          <a:p>
            <a:pPr lvl="1"/>
            <a:endParaRPr lang="es-CR" dirty="0"/>
          </a:p>
        </p:txBody>
      </p:sp>
    </p:spTree>
    <p:extLst>
      <p:ext uri="{BB962C8B-B14F-4D97-AF65-F5344CB8AC3E}">
        <p14:creationId xmlns:p14="http://schemas.microsoft.com/office/powerpoint/2010/main" val="1957573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C8C86-0399-63B8-47B0-9F673A15CAB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CAC5F9F-F941-BFA8-477B-5E0B23BDDE11}"/>
              </a:ext>
            </a:extLst>
          </p:cNvPr>
          <p:cNvSpPr>
            <a:spLocks noGrp="1"/>
          </p:cNvSpPr>
          <p:nvPr>
            <p:ph type="title"/>
          </p:nvPr>
        </p:nvSpPr>
        <p:spPr/>
        <p:txBody>
          <a:bodyPr/>
          <a:lstStyle/>
          <a:p>
            <a:r>
              <a:rPr lang="es-CR" dirty="0"/>
              <a:t>Tabla de Vida como cohorte sintética</a:t>
            </a:r>
            <a:endParaRPr lang="en-US" dirty="0"/>
          </a:p>
        </p:txBody>
      </p:sp>
      <p:sp>
        <p:nvSpPr>
          <p:cNvPr id="3" name="Marcador de contenido 2">
            <a:extLst>
              <a:ext uri="{FF2B5EF4-FFF2-40B4-BE49-F238E27FC236}">
                <a16:creationId xmlns:a16="http://schemas.microsoft.com/office/drawing/2014/main" id="{F346DE52-D6CF-C6ED-3A9F-EFD2077DA236}"/>
              </a:ext>
            </a:extLst>
          </p:cNvPr>
          <p:cNvSpPr>
            <a:spLocks noGrp="1"/>
          </p:cNvSpPr>
          <p:nvPr>
            <p:ph idx="1"/>
          </p:nvPr>
        </p:nvSpPr>
        <p:spPr>
          <a:xfrm>
            <a:off x="838200" y="1825624"/>
            <a:ext cx="10515600" cy="4780127"/>
          </a:xfrm>
        </p:spPr>
        <p:txBody>
          <a:bodyPr>
            <a:normAutofit/>
          </a:bodyPr>
          <a:lstStyle/>
          <a:p>
            <a:r>
              <a:rPr lang="es-CR" dirty="0"/>
              <a:t>Cohorte sintética:  Una cohorte artificial creada a partir de indicadores demográficos de período.</a:t>
            </a:r>
          </a:p>
          <a:p>
            <a:endParaRPr lang="es-CR" dirty="0"/>
          </a:p>
          <a:p>
            <a:r>
              <a:rPr lang="es-CR" dirty="0"/>
              <a:t>Una cohorte sintética se podría considerar como una población simulada a partir de una serie de probabilidades de muerte (</a:t>
            </a:r>
            <a:r>
              <a:rPr lang="es-CR" dirty="0" err="1"/>
              <a:t>qx</a:t>
            </a:r>
            <a:r>
              <a:rPr lang="es-CR" dirty="0"/>
              <a:t>)</a:t>
            </a:r>
          </a:p>
          <a:p>
            <a:endParaRPr lang="es-CR" dirty="0"/>
          </a:p>
          <a:p>
            <a:endParaRPr lang="es-CR" dirty="0"/>
          </a:p>
        </p:txBody>
      </p:sp>
    </p:spTree>
    <p:extLst>
      <p:ext uri="{BB962C8B-B14F-4D97-AF65-F5344CB8AC3E}">
        <p14:creationId xmlns:p14="http://schemas.microsoft.com/office/powerpoint/2010/main" val="1799921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AB2CC-BCB0-CC8A-AAC7-8A3C4633440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21C13C-2C33-E173-8615-9AA2CBB055FF}"/>
              </a:ext>
            </a:extLst>
          </p:cNvPr>
          <p:cNvSpPr>
            <a:spLocks noGrp="1"/>
          </p:cNvSpPr>
          <p:nvPr>
            <p:ph type="title"/>
          </p:nvPr>
        </p:nvSpPr>
        <p:spPr/>
        <p:txBody>
          <a:bodyPr/>
          <a:lstStyle/>
          <a:p>
            <a:r>
              <a:rPr lang="es-CR" dirty="0"/>
              <a:t>Funciones de tabla de vida</a:t>
            </a:r>
            <a:endParaRPr lang="en-US" dirty="0"/>
          </a:p>
        </p:txBody>
      </p:sp>
      <p:sp>
        <p:nvSpPr>
          <p:cNvPr id="3" name="Marcador de contenido 2">
            <a:extLst>
              <a:ext uri="{FF2B5EF4-FFF2-40B4-BE49-F238E27FC236}">
                <a16:creationId xmlns:a16="http://schemas.microsoft.com/office/drawing/2014/main" id="{A9B95510-CF0A-9E40-739C-9473058E9BB1}"/>
              </a:ext>
            </a:extLst>
          </p:cNvPr>
          <p:cNvSpPr>
            <a:spLocks noGrp="1"/>
          </p:cNvSpPr>
          <p:nvPr>
            <p:ph idx="1"/>
          </p:nvPr>
        </p:nvSpPr>
        <p:spPr>
          <a:xfrm>
            <a:off x="838200" y="1481960"/>
            <a:ext cx="10515600" cy="5123792"/>
          </a:xfrm>
        </p:spPr>
        <p:txBody>
          <a:bodyPr>
            <a:normAutofit/>
          </a:bodyPr>
          <a:lstStyle/>
          <a:p>
            <a:pPr marL="0" marR="0"/>
            <a:r>
              <a:rPr lang="es-ES" sz="2600" b="1" i="1" dirty="0">
                <a:solidFill>
                  <a:srgbClr val="000000"/>
                </a:solidFill>
                <a:effectLst/>
                <a:latin typeface="Cambria" panose="02040503050406030204" pitchFamily="18" charset="0"/>
              </a:rPr>
              <a:t>Tasa central de mortalidad </a:t>
            </a:r>
            <a:r>
              <a:rPr lang="es-ES" sz="2600" b="1" i="1" baseline="-25000" dirty="0" err="1">
                <a:solidFill>
                  <a:srgbClr val="000000"/>
                </a:solidFill>
                <a:effectLst/>
                <a:latin typeface="Cambria" panose="02040503050406030204" pitchFamily="18" charset="0"/>
              </a:rPr>
              <a:t>n</a:t>
            </a:r>
            <a:r>
              <a:rPr lang="es-ES" sz="2600" b="1" i="1" dirty="0" err="1">
                <a:solidFill>
                  <a:srgbClr val="000000"/>
                </a:solidFill>
                <a:effectLst/>
                <a:latin typeface="Cambria" panose="02040503050406030204" pitchFamily="18" charset="0"/>
              </a:rPr>
              <a:t>m</a:t>
            </a:r>
            <a:r>
              <a:rPr lang="es-ES" sz="2600" b="1" i="1" baseline="-25000" dirty="0" err="1">
                <a:solidFill>
                  <a:srgbClr val="000000"/>
                </a:solidFill>
                <a:effectLst/>
                <a:latin typeface="Cambria" panose="02040503050406030204" pitchFamily="18" charset="0"/>
              </a:rPr>
              <a:t>x</a:t>
            </a:r>
            <a:r>
              <a:rPr lang="es-ES" sz="2600" b="1" i="1" dirty="0">
                <a:solidFill>
                  <a:srgbClr val="000000"/>
                </a:solidFill>
                <a:effectLst/>
                <a:latin typeface="Cambria" panose="02040503050406030204" pitchFamily="18" charset="0"/>
              </a:rPr>
              <a:t> </a:t>
            </a:r>
            <a:endParaRPr lang="en-US" sz="2600" b="1" i="1" dirty="0">
              <a:solidFill>
                <a:srgbClr val="000000"/>
              </a:solidFill>
              <a:effectLst/>
              <a:latin typeface="Cambria" panose="02040503050406030204" pitchFamily="18" charset="0"/>
            </a:endParaRPr>
          </a:p>
          <a:p>
            <a:pPr marL="457200" lvl="1"/>
            <a:r>
              <a:rPr lang="es-ES" sz="2000" dirty="0">
                <a:effectLst/>
                <a:latin typeface="Cambria" panose="02040503050406030204" pitchFamily="18" charset="0"/>
                <a:ea typeface="Cambria" panose="02040503050406030204" pitchFamily="18" charset="0"/>
                <a:cs typeface="Cambria" panose="02040503050406030204" pitchFamily="18" charset="0"/>
              </a:rPr>
              <a:t> La tasa central de mortalidad representa el ritmo al que las personas fallecen en la cohorte sintética de la tabla de vida.  Es el principal insumo para la construcción de la tabla de vida. </a:t>
            </a:r>
          </a:p>
          <a:p>
            <a:endParaRPr lang="es-ES" sz="1800" dirty="0">
              <a:latin typeface="Cambria" panose="02040503050406030204" pitchFamily="18" charset="0"/>
              <a:ea typeface="Cambria" panose="02040503050406030204" pitchFamily="18" charset="0"/>
            </a:endParaRPr>
          </a:p>
          <a:p>
            <a:pPr marL="0" marR="0"/>
            <a:r>
              <a:rPr lang="es-ES" sz="2600" b="1" i="1" dirty="0">
                <a:effectLst/>
                <a:latin typeface="Cambria" panose="02040503050406030204" pitchFamily="18" charset="0"/>
                <a:ea typeface="Cambria" panose="02040503050406030204" pitchFamily="18" charset="0"/>
                <a:cs typeface="Cambria" panose="02040503050406030204" pitchFamily="18" charset="0"/>
              </a:rPr>
              <a:t>Tiempo promedio de vida en dentro de cada edad para las personas que fallecen </a:t>
            </a:r>
            <a:r>
              <a:rPr lang="es-ES" sz="2600" b="1" i="1" baseline="-25000" dirty="0" err="1">
                <a:effectLst/>
                <a:latin typeface="Cambria" panose="02040503050406030204" pitchFamily="18" charset="0"/>
                <a:ea typeface="Cambria" panose="02040503050406030204" pitchFamily="18" charset="0"/>
                <a:cs typeface="Cambria" panose="02040503050406030204" pitchFamily="18" charset="0"/>
              </a:rPr>
              <a:t>n</a:t>
            </a:r>
            <a:r>
              <a:rPr lang="es-ES" sz="2600" b="1" i="1" dirty="0" err="1">
                <a:effectLst/>
                <a:latin typeface="Cambria" panose="02040503050406030204" pitchFamily="18" charset="0"/>
                <a:ea typeface="Cambria" panose="02040503050406030204" pitchFamily="18" charset="0"/>
                <a:cs typeface="Cambria" panose="02040503050406030204" pitchFamily="18" charset="0"/>
              </a:rPr>
              <a:t>a</a:t>
            </a:r>
            <a:r>
              <a:rPr lang="es-ES" sz="2600" b="1" i="1" baseline="-25000" dirty="0" err="1">
                <a:effectLst/>
                <a:latin typeface="Cambria" panose="02040503050406030204" pitchFamily="18" charset="0"/>
                <a:ea typeface="Cambria" panose="02040503050406030204" pitchFamily="18" charset="0"/>
                <a:cs typeface="Cambria" panose="02040503050406030204" pitchFamily="18" charset="0"/>
              </a:rPr>
              <a:t>x</a:t>
            </a:r>
            <a:endParaRPr lang="en-US" sz="2600" b="1" dirty="0">
              <a:effectLst/>
              <a:latin typeface="Times New Roman" panose="02020603050405020304" pitchFamily="18" charset="0"/>
              <a:ea typeface="Times New Roman" panose="02020603050405020304" pitchFamily="18" charset="0"/>
            </a:endParaRPr>
          </a:p>
          <a:p>
            <a:pPr marL="457200" lvl="1"/>
            <a:r>
              <a:rPr lang="es-ES" sz="1400" dirty="0">
                <a:effectLst/>
                <a:latin typeface="Cambria" panose="02040503050406030204" pitchFamily="18" charset="0"/>
                <a:ea typeface="Cambria" panose="02040503050406030204" pitchFamily="18" charset="0"/>
                <a:cs typeface="Cambria" panose="02040503050406030204" pitchFamily="18" charset="0"/>
              </a:rPr>
              <a:t> </a:t>
            </a:r>
            <a:r>
              <a:rPr lang="es-ES" sz="2000" dirty="0">
                <a:effectLst/>
                <a:latin typeface="Cambria" panose="02040503050406030204" pitchFamily="18" charset="0"/>
                <a:ea typeface="Cambria" panose="02040503050406030204" pitchFamily="18" charset="0"/>
                <a:cs typeface="Cambria" panose="02040503050406030204" pitchFamily="18" charset="0"/>
              </a:rPr>
              <a:t>Las tablas de vida toman la edad como discreta para calcular las tasas de mortalidad.  Sin embargo, la edad es una variable continua.  Por consiguiente, la mayoría de las tablas de vida requieren plantear un supuesto del tiempo medio de las defunciones en cada período de edad.  Para la mayoría de las edades, se supone que el tiempo medio es 0.5 cuando se tienen edades simples y 2.5 cuando se tienen edades quinquenales, en otras palabras, el tiempo a la muerte tiene una distribución uniforme.</a:t>
            </a:r>
            <a:endParaRPr lang="en-US" sz="2000" dirty="0">
              <a:effectLst/>
              <a:latin typeface="Times New Roman" panose="02020603050405020304" pitchFamily="18" charset="0"/>
              <a:ea typeface="Times New Roman" panose="02020603050405020304" pitchFamily="18" charset="0"/>
            </a:endParaRPr>
          </a:p>
          <a:p>
            <a:pPr marL="457200" lvl="1" algn="just"/>
            <a:r>
              <a:rPr lang="es-ES" sz="2000" dirty="0">
                <a:effectLst/>
                <a:latin typeface="Cambria" panose="02040503050406030204" pitchFamily="18" charset="0"/>
                <a:ea typeface="Cambria" panose="02040503050406030204" pitchFamily="18" charset="0"/>
                <a:cs typeface="Cambria" panose="02040503050406030204" pitchFamily="18" charset="0"/>
              </a:rPr>
              <a:t> Para las edades menores a 5 años, el tiempo medio es generalmente denominado factor de separación y se calcula como el porcentaje de las defunciones de una cohorte que ocurren en el mismo año en que se cumple la edad exacta x. </a:t>
            </a:r>
            <a:endParaRPr lang="es-CR" sz="2000" dirty="0"/>
          </a:p>
        </p:txBody>
      </p:sp>
    </p:spTree>
    <p:extLst>
      <p:ext uri="{BB962C8B-B14F-4D97-AF65-F5344CB8AC3E}">
        <p14:creationId xmlns:p14="http://schemas.microsoft.com/office/powerpoint/2010/main" val="1514281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024DD-EA70-66A5-AD38-EE917A69294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5EEA5CD-E107-08D1-D9E6-8E3ADEE64BB0}"/>
              </a:ext>
            </a:extLst>
          </p:cNvPr>
          <p:cNvSpPr>
            <a:spLocks noGrp="1"/>
          </p:cNvSpPr>
          <p:nvPr>
            <p:ph type="title"/>
          </p:nvPr>
        </p:nvSpPr>
        <p:spPr/>
        <p:txBody>
          <a:bodyPr/>
          <a:lstStyle/>
          <a:p>
            <a:r>
              <a:rPr lang="es-CR" dirty="0"/>
              <a:t>Funciones de tabla de vida</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0ACA14C-BA18-5272-0196-E71BF542D2EC}"/>
                  </a:ext>
                </a:extLst>
              </p:cNvPr>
              <p:cNvSpPr>
                <a:spLocks noGrp="1"/>
              </p:cNvSpPr>
              <p:nvPr>
                <p:ph idx="1"/>
              </p:nvPr>
            </p:nvSpPr>
            <p:spPr>
              <a:xfrm>
                <a:off x="838200" y="1481960"/>
                <a:ext cx="10515600" cy="5123792"/>
              </a:xfrm>
            </p:spPr>
            <p:txBody>
              <a:bodyPr>
                <a:normAutofit/>
              </a:bodyPr>
              <a:lstStyle/>
              <a:p>
                <a:pPr marL="0" marR="0"/>
                <a:r>
                  <a:rPr lang="es-ES" sz="2600" b="1" i="1" dirty="0">
                    <a:solidFill>
                      <a:srgbClr val="000000"/>
                    </a:solidFill>
                    <a:effectLst/>
                    <a:latin typeface="Cambria" panose="02040503050406030204" pitchFamily="18" charset="0"/>
                  </a:rPr>
                  <a:t>Probabilidad condicional de muerte </a:t>
                </a:r>
                <a:r>
                  <a:rPr lang="es-ES" sz="2600" b="1" i="1" baseline="-25000" dirty="0" err="1">
                    <a:solidFill>
                      <a:srgbClr val="000000"/>
                    </a:solidFill>
                    <a:effectLst/>
                    <a:latin typeface="Cambria" panose="02040503050406030204" pitchFamily="18" charset="0"/>
                  </a:rPr>
                  <a:t>n</a:t>
                </a:r>
                <a:r>
                  <a:rPr lang="es-ES" sz="2600" b="1" i="1" dirty="0" err="1">
                    <a:solidFill>
                      <a:srgbClr val="000000"/>
                    </a:solidFill>
                    <a:effectLst/>
                    <a:latin typeface="Cambria" panose="02040503050406030204" pitchFamily="18" charset="0"/>
                  </a:rPr>
                  <a:t>q</a:t>
                </a:r>
                <a:r>
                  <a:rPr lang="es-ES" sz="2600" b="1" i="1" baseline="-25000" dirty="0" err="1">
                    <a:solidFill>
                      <a:srgbClr val="000000"/>
                    </a:solidFill>
                    <a:effectLst/>
                    <a:latin typeface="Cambria" panose="02040503050406030204" pitchFamily="18" charset="0"/>
                  </a:rPr>
                  <a:t>x</a:t>
                </a:r>
                <a:r>
                  <a:rPr lang="es-ES" sz="2600" b="1" i="1" baseline="-25000" dirty="0">
                    <a:solidFill>
                      <a:srgbClr val="000000"/>
                    </a:solidFill>
                    <a:effectLst/>
                    <a:latin typeface="Cambria" panose="02040503050406030204" pitchFamily="18" charset="0"/>
                  </a:rPr>
                  <a:t> </a:t>
                </a:r>
                <a:endParaRPr lang="en-US" sz="2600" b="1" i="1" dirty="0">
                  <a:solidFill>
                    <a:srgbClr val="000000"/>
                  </a:solidFill>
                  <a:effectLst/>
                  <a:latin typeface="Cambria" panose="02040503050406030204" pitchFamily="18" charset="0"/>
                </a:endParaRPr>
              </a:p>
              <a:p>
                <a:pPr marL="457200" lvl="1"/>
                <a:r>
                  <a:rPr lang="es-ES" sz="2000" dirty="0">
                    <a:effectLst/>
                    <a:latin typeface="Cambria" panose="02040503050406030204" pitchFamily="18" charset="0"/>
                    <a:ea typeface="Cambria" panose="02040503050406030204" pitchFamily="18" charset="0"/>
                    <a:cs typeface="Cambria" panose="02040503050406030204" pitchFamily="18" charset="0"/>
                  </a:rPr>
                  <a:t> Es la probabilidad de fallecer a la edad x condicional a haber llegado con vida a la edad x. </a:t>
                </a:r>
              </a:p>
              <a:p>
                <a:pPr marL="914400" lvl="2"/>
                <a:r>
                  <a:rPr lang="es-ES" sz="600" dirty="0">
                    <a:effectLst/>
                    <a:latin typeface="Cambria" panose="02040503050406030204" pitchFamily="18" charset="0"/>
                    <a:ea typeface="Cambria" panose="02040503050406030204" pitchFamily="18" charset="0"/>
                    <a:cs typeface="Cambria" panose="02040503050406030204" pitchFamily="18" charset="0"/>
                  </a:rPr>
                  <a:t> </a:t>
                </a:r>
                <a14:m>
                  <m:oMath xmlns:m="http://schemas.openxmlformats.org/officeDocument/2006/math">
                    <m:sPre>
                      <m:sPrePr>
                        <m:ctrlPr>
                          <a:rPr lang="en-US" i="1">
                            <a:latin typeface="Cambria Math" panose="02040503050406030204" pitchFamily="18" charset="0"/>
                            <a:ea typeface="Cambria Math" panose="02040503050406030204" pitchFamily="18" charset="0"/>
                          </a:rPr>
                        </m:ctrlPr>
                      </m:sPrePr>
                      <m:sub>
                        <m:r>
                          <a:rPr lang="es-CR" i="1">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s-CR" i="1">
                                <a:latin typeface="Cambria Math" panose="02040503050406030204" pitchFamily="18" charset="0"/>
                              </a:rPr>
                              <m:t>𝑞</m:t>
                            </m:r>
                          </m:e>
                          <m:sub>
                            <m:r>
                              <a:rPr lang="es-CR" i="1">
                                <a:latin typeface="Cambria Math" panose="02040503050406030204" pitchFamily="18" charset="0"/>
                              </a:rPr>
                              <m:t>𝑥</m:t>
                            </m:r>
                          </m:sub>
                        </m:sSub>
                      </m:e>
                    </m:sPre>
                    <m:r>
                      <a:rPr lang="es-ES" i="1">
                        <a:effectLst/>
                        <a:latin typeface="Cambria Math" panose="02040503050406030204" pitchFamily="18" charset="0"/>
                        <a:ea typeface="Cambria Math" panose="02040503050406030204" pitchFamily="18" charset="0"/>
                        <a:cs typeface="Cambria Math" panose="02040503050406030204" pitchFamily="18" charset="0"/>
                      </a:rPr>
                      <m:t>=</m:t>
                    </m:r>
                    <m:f>
                      <m:f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fPr>
                      <m:num>
                        <m:sPre>
                          <m:sPrePr>
                            <m:ctrlPr>
                              <a:rPr lang="en-US" i="1">
                                <a:latin typeface="Cambria Math" panose="02040503050406030204" pitchFamily="18" charset="0"/>
                                <a:ea typeface="Cambria Math" panose="02040503050406030204" pitchFamily="18" charset="0"/>
                              </a:rPr>
                            </m:ctrlPr>
                          </m:sPrePr>
                          <m:sub>
                            <m:r>
                              <a:rPr lang="es-CR" i="1">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s-CR" b="0" i="1" smtClean="0">
                                    <a:latin typeface="Cambria Math" panose="02040503050406030204" pitchFamily="18" charset="0"/>
                                  </a:rPr>
                                  <m:t>𝑚</m:t>
                                </m:r>
                              </m:e>
                              <m:sub>
                                <m:r>
                                  <a:rPr lang="es-CR" i="1">
                                    <a:latin typeface="Cambria Math" panose="02040503050406030204" pitchFamily="18" charset="0"/>
                                  </a:rPr>
                                  <m:t>𝑥</m:t>
                                </m:r>
                              </m:sub>
                            </m:sSub>
                          </m:e>
                        </m:sPre>
                      </m:num>
                      <m:den>
                        <m:r>
                          <a:rPr lang="es-ES" i="1">
                            <a:effectLst/>
                            <a:latin typeface="Cambria Math" panose="02040503050406030204" pitchFamily="18" charset="0"/>
                            <a:ea typeface="Cambria Math" panose="02040503050406030204" pitchFamily="18" charset="0"/>
                            <a:cs typeface="Cambria Math" panose="02040503050406030204" pitchFamily="18" charset="0"/>
                          </a:rPr>
                          <m:t>1+</m:t>
                        </m:r>
                        <m:d>
                          <m:d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dPr>
                          <m:e>
                            <m:r>
                              <a:rPr lang="es-ES" i="1">
                                <a:effectLst/>
                                <a:latin typeface="Cambria Math" panose="02040503050406030204" pitchFamily="18" charset="0"/>
                                <a:ea typeface="Cambria Math" panose="02040503050406030204" pitchFamily="18" charset="0"/>
                                <a:cs typeface="Cambria Math" panose="02040503050406030204" pitchFamily="18" charset="0"/>
                              </a:rPr>
                              <m:t>1−</m:t>
                            </m:r>
                            <m:sPre>
                              <m:sPrePr>
                                <m:ctrlPr>
                                  <a:rPr lang="en-US" i="1">
                                    <a:latin typeface="Cambria Math" panose="02040503050406030204" pitchFamily="18" charset="0"/>
                                    <a:ea typeface="Cambria Math" panose="02040503050406030204" pitchFamily="18" charset="0"/>
                                  </a:rPr>
                                </m:ctrlPr>
                              </m:sPrePr>
                              <m:sub>
                                <m:r>
                                  <a:rPr lang="es-CR" i="1">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s-CR" b="0" i="1" smtClean="0">
                                        <a:latin typeface="Cambria Math" panose="02040503050406030204" pitchFamily="18" charset="0"/>
                                      </a:rPr>
                                      <m:t>𝑎</m:t>
                                    </m:r>
                                  </m:e>
                                  <m:sub>
                                    <m:r>
                                      <a:rPr lang="es-CR" i="1">
                                        <a:latin typeface="Cambria Math" panose="02040503050406030204" pitchFamily="18" charset="0"/>
                                      </a:rPr>
                                      <m:t>𝑥</m:t>
                                    </m:r>
                                  </m:sub>
                                </m:sSub>
                              </m:e>
                            </m:sPre>
                          </m:e>
                        </m:d>
                        <m:sPre>
                          <m:sPrePr>
                            <m:ctrlPr>
                              <a:rPr lang="en-US" i="1">
                                <a:latin typeface="Cambria Math" panose="02040503050406030204" pitchFamily="18" charset="0"/>
                                <a:ea typeface="Cambria Math" panose="02040503050406030204" pitchFamily="18" charset="0"/>
                              </a:rPr>
                            </m:ctrlPr>
                          </m:sPrePr>
                          <m:sub>
                            <m:r>
                              <a:rPr lang="es-CR" i="1">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s-CR" b="0" i="1" smtClean="0">
                                    <a:latin typeface="Cambria Math" panose="02040503050406030204" pitchFamily="18" charset="0"/>
                                  </a:rPr>
                                  <m:t>𝑚</m:t>
                                </m:r>
                              </m:e>
                              <m:sub>
                                <m:r>
                                  <a:rPr lang="es-CR" i="1">
                                    <a:latin typeface="Cambria Math" panose="02040503050406030204" pitchFamily="18" charset="0"/>
                                  </a:rPr>
                                  <m:t>𝑥</m:t>
                                </m:r>
                              </m:sub>
                            </m:sSub>
                          </m:e>
                        </m:sPre>
                      </m:den>
                    </m:f>
                  </m:oMath>
                </a14:m>
                <a:endParaRPr lang="en-US" dirty="0">
                  <a:effectLst/>
                  <a:latin typeface="Times New Roman" panose="02020603050405020304" pitchFamily="18" charset="0"/>
                  <a:ea typeface="Times New Roman" panose="02020603050405020304" pitchFamily="18" charset="0"/>
                </a:endParaRPr>
              </a:p>
              <a:p>
                <a:pPr marL="457200" lvl="1" indent="0">
                  <a:buNone/>
                </a:pPr>
                <a:r>
                  <a:rPr lang="es-ES" sz="2000" dirty="0">
                    <a:effectLst/>
                    <a:latin typeface="Cambria" panose="02040503050406030204" pitchFamily="18" charset="0"/>
                    <a:ea typeface="Cambria" panose="02040503050406030204" pitchFamily="18" charset="0"/>
                    <a:cs typeface="Cambria" panose="02040503050406030204" pitchFamily="18" charset="0"/>
                  </a:rPr>
                  <a:t> Para las edades entre 5 y 95 años, al ser </a:t>
                </a:r>
                <a:r>
                  <a:rPr lang="es-ES" sz="2000" dirty="0" err="1">
                    <a:effectLst/>
                    <a:latin typeface="Cambria" panose="02040503050406030204" pitchFamily="18" charset="0"/>
                    <a:ea typeface="Cambria" panose="02040503050406030204" pitchFamily="18" charset="0"/>
                    <a:cs typeface="Cambria" panose="02040503050406030204" pitchFamily="18" charset="0"/>
                  </a:rPr>
                  <a:t>ax</a:t>
                </a:r>
                <a:r>
                  <a:rPr lang="es-ES" sz="2000" dirty="0">
                    <a:effectLst/>
                    <a:latin typeface="Cambria" panose="02040503050406030204" pitchFamily="18" charset="0"/>
                    <a:ea typeface="Cambria" panose="02040503050406030204" pitchFamily="18" charset="0"/>
                    <a:cs typeface="Cambria" panose="02040503050406030204" pitchFamily="18" charset="0"/>
                  </a:rPr>
                  <a:t>=0.5, la fórmula es equivalente a: </a:t>
                </a:r>
                <a:endParaRPr lang="en-US" sz="2000" dirty="0">
                  <a:effectLst/>
                  <a:latin typeface="Times New Roman" panose="02020603050405020304" pitchFamily="18" charset="0"/>
                  <a:ea typeface="Times New Roman" panose="02020603050405020304" pitchFamily="18" charset="0"/>
                </a:endParaRPr>
              </a:p>
              <a:p>
                <a:pPr marL="457200" lvl="1" indent="449580"/>
                <a:r>
                  <a:rPr lang="es-ES" sz="2000" dirty="0">
                    <a:effectLst/>
                    <a:latin typeface="Cambria" panose="02040503050406030204" pitchFamily="18" charset="0"/>
                    <a:ea typeface="Cambria" panose="02040503050406030204" pitchFamily="18" charset="0"/>
                    <a:cs typeface="Cambria" panose="02040503050406030204" pitchFamily="18" charset="0"/>
                  </a:rPr>
                  <a:t> </a:t>
                </a:r>
                <a14:m>
                  <m:oMath xmlns:m="http://schemas.openxmlformats.org/officeDocument/2006/math">
                    <m:sPre>
                      <m:sPrePr>
                        <m:ctrlPr>
                          <a:rPr lang="en-US" sz="2000" i="1">
                            <a:latin typeface="Cambria Math" panose="02040503050406030204" pitchFamily="18" charset="0"/>
                            <a:ea typeface="Cambria Math" panose="02040503050406030204" pitchFamily="18" charset="0"/>
                          </a:rPr>
                        </m:ctrlPr>
                      </m:sPrePr>
                      <m:sub>
                        <m:r>
                          <a:rPr lang="es-CR" sz="2000" i="1">
                            <a:latin typeface="Cambria Math" panose="02040503050406030204" pitchFamily="18" charset="0"/>
                            <a:ea typeface="Cambria Math" panose="02040503050406030204" pitchFamily="18" charset="0"/>
                          </a:rPr>
                          <m:t>𝑛</m:t>
                        </m:r>
                      </m:sub>
                      <m:sup/>
                      <m:e>
                        <m:sSub>
                          <m:sSubPr>
                            <m:ctrlPr>
                              <a:rPr lang="en-US" sz="2000" i="1">
                                <a:latin typeface="Cambria Math" panose="02040503050406030204" pitchFamily="18" charset="0"/>
                              </a:rPr>
                            </m:ctrlPr>
                          </m:sSubPr>
                          <m:e>
                            <m:r>
                              <a:rPr lang="es-CR" sz="2000" i="1">
                                <a:latin typeface="Cambria Math" panose="02040503050406030204" pitchFamily="18" charset="0"/>
                              </a:rPr>
                              <m:t>𝑞</m:t>
                            </m:r>
                          </m:e>
                          <m:sub>
                            <m:r>
                              <a:rPr lang="es-CR" sz="2000" i="1">
                                <a:latin typeface="Cambria Math" panose="02040503050406030204" pitchFamily="18" charset="0"/>
                              </a:rPr>
                              <m:t>𝑥</m:t>
                            </m:r>
                          </m:sub>
                        </m:sSub>
                      </m:e>
                    </m:sPre>
                    <m:r>
                      <a:rPr lang="es-ES" sz="2000" i="1">
                        <a:effectLst/>
                        <a:latin typeface="Cambria Math" panose="02040503050406030204" pitchFamily="18" charset="0"/>
                        <a:ea typeface="Cambria Math" panose="02040503050406030204" pitchFamily="18" charset="0"/>
                        <a:cs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s-ES" sz="2000" i="1">
                            <a:effectLst/>
                            <a:latin typeface="Cambria Math" panose="02040503050406030204" pitchFamily="18" charset="0"/>
                            <a:ea typeface="Cambria Math" panose="02040503050406030204" pitchFamily="18" charset="0"/>
                            <a:cs typeface="Cambria Math" panose="02040503050406030204" pitchFamily="18" charset="0"/>
                          </a:rPr>
                          <m:t>2</m:t>
                        </m:r>
                        <m:r>
                          <a:rPr lang="es-CR" sz="2000" b="0" i="1" smtClean="0">
                            <a:effectLst/>
                            <a:latin typeface="Cambria Math" panose="02040503050406030204" pitchFamily="18" charset="0"/>
                            <a:ea typeface="Cambria Math" panose="02040503050406030204" pitchFamily="18" charset="0"/>
                            <a:cs typeface="Cambria Math" panose="02040503050406030204" pitchFamily="18" charset="0"/>
                          </a:rPr>
                          <m:t>∗</m:t>
                        </m:r>
                        <m:sPre>
                          <m:sPrePr>
                            <m:ctrlPr>
                              <a:rPr lang="en-US" sz="2000" i="1">
                                <a:latin typeface="Cambria Math" panose="02040503050406030204" pitchFamily="18" charset="0"/>
                                <a:ea typeface="Cambria Math" panose="02040503050406030204" pitchFamily="18" charset="0"/>
                              </a:rPr>
                            </m:ctrlPr>
                          </m:sPrePr>
                          <m:sub>
                            <m:r>
                              <a:rPr lang="es-CR" sz="2000" i="1">
                                <a:latin typeface="Cambria Math" panose="02040503050406030204" pitchFamily="18" charset="0"/>
                                <a:ea typeface="Cambria Math" panose="02040503050406030204" pitchFamily="18" charset="0"/>
                              </a:rPr>
                              <m:t>𝑛</m:t>
                            </m:r>
                          </m:sub>
                          <m:sup/>
                          <m:e>
                            <m:sSub>
                              <m:sSubPr>
                                <m:ctrlPr>
                                  <a:rPr lang="en-US" sz="2000" i="1">
                                    <a:latin typeface="Cambria Math" panose="02040503050406030204" pitchFamily="18" charset="0"/>
                                  </a:rPr>
                                </m:ctrlPr>
                              </m:sSubPr>
                              <m:e>
                                <m:r>
                                  <a:rPr lang="es-CR" sz="2000" i="1">
                                    <a:latin typeface="Cambria Math" panose="02040503050406030204" pitchFamily="18" charset="0"/>
                                  </a:rPr>
                                  <m:t>𝑚</m:t>
                                </m:r>
                              </m:e>
                              <m:sub>
                                <m:r>
                                  <a:rPr lang="es-CR" sz="2000" i="1">
                                    <a:latin typeface="Cambria Math" panose="02040503050406030204" pitchFamily="18" charset="0"/>
                                  </a:rPr>
                                  <m:t>𝑥</m:t>
                                </m:r>
                              </m:sub>
                            </m:sSub>
                          </m:e>
                        </m:sPre>
                      </m:num>
                      <m:den>
                        <m:r>
                          <a:rPr lang="es-ES" sz="2000" i="1">
                            <a:effectLst/>
                            <a:latin typeface="Cambria Math" panose="02040503050406030204" pitchFamily="18" charset="0"/>
                            <a:ea typeface="Cambria Math" panose="02040503050406030204" pitchFamily="18" charset="0"/>
                            <a:cs typeface="Cambria Math" panose="02040503050406030204" pitchFamily="18" charset="0"/>
                          </a:rPr>
                          <m:t>2+</m:t>
                        </m:r>
                        <m:sPre>
                          <m:sPrePr>
                            <m:ctrlPr>
                              <a:rPr lang="en-US" sz="2000" i="1">
                                <a:latin typeface="Cambria Math" panose="02040503050406030204" pitchFamily="18" charset="0"/>
                                <a:ea typeface="Cambria Math" panose="02040503050406030204" pitchFamily="18" charset="0"/>
                              </a:rPr>
                            </m:ctrlPr>
                          </m:sPrePr>
                          <m:sub>
                            <m:r>
                              <a:rPr lang="es-CR" sz="2000" i="1">
                                <a:latin typeface="Cambria Math" panose="02040503050406030204" pitchFamily="18" charset="0"/>
                                <a:ea typeface="Cambria Math" panose="02040503050406030204" pitchFamily="18" charset="0"/>
                              </a:rPr>
                              <m:t>𝑛</m:t>
                            </m:r>
                          </m:sub>
                          <m:sup/>
                          <m:e>
                            <m:sSub>
                              <m:sSubPr>
                                <m:ctrlPr>
                                  <a:rPr lang="en-US" sz="2000" i="1">
                                    <a:latin typeface="Cambria Math" panose="02040503050406030204" pitchFamily="18" charset="0"/>
                                  </a:rPr>
                                </m:ctrlPr>
                              </m:sSubPr>
                              <m:e>
                                <m:r>
                                  <a:rPr lang="es-CR" sz="2000" i="1">
                                    <a:latin typeface="Cambria Math" panose="02040503050406030204" pitchFamily="18" charset="0"/>
                                  </a:rPr>
                                  <m:t>𝑚</m:t>
                                </m:r>
                              </m:e>
                              <m:sub>
                                <m:r>
                                  <a:rPr lang="es-CR" sz="2000" i="1">
                                    <a:latin typeface="Cambria Math" panose="02040503050406030204" pitchFamily="18" charset="0"/>
                                  </a:rPr>
                                  <m:t>𝑥</m:t>
                                </m:r>
                              </m:sub>
                            </m:sSub>
                          </m:e>
                        </m:sPre>
                      </m:den>
                    </m:f>
                  </m:oMath>
                </a14:m>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en</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edades</a:t>
                </a:r>
                <a:r>
                  <a:rPr lang="en-US" sz="2000" dirty="0">
                    <a:effectLst/>
                    <a:latin typeface="Times New Roman" panose="02020603050405020304" pitchFamily="18" charset="0"/>
                    <a:ea typeface="Times New Roman" panose="02020603050405020304" pitchFamily="18" charset="0"/>
                  </a:rPr>
                  <a:t> simples, y</a:t>
                </a:r>
              </a:p>
              <a:p>
                <a:pPr marL="457200" lvl="1" indent="449580"/>
                <a:r>
                  <a:rPr lang="es-ES" sz="2000" dirty="0">
                    <a:effectLst/>
                    <a:latin typeface="Cambria" panose="02040503050406030204" pitchFamily="18" charset="0"/>
                    <a:ea typeface="Cambria" panose="02040503050406030204" pitchFamily="18" charset="0"/>
                    <a:cs typeface="Cambria" panose="02040503050406030204" pitchFamily="18" charset="0"/>
                  </a:rPr>
                  <a:t> </a:t>
                </a:r>
                <a14:m>
                  <m:oMath xmlns:m="http://schemas.openxmlformats.org/officeDocument/2006/math">
                    <m:sPre>
                      <m:sPrePr>
                        <m:ctrlPr>
                          <a:rPr lang="en-US" sz="2000" i="1" smtClean="0">
                            <a:latin typeface="Cambria Math" panose="02040503050406030204" pitchFamily="18" charset="0"/>
                            <a:ea typeface="Cambria Math" panose="02040503050406030204" pitchFamily="18" charset="0"/>
                          </a:rPr>
                        </m:ctrlPr>
                      </m:sPrePr>
                      <m:sub>
                        <m:r>
                          <a:rPr lang="es-CR" sz="2000" i="1">
                            <a:latin typeface="Cambria Math" panose="02040503050406030204" pitchFamily="18" charset="0"/>
                            <a:ea typeface="Cambria Math" panose="02040503050406030204" pitchFamily="18" charset="0"/>
                          </a:rPr>
                          <m:t>𝑛</m:t>
                        </m:r>
                      </m:sub>
                      <m:sup/>
                      <m:e>
                        <m:sSub>
                          <m:sSubPr>
                            <m:ctrlPr>
                              <a:rPr lang="en-US" sz="2000" i="1">
                                <a:latin typeface="Cambria Math" panose="02040503050406030204" pitchFamily="18" charset="0"/>
                              </a:rPr>
                            </m:ctrlPr>
                          </m:sSubPr>
                          <m:e>
                            <m:r>
                              <a:rPr lang="es-CR" sz="2000" i="1">
                                <a:latin typeface="Cambria Math" panose="02040503050406030204" pitchFamily="18" charset="0"/>
                              </a:rPr>
                              <m:t>𝑞</m:t>
                            </m:r>
                          </m:e>
                          <m:sub>
                            <m:r>
                              <a:rPr lang="es-CR" sz="2000" i="1">
                                <a:latin typeface="Cambria Math" panose="02040503050406030204" pitchFamily="18" charset="0"/>
                              </a:rPr>
                              <m:t>𝑥</m:t>
                            </m:r>
                          </m:sub>
                        </m:sSub>
                      </m:e>
                    </m:sPre>
                    <m:r>
                      <a:rPr lang="es-ES" sz="2000" i="1">
                        <a:effectLst/>
                        <a:latin typeface="Cambria Math" panose="02040503050406030204" pitchFamily="18" charset="0"/>
                        <a:ea typeface="Cambria Math" panose="02040503050406030204" pitchFamily="18" charset="0"/>
                        <a:cs typeface="Cambria Math" panose="02040503050406030204" pitchFamily="18" charset="0"/>
                      </a:rPr>
                      <m:t>=</m:t>
                    </m:r>
                    <m:f>
                      <m:fPr>
                        <m:ctrlPr>
                          <a:rPr lang="en-US"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s-ES" sz="2000" i="1">
                            <a:effectLst/>
                            <a:latin typeface="Cambria Math" panose="02040503050406030204" pitchFamily="18" charset="0"/>
                            <a:ea typeface="Cambria Math" panose="02040503050406030204" pitchFamily="18" charset="0"/>
                            <a:cs typeface="Cambria Math" panose="02040503050406030204" pitchFamily="18" charset="0"/>
                          </a:rPr>
                          <m:t>2</m:t>
                        </m:r>
                        <m:r>
                          <a:rPr lang="es-CR" sz="2000" b="0" i="1" smtClean="0">
                            <a:effectLst/>
                            <a:latin typeface="Cambria Math" panose="02040503050406030204" pitchFamily="18" charset="0"/>
                            <a:ea typeface="Cambria Math" panose="02040503050406030204" pitchFamily="18" charset="0"/>
                            <a:cs typeface="Cambria Math" panose="02040503050406030204" pitchFamily="18" charset="0"/>
                          </a:rPr>
                          <m:t>∗</m:t>
                        </m:r>
                        <m:r>
                          <a:rPr lang="es-CR" sz="2000" b="0" i="1" smtClean="0">
                            <a:effectLst/>
                            <a:latin typeface="Cambria Math" panose="02040503050406030204" pitchFamily="18" charset="0"/>
                            <a:ea typeface="Cambria Math" panose="02040503050406030204" pitchFamily="18" charset="0"/>
                            <a:cs typeface="Cambria Math" panose="02040503050406030204" pitchFamily="18" charset="0"/>
                          </a:rPr>
                          <m:t>𝑛</m:t>
                        </m:r>
                        <m:r>
                          <a:rPr lang="es-CR" sz="2000" b="0" i="1" smtClean="0">
                            <a:effectLst/>
                            <a:latin typeface="Cambria Math" panose="02040503050406030204" pitchFamily="18" charset="0"/>
                            <a:ea typeface="Cambria Math" panose="02040503050406030204" pitchFamily="18" charset="0"/>
                            <a:cs typeface="Cambria Math" panose="02040503050406030204" pitchFamily="18" charset="0"/>
                          </a:rPr>
                          <m:t>∗</m:t>
                        </m:r>
                        <m:sPre>
                          <m:sPrePr>
                            <m:ctrlPr>
                              <a:rPr lang="en-US" sz="2000" i="1">
                                <a:latin typeface="Cambria Math" panose="02040503050406030204" pitchFamily="18" charset="0"/>
                                <a:ea typeface="Cambria Math" panose="02040503050406030204" pitchFamily="18" charset="0"/>
                              </a:rPr>
                            </m:ctrlPr>
                          </m:sPrePr>
                          <m:sub>
                            <m:r>
                              <a:rPr lang="es-CR" sz="2000" i="1">
                                <a:latin typeface="Cambria Math" panose="02040503050406030204" pitchFamily="18" charset="0"/>
                                <a:ea typeface="Cambria Math" panose="02040503050406030204" pitchFamily="18" charset="0"/>
                              </a:rPr>
                              <m:t>𝑛</m:t>
                            </m:r>
                          </m:sub>
                          <m:sup/>
                          <m:e>
                            <m:sSub>
                              <m:sSubPr>
                                <m:ctrlPr>
                                  <a:rPr lang="en-US" sz="2000" i="1">
                                    <a:latin typeface="Cambria Math" panose="02040503050406030204" pitchFamily="18" charset="0"/>
                                  </a:rPr>
                                </m:ctrlPr>
                              </m:sSubPr>
                              <m:e>
                                <m:r>
                                  <a:rPr lang="es-CR" sz="2000" i="1">
                                    <a:latin typeface="Cambria Math" panose="02040503050406030204" pitchFamily="18" charset="0"/>
                                  </a:rPr>
                                  <m:t>𝑚</m:t>
                                </m:r>
                              </m:e>
                              <m:sub>
                                <m:r>
                                  <a:rPr lang="es-CR" sz="2000" i="1">
                                    <a:latin typeface="Cambria Math" panose="02040503050406030204" pitchFamily="18" charset="0"/>
                                  </a:rPr>
                                  <m:t>𝑥</m:t>
                                </m:r>
                              </m:sub>
                            </m:sSub>
                          </m:e>
                        </m:sPre>
                      </m:num>
                      <m:den>
                        <m:r>
                          <a:rPr lang="es-ES" sz="2000" i="1">
                            <a:effectLst/>
                            <a:latin typeface="Cambria Math" panose="02040503050406030204" pitchFamily="18" charset="0"/>
                            <a:ea typeface="Cambria Math" panose="02040503050406030204" pitchFamily="18" charset="0"/>
                            <a:cs typeface="Cambria Math" panose="02040503050406030204" pitchFamily="18" charset="0"/>
                          </a:rPr>
                          <m:t>2</m:t>
                        </m:r>
                        <m:r>
                          <a:rPr lang="es-CR" sz="2000" b="0" i="1" smtClean="0">
                            <a:effectLst/>
                            <a:latin typeface="Cambria Math" panose="02040503050406030204" pitchFamily="18" charset="0"/>
                            <a:ea typeface="Cambria Math" panose="02040503050406030204" pitchFamily="18" charset="0"/>
                            <a:cs typeface="Cambria Math" panose="02040503050406030204" pitchFamily="18" charset="0"/>
                          </a:rPr>
                          <m:t>+</m:t>
                        </m:r>
                        <m:r>
                          <a:rPr lang="es-CR" sz="2000" b="0" i="1" smtClean="0">
                            <a:effectLst/>
                            <a:latin typeface="Cambria Math" panose="02040503050406030204" pitchFamily="18" charset="0"/>
                            <a:ea typeface="Cambria Math" panose="02040503050406030204" pitchFamily="18" charset="0"/>
                            <a:cs typeface="Cambria Math" panose="02040503050406030204" pitchFamily="18" charset="0"/>
                          </a:rPr>
                          <m:t>𝑛</m:t>
                        </m:r>
                        <m:r>
                          <a:rPr lang="es-CR" sz="2000" b="0" i="1" smtClean="0">
                            <a:effectLst/>
                            <a:latin typeface="Cambria Math" panose="02040503050406030204" pitchFamily="18" charset="0"/>
                            <a:ea typeface="Cambria Math" panose="02040503050406030204" pitchFamily="18" charset="0"/>
                            <a:cs typeface="Cambria Math" panose="02040503050406030204" pitchFamily="18" charset="0"/>
                          </a:rPr>
                          <m:t>∗</m:t>
                        </m:r>
                        <m:sPre>
                          <m:sPrePr>
                            <m:ctrlPr>
                              <a:rPr lang="en-US" sz="2000" i="1">
                                <a:latin typeface="Cambria Math" panose="02040503050406030204" pitchFamily="18" charset="0"/>
                                <a:ea typeface="Cambria Math" panose="02040503050406030204" pitchFamily="18" charset="0"/>
                              </a:rPr>
                            </m:ctrlPr>
                          </m:sPrePr>
                          <m:sub>
                            <m:r>
                              <a:rPr lang="es-CR" sz="2000" i="1">
                                <a:latin typeface="Cambria Math" panose="02040503050406030204" pitchFamily="18" charset="0"/>
                                <a:ea typeface="Cambria Math" panose="02040503050406030204" pitchFamily="18" charset="0"/>
                              </a:rPr>
                              <m:t>𝑛</m:t>
                            </m:r>
                          </m:sub>
                          <m:sup/>
                          <m:e>
                            <m:sSub>
                              <m:sSubPr>
                                <m:ctrlPr>
                                  <a:rPr lang="en-US" sz="2000" i="1">
                                    <a:latin typeface="Cambria Math" panose="02040503050406030204" pitchFamily="18" charset="0"/>
                                  </a:rPr>
                                </m:ctrlPr>
                              </m:sSubPr>
                              <m:e>
                                <m:r>
                                  <a:rPr lang="es-CR" sz="2000" i="1">
                                    <a:latin typeface="Cambria Math" panose="02040503050406030204" pitchFamily="18" charset="0"/>
                                  </a:rPr>
                                  <m:t>𝑚</m:t>
                                </m:r>
                              </m:e>
                              <m:sub>
                                <m:r>
                                  <a:rPr lang="es-CR" sz="2000" i="1">
                                    <a:latin typeface="Cambria Math" panose="02040503050406030204" pitchFamily="18" charset="0"/>
                                  </a:rPr>
                                  <m:t>𝑥</m:t>
                                </m:r>
                              </m:sub>
                            </m:sSub>
                          </m:e>
                        </m:sPre>
                      </m:den>
                    </m:f>
                  </m:oMath>
                </a14:m>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en</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otras</a:t>
                </a:r>
                <a:r>
                  <a:rPr lang="en-US" sz="2000" dirty="0">
                    <a:effectLst/>
                    <a:latin typeface="Times New Roman" panose="02020603050405020304" pitchFamily="18" charset="0"/>
                    <a:ea typeface="Times New Roman" panose="02020603050405020304" pitchFamily="18" charset="0"/>
                  </a:rPr>
                  <a:t> amplitudes de </a:t>
                </a:r>
                <a:r>
                  <a:rPr lang="en-US" sz="2000" dirty="0" err="1">
                    <a:effectLst/>
                    <a:latin typeface="Times New Roman" panose="02020603050405020304" pitchFamily="18" charset="0"/>
                    <a:ea typeface="Times New Roman" panose="02020603050405020304" pitchFamily="18" charset="0"/>
                  </a:rPr>
                  <a:t>clase</a:t>
                </a:r>
                <a:r>
                  <a:rPr lang="en-US" sz="2000" dirty="0">
                    <a:effectLst/>
                    <a:latin typeface="Times New Roman" panose="02020603050405020304" pitchFamily="18" charset="0"/>
                    <a:ea typeface="Times New Roman" panose="02020603050405020304" pitchFamily="18" charset="0"/>
                  </a:rPr>
                  <a:t> para la </a:t>
                </a:r>
                <a:r>
                  <a:rPr lang="en-US" sz="2000" dirty="0" err="1">
                    <a:effectLst/>
                    <a:latin typeface="Times New Roman" panose="02020603050405020304" pitchFamily="18" charset="0"/>
                    <a:ea typeface="Times New Roman" panose="02020603050405020304" pitchFamily="18" charset="0"/>
                  </a:rPr>
                  <a:t>edad</a:t>
                </a:r>
                <a:endParaRPr lang="en-US" sz="2000" dirty="0">
                  <a:effectLst/>
                  <a:latin typeface="Times New Roman" panose="02020603050405020304" pitchFamily="18" charset="0"/>
                  <a:ea typeface="Times New Roman" panose="02020603050405020304" pitchFamily="18" charset="0"/>
                </a:endParaRPr>
              </a:p>
              <a:p>
                <a:pPr marL="0" marR="0" indent="449580"/>
                <a:endParaRPr lang="en-US" sz="1800" dirty="0">
                  <a:effectLst/>
                  <a:latin typeface="Times New Roman" panose="02020603050405020304" pitchFamily="18" charset="0"/>
                  <a:ea typeface="Times New Roman" panose="02020603050405020304" pitchFamily="18" charset="0"/>
                </a:endParaRPr>
              </a:p>
              <a:p>
                <a:pPr marL="0" marR="0"/>
                <a:r>
                  <a:rPr lang="es-ES" sz="2600" b="1" i="1" dirty="0">
                    <a:solidFill>
                      <a:srgbClr val="000000"/>
                    </a:solidFill>
                    <a:effectLst/>
                    <a:latin typeface="Cambria" panose="02040503050406030204" pitchFamily="18" charset="0"/>
                  </a:rPr>
                  <a:t>Probabilidad de sobrevivir entre edades x y </a:t>
                </a:r>
                <a:r>
                  <a:rPr lang="es-ES" sz="2600" b="1" i="1" dirty="0" err="1">
                    <a:solidFill>
                      <a:srgbClr val="000000"/>
                    </a:solidFill>
                    <a:effectLst/>
                    <a:latin typeface="Cambria" panose="02040503050406030204" pitchFamily="18" charset="0"/>
                  </a:rPr>
                  <a:t>x+n</a:t>
                </a:r>
                <a:r>
                  <a:rPr lang="es-ES" sz="2600" b="1" i="1" dirty="0">
                    <a:solidFill>
                      <a:srgbClr val="000000"/>
                    </a:solidFill>
                    <a:effectLst/>
                    <a:latin typeface="Cambria" panose="02040503050406030204" pitchFamily="18" charset="0"/>
                  </a:rPr>
                  <a:t> </a:t>
                </a:r>
                <a:r>
                  <a:rPr lang="es-ES" sz="2600" b="1" i="1" baseline="-25000" dirty="0" err="1">
                    <a:solidFill>
                      <a:srgbClr val="000000"/>
                    </a:solidFill>
                    <a:effectLst/>
                    <a:latin typeface="Cambria" panose="02040503050406030204" pitchFamily="18" charset="0"/>
                  </a:rPr>
                  <a:t>n</a:t>
                </a:r>
                <a:r>
                  <a:rPr lang="es-ES" sz="2600" b="1" i="1" dirty="0" err="1">
                    <a:solidFill>
                      <a:srgbClr val="000000"/>
                    </a:solidFill>
                    <a:effectLst/>
                    <a:latin typeface="Cambria" panose="02040503050406030204" pitchFamily="18" charset="0"/>
                  </a:rPr>
                  <a:t>p</a:t>
                </a:r>
                <a:r>
                  <a:rPr lang="es-ES" sz="2600" b="1" i="1" baseline="-25000" dirty="0" err="1">
                    <a:solidFill>
                      <a:srgbClr val="000000"/>
                    </a:solidFill>
                    <a:effectLst/>
                    <a:latin typeface="Cambria" panose="02040503050406030204" pitchFamily="18" charset="0"/>
                  </a:rPr>
                  <a:t>x</a:t>
                </a:r>
                <a:r>
                  <a:rPr lang="es-ES" sz="2600" b="1" i="1" baseline="-25000" dirty="0">
                    <a:solidFill>
                      <a:srgbClr val="000000"/>
                    </a:solidFill>
                    <a:effectLst/>
                    <a:latin typeface="Cambria" panose="02040503050406030204" pitchFamily="18" charset="0"/>
                  </a:rPr>
                  <a:t> </a:t>
                </a:r>
                <a:endParaRPr lang="en-US" sz="2600" b="1" i="1" dirty="0">
                  <a:solidFill>
                    <a:srgbClr val="000000"/>
                  </a:solidFill>
                  <a:effectLst/>
                  <a:latin typeface="Cambria" panose="02040503050406030204" pitchFamily="18" charset="0"/>
                </a:endParaRPr>
              </a:p>
              <a:p>
                <a:pPr marL="457200" lvl="1"/>
                <a:r>
                  <a:rPr lang="es-ES" sz="2000" dirty="0">
                    <a:effectLst/>
                    <a:latin typeface="Cambria" panose="02040503050406030204" pitchFamily="18" charset="0"/>
                    <a:ea typeface="Cambria" panose="02040503050406030204" pitchFamily="18" charset="0"/>
                    <a:cs typeface="Cambria" panose="02040503050406030204" pitchFamily="18" charset="0"/>
                  </a:rPr>
                  <a:t> Es la probabilidad de sobrevivir de que una persona de edad exacta x sobreviva a la edad </a:t>
                </a:r>
                <a:r>
                  <a:rPr lang="es-ES" sz="2000" dirty="0" err="1">
                    <a:effectLst/>
                    <a:latin typeface="Cambria" panose="02040503050406030204" pitchFamily="18" charset="0"/>
                    <a:ea typeface="Cambria" panose="02040503050406030204" pitchFamily="18" charset="0"/>
                    <a:cs typeface="Cambria" panose="02040503050406030204" pitchFamily="18" charset="0"/>
                  </a:rPr>
                  <a:t>x+n</a:t>
                </a:r>
                <a:r>
                  <a:rPr lang="es-ES" sz="2000" dirty="0">
                    <a:latin typeface="Cambria" panose="02040503050406030204" pitchFamily="18" charset="0"/>
                    <a:ea typeface="Cambria" panose="02040503050406030204" pitchFamily="18" charset="0"/>
                    <a:cs typeface="Cambria" panose="02040503050406030204" pitchFamily="18" charset="0"/>
                  </a:rPr>
                  <a:t>, o la probabilidad de sobrevivir a la edad </a:t>
                </a:r>
                <a:r>
                  <a:rPr lang="es-ES" sz="2000" dirty="0" err="1">
                    <a:latin typeface="Cambria" panose="02040503050406030204" pitchFamily="18" charset="0"/>
                    <a:ea typeface="Cambria" panose="02040503050406030204" pitchFamily="18" charset="0"/>
                    <a:cs typeface="Cambria" panose="02040503050406030204" pitchFamily="18" charset="0"/>
                  </a:rPr>
                  <a:t>x+n</a:t>
                </a:r>
                <a:r>
                  <a:rPr lang="es-ES" sz="2000" dirty="0">
                    <a:latin typeface="Cambria" panose="02040503050406030204" pitchFamily="18" charset="0"/>
                    <a:ea typeface="Cambria" panose="02040503050406030204" pitchFamily="18" charset="0"/>
                    <a:cs typeface="Cambria" panose="02040503050406030204" pitchFamily="18" charset="0"/>
                  </a:rPr>
                  <a:t>, condicional a que se sobrevivió a la edad x.  </a:t>
                </a:r>
              </a:p>
              <a:p>
                <a:pPr marL="914400" lvl="2" indent="0">
                  <a:buNone/>
                </a:pPr>
                <a:r>
                  <a:rPr lang="es-ES" dirty="0">
                    <a:effectLst/>
                    <a:latin typeface="Cambria" panose="02040503050406030204" pitchFamily="18" charset="0"/>
                    <a:ea typeface="Cambria" panose="02040503050406030204" pitchFamily="18" charset="0"/>
                    <a:cs typeface="Cambria" panose="02040503050406030204" pitchFamily="18" charset="0"/>
                  </a:rPr>
                  <a:t> </a:t>
                </a:r>
                <a14:m>
                  <m:oMath xmlns:m="http://schemas.openxmlformats.org/officeDocument/2006/math">
                    <m:sPre>
                      <m:sPrePr>
                        <m:ctrlPr>
                          <a:rPr lang="en-US" i="1">
                            <a:latin typeface="Cambria Math" panose="02040503050406030204" pitchFamily="18" charset="0"/>
                            <a:ea typeface="Cambria Math" panose="02040503050406030204" pitchFamily="18" charset="0"/>
                          </a:rPr>
                        </m:ctrlPr>
                      </m:sPrePr>
                      <m:sub>
                        <m:r>
                          <a:rPr lang="es-CR" i="1">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s-CR" b="0" i="1" smtClean="0">
                                <a:latin typeface="Cambria Math" panose="02040503050406030204" pitchFamily="18" charset="0"/>
                              </a:rPr>
                              <m:t>𝑝</m:t>
                            </m:r>
                          </m:e>
                          <m:sub>
                            <m:r>
                              <a:rPr lang="es-CR" i="1">
                                <a:latin typeface="Cambria Math" panose="02040503050406030204" pitchFamily="18" charset="0"/>
                              </a:rPr>
                              <m:t>𝑥</m:t>
                            </m:r>
                          </m:sub>
                        </m:sSub>
                      </m:e>
                    </m:sPre>
                    <m:r>
                      <a:rPr lang="es-ES" i="1">
                        <a:effectLst/>
                        <a:latin typeface="Cambria Math" panose="02040503050406030204" pitchFamily="18" charset="0"/>
                        <a:ea typeface="Cambria Math" panose="02040503050406030204" pitchFamily="18" charset="0"/>
                        <a:cs typeface="Cambria Math" panose="02040503050406030204" pitchFamily="18" charset="0"/>
                      </a:rPr>
                      <m:t>=</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1−</m:t>
                    </m:r>
                    <m:sPre>
                      <m:sPrePr>
                        <m:ctrlPr>
                          <a:rPr lang="en-US" i="1">
                            <a:latin typeface="Cambria Math" panose="02040503050406030204" pitchFamily="18" charset="0"/>
                            <a:ea typeface="Cambria Math" panose="02040503050406030204" pitchFamily="18" charset="0"/>
                          </a:rPr>
                        </m:ctrlPr>
                      </m:sPrePr>
                      <m:sub>
                        <m:r>
                          <a:rPr lang="es-CR" i="1">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s-CR" i="1">
                                <a:latin typeface="Cambria Math" panose="02040503050406030204" pitchFamily="18" charset="0"/>
                              </a:rPr>
                              <m:t>𝑞</m:t>
                            </m:r>
                          </m:e>
                          <m:sub>
                            <m:r>
                              <a:rPr lang="es-CR" i="1">
                                <a:latin typeface="Cambria Math" panose="02040503050406030204" pitchFamily="18" charset="0"/>
                              </a:rPr>
                              <m:t>𝑥</m:t>
                            </m:r>
                          </m:sub>
                        </m:sSub>
                      </m:e>
                    </m:sPre>
                  </m:oMath>
                </a14:m>
                <a:endParaRPr lang="en-US" dirty="0">
                  <a:effectLst/>
                  <a:latin typeface="Times New Roman" panose="02020603050405020304" pitchFamily="18" charset="0"/>
                  <a:ea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70ACA14C-BA18-5272-0196-E71BF542D2EC}"/>
                  </a:ext>
                </a:extLst>
              </p:cNvPr>
              <p:cNvSpPr>
                <a:spLocks noGrp="1" noRot="1" noChangeAspect="1" noMove="1" noResize="1" noEditPoints="1" noAdjustHandles="1" noChangeArrowheads="1" noChangeShapeType="1" noTextEdit="1"/>
              </p:cNvSpPr>
              <p:nvPr>
                <p:ph idx="1"/>
              </p:nvPr>
            </p:nvSpPr>
            <p:spPr>
              <a:xfrm>
                <a:off x="838200" y="1481960"/>
                <a:ext cx="10515600" cy="5123792"/>
              </a:xfrm>
              <a:blipFill>
                <a:blip r:embed="rId2"/>
                <a:stretch>
                  <a:fillRect l="-928" t="-1902" r="-232"/>
                </a:stretch>
              </a:blipFill>
            </p:spPr>
            <p:txBody>
              <a:bodyPr/>
              <a:lstStyle/>
              <a:p>
                <a:r>
                  <a:rPr lang="en-US">
                    <a:noFill/>
                  </a:rPr>
                  <a:t> </a:t>
                </a:r>
              </a:p>
            </p:txBody>
          </p:sp>
        </mc:Fallback>
      </mc:AlternateContent>
    </p:spTree>
    <p:extLst>
      <p:ext uri="{BB962C8B-B14F-4D97-AF65-F5344CB8AC3E}">
        <p14:creationId xmlns:p14="http://schemas.microsoft.com/office/powerpoint/2010/main" val="2140075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ED2C6-835D-B1DA-4927-D22D2B7938A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B806B55-29BF-6D3B-B79F-2DB78F42BBF0}"/>
              </a:ext>
            </a:extLst>
          </p:cNvPr>
          <p:cNvSpPr>
            <a:spLocks noGrp="1"/>
          </p:cNvSpPr>
          <p:nvPr>
            <p:ph type="title"/>
          </p:nvPr>
        </p:nvSpPr>
        <p:spPr/>
        <p:txBody>
          <a:bodyPr/>
          <a:lstStyle/>
          <a:p>
            <a:r>
              <a:rPr lang="es-CR" dirty="0"/>
              <a:t>Funciones de tabla de vida</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0033361-BAFB-46A7-C101-949DC87C88D4}"/>
                  </a:ext>
                </a:extLst>
              </p:cNvPr>
              <p:cNvSpPr>
                <a:spLocks noGrp="1"/>
              </p:cNvSpPr>
              <p:nvPr>
                <p:ph idx="1"/>
              </p:nvPr>
            </p:nvSpPr>
            <p:spPr>
              <a:xfrm>
                <a:off x="838200" y="1481960"/>
                <a:ext cx="10515600" cy="5123792"/>
              </a:xfrm>
            </p:spPr>
            <p:txBody>
              <a:bodyPr>
                <a:normAutofit/>
              </a:bodyPr>
              <a:lstStyle/>
              <a:p>
                <a:pPr marL="0" marR="0"/>
                <a:r>
                  <a:rPr lang="es-ES" b="1" i="1" dirty="0">
                    <a:solidFill>
                      <a:srgbClr val="000000"/>
                    </a:solidFill>
                    <a:effectLst/>
                    <a:latin typeface="Cambria" panose="02040503050406030204" pitchFamily="18" charset="0"/>
                  </a:rPr>
                  <a:t>Número de sobrevivientes l</a:t>
                </a:r>
                <a:r>
                  <a:rPr lang="es-ES" b="1" i="1" baseline="-25000" dirty="0">
                    <a:solidFill>
                      <a:srgbClr val="000000"/>
                    </a:solidFill>
                    <a:effectLst/>
                    <a:latin typeface="Cambria" panose="02040503050406030204" pitchFamily="18" charset="0"/>
                  </a:rPr>
                  <a:t>x</a:t>
                </a:r>
                <a:r>
                  <a:rPr lang="es-ES" b="1" i="1" dirty="0">
                    <a:solidFill>
                      <a:srgbClr val="000000"/>
                    </a:solidFill>
                    <a:effectLst/>
                    <a:latin typeface="Cambria" panose="02040503050406030204" pitchFamily="18" charset="0"/>
                  </a:rPr>
                  <a:t> </a:t>
                </a:r>
                <a:endParaRPr lang="en-US" b="1" i="1" dirty="0">
                  <a:solidFill>
                    <a:srgbClr val="000000"/>
                  </a:solidFill>
                  <a:effectLst/>
                  <a:latin typeface="Cambria" panose="02040503050406030204" pitchFamily="18" charset="0"/>
                </a:endParaRPr>
              </a:p>
              <a:p>
                <a:pPr marL="457200" lvl="1"/>
                <a:r>
                  <a:rPr lang="es-ES" sz="2200" dirty="0">
                    <a:effectLst/>
                    <a:latin typeface="Cambria" panose="02040503050406030204" pitchFamily="18" charset="0"/>
                    <a:ea typeface="Cambria" panose="02040503050406030204" pitchFamily="18" charset="0"/>
                    <a:cs typeface="Cambria" panose="02040503050406030204" pitchFamily="18" charset="0"/>
                  </a:rPr>
                  <a:t> Representa el número de personas que alcanzan con vida la edad exacta </a:t>
                </a:r>
                <a:r>
                  <a:rPr lang="es-ES" sz="2200" i="1" dirty="0">
                    <a:effectLst/>
                    <a:latin typeface="Cambria" panose="02040503050406030204" pitchFamily="18" charset="0"/>
                    <a:ea typeface="Cambria" panose="02040503050406030204" pitchFamily="18" charset="0"/>
                    <a:cs typeface="Cambria" panose="02040503050406030204" pitchFamily="18" charset="0"/>
                  </a:rPr>
                  <a:t>x</a:t>
                </a:r>
                <a:r>
                  <a:rPr lang="es-ES" sz="2200" dirty="0">
                    <a:effectLst/>
                    <a:latin typeface="Cambria" panose="02040503050406030204" pitchFamily="18" charset="0"/>
                    <a:ea typeface="Cambria" panose="02040503050406030204" pitchFamily="18" charset="0"/>
                    <a:cs typeface="Cambria" panose="02040503050406030204" pitchFamily="18" charset="0"/>
                  </a:rPr>
                  <a:t> en la cohorte sintética que empieza con 100 000 nacimientos.  Su fórmula es: </a:t>
                </a:r>
                <a:endParaRPr lang="en-US" sz="2200" dirty="0">
                  <a:effectLst/>
                  <a:latin typeface="Times New Roman" panose="02020603050405020304" pitchFamily="18" charset="0"/>
                  <a:ea typeface="Times New Roman" panose="02020603050405020304" pitchFamily="18" charset="0"/>
                </a:endParaRPr>
              </a:p>
              <a:p>
                <a:pPr marL="914400" lvl="2"/>
                <a:r>
                  <a:rPr lang="es-ES" dirty="0">
                    <a:effectLst/>
                    <a:latin typeface="Cambria" panose="02040503050406030204" pitchFamily="18" charset="0"/>
                    <a:ea typeface="Cambria" panose="02040503050406030204" pitchFamily="18" charset="0"/>
                    <a:cs typeface="Cambria" panose="02040503050406030204" pitchFamily="18" charset="0"/>
                  </a:rPr>
                  <a:t> </a:t>
                </a:r>
                <a14:m>
                  <m:oMath xmlns:m="http://schemas.openxmlformats.org/officeDocument/2006/math">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s-ES" i="1">
                            <a:effectLst/>
                            <a:latin typeface="Cambria Math" panose="02040503050406030204" pitchFamily="18" charset="0"/>
                            <a:ea typeface="Cambria Math" panose="02040503050406030204" pitchFamily="18" charset="0"/>
                            <a:cs typeface="Cambria Math" panose="02040503050406030204" pitchFamily="18" charset="0"/>
                          </a:rPr>
                          <m:t>𝑙</m:t>
                        </m:r>
                      </m:e>
                      <m:sub>
                        <m:r>
                          <a:rPr lang="es-ES" i="1">
                            <a:effectLst/>
                            <a:latin typeface="Cambria Math" panose="02040503050406030204" pitchFamily="18" charset="0"/>
                            <a:ea typeface="Cambria Math" panose="02040503050406030204" pitchFamily="18" charset="0"/>
                            <a:cs typeface="Cambria Math" panose="02040503050406030204" pitchFamily="18" charset="0"/>
                          </a:rPr>
                          <m:t>𝑥</m:t>
                        </m:r>
                        <m:r>
                          <a:rPr lang="es-ES" i="1">
                            <a:effectLst/>
                            <a:latin typeface="Cambria Math" panose="02040503050406030204" pitchFamily="18" charset="0"/>
                            <a:ea typeface="Cambria Math" panose="02040503050406030204" pitchFamily="18" charset="0"/>
                            <a:cs typeface="Cambria Math" panose="02040503050406030204" pitchFamily="18" charset="0"/>
                          </a:rPr>
                          <m:t>+</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𝑛</m:t>
                        </m:r>
                      </m:sub>
                    </m:sSub>
                    <m:r>
                      <a:rPr lang="es-ES" i="1">
                        <a:effectLst/>
                        <a:latin typeface="Cambria Math" panose="02040503050406030204" pitchFamily="18" charset="0"/>
                        <a:ea typeface="Cambria Math" panose="02040503050406030204" pitchFamily="18" charset="0"/>
                        <a:cs typeface="Cambria Math" panose="02040503050406030204" pitchFamily="18" charset="0"/>
                      </a:rPr>
                      <m:t>=</m:t>
                    </m:r>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s-ES" i="1">
                            <a:effectLst/>
                            <a:latin typeface="Cambria Math" panose="02040503050406030204" pitchFamily="18" charset="0"/>
                            <a:ea typeface="Cambria Math" panose="02040503050406030204" pitchFamily="18" charset="0"/>
                            <a:cs typeface="Cambria Math" panose="02040503050406030204" pitchFamily="18" charset="0"/>
                          </a:rPr>
                          <m:t>𝑙</m:t>
                        </m:r>
                      </m:e>
                      <m:sub>
                        <m:r>
                          <a:rPr lang="es-ES" i="1">
                            <a:effectLst/>
                            <a:latin typeface="Cambria Math" panose="02040503050406030204" pitchFamily="18" charset="0"/>
                            <a:ea typeface="Cambria Math" panose="02040503050406030204" pitchFamily="18" charset="0"/>
                            <a:cs typeface="Cambria Math" panose="02040503050406030204" pitchFamily="18" charset="0"/>
                          </a:rPr>
                          <m:t>𝑥</m:t>
                        </m:r>
                      </m:sub>
                    </m:sSub>
                    <m:d>
                      <m:d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dPr>
                      <m:e>
                        <m:r>
                          <a:rPr lang="es-ES" i="1">
                            <a:effectLst/>
                            <a:latin typeface="Cambria Math" panose="02040503050406030204" pitchFamily="18" charset="0"/>
                            <a:ea typeface="Cambria Math" panose="02040503050406030204" pitchFamily="18" charset="0"/>
                            <a:cs typeface="Cambria Math" panose="02040503050406030204" pitchFamily="18" charset="0"/>
                          </a:rPr>
                          <m:t>1−</m:t>
                        </m:r>
                        <m:sPre>
                          <m:sPrePr>
                            <m:ctrlPr>
                              <a:rPr lang="es-ES" i="1" smtClean="0">
                                <a:effectLst/>
                                <a:latin typeface="Cambria Math" panose="02040503050406030204" pitchFamily="18" charset="0"/>
                                <a:ea typeface="Cambria Math" panose="02040503050406030204" pitchFamily="18" charset="0"/>
                              </a:rPr>
                            </m:ctrlPr>
                          </m:sPrePr>
                          <m:sub>
                            <m:r>
                              <a:rPr lang="es-CR" b="0" i="1" smtClean="0">
                                <a:effectLst/>
                                <a:latin typeface="Cambria Math" panose="02040503050406030204" pitchFamily="18" charset="0"/>
                                <a:ea typeface="Cambria Math" panose="02040503050406030204" pitchFamily="18" charset="0"/>
                              </a:rPr>
                              <m:t>𝑛</m:t>
                            </m:r>
                          </m:sub>
                          <m:sup/>
                          <m:e>
                            <m:sSub>
                              <m:sSubPr>
                                <m:ctrlPr>
                                  <a:rPr lang="en-US" i="1" smtClean="0">
                                    <a:latin typeface="Cambria Math" panose="02040503050406030204" pitchFamily="18" charset="0"/>
                                  </a:rPr>
                                </m:ctrlPr>
                              </m:sSubPr>
                              <m:e>
                                <m:r>
                                  <a:rPr lang="es-CR" b="0" i="1" smtClean="0">
                                    <a:latin typeface="Cambria Math" panose="02040503050406030204" pitchFamily="18" charset="0"/>
                                  </a:rPr>
                                  <m:t>𝑞</m:t>
                                </m:r>
                              </m:e>
                              <m:sub>
                                <m:r>
                                  <a:rPr lang="es-CR" b="0" i="1" smtClean="0">
                                    <a:latin typeface="Cambria Math" panose="02040503050406030204" pitchFamily="18" charset="0"/>
                                  </a:rPr>
                                  <m:t>𝑥</m:t>
                                </m:r>
                              </m:sub>
                            </m:sSub>
                          </m:e>
                        </m:sPre>
                      </m:e>
                    </m:d>
                  </m:oMath>
                </a14:m>
                <a:endParaRPr lang="en-US" dirty="0">
                  <a:effectLst/>
                  <a:latin typeface="Times New Roman" panose="02020603050405020304" pitchFamily="18" charset="0"/>
                  <a:ea typeface="Times New Roman" panose="02020603050405020304" pitchFamily="18" charset="0"/>
                </a:endParaRPr>
              </a:p>
              <a:p>
                <a:pPr marL="914400" lvl="2"/>
                <a:r>
                  <a:rPr lang="es-ES" dirty="0">
                    <a:effectLst/>
                    <a:latin typeface="Cambria" panose="02040503050406030204" pitchFamily="18" charset="0"/>
                    <a:ea typeface="Cambria" panose="02040503050406030204" pitchFamily="18" charset="0"/>
                    <a:cs typeface="Cambria" panose="02040503050406030204" pitchFamily="18" charset="0"/>
                  </a:rPr>
                  <a:t> </a:t>
                </a:r>
                <a14:m>
                  <m:oMath xmlns:m="http://schemas.openxmlformats.org/officeDocument/2006/math">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s-ES" i="1">
                            <a:effectLst/>
                            <a:latin typeface="Cambria Math" panose="02040503050406030204" pitchFamily="18" charset="0"/>
                            <a:ea typeface="Cambria Math" panose="02040503050406030204" pitchFamily="18" charset="0"/>
                            <a:cs typeface="Cambria Math" panose="02040503050406030204" pitchFamily="18" charset="0"/>
                          </a:rPr>
                          <m:t>𝑙</m:t>
                        </m:r>
                      </m:e>
                      <m:sub>
                        <m:r>
                          <a:rPr lang="es-ES" i="1">
                            <a:effectLst/>
                            <a:latin typeface="Cambria Math" panose="02040503050406030204" pitchFamily="18" charset="0"/>
                            <a:ea typeface="Cambria Math" panose="02040503050406030204" pitchFamily="18" charset="0"/>
                            <a:cs typeface="Cambria Math" panose="02040503050406030204" pitchFamily="18" charset="0"/>
                          </a:rPr>
                          <m:t>0</m:t>
                        </m:r>
                      </m:sub>
                    </m:sSub>
                    <m:r>
                      <a:rPr lang="es-ES" i="1">
                        <a:effectLst/>
                        <a:latin typeface="Cambria Math" panose="02040503050406030204" pitchFamily="18" charset="0"/>
                        <a:ea typeface="Cambria Math" panose="02040503050406030204" pitchFamily="18" charset="0"/>
                        <a:cs typeface="Cambria Math" panose="02040503050406030204" pitchFamily="18" charset="0"/>
                      </a:rPr>
                      <m:t>=100000</m:t>
                    </m:r>
                  </m:oMath>
                </a14:m>
                <a:endParaRPr lang="en-US" dirty="0">
                  <a:effectLst/>
                  <a:latin typeface="Times New Roman" panose="02020603050405020304" pitchFamily="18" charset="0"/>
                  <a:ea typeface="Times New Roman" panose="02020603050405020304" pitchFamily="18" charset="0"/>
                </a:endParaRPr>
              </a:p>
              <a:p>
                <a:endParaRPr lang="es-ES" sz="1800" dirty="0">
                  <a:latin typeface="Cambria" panose="02040503050406030204" pitchFamily="18" charset="0"/>
                  <a:ea typeface="Cambria" panose="02040503050406030204" pitchFamily="18" charset="0"/>
                </a:endParaRPr>
              </a:p>
              <a:p>
                <a:pPr marL="0" marR="0"/>
                <a:r>
                  <a:rPr lang="es-ES" sz="2600" b="1" i="1" dirty="0">
                    <a:solidFill>
                      <a:srgbClr val="000000"/>
                    </a:solidFill>
                    <a:effectLst/>
                    <a:latin typeface="Cambria" panose="02040503050406030204" pitchFamily="18" charset="0"/>
                  </a:rPr>
                  <a:t>Defunciones de la tabla de vida </a:t>
                </a:r>
                <a:r>
                  <a:rPr lang="es-ES" sz="2600" b="1" i="1" dirty="0" err="1">
                    <a:solidFill>
                      <a:srgbClr val="000000"/>
                    </a:solidFill>
                    <a:effectLst/>
                    <a:latin typeface="Cambria" panose="02040503050406030204" pitchFamily="18" charset="0"/>
                  </a:rPr>
                  <a:t>d</a:t>
                </a:r>
                <a:r>
                  <a:rPr lang="es-ES" sz="2600" b="1" i="1" baseline="-25000" dirty="0" err="1">
                    <a:solidFill>
                      <a:srgbClr val="000000"/>
                    </a:solidFill>
                    <a:effectLst/>
                    <a:latin typeface="Cambria" panose="02040503050406030204" pitchFamily="18" charset="0"/>
                  </a:rPr>
                  <a:t>x</a:t>
                </a:r>
                <a:r>
                  <a:rPr lang="es-ES" sz="2600" b="1" i="1" dirty="0">
                    <a:solidFill>
                      <a:srgbClr val="000000"/>
                    </a:solidFill>
                    <a:effectLst/>
                    <a:latin typeface="Cambria" panose="02040503050406030204" pitchFamily="18" charset="0"/>
                  </a:rPr>
                  <a:t> </a:t>
                </a:r>
                <a:endParaRPr lang="en-US" sz="2600" b="1" i="1" dirty="0">
                  <a:solidFill>
                    <a:srgbClr val="000000"/>
                  </a:solidFill>
                  <a:effectLst/>
                  <a:latin typeface="Cambria" panose="02040503050406030204" pitchFamily="18" charset="0"/>
                </a:endParaRPr>
              </a:p>
              <a:p>
                <a:pPr marL="457200" lvl="1"/>
                <a:r>
                  <a:rPr lang="es-ES" sz="2000" dirty="0">
                    <a:effectLst/>
                    <a:latin typeface="Times New Roman" panose="02020603050405020304" pitchFamily="18" charset="0"/>
                    <a:ea typeface="Times New Roman" panose="02020603050405020304" pitchFamily="18" charset="0"/>
                  </a:rPr>
                  <a:t> </a:t>
                </a:r>
                <a:r>
                  <a:rPr lang="es-ES" sz="2000" dirty="0">
                    <a:effectLst/>
                    <a:latin typeface="Cambria" panose="02040503050406030204" pitchFamily="18" charset="0"/>
                    <a:ea typeface="Cambria" panose="02040503050406030204" pitchFamily="18" charset="0"/>
                    <a:cs typeface="Cambria" panose="02040503050406030204" pitchFamily="18" charset="0"/>
                  </a:rPr>
                  <a:t>Representa el número de muertes ocurridas a la cohorte sintética, a la edad </a:t>
                </a:r>
                <a:r>
                  <a:rPr lang="es-ES" sz="2000" i="1" dirty="0">
                    <a:effectLst/>
                    <a:latin typeface="Cambria" panose="02040503050406030204" pitchFamily="18" charset="0"/>
                    <a:ea typeface="Cambria" panose="02040503050406030204" pitchFamily="18" charset="0"/>
                    <a:cs typeface="Cambria" panose="02040503050406030204" pitchFamily="18" charset="0"/>
                  </a:rPr>
                  <a:t>x</a:t>
                </a:r>
                <a:r>
                  <a:rPr lang="es-ES" sz="2000" dirty="0">
                    <a:effectLst/>
                    <a:latin typeface="Cambria" panose="02040503050406030204" pitchFamily="18" charset="0"/>
                    <a:ea typeface="Cambria" panose="02040503050406030204" pitchFamily="18" charset="0"/>
                    <a:cs typeface="Cambria" panose="02040503050406030204" pitchFamily="18" charset="0"/>
                  </a:rPr>
                  <a:t>.  Generalmente se deriva del número de sobrevivientes y la probabilidad de morir a la edad x.  Desde el punto de vista probabilístico, si se divide entre el tamaño de la generación, el conjunto de valores de </a:t>
                </a:r>
                <a:r>
                  <a:rPr lang="es-ES" sz="2000" dirty="0" err="1">
                    <a:effectLst/>
                    <a:latin typeface="Cambria" panose="02040503050406030204" pitchFamily="18" charset="0"/>
                    <a:ea typeface="Cambria" panose="02040503050406030204" pitchFamily="18" charset="0"/>
                    <a:cs typeface="Cambria" panose="02040503050406030204" pitchFamily="18" charset="0"/>
                  </a:rPr>
                  <a:t>d</a:t>
                </a:r>
                <a:r>
                  <a:rPr lang="es-ES" sz="2000" baseline="-25000" dirty="0" err="1">
                    <a:effectLst/>
                    <a:latin typeface="Cambria" panose="02040503050406030204" pitchFamily="18" charset="0"/>
                    <a:ea typeface="Cambria" panose="02040503050406030204" pitchFamily="18" charset="0"/>
                    <a:cs typeface="Cambria" panose="02040503050406030204" pitchFamily="18" charset="0"/>
                  </a:rPr>
                  <a:t>x</a:t>
                </a:r>
                <a:r>
                  <a:rPr lang="es-ES" sz="2000" dirty="0">
                    <a:effectLst/>
                    <a:latin typeface="Cambria" panose="02040503050406030204" pitchFamily="18" charset="0"/>
                    <a:ea typeface="Cambria" panose="02040503050406030204" pitchFamily="18" charset="0"/>
                    <a:cs typeface="Cambria" panose="02040503050406030204" pitchFamily="18" charset="0"/>
                  </a:rPr>
                  <a:t> representa la función de densidad de la edad a la muerte. Su fórmula es:</a:t>
                </a:r>
                <a:endParaRPr lang="en-US" sz="2000" dirty="0">
                  <a:effectLst/>
                  <a:latin typeface="Times New Roman" panose="02020603050405020304" pitchFamily="18" charset="0"/>
                  <a:ea typeface="Times New Roman" panose="02020603050405020304" pitchFamily="18" charset="0"/>
                </a:endParaRPr>
              </a:p>
              <a:p>
                <a:pPr marL="914400" lvl="2"/>
                <a:r>
                  <a:rPr lang="es-ES" dirty="0">
                    <a:effectLst/>
                    <a:latin typeface="Cambria" panose="02040503050406030204" pitchFamily="18" charset="0"/>
                    <a:ea typeface="Cambria" panose="02040503050406030204" pitchFamily="18" charset="0"/>
                    <a:cs typeface="Cambria" panose="02040503050406030204" pitchFamily="18" charset="0"/>
                  </a:rPr>
                  <a:t> </a:t>
                </a:r>
                <a14:m>
                  <m:oMath xmlns:m="http://schemas.openxmlformats.org/officeDocument/2006/math">
                    <m:sPre>
                      <m:sPrePr>
                        <m:ctrlPr>
                          <a:rPr lang="en-US" i="1">
                            <a:latin typeface="Cambria Math" panose="02040503050406030204" pitchFamily="18" charset="0"/>
                            <a:ea typeface="Cambria Math" panose="02040503050406030204" pitchFamily="18" charset="0"/>
                          </a:rPr>
                        </m:ctrlPr>
                      </m:sPrePr>
                      <m:sub>
                        <m:r>
                          <a:rPr lang="es-CR" i="1">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s-CR" i="1">
                                <a:latin typeface="Cambria Math" panose="02040503050406030204" pitchFamily="18" charset="0"/>
                              </a:rPr>
                              <m:t>𝑑</m:t>
                            </m:r>
                          </m:e>
                          <m:sub>
                            <m:r>
                              <a:rPr lang="es-CR" i="1">
                                <a:latin typeface="Cambria Math" panose="02040503050406030204" pitchFamily="18" charset="0"/>
                              </a:rPr>
                              <m:t>𝑥</m:t>
                            </m:r>
                          </m:sub>
                        </m:sSub>
                      </m:e>
                    </m:sPre>
                    <m:r>
                      <a:rPr lang="es-ES" i="1">
                        <a:effectLst/>
                        <a:latin typeface="Cambria Math" panose="02040503050406030204" pitchFamily="18" charset="0"/>
                        <a:ea typeface="Cambria Math" panose="02040503050406030204" pitchFamily="18" charset="0"/>
                        <a:cs typeface="Cambria Math" panose="02040503050406030204" pitchFamily="18" charset="0"/>
                      </a:rPr>
                      <m:t>=</m:t>
                    </m:r>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s-ES" i="1">
                            <a:effectLst/>
                            <a:latin typeface="Cambria Math" panose="02040503050406030204" pitchFamily="18" charset="0"/>
                            <a:ea typeface="Cambria Math" panose="02040503050406030204" pitchFamily="18" charset="0"/>
                            <a:cs typeface="Cambria Math" panose="02040503050406030204" pitchFamily="18" charset="0"/>
                          </a:rPr>
                          <m:t>𝑙</m:t>
                        </m:r>
                      </m:e>
                      <m:sub>
                        <m:r>
                          <a:rPr lang="es-ES" i="1">
                            <a:effectLst/>
                            <a:latin typeface="Cambria Math" panose="02040503050406030204" pitchFamily="18" charset="0"/>
                            <a:ea typeface="Cambria Math" panose="02040503050406030204" pitchFamily="18" charset="0"/>
                            <a:cs typeface="Cambria Math" panose="02040503050406030204" pitchFamily="18" charset="0"/>
                          </a:rPr>
                          <m:t>𝑥</m:t>
                        </m:r>
                      </m:sub>
                    </m:sSub>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m:t>
                    </m:r>
                    <m:sPre>
                      <m:sPrePr>
                        <m:ctrlPr>
                          <a:rPr lang="es-CR" b="0" i="1" smtClean="0">
                            <a:effectLst/>
                            <a:latin typeface="Cambria Math" panose="02040503050406030204" pitchFamily="18" charset="0"/>
                            <a:ea typeface="Cambria Math" panose="02040503050406030204" pitchFamily="18" charset="0"/>
                          </a:rPr>
                        </m:ctrlPr>
                      </m:sPrePr>
                      <m:sub>
                        <m:r>
                          <a:rPr lang="es-CR" b="0" i="1" smtClean="0">
                            <a:effectLst/>
                            <a:latin typeface="Cambria Math" panose="02040503050406030204" pitchFamily="18" charset="0"/>
                            <a:ea typeface="Cambria Math" panose="02040503050406030204" pitchFamily="18" charset="0"/>
                          </a:rPr>
                          <m:t>𝑛</m:t>
                        </m:r>
                      </m:sub>
                      <m:sup/>
                      <m:e>
                        <m:sSub>
                          <m:sSubPr>
                            <m:ctrlPr>
                              <a:rPr lang="en-US" i="1" smtClean="0">
                                <a:latin typeface="Cambria Math" panose="02040503050406030204" pitchFamily="18" charset="0"/>
                              </a:rPr>
                            </m:ctrlPr>
                          </m:sSubPr>
                          <m:e>
                            <m:r>
                              <a:rPr lang="es-CR" b="0" i="1" smtClean="0">
                                <a:latin typeface="Cambria Math" panose="02040503050406030204" pitchFamily="18" charset="0"/>
                              </a:rPr>
                              <m:t>𝑞</m:t>
                            </m:r>
                          </m:e>
                          <m:sub>
                            <m:r>
                              <a:rPr lang="es-CR" b="0" i="1" smtClean="0">
                                <a:latin typeface="Cambria Math" panose="02040503050406030204" pitchFamily="18" charset="0"/>
                              </a:rPr>
                              <m:t>𝑥</m:t>
                            </m:r>
                          </m:sub>
                        </m:sSub>
                      </m:e>
                    </m:sPre>
                    <m:r>
                      <a:rPr lang="es-ES" i="1">
                        <a:effectLst/>
                        <a:latin typeface="Cambria Math" panose="02040503050406030204" pitchFamily="18" charset="0"/>
                        <a:ea typeface="Cambria Math" panose="02040503050406030204" pitchFamily="18" charset="0"/>
                        <a:cs typeface="Cambria Math" panose="02040503050406030204" pitchFamily="18" charset="0"/>
                      </a:rPr>
                      <m:t>=</m:t>
                    </m:r>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s-ES" i="1">
                            <a:effectLst/>
                            <a:latin typeface="Cambria Math" panose="02040503050406030204" pitchFamily="18" charset="0"/>
                            <a:ea typeface="Cambria Math" panose="02040503050406030204" pitchFamily="18" charset="0"/>
                            <a:cs typeface="Cambria Math" panose="02040503050406030204" pitchFamily="18" charset="0"/>
                          </a:rPr>
                          <m:t>𝑙</m:t>
                        </m:r>
                      </m:e>
                      <m:sub>
                        <m:r>
                          <a:rPr lang="es-ES" i="1">
                            <a:effectLst/>
                            <a:latin typeface="Cambria Math" panose="02040503050406030204" pitchFamily="18" charset="0"/>
                            <a:ea typeface="Cambria Math" panose="02040503050406030204" pitchFamily="18" charset="0"/>
                            <a:cs typeface="Cambria Math" panose="02040503050406030204" pitchFamily="18" charset="0"/>
                          </a:rPr>
                          <m:t>𝑥</m:t>
                        </m:r>
                      </m:sub>
                    </m:sSub>
                    <m:r>
                      <a:rPr lang="es-ES" i="1">
                        <a:effectLst/>
                        <a:latin typeface="Cambria Math" panose="02040503050406030204" pitchFamily="18" charset="0"/>
                        <a:ea typeface="Cambria Math" panose="02040503050406030204" pitchFamily="18" charset="0"/>
                        <a:cs typeface="Cambria Math" panose="02040503050406030204" pitchFamily="18" charset="0"/>
                      </a:rPr>
                      <m:t>−</m:t>
                    </m:r>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s-ES" i="1">
                            <a:effectLst/>
                            <a:latin typeface="Cambria Math" panose="02040503050406030204" pitchFamily="18" charset="0"/>
                            <a:ea typeface="Cambria Math" panose="02040503050406030204" pitchFamily="18" charset="0"/>
                            <a:cs typeface="Cambria Math" panose="02040503050406030204" pitchFamily="18" charset="0"/>
                          </a:rPr>
                          <m:t>𝑙</m:t>
                        </m:r>
                      </m:e>
                      <m:sub>
                        <m:r>
                          <a:rPr lang="es-ES" i="1">
                            <a:effectLst/>
                            <a:latin typeface="Cambria Math" panose="02040503050406030204" pitchFamily="18" charset="0"/>
                            <a:ea typeface="Cambria Math" panose="02040503050406030204" pitchFamily="18" charset="0"/>
                            <a:cs typeface="Cambria Math" panose="02040503050406030204" pitchFamily="18" charset="0"/>
                          </a:rPr>
                          <m:t>𝑥</m:t>
                        </m:r>
                        <m:r>
                          <a:rPr lang="en-US" b="0" i="1" smtClean="0">
                            <a:effectLst/>
                            <a:latin typeface="Cambria Math" panose="02040503050406030204" pitchFamily="18" charset="0"/>
                            <a:ea typeface="Cambria Math" panose="02040503050406030204" pitchFamily="18" charset="0"/>
                            <a:cs typeface="Cambria Math" panose="02040503050406030204" pitchFamily="18" charset="0"/>
                          </a:rPr>
                          <m:t>+</m:t>
                        </m:r>
                        <m:r>
                          <a:rPr lang="en-US" b="0" i="1" smtClean="0">
                            <a:effectLst/>
                            <a:latin typeface="Cambria Math" panose="02040503050406030204" pitchFamily="18" charset="0"/>
                            <a:ea typeface="Cambria Math" panose="02040503050406030204" pitchFamily="18" charset="0"/>
                            <a:cs typeface="Cambria Math" panose="02040503050406030204" pitchFamily="18" charset="0"/>
                          </a:rPr>
                          <m:t>𝑛</m:t>
                        </m:r>
                      </m:sub>
                    </m:sSub>
                  </m:oMath>
                </a14:m>
                <a:endParaRPr lang="en-US" dirty="0">
                  <a:effectLst/>
                  <a:latin typeface="Times New Roman" panose="02020603050405020304" pitchFamily="18" charset="0"/>
                  <a:ea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10033361-BAFB-46A7-C101-949DC87C88D4}"/>
                  </a:ext>
                </a:extLst>
              </p:cNvPr>
              <p:cNvSpPr>
                <a:spLocks noGrp="1" noRot="1" noChangeAspect="1" noMove="1" noResize="1" noEditPoints="1" noAdjustHandles="1" noChangeArrowheads="1" noChangeShapeType="1" noTextEdit="1"/>
              </p:cNvSpPr>
              <p:nvPr>
                <p:ph idx="1"/>
              </p:nvPr>
            </p:nvSpPr>
            <p:spPr>
              <a:xfrm>
                <a:off x="838200" y="1481960"/>
                <a:ext cx="10515600" cy="5123792"/>
              </a:xfrm>
              <a:blipFill>
                <a:blip r:embed="rId2"/>
                <a:stretch>
                  <a:fillRect l="-1043" t="-2021"/>
                </a:stretch>
              </a:blipFill>
            </p:spPr>
            <p:txBody>
              <a:bodyPr/>
              <a:lstStyle/>
              <a:p>
                <a:r>
                  <a:rPr lang="en-US">
                    <a:noFill/>
                  </a:rPr>
                  <a:t> </a:t>
                </a:r>
              </a:p>
            </p:txBody>
          </p:sp>
        </mc:Fallback>
      </mc:AlternateContent>
    </p:spTree>
    <p:extLst>
      <p:ext uri="{BB962C8B-B14F-4D97-AF65-F5344CB8AC3E}">
        <p14:creationId xmlns:p14="http://schemas.microsoft.com/office/powerpoint/2010/main" val="969299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32DC9-5842-7188-8586-BFBBA6CB814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024733A-99F0-05FA-92B4-D600060958AC}"/>
              </a:ext>
            </a:extLst>
          </p:cNvPr>
          <p:cNvSpPr>
            <a:spLocks noGrp="1"/>
          </p:cNvSpPr>
          <p:nvPr>
            <p:ph type="title"/>
          </p:nvPr>
        </p:nvSpPr>
        <p:spPr/>
        <p:txBody>
          <a:bodyPr/>
          <a:lstStyle/>
          <a:p>
            <a:r>
              <a:rPr lang="es-CR" dirty="0"/>
              <a:t>Funciones de tabla de vida</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359CF15-45CF-657B-9604-60A5DCFFBD4E}"/>
                  </a:ext>
                </a:extLst>
              </p:cNvPr>
              <p:cNvSpPr>
                <a:spLocks noGrp="1"/>
              </p:cNvSpPr>
              <p:nvPr>
                <p:ph idx="1"/>
              </p:nvPr>
            </p:nvSpPr>
            <p:spPr>
              <a:xfrm>
                <a:off x="838200" y="1481960"/>
                <a:ext cx="10515600" cy="5376040"/>
              </a:xfrm>
            </p:spPr>
            <p:txBody>
              <a:bodyPr>
                <a:normAutofit fontScale="92500" lnSpcReduction="10000"/>
              </a:bodyPr>
              <a:lstStyle/>
              <a:p>
                <a:pPr marL="0" marR="0"/>
                <a:r>
                  <a:rPr lang="es-ES" sz="2600" b="1" i="1" dirty="0">
                    <a:solidFill>
                      <a:srgbClr val="000000"/>
                    </a:solidFill>
                    <a:effectLst/>
                    <a:latin typeface="Cambria" panose="02040503050406030204" pitchFamily="18" charset="0"/>
                  </a:rPr>
                  <a:t>Tiempo vivido en la edad x </a:t>
                </a:r>
                <a:r>
                  <a:rPr lang="es-ES" sz="2600" b="1" i="1" baseline="-25000" dirty="0" err="1">
                    <a:solidFill>
                      <a:srgbClr val="000000"/>
                    </a:solidFill>
                    <a:effectLst/>
                    <a:latin typeface="Cambria" panose="02040503050406030204" pitchFamily="18" charset="0"/>
                  </a:rPr>
                  <a:t>n</a:t>
                </a:r>
                <a:r>
                  <a:rPr lang="es-ES" sz="2600" b="1" i="1" dirty="0" err="1">
                    <a:solidFill>
                      <a:srgbClr val="000000"/>
                    </a:solidFill>
                    <a:effectLst/>
                    <a:latin typeface="Cambria" panose="02040503050406030204" pitchFamily="18" charset="0"/>
                  </a:rPr>
                  <a:t>L</a:t>
                </a:r>
                <a:r>
                  <a:rPr lang="es-ES" sz="2600" b="1" i="1" baseline="-25000" dirty="0" err="1">
                    <a:solidFill>
                      <a:srgbClr val="000000"/>
                    </a:solidFill>
                    <a:effectLst/>
                    <a:latin typeface="Cambria" panose="02040503050406030204" pitchFamily="18" charset="0"/>
                  </a:rPr>
                  <a:t>x</a:t>
                </a:r>
                <a:r>
                  <a:rPr lang="es-ES" sz="2600" b="1" i="1" baseline="-25000" dirty="0">
                    <a:solidFill>
                      <a:srgbClr val="000000"/>
                    </a:solidFill>
                    <a:effectLst/>
                    <a:latin typeface="Cambria" panose="02040503050406030204" pitchFamily="18" charset="0"/>
                  </a:rPr>
                  <a:t>   </a:t>
                </a:r>
                <a:endParaRPr lang="en-US" sz="2600" b="1" i="1" dirty="0">
                  <a:solidFill>
                    <a:srgbClr val="000000"/>
                  </a:solidFill>
                  <a:effectLst/>
                  <a:latin typeface="Cambria" panose="02040503050406030204" pitchFamily="18" charset="0"/>
                </a:endParaRPr>
              </a:p>
              <a:p>
                <a:pPr marL="457200" lvl="1"/>
                <a:r>
                  <a:rPr lang="es-ES" sz="1400" dirty="0">
                    <a:effectLst/>
                    <a:latin typeface="Times New Roman" panose="02020603050405020304" pitchFamily="18" charset="0"/>
                    <a:ea typeface="Times New Roman" panose="02020603050405020304" pitchFamily="18" charset="0"/>
                  </a:rPr>
                  <a:t> </a:t>
                </a:r>
                <a:r>
                  <a:rPr lang="es-ES" sz="2000" dirty="0">
                    <a:effectLst/>
                    <a:latin typeface="Cambria" panose="02040503050406030204" pitchFamily="18" charset="0"/>
                    <a:ea typeface="Cambria" panose="02040503050406030204" pitchFamily="18" charset="0"/>
                    <a:cs typeface="Cambria" panose="02040503050406030204" pitchFamily="18" charset="0"/>
                  </a:rPr>
                  <a:t>Representa el número de años vividos por la cohorte sintética de nacimientos de la tabla en la edad cumplida </a:t>
                </a:r>
                <a:r>
                  <a:rPr lang="es-ES" sz="2000" i="1" dirty="0">
                    <a:effectLst/>
                    <a:latin typeface="Cambria" panose="02040503050406030204" pitchFamily="18" charset="0"/>
                    <a:ea typeface="Cambria" panose="02040503050406030204" pitchFamily="18" charset="0"/>
                    <a:cs typeface="Cambria" panose="02040503050406030204" pitchFamily="18" charset="0"/>
                  </a:rPr>
                  <a:t>x</a:t>
                </a:r>
                <a:r>
                  <a:rPr lang="es-ES" sz="2000" dirty="0">
                    <a:effectLst/>
                    <a:latin typeface="Cambria" panose="02040503050406030204" pitchFamily="18" charset="0"/>
                    <a:ea typeface="Cambria" panose="02040503050406030204" pitchFamily="18" charset="0"/>
                    <a:cs typeface="Cambria" panose="02040503050406030204" pitchFamily="18" charset="0"/>
                  </a:rPr>
                  <a:t>.  Se determina con la fórmula:</a:t>
                </a:r>
                <a:endParaRPr lang="en-US" sz="2000" dirty="0">
                  <a:effectLst/>
                  <a:latin typeface="Times New Roman" panose="02020603050405020304" pitchFamily="18" charset="0"/>
                  <a:ea typeface="Times New Roman" panose="02020603050405020304" pitchFamily="18" charset="0"/>
                </a:endParaRPr>
              </a:p>
              <a:p>
                <a:pPr marL="914400" lvl="2"/>
                <a14:m>
                  <m:oMath xmlns:m="http://schemas.openxmlformats.org/officeDocument/2006/math">
                    <m:sPre>
                      <m:sPrePr>
                        <m:ctrlPr>
                          <a:rPr lang="en-US" i="1">
                            <a:latin typeface="Cambria Math" panose="02040503050406030204" pitchFamily="18" charset="0"/>
                            <a:ea typeface="Cambria Math" panose="02040503050406030204" pitchFamily="18" charset="0"/>
                          </a:rPr>
                        </m:ctrlPr>
                      </m:sPrePr>
                      <m:sub>
                        <m:r>
                          <a:rPr lang="es-CR" b="0" i="1" smtClean="0">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s-CR" b="0" i="1" smtClean="0">
                                <a:latin typeface="Cambria Math" panose="02040503050406030204" pitchFamily="18" charset="0"/>
                              </a:rPr>
                              <m:t>𝐿</m:t>
                            </m:r>
                          </m:e>
                          <m:sub>
                            <m:r>
                              <a:rPr lang="es-CR" b="0" i="1" smtClean="0">
                                <a:latin typeface="Cambria Math" panose="02040503050406030204" pitchFamily="18" charset="0"/>
                              </a:rPr>
                              <m:t>𝑥</m:t>
                            </m:r>
                          </m:sub>
                        </m:sSub>
                      </m:e>
                    </m:sPre>
                    <m:r>
                      <a:rPr lang="en-US" i="1">
                        <a:latin typeface="Cambria Math" panose="02040503050406030204" pitchFamily="18" charset="0"/>
                      </a:rPr>
                      <m:t> </m:t>
                    </m:r>
                    <m:r>
                      <a:rPr lang="es-ES" i="1">
                        <a:effectLst/>
                        <a:latin typeface="Cambria Math" panose="02040503050406030204" pitchFamily="18" charset="0"/>
                        <a:ea typeface="Cambria Math" panose="02040503050406030204" pitchFamily="18" charset="0"/>
                        <a:cs typeface="Cambria Math" panose="02040503050406030204" pitchFamily="18" charset="0"/>
                      </a:rPr>
                      <m:t>=</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𝑛</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m:t>
                    </m:r>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s-ES" i="1">
                            <a:effectLst/>
                            <a:latin typeface="Cambria Math" panose="02040503050406030204" pitchFamily="18" charset="0"/>
                            <a:ea typeface="Cambria Math" panose="02040503050406030204" pitchFamily="18" charset="0"/>
                            <a:cs typeface="Cambria Math" panose="02040503050406030204" pitchFamily="18" charset="0"/>
                          </a:rPr>
                          <m:t>𝑙</m:t>
                        </m:r>
                      </m:e>
                      <m:sub>
                        <m:r>
                          <a:rPr lang="es-ES" i="1">
                            <a:effectLst/>
                            <a:latin typeface="Cambria Math" panose="02040503050406030204" pitchFamily="18" charset="0"/>
                            <a:ea typeface="Cambria Math" panose="02040503050406030204" pitchFamily="18" charset="0"/>
                            <a:cs typeface="Cambria Math" panose="02040503050406030204" pitchFamily="18" charset="0"/>
                          </a:rPr>
                          <m:t>𝑥</m:t>
                        </m:r>
                        <m:r>
                          <a:rPr lang="es-ES" i="1">
                            <a:effectLst/>
                            <a:latin typeface="Cambria Math" panose="02040503050406030204" pitchFamily="18" charset="0"/>
                            <a:ea typeface="Cambria Math" panose="02040503050406030204" pitchFamily="18" charset="0"/>
                            <a:cs typeface="Cambria Math" panose="02040503050406030204" pitchFamily="18" charset="0"/>
                          </a:rPr>
                          <m:t>+</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𝑛</m:t>
                        </m:r>
                      </m:sub>
                    </m:sSub>
                    <m:r>
                      <a:rPr lang="es-ES" i="1">
                        <a:effectLst/>
                        <a:latin typeface="Cambria Math" panose="02040503050406030204" pitchFamily="18" charset="0"/>
                        <a:ea typeface="Cambria Math" panose="02040503050406030204" pitchFamily="18" charset="0"/>
                        <a:cs typeface="Cambria Math" panose="02040503050406030204" pitchFamily="18" charset="0"/>
                      </a:rPr>
                      <m:t>+</m:t>
                    </m:r>
                    <m:sPre>
                      <m:sPrePr>
                        <m:ctrlPr>
                          <a:rPr lang="en-US" i="1">
                            <a:latin typeface="Cambria Math" panose="02040503050406030204" pitchFamily="18" charset="0"/>
                            <a:ea typeface="Cambria Math" panose="02040503050406030204" pitchFamily="18" charset="0"/>
                          </a:rPr>
                        </m:ctrlPr>
                      </m:sPrePr>
                      <m:sub>
                        <m:r>
                          <a:rPr lang="es-CR" i="1">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s-CR" i="1">
                                <a:latin typeface="Cambria Math" panose="02040503050406030204" pitchFamily="18" charset="0"/>
                              </a:rPr>
                              <m:t>𝑎</m:t>
                            </m:r>
                          </m:e>
                          <m:sub>
                            <m:r>
                              <a:rPr lang="es-CR" i="1">
                                <a:latin typeface="Cambria Math" panose="02040503050406030204" pitchFamily="18" charset="0"/>
                              </a:rPr>
                              <m:t>𝑥</m:t>
                            </m:r>
                          </m:sub>
                        </m:sSub>
                      </m:e>
                    </m:sPre>
                    <m:r>
                      <a:rPr lang="es-CR" b="0" i="1" smtClean="0">
                        <a:latin typeface="Cambria Math" panose="02040503050406030204" pitchFamily="18" charset="0"/>
                      </a:rPr>
                      <m:t>∗</m:t>
                    </m:r>
                    <m:sPre>
                      <m:sPrePr>
                        <m:ctrlPr>
                          <a:rPr lang="en-US" i="1">
                            <a:latin typeface="Cambria Math" panose="02040503050406030204" pitchFamily="18" charset="0"/>
                            <a:ea typeface="Cambria Math" panose="02040503050406030204" pitchFamily="18" charset="0"/>
                          </a:rPr>
                        </m:ctrlPr>
                      </m:sPrePr>
                      <m:sub>
                        <m:r>
                          <a:rPr lang="es-CR" i="1">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s-CR" b="0" i="1" smtClean="0">
                                <a:latin typeface="Cambria Math" panose="02040503050406030204" pitchFamily="18" charset="0"/>
                              </a:rPr>
                              <m:t>𝑑</m:t>
                            </m:r>
                          </m:e>
                          <m:sub>
                            <m:r>
                              <a:rPr lang="es-CR" i="1">
                                <a:latin typeface="Cambria Math" panose="02040503050406030204" pitchFamily="18" charset="0"/>
                              </a:rPr>
                              <m:t>𝑥</m:t>
                            </m:r>
                          </m:sub>
                        </m:sSub>
                      </m:e>
                    </m:sPre>
                  </m:oMath>
                </a14:m>
                <a:endParaRPr lang="es-CR" dirty="0">
                  <a:latin typeface="Times New Roman" panose="02020603050405020304" pitchFamily="18" charset="0"/>
                </a:endParaRPr>
              </a:p>
              <a:p>
                <a:pPr marL="914400" lvl="2"/>
                <a:r>
                  <a:rPr lang="en-US" dirty="0">
                    <a:effectLst/>
                    <a:latin typeface="Times New Roman" panose="02020603050405020304" pitchFamily="18" charset="0"/>
                    <a:ea typeface="Times New Roman" panose="02020603050405020304" pitchFamily="18" charset="0"/>
                  </a:rPr>
                  <a:t>Para </a:t>
                </a:r>
                <a:r>
                  <a:rPr lang="en-US" dirty="0" err="1">
                    <a:effectLst/>
                    <a:latin typeface="Times New Roman" panose="02020603050405020304" pitchFamily="18" charset="0"/>
                    <a:ea typeface="Times New Roman" panose="02020603050405020304" pitchFamily="18" charset="0"/>
                  </a:rPr>
                  <a:t>grupos</a:t>
                </a:r>
                <a:r>
                  <a:rPr lang="en-US" dirty="0">
                    <a:effectLst/>
                    <a:latin typeface="Times New Roman" panose="02020603050405020304" pitchFamily="18" charset="0"/>
                    <a:ea typeface="Times New Roman" panose="02020603050405020304" pitchFamily="18" charset="0"/>
                  </a:rPr>
                  <a:t> con </a:t>
                </a:r>
                <a:r>
                  <a:rPr lang="en-US" dirty="0" err="1">
                    <a:effectLst/>
                    <a:latin typeface="Times New Roman" panose="02020603050405020304" pitchFamily="18" charset="0"/>
                    <a:ea typeface="Times New Roman" panose="02020603050405020304" pitchFamily="18" charset="0"/>
                  </a:rPr>
                  <a:t>el</a:t>
                </a:r>
                <a:r>
                  <a:rPr lang="en-US" dirty="0">
                    <a:effectLst/>
                    <a:latin typeface="Times New Roman" panose="02020603050405020304" pitchFamily="18" charset="0"/>
                    <a:ea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rPr>
                  <a:t>mismo</a:t>
                </a:r>
                <a:r>
                  <a:rPr lang="en-US" dirty="0">
                    <a:effectLst/>
                    <a:latin typeface="Times New Roman" panose="02020603050405020304" pitchFamily="18" charset="0"/>
                    <a:ea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rPr>
                  <a:t>tamaño</a:t>
                </a:r>
                <a:r>
                  <a:rPr lang="en-US" dirty="0">
                    <a:effectLst/>
                    <a:latin typeface="Times New Roman" panose="02020603050405020304" pitchFamily="18" charset="0"/>
                    <a:ea typeface="Times New Roman" panose="02020603050405020304" pitchFamily="18" charset="0"/>
                  </a:rPr>
                  <a:t> de </a:t>
                </a:r>
                <a14:m>
                  <m:oMath xmlns:m="http://schemas.openxmlformats.org/officeDocument/2006/math">
                    <m:sPre>
                      <m:sPrePr>
                        <m:ctrlPr>
                          <a:rPr lang="en-US" i="1" smtClean="0">
                            <a:latin typeface="Cambria Math" panose="02040503050406030204" pitchFamily="18" charset="0"/>
                            <a:ea typeface="Cambria Math" panose="02040503050406030204" pitchFamily="18" charset="0"/>
                          </a:rPr>
                        </m:ctrlPr>
                      </m:sPrePr>
                      <m:sub>
                        <m:r>
                          <a:rPr lang="es-CR" i="1">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s-CR" i="1">
                                <a:latin typeface="Cambria Math" panose="02040503050406030204" pitchFamily="18" charset="0"/>
                              </a:rPr>
                              <m:t>𝑎</m:t>
                            </m:r>
                          </m:e>
                          <m:sub>
                            <m:r>
                              <a:rPr lang="es-CR" i="1">
                                <a:latin typeface="Cambria Math" panose="02040503050406030204" pitchFamily="18" charset="0"/>
                              </a:rPr>
                              <m:t>𝑥</m:t>
                            </m:r>
                          </m:sub>
                        </m:sSub>
                      </m:e>
                    </m:sPre>
                  </m:oMath>
                </a14:m>
                <a:r>
                  <a:rPr lang="en-US" dirty="0">
                    <a:effectLst/>
                    <a:latin typeface="Times New Roman" panose="02020603050405020304" pitchFamily="18" charset="0"/>
                    <a:ea typeface="Times New Roman" panose="02020603050405020304" pitchFamily="18" charset="0"/>
                  </a:rPr>
                  <a:t>:</a:t>
                </a:r>
              </a:p>
              <a:p>
                <a:pPr marL="914400" lvl="2"/>
                <a14:m>
                  <m:oMath xmlns:m="http://schemas.openxmlformats.org/officeDocument/2006/math">
                    <m:sPre>
                      <m:sPrePr>
                        <m:ctrlPr>
                          <a:rPr lang="en-US" i="1" smtClean="0">
                            <a:latin typeface="Cambria Math" panose="02040503050406030204" pitchFamily="18" charset="0"/>
                            <a:ea typeface="Cambria Math" panose="02040503050406030204" pitchFamily="18" charset="0"/>
                          </a:rPr>
                        </m:ctrlPr>
                      </m:sPrePr>
                      <m:sub>
                        <m:r>
                          <a:rPr lang="es-CR" b="0" i="1" smtClean="0">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s-CR" b="0" i="1" smtClean="0">
                                <a:latin typeface="Cambria Math" panose="02040503050406030204" pitchFamily="18" charset="0"/>
                              </a:rPr>
                              <m:t>𝐿</m:t>
                            </m:r>
                          </m:e>
                          <m:sub>
                            <m:r>
                              <a:rPr lang="es-CR" b="0" i="1" smtClean="0">
                                <a:latin typeface="Cambria Math" panose="02040503050406030204" pitchFamily="18" charset="0"/>
                              </a:rPr>
                              <m:t>𝑥</m:t>
                            </m:r>
                          </m:sub>
                        </m:sSub>
                      </m:e>
                    </m:sPre>
                    <m:r>
                      <a:rPr lang="en-US" i="1">
                        <a:latin typeface="Cambria Math" panose="02040503050406030204" pitchFamily="18" charset="0"/>
                      </a:rPr>
                      <m:t> </m:t>
                    </m:r>
                    <m:r>
                      <a:rPr lang="es-ES" i="1">
                        <a:effectLst/>
                        <a:latin typeface="Cambria Math" panose="02040503050406030204" pitchFamily="18" charset="0"/>
                        <a:ea typeface="Cambria Math" panose="02040503050406030204" pitchFamily="18" charset="0"/>
                        <a:cs typeface="Cambria Math" panose="02040503050406030204" pitchFamily="18" charset="0"/>
                      </a:rPr>
                      <m:t>=</m:t>
                    </m:r>
                    <m:f>
                      <m:fPr>
                        <m:ctrlPr>
                          <a:rPr lang="es-ES" i="1" smtClean="0">
                            <a:effectLst/>
                            <a:latin typeface="Cambria Math" panose="02040503050406030204" pitchFamily="18" charset="0"/>
                            <a:ea typeface="Cambria Math" panose="02040503050406030204" pitchFamily="18" charset="0"/>
                          </a:rPr>
                        </m:ctrlPr>
                      </m:fPr>
                      <m:num>
                        <m:d>
                          <m:dPr>
                            <m:ctrlPr>
                              <a:rPr lang="es-ES" i="1" smtClean="0">
                                <a:effectLst/>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cs typeface="Cambria Math" panose="02040503050406030204" pitchFamily="18" charset="0"/>
                                  </a:rPr>
                                </m:ctrlPr>
                              </m:sSubPr>
                              <m:e>
                                <m:r>
                                  <a:rPr lang="es-ES" i="1">
                                    <a:latin typeface="Cambria Math" panose="02040503050406030204" pitchFamily="18" charset="0"/>
                                    <a:ea typeface="Cambria Math" panose="02040503050406030204" pitchFamily="18" charset="0"/>
                                    <a:cs typeface="Cambria Math" panose="02040503050406030204" pitchFamily="18" charset="0"/>
                                  </a:rPr>
                                  <m:t>𝑙</m:t>
                                </m:r>
                              </m:e>
                              <m:sub>
                                <m:r>
                                  <a:rPr lang="es-ES" i="1">
                                    <a:latin typeface="Cambria Math" panose="02040503050406030204" pitchFamily="18" charset="0"/>
                                    <a:ea typeface="Cambria Math" panose="02040503050406030204" pitchFamily="18" charset="0"/>
                                    <a:cs typeface="Cambria Math" panose="02040503050406030204" pitchFamily="18" charset="0"/>
                                  </a:rPr>
                                  <m:t>𝑥</m:t>
                                </m:r>
                              </m:sub>
                            </m:sSub>
                            <m:r>
                              <a:rPr lang="es-CR" b="0" i="1" smtClean="0">
                                <a:latin typeface="Cambria Math" panose="02040503050406030204" pitchFamily="18" charset="0"/>
                                <a:ea typeface="Cambria Math" panose="02040503050406030204" pitchFamily="18" charset="0"/>
                                <a:cs typeface="Cambria Math" panose="02040503050406030204" pitchFamily="18" charset="0"/>
                              </a:rPr>
                              <m:t>+</m:t>
                            </m:r>
                            <m:sSub>
                              <m:sSubPr>
                                <m:ctrlPr>
                                  <a:rPr lang="en-US" i="1">
                                    <a:latin typeface="Cambria Math" panose="02040503050406030204" pitchFamily="18" charset="0"/>
                                    <a:ea typeface="Cambria Math" panose="02040503050406030204" pitchFamily="18" charset="0"/>
                                    <a:cs typeface="Cambria Math" panose="02040503050406030204" pitchFamily="18" charset="0"/>
                                  </a:rPr>
                                </m:ctrlPr>
                              </m:sSubPr>
                              <m:e>
                                <m:r>
                                  <a:rPr lang="es-ES" i="1">
                                    <a:latin typeface="Cambria Math" panose="02040503050406030204" pitchFamily="18" charset="0"/>
                                    <a:ea typeface="Cambria Math" panose="02040503050406030204" pitchFamily="18" charset="0"/>
                                    <a:cs typeface="Cambria Math" panose="02040503050406030204" pitchFamily="18" charset="0"/>
                                  </a:rPr>
                                  <m:t>𝑙</m:t>
                                </m:r>
                              </m:e>
                              <m:sub>
                                <m:r>
                                  <a:rPr lang="es-ES" i="1">
                                    <a:latin typeface="Cambria Math" panose="02040503050406030204" pitchFamily="18" charset="0"/>
                                    <a:ea typeface="Cambria Math" panose="02040503050406030204" pitchFamily="18" charset="0"/>
                                    <a:cs typeface="Cambria Math" panose="02040503050406030204" pitchFamily="18" charset="0"/>
                                  </a:rPr>
                                  <m:t>𝑥</m:t>
                                </m:r>
                                <m:r>
                                  <a:rPr lang="es-ES" i="1">
                                    <a:latin typeface="Cambria Math" panose="02040503050406030204" pitchFamily="18" charset="0"/>
                                    <a:ea typeface="Cambria Math" panose="02040503050406030204" pitchFamily="18" charset="0"/>
                                    <a:cs typeface="Cambria Math" panose="02040503050406030204" pitchFamily="18" charset="0"/>
                                  </a:rPr>
                                  <m:t>+</m:t>
                                </m:r>
                                <m:r>
                                  <a:rPr lang="es-CR" i="1">
                                    <a:latin typeface="Cambria Math" panose="02040503050406030204" pitchFamily="18" charset="0"/>
                                    <a:ea typeface="Cambria Math" panose="02040503050406030204" pitchFamily="18" charset="0"/>
                                    <a:cs typeface="Cambria Math" panose="02040503050406030204" pitchFamily="18" charset="0"/>
                                  </a:rPr>
                                  <m:t>𝑛</m:t>
                                </m:r>
                              </m:sub>
                            </m:sSub>
                          </m:e>
                        </m:d>
                      </m:num>
                      <m:den>
                        <m:r>
                          <a:rPr lang="es-CR" b="0" i="1" smtClean="0">
                            <a:effectLst/>
                            <a:latin typeface="Cambria Math" panose="02040503050406030204" pitchFamily="18" charset="0"/>
                            <a:ea typeface="Cambria Math" panose="02040503050406030204" pitchFamily="18" charset="0"/>
                          </a:rPr>
                          <m:t>2</m:t>
                        </m:r>
                      </m:den>
                    </m:f>
                  </m:oMath>
                </a14:m>
                <a:endParaRPr lang="en-US" dirty="0">
                  <a:effectLst/>
                  <a:latin typeface="Times New Roman" panose="02020603050405020304" pitchFamily="18" charset="0"/>
                  <a:ea typeface="Times New Roman" panose="02020603050405020304" pitchFamily="18" charset="0"/>
                </a:endParaRPr>
              </a:p>
              <a:p>
                <a:pPr marL="0" marR="0"/>
                <a:r>
                  <a:rPr lang="es-ES" sz="2600" b="1" i="1" dirty="0">
                    <a:solidFill>
                      <a:srgbClr val="000000"/>
                    </a:solidFill>
                    <a:effectLst/>
                    <a:latin typeface="Cambria" panose="02040503050406030204" pitchFamily="18" charset="0"/>
                  </a:rPr>
                  <a:t>Razón de sobrevivencia entre la edad x y </a:t>
                </a:r>
                <a:r>
                  <a:rPr lang="es-ES" sz="2600" b="1" i="1" dirty="0" err="1">
                    <a:solidFill>
                      <a:srgbClr val="000000"/>
                    </a:solidFill>
                    <a:effectLst/>
                    <a:latin typeface="Cambria" panose="02040503050406030204" pitchFamily="18" charset="0"/>
                  </a:rPr>
                  <a:t>x+n</a:t>
                </a:r>
                <a:r>
                  <a:rPr lang="es-ES" sz="2600" b="1" i="1" dirty="0">
                    <a:solidFill>
                      <a:srgbClr val="000000"/>
                    </a:solidFill>
                    <a:effectLst/>
                    <a:latin typeface="Cambria" panose="02040503050406030204" pitchFamily="18" charset="0"/>
                  </a:rPr>
                  <a:t> x </a:t>
                </a:r>
                <a:r>
                  <a:rPr lang="es-ES" sz="2600" b="1" i="1" baseline="-25000" dirty="0" err="1">
                    <a:solidFill>
                      <a:srgbClr val="000000"/>
                    </a:solidFill>
                    <a:effectLst/>
                    <a:latin typeface="Cambria" panose="02040503050406030204" pitchFamily="18" charset="0"/>
                  </a:rPr>
                  <a:t>n</a:t>
                </a:r>
                <a:r>
                  <a:rPr lang="es-ES" sz="2600" b="1" i="1" dirty="0" err="1">
                    <a:solidFill>
                      <a:srgbClr val="000000"/>
                    </a:solidFill>
                    <a:effectLst/>
                    <a:latin typeface="Cambria" panose="02040503050406030204" pitchFamily="18" charset="0"/>
                  </a:rPr>
                  <a:t>S</a:t>
                </a:r>
                <a:r>
                  <a:rPr lang="es-ES" sz="2600" b="1" i="1" baseline="-25000" dirty="0" err="1">
                    <a:solidFill>
                      <a:srgbClr val="000000"/>
                    </a:solidFill>
                    <a:effectLst/>
                    <a:latin typeface="Cambria" panose="02040503050406030204" pitchFamily="18" charset="0"/>
                  </a:rPr>
                  <a:t>x</a:t>
                </a:r>
                <a:r>
                  <a:rPr lang="es-ES" sz="2600" b="1" i="1" baseline="-25000" dirty="0">
                    <a:solidFill>
                      <a:srgbClr val="000000"/>
                    </a:solidFill>
                    <a:effectLst/>
                    <a:latin typeface="Cambria" panose="02040503050406030204" pitchFamily="18" charset="0"/>
                  </a:rPr>
                  <a:t>  </a:t>
                </a:r>
                <a:endParaRPr lang="en-US" sz="2600" b="1" i="1" dirty="0">
                  <a:solidFill>
                    <a:srgbClr val="000000"/>
                  </a:solidFill>
                  <a:effectLst/>
                  <a:latin typeface="Cambria" panose="02040503050406030204" pitchFamily="18" charset="0"/>
                </a:endParaRPr>
              </a:p>
              <a:p>
                <a:pPr marL="457200" lvl="1"/>
                <a:r>
                  <a:rPr lang="es-ES" sz="1400" dirty="0">
                    <a:effectLst/>
                    <a:latin typeface="Times New Roman" panose="02020603050405020304" pitchFamily="18" charset="0"/>
                    <a:ea typeface="Times New Roman" panose="02020603050405020304" pitchFamily="18" charset="0"/>
                  </a:rPr>
                  <a:t> </a:t>
                </a:r>
                <a:r>
                  <a:rPr lang="es-ES" sz="2000" dirty="0">
                    <a:effectLst/>
                    <a:latin typeface="Cambria" panose="02040503050406030204" pitchFamily="18" charset="0"/>
                    <a:ea typeface="Cambria" panose="02040503050406030204" pitchFamily="18" charset="0"/>
                    <a:cs typeface="Cambria" panose="02040503050406030204" pitchFamily="18" charset="0"/>
                  </a:rPr>
                  <a:t>Se puede considerar como la proporción de una población de edad x que sobrevivirá a la edad </a:t>
                </a:r>
                <a:r>
                  <a:rPr lang="es-ES" sz="2000" dirty="0" err="1">
                    <a:effectLst/>
                    <a:latin typeface="Cambria" panose="02040503050406030204" pitchFamily="18" charset="0"/>
                    <a:ea typeface="Cambria" panose="02040503050406030204" pitchFamily="18" charset="0"/>
                    <a:cs typeface="Cambria" panose="02040503050406030204" pitchFamily="18" charset="0"/>
                  </a:rPr>
                  <a:t>x+n</a:t>
                </a:r>
                <a:r>
                  <a:rPr lang="es-ES" sz="2000" dirty="0">
                    <a:effectLst/>
                    <a:latin typeface="Cambria" panose="02040503050406030204" pitchFamily="18" charset="0"/>
                    <a:ea typeface="Cambria" panose="02040503050406030204" pitchFamily="18" charset="0"/>
                    <a:cs typeface="Cambria" panose="02040503050406030204" pitchFamily="18" charset="0"/>
                  </a:rPr>
                  <a:t>.  Se determina con la fórmula:</a:t>
                </a:r>
                <a:endParaRPr lang="en-US" sz="2000" dirty="0">
                  <a:effectLst/>
                  <a:latin typeface="Times New Roman" panose="02020603050405020304" pitchFamily="18" charset="0"/>
                  <a:ea typeface="Times New Roman" panose="02020603050405020304" pitchFamily="18" charset="0"/>
                </a:endParaRPr>
              </a:p>
              <a:p>
                <a:pPr marL="914400" lvl="2"/>
                <a14:m>
                  <m:oMath xmlns:m="http://schemas.openxmlformats.org/officeDocument/2006/math">
                    <m:sPre>
                      <m:sPrePr>
                        <m:ctrlPr>
                          <a:rPr lang="en-US" sz="2200" i="1" smtClean="0">
                            <a:latin typeface="Cambria Math" panose="02040503050406030204" pitchFamily="18" charset="0"/>
                            <a:ea typeface="Cambria Math" panose="02040503050406030204" pitchFamily="18" charset="0"/>
                          </a:rPr>
                        </m:ctrlPr>
                      </m:sPrePr>
                      <m:sub>
                        <m:r>
                          <a:rPr lang="es-CR" sz="2200" b="0" i="1" smtClean="0">
                            <a:latin typeface="Cambria Math" panose="02040503050406030204" pitchFamily="18" charset="0"/>
                            <a:ea typeface="Cambria Math" panose="02040503050406030204" pitchFamily="18" charset="0"/>
                          </a:rPr>
                          <m:t>𝑛</m:t>
                        </m:r>
                      </m:sub>
                      <m:sup/>
                      <m:e>
                        <m:sSub>
                          <m:sSubPr>
                            <m:ctrlPr>
                              <a:rPr lang="en-US" sz="2200" i="1">
                                <a:latin typeface="Cambria Math" panose="02040503050406030204" pitchFamily="18" charset="0"/>
                              </a:rPr>
                            </m:ctrlPr>
                          </m:sSubPr>
                          <m:e>
                            <m:r>
                              <a:rPr lang="en-US" sz="2200" b="0" i="1" smtClean="0">
                                <a:latin typeface="Cambria Math" panose="02040503050406030204" pitchFamily="18" charset="0"/>
                              </a:rPr>
                              <m:t>𝑆</m:t>
                            </m:r>
                          </m:e>
                          <m:sub>
                            <m:r>
                              <a:rPr lang="es-CR" sz="2200" b="0" i="1" smtClean="0">
                                <a:latin typeface="Cambria Math" panose="02040503050406030204" pitchFamily="18" charset="0"/>
                              </a:rPr>
                              <m:t>𝑥</m:t>
                            </m:r>
                          </m:sub>
                        </m:sSub>
                      </m:e>
                    </m:sPre>
                    <m:r>
                      <a:rPr lang="en-US" sz="2200" i="1">
                        <a:latin typeface="Cambria Math" panose="02040503050406030204" pitchFamily="18" charset="0"/>
                      </a:rPr>
                      <m:t> </m:t>
                    </m:r>
                    <m:r>
                      <a:rPr lang="es-ES" sz="2200" i="1">
                        <a:effectLst/>
                        <a:latin typeface="Cambria Math" panose="02040503050406030204" pitchFamily="18" charset="0"/>
                        <a:ea typeface="Cambria Math" panose="02040503050406030204" pitchFamily="18" charset="0"/>
                        <a:cs typeface="Cambria Math" panose="02040503050406030204" pitchFamily="18" charset="0"/>
                      </a:rPr>
                      <m:t>=</m:t>
                    </m:r>
                    <m:f>
                      <m:fPr>
                        <m:ctrlPr>
                          <a:rPr lang="es-ES" sz="2200" i="1" smtClean="0">
                            <a:effectLst/>
                            <a:latin typeface="Cambria Math" panose="02040503050406030204" pitchFamily="18" charset="0"/>
                            <a:ea typeface="Cambria Math" panose="02040503050406030204" pitchFamily="18" charset="0"/>
                          </a:rPr>
                        </m:ctrlPr>
                      </m:fPr>
                      <m:num>
                        <m:d>
                          <m:dPr>
                            <m:ctrlPr>
                              <a:rPr lang="es-ES" sz="2200" i="1" smtClean="0">
                                <a:effectLst/>
                                <a:latin typeface="Cambria Math" panose="02040503050406030204" pitchFamily="18" charset="0"/>
                                <a:ea typeface="Cambria Math" panose="02040503050406030204" pitchFamily="18" charset="0"/>
                              </a:rPr>
                            </m:ctrlPr>
                          </m:dPr>
                          <m:e>
                            <m:sPre>
                              <m:sPrePr>
                                <m:ctrlPr>
                                  <a:rPr lang="en-US" sz="2200" i="1">
                                    <a:latin typeface="Cambria Math" panose="02040503050406030204" pitchFamily="18" charset="0"/>
                                    <a:ea typeface="Cambria Math" panose="02040503050406030204" pitchFamily="18" charset="0"/>
                                  </a:rPr>
                                </m:ctrlPr>
                              </m:sPrePr>
                              <m:sub>
                                <m:r>
                                  <a:rPr lang="es-CR" sz="2200" i="1">
                                    <a:latin typeface="Cambria Math" panose="02040503050406030204" pitchFamily="18" charset="0"/>
                                    <a:ea typeface="Cambria Math" panose="02040503050406030204" pitchFamily="18" charset="0"/>
                                  </a:rPr>
                                  <m:t>𝑛</m:t>
                                </m:r>
                              </m:sub>
                              <m:sup/>
                              <m:e>
                                <m:sSub>
                                  <m:sSubPr>
                                    <m:ctrlPr>
                                      <a:rPr lang="en-US" sz="2200" i="1">
                                        <a:latin typeface="Cambria Math" panose="02040503050406030204" pitchFamily="18" charset="0"/>
                                      </a:rPr>
                                    </m:ctrlPr>
                                  </m:sSubPr>
                                  <m:e>
                                    <m:r>
                                      <a:rPr lang="es-CR" sz="2200" i="1">
                                        <a:latin typeface="Cambria Math" panose="02040503050406030204" pitchFamily="18" charset="0"/>
                                      </a:rPr>
                                      <m:t>𝐿</m:t>
                                    </m:r>
                                  </m:e>
                                  <m:sub>
                                    <m:r>
                                      <a:rPr lang="es-CR" sz="2200" i="1">
                                        <a:latin typeface="Cambria Math" panose="02040503050406030204" pitchFamily="18" charset="0"/>
                                      </a:rPr>
                                      <m:t>𝑥</m:t>
                                    </m:r>
                                    <m:r>
                                      <a:rPr lang="es-CR" sz="2200" b="0" i="1" smtClean="0">
                                        <a:latin typeface="Cambria Math" panose="02040503050406030204" pitchFamily="18" charset="0"/>
                                      </a:rPr>
                                      <m:t>+</m:t>
                                    </m:r>
                                    <m:r>
                                      <a:rPr lang="es-CR" sz="2200" b="0" i="1" smtClean="0">
                                        <a:latin typeface="Cambria Math" panose="02040503050406030204" pitchFamily="18" charset="0"/>
                                      </a:rPr>
                                      <m:t>𝑛</m:t>
                                    </m:r>
                                  </m:sub>
                                </m:sSub>
                              </m:e>
                            </m:sPre>
                          </m:e>
                        </m:d>
                      </m:num>
                      <m:den>
                        <m:sPre>
                          <m:sPrePr>
                            <m:ctrlPr>
                              <a:rPr lang="en-US" sz="2200" i="1">
                                <a:latin typeface="Cambria Math" panose="02040503050406030204" pitchFamily="18" charset="0"/>
                                <a:ea typeface="Cambria Math" panose="02040503050406030204" pitchFamily="18" charset="0"/>
                              </a:rPr>
                            </m:ctrlPr>
                          </m:sPrePr>
                          <m:sub>
                            <m:r>
                              <a:rPr lang="es-CR" sz="2200" i="1">
                                <a:latin typeface="Cambria Math" panose="02040503050406030204" pitchFamily="18" charset="0"/>
                                <a:ea typeface="Cambria Math" panose="02040503050406030204" pitchFamily="18" charset="0"/>
                              </a:rPr>
                              <m:t>𝑛</m:t>
                            </m:r>
                          </m:sub>
                          <m:sup/>
                          <m:e>
                            <m:sSub>
                              <m:sSubPr>
                                <m:ctrlPr>
                                  <a:rPr lang="en-US" sz="2200" i="1">
                                    <a:latin typeface="Cambria Math" panose="02040503050406030204" pitchFamily="18" charset="0"/>
                                  </a:rPr>
                                </m:ctrlPr>
                              </m:sSubPr>
                              <m:e>
                                <m:r>
                                  <a:rPr lang="es-CR" sz="2200" i="1">
                                    <a:latin typeface="Cambria Math" panose="02040503050406030204" pitchFamily="18" charset="0"/>
                                  </a:rPr>
                                  <m:t>𝐿</m:t>
                                </m:r>
                              </m:e>
                              <m:sub>
                                <m:r>
                                  <a:rPr lang="es-CR" sz="2200" i="1">
                                    <a:latin typeface="Cambria Math" panose="02040503050406030204" pitchFamily="18" charset="0"/>
                                  </a:rPr>
                                  <m:t>𝑥</m:t>
                                </m:r>
                              </m:sub>
                            </m:sSub>
                          </m:e>
                        </m:sPre>
                      </m:den>
                    </m:f>
                  </m:oMath>
                </a14:m>
                <a:endParaRPr lang="en-US" sz="2200" dirty="0">
                  <a:effectLst/>
                  <a:latin typeface="Times New Roman" panose="02020603050405020304" pitchFamily="18" charset="0"/>
                  <a:ea typeface="Times New Roman" panose="02020603050405020304" pitchFamily="18" charset="0"/>
                </a:endParaRPr>
              </a:p>
              <a:p>
                <a:pPr marL="0" marR="0" indent="0">
                  <a:buNone/>
                </a:pPr>
                <a:endParaRPr lang="en-US" sz="1800" dirty="0">
                  <a:effectLst/>
                  <a:latin typeface="Times New Roman" panose="02020603050405020304" pitchFamily="18" charset="0"/>
                  <a:ea typeface="Times New Roman" panose="02020603050405020304" pitchFamily="18" charset="0"/>
                </a:endParaRPr>
              </a:p>
              <a:p>
                <a:pPr marL="0" marR="0"/>
                <a:r>
                  <a:rPr lang="es-ES" sz="2600" b="1" i="1" dirty="0">
                    <a:solidFill>
                      <a:srgbClr val="000000"/>
                    </a:solidFill>
                    <a:effectLst/>
                    <a:latin typeface="Cambria" panose="02040503050406030204" pitchFamily="18" charset="0"/>
                  </a:rPr>
                  <a:t>Tiempo que resta por vivir a partir de la edad x   </a:t>
                </a:r>
                <a:r>
                  <a:rPr lang="es-ES" sz="2600" b="1" i="1" dirty="0" err="1">
                    <a:solidFill>
                      <a:srgbClr val="000000"/>
                    </a:solidFill>
                    <a:effectLst/>
                    <a:latin typeface="Cambria" panose="02040503050406030204" pitchFamily="18" charset="0"/>
                  </a:rPr>
                  <a:t>T</a:t>
                </a:r>
                <a:r>
                  <a:rPr lang="es-ES" sz="2600" b="1" i="1" baseline="-25000" dirty="0" err="1">
                    <a:solidFill>
                      <a:srgbClr val="000000"/>
                    </a:solidFill>
                    <a:effectLst/>
                    <a:latin typeface="Cambria" panose="02040503050406030204" pitchFamily="18" charset="0"/>
                  </a:rPr>
                  <a:t>x</a:t>
                </a:r>
                <a:r>
                  <a:rPr lang="es-ES" sz="2600" b="1" i="1" baseline="-25000" dirty="0">
                    <a:solidFill>
                      <a:srgbClr val="000000"/>
                    </a:solidFill>
                    <a:effectLst/>
                    <a:latin typeface="Cambria" panose="02040503050406030204" pitchFamily="18" charset="0"/>
                  </a:rPr>
                  <a:t> </a:t>
                </a:r>
                <a:endParaRPr lang="en-US" sz="2600" b="1" i="1" dirty="0">
                  <a:solidFill>
                    <a:srgbClr val="000000"/>
                  </a:solidFill>
                  <a:effectLst/>
                  <a:latin typeface="Cambria" panose="02040503050406030204" pitchFamily="18" charset="0"/>
                </a:endParaRPr>
              </a:p>
              <a:p>
                <a:pPr marL="457200" lvl="1"/>
                <a:r>
                  <a:rPr lang="es-ES" sz="2000" dirty="0">
                    <a:effectLst/>
                    <a:latin typeface="Cambria" panose="02040503050406030204" pitchFamily="18" charset="0"/>
                    <a:ea typeface="Cambria" panose="02040503050406030204" pitchFamily="18" charset="0"/>
                    <a:cs typeface="Cambria" panose="02040503050406030204" pitchFamily="18" charset="0"/>
                  </a:rPr>
                  <a:t> Representa el total de años que le resta por vivir a la cohorte sintética entre la edad exacta x y la última edad </a:t>
                </a:r>
                <a:r>
                  <a:rPr lang="es-ES" sz="2000" dirty="0">
                    <a:effectLst/>
                    <a:latin typeface="Noto Sans Symbols"/>
                    <a:ea typeface="Noto Sans Symbols"/>
                    <a:cs typeface="Noto Sans Symbols"/>
                  </a:rPr>
                  <a:t>Ω</a:t>
                </a:r>
                <a:r>
                  <a:rPr lang="es-ES" sz="2000" dirty="0">
                    <a:effectLst/>
                    <a:latin typeface="Cambria" panose="02040503050406030204" pitchFamily="18" charset="0"/>
                    <a:ea typeface="Cambria" panose="02040503050406030204" pitchFamily="18" charset="0"/>
                    <a:cs typeface="Cambria" panose="02040503050406030204" pitchFamily="18" charset="0"/>
                  </a:rPr>
                  <a:t>. </a:t>
                </a:r>
                <a:endParaRPr lang="en-US" sz="2000" dirty="0">
                  <a:effectLst/>
                  <a:latin typeface="Times New Roman" panose="02020603050405020304" pitchFamily="18" charset="0"/>
                  <a:ea typeface="Times New Roman" panose="02020603050405020304" pitchFamily="18" charset="0"/>
                </a:endParaRPr>
              </a:p>
              <a:p>
                <a:pPr marL="914400" lvl="2"/>
                <a:r>
                  <a:rPr lang="es-ES" dirty="0">
                    <a:effectLst/>
                    <a:latin typeface="Cambria" panose="02040503050406030204" pitchFamily="18" charset="0"/>
                    <a:ea typeface="Cambria" panose="02040503050406030204" pitchFamily="18" charset="0"/>
                    <a:cs typeface="Cambria" panose="02040503050406030204" pitchFamily="18" charset="0"/>
                  </a:rPr>
                  <a:t> </a:t>
                </a:r>
                <a14:m>
                  <m:oMath xmlns:m="http://schemas.openxmlformats.org/officeDocument/2006/math">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s-ES" i="1">
                            <a:effectLst/>
                            <a:latin typeface="Cambria Math" panose="02040503050406030204" pitchFamily="18" charset="0"/>
                            <a:ea typeface="Cambria Math" panose="02040503050406030204" pitchFamily="18" charset="0"/>
                            <a:cs typeface="Cambria Math" panose="02040503050406030204" pitchFamily="18" charset="0"/>
                          </a:rPr>
                          <m:t>𝑇</m:t>
                        </m:r>
                      </m:e>
                      <m:sub>
                        <m:r>
                          <a:rPr lang="es-ES" i="1">
                            <a:effectLst/>
                            <a:latin typeface="Cambria Math" panose="02040503050406030204" pitchFamily="18" charset="0"/>
                            <a:ea typeface="Cambria Math" panose="02040503050406030204" pitchFamily="18" charset="0"/>
                            <a:cs typeface="Cambria Math" panose="02040503050406030204" pitchFamily="18" charset="0"/>
                          </a:rPr>
                          <m:t>𝑥</m:t>
                        </m:r>
                      </m:sub>
                    </m:sSub>
                    <m:r>
                      <a:rPr lang="es-ES" i="1">
                        <a:effectLst/>
                        <a:latin typeface="Cambria Math" panose="02040503050406030204" pitchFamily="18" charset="0"/>
                        <a:ea typeface="Cambria Math" panose="02040503050406030204" pitchFamily="18" charset="0"/>
                        <a:cs typeface="Cambria Math" panose="02040503050406030204" pitchFamily="18" charset="0"/>
                      </a:rPr>
                      <m:t>=</m:t>
                    </m:r>
                    <m:nary>
                      <m:naryPr>
                        <m:chr m:val="∑"/>
                        <m:ctrlPr>
                          <a:rPr lang="en-US" i="1">
                            <a:effectLst/>
                            <a:latin typeface="Cambria Math" panose="02040503050406030204" pitchFamily="18" charset="0"/>
                            <a:ea typeface="Cambria Math" panose="02040503050406030204" pitchFamily="18" charset="0"/>
                            <a:cs typeface="Cambria Math" panose="02040503050406030204" pitchFamily="18" charset="0"/>
                          </a:rPr>
                        </m:ctrlPr>
                      </m:naryPr>
                      <m:sub>
                        <m:r>
                          <a:rPr lang="es-ES" i="1">
                            <a:effectLst/>
                            <a:latin typeface="Cambria Math" panose="02040503050406030204" pitchFamily="18" charset="0"/>
                            <a:ea typeface="Cambria Math" panose="02040503050406030204" pitchFamily="18" charset="0"/>
                            <a:cs typeface="Cambria Math" panose="02040503050406030204" pitchFamily="18" charset="0"/>
                          </a:rPr>
                          <m:t>𝑥</m:t>
                        </m:r>
                      </m:sub>
                      <m:sup/>
                      <m:e>
                        <m:d>
                          <m:dPr>
                            <m:ctrlPr>
                              <a:rPr lang="es-ES" i="1" smtClean="0">
                                <a:effectLst/>
                                <a:latin typeface="Cambria Math" panose="02040503050406030204" pitchFamily="18" charset="0"/>
                                <a:ea typeface="Cambria Math" panose="02040503050406030204" pitchFamily="18" charset="0"/>
                              </a:rPr>
                            </m:ctrlPr>
                          </m:dPr>
                          <m:e>
                            <m:sPre>
                              <m:sPrePr>
                                <m:ctrlPr>
                                  <a:rPr lang="en-US" i="1">
                                    <a:latin typeface="Cambria Math" panose="02040503050406030204" pitchFamily="18" charset="0"/>
                                    <a:ea typeface="Cambria Math" panose="02040503050406030204" pitchFamily="18" charset="0"/>
                                  </a:rPr>
                                </m:ctrlPr>
                              </m:sPrePr>
                              <m:sub>
                                <m:r>
                                  <a:rPr lang="es-CR" i="1">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s-CR" i="1">
                                        <a:latin typeface="Cambria Math" panose="02040503050406030204" pitchFamily="18" charset="0"/>
                                      </a:rPr>
                                      <m:t>𝐿</m:t>
                                    </m:r>
                                  </m:e>
                                  <m:sub>
                                    <m:r>
                                      <a:rPr lang="es-CR" i="1">
                                        <a:latin typeface="Cambria Math" panose="02040503050406030204" pitchFamily="18" charset="0"/>
                                      </a:rPr>
                                      <m:t>𝑥</m:t>
                                    </m:r>
                                  </m:sub>
                                </m:sSub>
                              </m:e>
                            </m:sPre>
                          </m:e>
                        </m:d>
                      </m:e>
                    </m:nary>
                  </m:oMath>
                </a14:m>
                <a:endParaRPr lang="en-US" dirty="0">
                  <a:effectLst/>
                  <a:latin typeface="Times New Roman" panose="02020603050405020304" pitchFamily="18" charset="0"/>
                  <a:ea typeface="Times New Roman" panose="02020603050405020304" pitchFamily="18" charset="0"/>
                </a:endParaRPr>
              </a:p>
              <a:p>
                <a:pPr marL="0" marR="0"/>
                <a:endParaRPr lang="en-US" sz="1800" dirty="0">
                  <a:effectLst/>
                  <a:latin typeface="Times New Roman" panose="02020603050405020304" pitchFamily="18" charset="0"/>
                  <a:ea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6359CF15-45CF-657B-9604-60A5DCFFBD4E}"/>
                  </a:ext>
                </a:extLst>
              </p:cNvPr>
              <p:cNvSpPr>
                <a:spLocks noGrp="1" noRot="1" noChangeAspect="1" noMove="1" noResize="1" noEditPoints="1" noAdjustHandles="1" noChangeArrowheads="1" noChangeShapeType="1" noTextEdit="1"/>
              </p:cNvSpPr>
              <p:nvPr>
                <p:ph idx="1"/>
              </p:nvPr>
            </p:nvSpPr>
            <p:spPr>
              <a:xfrm>
                <a:off x="838200" y="1481960"/>
                <a:ext cx="10515600" cy="5376040"/>
              </a:xfrm>
              <a:blipFill>
                <a:blip r:embed="rId2"/>
                <a:stretch>
                  <a:fillRect l="-812" t="-2268" r="-696" b="-8957"/>
                </a:stretch>
              </a:blipFill>
            </p:spPr>
            <p:txBody>
              <a:bodyPr/>
              <a:lstStyle/>
              <a:p>
                <a:r>
                  <a:rPr lang="en-US">
                    <a:noFill/>
                  </a:rPr>
                  <a:t> </a:t>
                </a:r>
              </a:p>
            </p:txBody>
          </p:sp>
        </mc:Fallback>
      </mc:AlternateContent>
    </p:spTree>
    <p:extLst>
      <p:ext uri="{BB962C8B-B14F-4D97-AF65-F5344CB8AC3E}">
        <p14:creationId xmlns:p14="http://schemas.microsoft.com/office/powerpoint/2010/main" val="3560149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A38DF-3CA3-9358-C446-D970E6CBD2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BE872B5-BD45-9812-FFA7-77F5E4D24949}"/>
              </a:ext>
            </a:extLst>
          </p:cNvPr>
          <p:cNvSpPr>
            <a:spLocks noGrp="1"/>
          </p:cNvSpPr>
          <p:nvPr>
            <p:ph type="title"/>
          </p:nvPr>
        </p:nvSpPr>
        <p:spPr/>
        <p:txBody>
          <a:bodyPr/>
          <a:lstStyle/>
          <a:p>
            <a:r>
              <a:rPr lang="es-CR" dirty="0"/>
              <a:t>Funciones de tabla de vida</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0D2130B-1C53-D591-37C5-4B3C3F8AB233}"/>
                  </a:ext>
                </a:extLst>
              </p:cNvPr>
              <p:cNvSpPr>
                <a:spLocks noGrp="1"/>
              </p:cNvSpPr>
              <p:nvPr>
                <p:ph idx="1"/>
              </p:nvPr>
            </p:nvSpPr>
            <p:spPr>
              <a:xfrm>
                <a:off x="838200" y="1481960"/>
                <a:ext cx="10515600" cy="5123792"/>
              </a:xfrm>
            </p:spPr>
            <p:txBody>
              <a:bodyPr>
                <a:normAutofit/>
              </a:bodyPr>
              <a:lstStyle/>
              <a:p>
                <a:pPr marL="0" marR="0"/>
                <a:r>
                  <a:rPr lang="es-ES" sz="2600" b="1" i="1" dirty="0">
                    <a:solidFill>
                      <a:srgbClr val="000000"/>
                    </a:solidFill>
                    <a:effectLst/>
                    <a:latin typeface="Cambria" panose="02040503050406030204" pitchFamily="18" charset="0"/>
                  </a:rPr>
                  <a:t>Esperanza de vida a la edad x  e</a:t>
                </a:r>
                <a:r>
                  <a:rPr lang="es-ES" sz="2600" b="1" i="1" baseline="-25000" dirty="0">
                    <a:solidFill>
                      <a:srgbClr val="000000"/>
                    </a:solidFill>
                    <a:effectLst/>
                    <a:latin typeface="Cambria" panose="02040503050406030204" pitchFamily="18" charset="0"/>
                  </a:rPr>
                  <a:t>x</a:t>
                </a:r>
                <a:r>
                  <a:rPr lang="es-ES" sz="2600" b="1" i="1" dirty="0">
                    <a:solidFill>
                      <a:srgbClr val="000000"/>
                    </a:solidFill>
                    <a:effectLst/>
                    <a:latin typeface="Cambria" panose="02040503050406030204" pitchFamily="18" charset="0"/>
                  </a:rPr>
                  <a:t> </a:t>
                </a:r>
                <a:endParaRPr lang="en-US" sz="2600" b="1" i="1" dirty="0">
                  <a:solidFill>
                    <a:srgbClr val="000000"/>
                  </a:solidFill>
                  <a:effectLst/>
                  <a:latin typeface="Cambria" panose="02040503050406030204" pitchFamily="18" charset="0"/>
                </a:endParaRPr>
              </a:p>
              <a:p>
                <a:pPr marL="457200" lvl="1"/>
                <a:r>
                  <a:rPr lang="es-ES" sz="1400" b="1" i="1" dirty="0">
                    <a:solidFill>
                      <a:srgbClr val="000000"/>
                    </a:solidFill>
                    <a:effectLst/>
                    <a:latin typeface="Cambria" panose="02040503050406030204" pitchFamily="18" charset="0"/>
                  </a:rPr>
                  <a:t> </a:t>
                </a:r>
                <a:r>
                  <a:rPr lang="es-ES" sz="2000" dirty="0">
                    <a:effectLst/>
                    <a:latin typeface="Cambria" panose="02040503050406030204" pitchFamily="18" charset="0"/>
                    <a:ea typeface="Cambria" panose="02040503050406030204" pitchFamily="18" charset="0"/>
                    <a:cs typeface="Cambria" panose="02040503050406030204" pitchFamily="18" charset="0"/>
                  </a:rPr>
                  <a:t>Representa el número de años que en promedio se espera viva una persona de edad exacta x si se mantienen constantes las probabilidades de muerte </a:t>
                </a:r>
                <a:r>
                  <a:rPr lang="es-ES" sz="2000" dirty="0" err="1">
                    <a:effectLst/>
                    <a:latin typeface="Cambria" panose="02040503050406030204" pitchFamily="18" charset="0"/>
                    <a:ea typeface="Cambria" panose="02040503050406030204" pitchFamily="18" charset="0"/>
                    <a:cs typeface="Cambria" panose="02040503050406030204" pitchFamily="18" charset="0"/>
                  </a:rPr>
                  <a:t>q</a:t>
                </a:r>
                <a:r>
                  <a:rPr lang="es-ES" sz="2000" baseline="-25000" dirty="0" err="1">
                    <a:effectLst/>
                    <a:latin typeface="Cambria" panose="02040503050406030204" pitchFamily="18" charset="0"/>
                    <a:ea typeface="Cambria" panose="02040503050406030204" pitchFamily="18" charset="0"/>
                    <a:cs typeface="Cambria" panose="02040503050406030204" pitchFamily="18" charset="0"/>
                  </a:rPr>
                  <a:t>x</a:t>
                </a:r>
                <a:r>
                  <a:rPr lang="es-ES" sz="2000" dirty="0">
                    <a:effectLst/>
                    <a:latin typeface="Cambria" panose="02040503050406030204" pitchFamily="18" charset="0"/>
                    <a:ea typeface="Cambria" panose="02040503050406030204" pitchFamily="18" charset="0"/>
                    <a:cs typeface="Cambria" panose="02040503050406030204" pitchFamily="18" charset="0"/>
                  </a:rPr>
                  <a:t> de la tabla.  Su fórmula es:</a:t>
                </a:r>
                <a:endParaRPr lang="en-US" sz="2000" dirty="0">
                  <a:effectLst/>
                  <a:latin typeface="Times New Roman" panose="02020603050405020304" pitchFamily="18" charset="0"/>
                  <a:ea typeface="Times New Roman" panose="02020603050405020304" pitchFamily="18" charset="0"/>
                </a:endParaRPr>
              </a:p>
              <a:p>
                <a:pPr marL="914400" lvl="2"/>
                <a:r>
                  <a:rPr lang="es-ES" dirty="0">
                    <a:effectLst/>
                    <a:latin typeface="Cambria" panose="02040503050406030204" pitchFamily="18" charset="0"/>
                    <a:ea typeface="Cambria" panose="02040503050406030204" pitchFamily="18" charset="0"/>
                    <a:cs typeface="Cambria" panose="02040503050406030204" pitchFamily="18" charset="0"/>
                  </a:rPr>
                  <a:t> </a:t>
                </a:r>
                <a14:m>
                  <m:oMath xmlns:m="http://schemas.openxmlformats.org/officeDocument/2006/math">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s-ES" i="1">
                            <a:effectLst/>
                            <a:latin typeface="Cambria Math" panose="02040503050406030204" pitchFamily="18" charset="0"/>
                            <a:ea typeface="Cambria Math" panose="02040503050406030204" pitchFamily="18" charset="0"/>
                            <a:cs typeface="Cambria Math" panose="02040503050406030204" pitchFamily="18" charset="0"/>
                          </a:rPr>
                          <m:t>𝑒</m:t>
                        </m:r>
                      </m:e>
                      <m:sub>
                        <m:r>
                          <a:rPr lang="es-ES" i="1">
                            <a:effectLst/>
                            <a:latin typeface="Cambria Math" panose="02040503050406030204" pitchFamily="18" charset="0"/>
                            <a:ea typeface="Cambria Math" panose="02040503050406030204" pitchFamily="18" charset="0"/>
                            <a:cs typeface="Cambria Math" panose="02040503050406030204" pitchFamily="18" charset="0"/>
                          </a:rPr>
                          <m:t>𝑥</m:t>
                        </m:r>
                      </m:sub>
                    </m:sSub>
                    <m:r>
                      <a:rPr lang="es-ES" i="1">
                        <a:effectLst/>
                        <a:latin typeface="Cambria Math" panose="02040503050406030204" pitchFamily="18" charset="0"/>
                        <a:ea typeface="Cambria Math" panose="02040503050406030204" pitchFamily="18" charset="0"/>
                        <a:cs typeface="Cambria Math" panose="02040503050406030204" pitchFamily="18" charset="0"/>
                      </a:rPr>
                      <m:t>=</m:t>
                    </m:r>
                    <m:f>
                      <m:f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fPr>
                      <m:num>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s-ES" i="1">
                                <a:effectLst/>
                                <a:latin typeface="Cambria Math" panose="02040503050406030204" pitchFamily="18" charset="0"/>
                                <a:ea typeface="Cambria Math" panose="02040503050406030204" pitchFamily="18" charset="0"/>
                                <a:cs typeface="Cambria Math" panose="02040503050406030204" pitchFamily="18" charset="0"/>
                              </a:rPr>
                              <m:t>𝑇</m:t>
                            </m:r>
                          </m:e>
                          <m:sub>
                            <m:r>
                              <a:rPr lang="es-ES" i="1">
                                <a:effectLst/>
                                <a:latin typeface="Cambria Math" panose="02040503050406030204" pitchFamily="18" charset="0"/>
                                <a:ea typeface="Cambria Math" panose="02040503050406030204" pitchFamily="18" charset="0"/>
                                <a:cs typeface="Cambria Math" panose="02040503050406030204" pitchFamily="18" charset="0"/>
                              </a:rPr>
                              <m:t>𝑥</m:t>
                            </m:r>
                          </m:sub>
                        </m:sSub>
                      </m:num>
                      <m:den>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s-ES" i="1">
                                <a:effectLst/>
                                <a:latin typeface="Cambria Math" panose="02040503050406030204" pitchFamily="18" charset="0"/>
                                <a:ea typeface="Cambria Math" panose="02040503050406030204" pitchFamily="18" charset="0"/>
                                <a:cs typeface="Cambria Math" panose="02040503050406030204" pitchFamily="18" charset="0"/>
                              </a:rPr>
                              <m:t>𝑙</m:t>
                            </m:r>
                          </m:e>
                          <m:sub>
                            <m:r>
                              <a:rPr lang="es-ES" i="1">
                                <a:effectLst/>
                                <a:latin typeface="Cambria Math" panose="02040503050406030204" pitchFamily="18" charset="0"/>
                                <a:ea typeface="Cambria Math" panose="02040503050406030204" pitchFamily="18" charset="0"/>
                                <a:cs typeface="Cambria Math" panose="02040503050406030204" pitchFamily="18" charset="0"/>
                              </a:rPr>
                              <m:t>𝑥</m:t>
                            </m:r>
                          </m:sub>
                        </m:sSub>
                      </m:den>
                    </m:f>
                    <m:r>
                      <a:rPr lang="es-ES" i="1">
                        <a:effectLst/>
                        <a:latin typeface="Cambria Math" panose="02040503050406030204" pitchFamily="18" charset="0"/>
                        <a:ea typeface="Cambria Math" panose="02040503050406030204" pitchFamily="18" charset="0"/>
                        <a:cs typeface="Cambria Math" panose="02040503050406030204" pitchFamily="18" charset="0"/>
                      </a:rPr>
                      <m:t>= </m:t>
                    </m:r>
                    <m:f>
                      <m:f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fPr>
                      <m:num>
                        <m:nary>
                          <m:naryPr>
                            <m:chr m:val="∑"/>
                            <m:ctrlPr>
                              <a:rPr lang="en-US" i="1">
                                <a:effectLst/>
                                <a:latin typeface="Cambria Math" panose="02040503050406030204" pitchFamily="18" charset="0"/>
                                <a:ea typeface="Cambria Math" panose="02040503050406030204" pitchFamily="18" charset="0"/>
                                <a:cs typeface="Cambria Math" panose="02040503050406030204" pitchFamily="18" charset="0"/>
                              </a:rPr>
                            </m:ctrlPr>
                          </m:naryPr>
                          <m:sub>
                            <m:r>
                              <a:rPr lang="es-ES" i="1">
                                <a:effectLst/>
                                <a:latin typeface="Cambria Math" panose="02040503050406030204" pitchFamily="18" charset="0"/>
                                <a:ea typeface="Cambria Math" panose="02040503050406030204" pitchFamily="18" charset="0"/>
                                <a:cs typeface="Cambria Math" panose="02040503050406030204" pitchFamily="18" charset="0"/>
                              </a:rPr>
                              <m:t>𝑥</m:t>
                            </m:r>
                          </m:sub>
                          <m:sup/>
                          <m:e>
                            <m:d>
                              <m:d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dPr>
                              <m:e>
                                <m:d>
                                  <m:d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dPr>
                                  <m:e>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𝑥</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m:t>
                                    </m:r>
                                    <m:sPre>
                                      <m:sPrePr>
                                        <m:ctrlPr>
                                          <a:rPr lang="en-US" i="1">
                                            <a:latin typeface="Cambria Math" panose="02040503050406030204" pitchFamily="18" charset="0"/>
                                            <a:ea typeface="Cambria Math" panose="02040503050406030204" pitchFamily="18" charset="0"/>
                                          </a:rPr>
                                        </m:ctrlPr>
                                      </m:sPrePr>
                                      <m:sub>
                                        <m:r>
                                          <a:rPr lang="es-CR" i="1">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s-CR" i="1">
                                                <a:latin typeface="Cambria Math" panose="02040503050406030204" pitchFamily="18" charset="0"/>
                                              </a:rPr>
                                              <m:t>𝑎</m:t>
                                            </m:r>
                                          </m:e>
                                          <m:sub>
                                            <m:r>
                                              <a:rPr lang="es-CR" i="1">
                                                <a:latin typeface="Cambria Math" panose="02040503050406030204" pitchFamily="18" charset="0"/>
                                              </a:rPr>
                                              <m:t>𝑥</m:t>
                                            </m:r>
                                          </m:sub>
                                        </m:sSub>
                                      </m:e>
                                    </m:sPre>
                                  </m:e>
                                </m:d>
                                <m:sPre>
                                  <m:sPrePr>
                                    <m:ctrlPr>
                                      <a:rPr lang="en-US" i="1">
                                        <a:latin typeface="Cambria Math" panose="02040503050406030204" pitchFamily="18" charset="0"/>
                                        <a:ea typeface="Cambria Math" panose="02040503050406030204" pitchFamily="18" charset="0"/>
                                      </a:rPr>
                                    </m:ctrlPr>
                                  </m:sPrePr>
                                  <m:sub>
                                    <m:r>
                                      <a:rPr lang="es-CR" i="1">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s-CR" b="0" i="1" smtClean="0">
                                            <a:latin typeface="Cambria Math" panose="02040503050406030204" pitchFamily="18" charset="0"/>
                                          </a:rPr>
                                          <m:t>𝑑</m:t>
                                        </m:r>
                                      </m:e>
                                      <m:sub>
                                        <m:r>
                                          <a:rPr lang="es-CR" i="1">
                                            <a:latin typeface="Cambria Math" panose="02040503050406030204" pitchFamily="18" charset="0"/>
                                          </a:rPr>
                                          <m:t>𝑥</m:t>
                                        </m:r>
                                      </m:sub>
                                    </m:sSub>
                                  </m:e>
                                </m:sPre>
                              </m:e>
                            </m:d>
                          </m:e>
                        </m:nary>
                      </m:num>
                      <m:den>
                        <m:d>
                          <m:d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dPr>
                          <m:e>
                            <m:nary>
                              <m:naryPr>
                                <m:chr m:val="∑"/>
                                <m:ctrlPr>
                                  <a:rPr lang="en-US" i="1">
                                    <a:effectLst/>
                                    <a:latin typeface="Cambria Math" panose="02040503050406030204" pitchFamily="18" charset="0"/>
                                    <a:ea typeface="Cambria Math" panose="02040503050406030204" pitchFamily="18" charset="0"/>
                                    <a:cs typeface="Cambria Math" panose="02040503050406030204" pitchFamily="18" charset="0"/>
                                  </a:rPr>
                                </m:ctrlPr>
                              </m:naryPr>
                              <m:sub>
                                <m:r>
                                  <a:rPr lang="es-ES" i="1">
                                    <a:effectLst/>
                                    <a:latin typeface="Cambria Math" panose="02040503050406030204" pitchFamily="18" charset="0"/>
                                    <a:ea typeface="Cambria Math" panose="02040503050406030204" pitchFamily="18" charset="0"/>
                                    <a:cs typeface="Cambria Math" panose="02040503050406030204" pitchFamily="18" charset="0"/>
                                  </a:rPr>
                                  <m:t>𝑥</m:t>
                                </m:r>
                              </m:sub>
                              <m:sup/>
                              <m:e>
                                <m:sPre>
                                  <m:sPrePr>
                                    <m:ctrlPr>
                                      <a:rPr lang="en-US" i="1">
                                        <a:latin typeface="Cambria Math" panose="02040503050406030204" pitchFamily="18" charset="0"/>
                                        <a:ea typeface="Cambria Math" panose="02040503050406030204" pitchFamily="18" charset="0"/>
                                      </a:rPr>
                                    </m:ctrlPr>
                                  </m:sPrePr>
                                  <m:sub>
                                    <m:r>
                                      <a:rPr lang="es-CR" i="1">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s-CR" i="1">
                                            <a:latin typeface="Cambria Math" panose="02040503050406030204" pitchFamily="18" charset="0"/>
                                          </a:rPr>
                                          <m:t>𝑑</m:t>
                                        </m:r>
                                      </m:e>
                                      <m:sub>
                                        <m:r>
                                          <a:rPr lang="es-CR" i="1">
                                            <a:latin typeface="Cambria Math" panose="02040503050406030204" pitchFamily="18" charset="0"/>
                                          </a:rPr>
                                          <m:t>𝑥</m:t>
                                        </m:r>
                                      </m:sub>
                                    </m:sSub>
                                  </m:e>
                                </m:sPre>
                              </m:e>
                            </m:nary>
                          </m:e>
                        </m:d>
                      </m:den>
                    </m:f>
                    <m:r>
                      <a:rPr lang="es-ES" i="1">
                        <a:effectLst/>
                        <a:latin typeface="Cambria Math" panose="02040503050406030204" pitchFamily="18" charset="0"/>
                        <a:ea typeface="Cambria Math" panose="02040503050406030204" pitchFamily="18" charset="0"/>
                        <a:cs typeface="Cambria Math" panose="02040503050406030204" pitchFamily="18" charset="0"/>
                      </a:rPr>
                      <m:t>−</m:t>
                    </m:r>
                    <m:r>
                      <a:rPr lang="es-ES" i="1">
                        <a:effectLst/>
                        <a:latin typeface="Cambria Math" panose="02040503050406030204" pitchFamily="18" charset="0"/>
                        <a:ea typeface="Cambria Math" panose="02040503050406030204" pitchFamily="18" charset="0"/>
                        <a:cs typeface="Cambria Math" panose="02040503050406030204" pitchFamily="18" charset="0"/>
                      </a:rPr>
                      <m:t>𝑥</m:t>
                    </m:r>
                  </m:oMath>
                </a14:m>
                <a:endParaRPr lang="en-US" dirty="0">
                  <a:effectLst/>
                  <a:latin typeface="Times New Roman" panose="02020603050405020304" pitchFamily="18" charset="0"/>
                  <a:ea typeface="Times New Roman" panose="02020603050405020304" pitchFamily="18" charset="0"/>
                </a:endParaRPr>
              </a:p>
              <a:p>
                <a:pPr marL="457200" lvl="1"/>
                <a:r>
                  <a:rPr lang="en-US" sz="2000" dirty="0">
                    <a:effectLst/>
                    <a:latin typeface="Times New Roman" panose="02020603050405020304" pitchFamily="18" charset="0"/>
                    <a:ea typeface="Times New Roman" panose="02020603050405020304" pitchFamily="18" charset="0"/>
                  </a:rPr>
                  <a:t>Como se </a:t>
                </a:r>
                <a:r>
                  <a:rPr lang="en-US" sz="2000" dirty="0" err="1">
                    <a:effectLst/>
                    <a:latin typeface="Times New Roman" panose="02020603050405020304" pitchFamily="18" charset="0"/>
                    <a:ea typeface="Times New Roman" panose="02020603050405020304" pitchFamily="18" charset="0"/>
                  </a:rPr>
                  <a:t>puede</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apreciar</a:t>
                </a:r>
                <a:r>
                  <a:rPr lang="en-US" sz="2000" dirty="0">
                    <a:effectLst/>
                    <a:latin typeface="Times New Roman" panose="02020603050405020304" pitchFamily="18" charset="0"/>
                    <a:ea typeface="Times New Roman" panose="02020603050405020304" pitchFamily="18" charset="0"/>
                  </a:rPr>
                  <a:t> la </a:t>
                </a:r>
                <a:r>
                  <a:rPr lang="en-US" sz="2000" dirty="0" err="1">
                    <a:effectLst/>
                    <a:latin typeface="Times New Roman" panose="02020603050405020304" pitchFamily="18" charset="0"/>
                    <a:ea typeface="Times New Roman" panose="02020603050405020304" pitchFamily="18" charset="0"/>
                  </a:rPr>
                  <a:t>esperanza</a:t>
                </a:r>
                <a:r>
                  <a:rPr lang="en-US" sz="2000" dirty="0">
                    <a:effectLst/>
                    <a:latin typeface="Times New Roman" panose="02020603050405020304" pitchFamily="18" charset="0"/>
                    <a:ea typeface="Times New Roman" panose="02020603050405020304" pitchFamily="18" charset="0"/>
                  </a:rPr>
                  <a:t> de </a:t>
                </a:r>
                <a:r>
                  <a:rPr lang="en-US" sz="2000" dirty="0" err="1">
                    <a:effectLst/>
                    <a:latin typeface="Times New Roman" panose="02020603050405020304" pitchFamily="18" charset="0"/>
                    <a:ea typeface="Times New Roman" panose="02020603050405020304" pitchFamily="18" charset="0"/>
                  </a:rPr>
                  <a:t>vida</a:t>
                </a:r>
                <a:r>
                  <a:rPr lang="en-US" sz="2000" dirty="0">
                    <a:effectLst/>
                    <a:latin typeface="Times New Roman" panose="02020603050405020304" pitchFamily="18" charset="0"/>
                    <a:ea typeface="Times New Roman" panose="02020603050405020304" pitchFamily="18" charset="0"/>
                  </a:rPr>
                  <a:t> es un valor medio, que se </a:t>
                </a:r>
                <a:r>
                  <a:rPr lang="en-US" sz="2000" dirty="0" err="1">
                    <a:effectLst/>
                    <a:latin typeface="Times New Roman" panose="02020603050405020304" pitchFamily="18" charset="0"/>
                    <a:ea typeface="Times New Roman" panose="02020603050405020304" pitchFamily="18" charset="0"/>
                  </a:rPr>
                  <a:t>calcula</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igual</a:t>
                </a:r>
                <a:r>
                  <a:rPr lang="en-US" sz="2000" dirty="0">
                    <a:effectLst/>
                    <a:latin typeface="Times New Roman" panose="02020603050405020304" pitchFamily="18" charset="0"/>
                    <a:ea typeface="Times New Roman" panose="02020603050405020304" pitchFamily="18" charset="0"/>
                  </a:rPr>
                  <a:t> a las medias </a:t>
                </a:r>
                <a:r>
                  <a:rPr lang="en-US" sz="2000" dirty="0" err="1">
                    <a:effectLst/>
                    <a:latin typeface="Times New Roman" panose="02020603050405020304" pitchFamily="18" charset="0"/>
                    <a:ea typeface="Times New Roman" panose="02020603050405020304" pitchFamily="18" charset="0"/>
                  </a:rPr>
                  <a:t>aritméticas</a:t>
                </a:r>
                <a:r>
                  <a:rPr lang="en-US" sz="2000" dirty="0">
                    <a:effectLst/>
                    <a:latin typeface="Times New Roman" panose="02020603050405020304" pitchFamily="18" charset="0"/>
                    <a:ea typeface="Times New Roman" panose="02020603050405020304" pitchFamily="18" charset="0"/>
                  </a:rPr>
                  <a:t> para </a:t>
                </a:r>
                <a:r>
                  <a:rPr lang="en-US" sz="2000" dirty="0" err="1">
                    <a:effectLst/>
                    <a:latin typeface="Times New Roman" panose="02020603050405020304" pitchFamily="18" charset="0"/>
                    <a:ea typeface="Times New Roman" panose="02020603050405020304" pitchFamily="18" charset="0"/>
                  </a:rPr>
                  <a:t>datos</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agrupados</a:t>
                </a:r>
                <a:r>
                  <a:rPr lang="en-US" sz="2000" dirty="0">
                    <a:effectLst/>
                    <a:latin typeface="Times New Roman" panose="02020603050405020304" pitchFamily="18" charset="0"/>
                    <a:ea typeface="Times New Roman" panose="02020603050405020304" pitchFamily="18" charset="0"/>
                  </a:rPr>
                  <a:t>, con </a:t>
                </a:r>
                <a:r>
                  <a:rPr lang="en-US" sz="2000" dirty="0" err="1">
                    <a:effectLst/>
                    <a:latin typeface="Times New Roman" panose="02020603050405020304" pitchFamily="18" charset="0"/>
                    <a:ea typeface="Times New Roman" panose="02020603050405020304" pitchFamily="18" charset="0"/>
                  </a:rPr>
                  <a:t>una</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corrección</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porque</a:t>
                </a:r>
                <a:r>
                  <a:rPr lang="en-US" sz="2000" dirty="0">
                    <a:effectLst/>
                    <a:latin typeface="Times New Roman" panose="02020603050405020304" pitchFamily="18" charset="0"/>
                    <a:ea typeface="Times New Roman" panose="02020603050405020304" pitchFamily="18" charset="0"/>
                  </a:rPr>
                  <a:t> se le </a:t>
                </a:r>
                <a:r>
                  <a:rPr lang="en-US" sz="2000" dirty="0" err="1">
                    <a:effectLst/>
                    <a:latin typeface="Times New Roman" panose="02020603050405020304" pitchFamily="18" charset="0"/>
                    <a:ea typeface="Times New Roman" panose="02020603050405020304" pitchFamily="18" charset="0"/>
                  </a:rPr>
                  <a:t>resta</a:t>
                </a:r>
                <a:r>
                  <a:rPr lang="en-US" sz="2000" dirty="0">
                    <a:effectLst/>
                    <a:latin typeface="Times New Roman" panose="02020603050405020304" pitchFamily="18" charset="0"/>
                    <a:ea typeface="Times New Roman" panose="02020603050405020304" pitchFamily="18" charset="0"/>
                  </a:rPr>
                  <a:t> x.</a:t>
                </a:r>
              </a:p>
              <a:p>
                <a:pPr marL="457200" lvl="1"/>
                <a:endParaRPr lang="en-US" sz="2000" dirty="0">
                  <a:latin typeface="Times New Roman" panose="02020603050405020304" pitchFamily="18" charset="0"/>
                  <a:ea typeface="Times New Roman" panose="02020603050405020304" pitchFamily="18" charset="0"/>
                </a:endParaRPr>
              </a:p>
              <a:p>
                <a:pPr marL="457200" lvl="1"/>
                <a:r>
                  <a:rPr lang="en-US" sz="2000" dirty="0">
                    <a:latin typeface="Times New Roman" panose="02020603050405020304" pitchFamily="18" charset="0"/>
                    <a:ea typeface="Times New Roman" panose="02020603050405020304" pitchFamily="18" charset="0"/>
                  </a:rPr>
                  <a:t>Se </a:t>
                </a:r>
                <a:r>
                  <a:rPr lang="en-US" sz="2000" dirty="0" err="1">
                    <a:latin typeface="Times New Roman" panose="02020603050405020304" pitchFamily="18" charset="0"/>
                    <a:ea typeface="Times New Roman" panose="02020603050405020304" pitchFamily="18" charset="0"/>
                  </a:rPr>
                  <a:t>interpreta</a:t>
                </a:r>
                <a:r>
                  <a:rPr lang="en-US" sz="2000" dirty="0">
                    <a:latin typeface="Times New Roman" panose="02020603050405020304" pitchFamily="18" charset="0"/>
                    <a:ea typeface="Times New Roman" panose="02020603050405020304" pitchFamily="18" charset="0"/>
                  </a:rPr>
                  <a:t> </a:t>
                </a:r>
                <a:r>
                  <a:rPr lang="en-US" sz="2000" dirty="0" err="1">
                    <a:latin typeface="Times New Roman" panose="02020603050405020304" pitchFamily="18" charset="0"/>
                    <a:ea typeface="Times New Roman" panose="02020603050405020304" pitchFamily="18" charset="0"/>
                  </a:rPr>
                  <a:t>como</a:t>
                </a:r>
                <a:r>
                  <a:rPr lang="en-US" sz="2000" dirty="0">
                    <a:latin typeface="Times New Roman" panose="02020603050405020304" pitchFamily="18" charset="0"/>
                    <a:ea typeface="Times New Roman" panose="02020603050405020304" pitchFamily="18" charset="0"/>
                  </a:rPr>
                  <a:t> la </a:t>
                </a:r>
                <a:r>
                  <a:rPr lang="en-US" sz="2000" dirty="0" err="1">
                    <a:latin typeface="Times New Roman" panose="02020603050405020304" pitchFamily="18" charset="0"/>
                    <a:ea typeface="Times New Roman" panose="02020603050405020304" pitchFamily="18" charset="0"/>
                  </a:rPr>
                  <a:t>cantidad</a:t>
                </a:r>
                <a:r>
                  <a:rPr lang="en-US" sz="2000" dirty="0">
                    <a:latin typeface="Times New Roman" panose="02020603050405020304" pitchFamily="18" charset="0"/>
                    <a:ea typeface="Times New Roman" panose="02020603050405020304" pitchFamily="18" charset="0"/>
                  </a:rPr>
                  <a:t> de </a:t>
                </a:r>
                <a:r>
                  <a:rPr lang="en-US" sz="2000" dirty="0" err="1">
                    <a:latin typeface="Times New Roman" panose="02020603050405020304" pitchFamily="18" charset="0"/>
                    <a:ea typeface="Times New Roman" panose="02020603050405020304" pitchFamily="18" charset="0"/>
                  </a:rPr>
                  <a:t>años</a:t>
                </a:r>
                <a:r>
                  <a:rPr lang="en-US" sz="2000" dirty="0">
                    <a:latin typeface="Times New Roman" panose="02020603050405020304" pitchFamily="18" charset="0"/>
                    <a:ea typeface="Times New Roman" panose="02020603050405020304" pitchFamily="18" charset="0"/>
                  </a:rPr>
                  <a:t> (o </a:t>
                </a:r>
                <a:r>
                  <a:rPr lang="en-US" sz="2000" dirty="0" err="1">
                    <a:latin typeface="Times New Roman" panose="02020603050405020304" pitchFamily="18" charset="0"/>
                    <a:ea typeface="Times New Roman" panose="02020603050405020304" pitchFamily="18" charset="0"/>
                  </a:rPr>
                  <a:t>tiempo</a:t>
                </a:r>
                <a:r>
                  <a:rPr lang="en-US" sz="2000" dirty="0">
                    <a:latin typeface="Times New Roman" panose="02020603050405020304" pitchFamily="18" charset="0"/>
                    <a:ea typeface="Times New Roman" panose="02020603050405020304" pitchFamily="18" charset="0"/>
                  </a:rPr>
                  <a:t>) que </a:t>
                </a:r>
                <a:r>
                  <a:rPr lang="en-US" sz="2000" dirty="0" err="1">
                    <a:latin typeface="Times New Roman" panose="02020603050405020304" pitchFamily="18" charset="0"/>
                    <a:ea typeface="Times New Roman" panose="02020603050405020304" pitchFamily="18" charset="0"/>
                  </a:rPr>
                  <a:t>esperaría</a:t>
                </a:r>
                <a:r>
                  <a:rPr lang="en-US" sz="2000" dirty="0">
                    <a:latin typeface="Times New Roman" panose="02020603050405020304" pitchFamily="18" charset="0"/>
                    <a:ea typeface="Times New Roman" panose="02020603050405020304" pitchFamily="18" charset="0"/>
                  </a:rPr>
                  <a:t> </a:t>
                </a:r>
                <a:r>
                  <a:rPr lang="en-US" sz="2000" dirty="0" err="1">
                    <a:latin typeface="Times New Roman" panose="02020603050405020304" pitchFamily="18" charset="0"/>
                    <a:ea typeface="Times New Roman" panose="02020603050405020304" pitchFamily="18" charset="0"/>
                  </a:rPr>
                  <a:t>vivir</a:t>
                </a:r>
                <a:r>
                  <a:rPr lang="en-US" sz="2000" dirty="0">
                    <a:latin typeface="Times New Roman" panose="02020603050405020304" pitchFamily="18" charset="0"/>
                    <a:ea typeface="Times New Roman" panose="02020603050405020304" pitchFamily="18" charset="0"/>
                  </a:rPr>
                  <a:t> </a:t>
                </a:r>
                <a:r>
                  <a:rPr lang="en-US" sz="2000" dirty="0" err="1">
                    <a:latin typeface="Times New Roman" panose="02020603050405020304" pitchFamily="18" charset="0"/>
                    <a:ea typeface="Times New Roman" panose="02020603050405020304" pitchFamily="18" charset="0"/>
                  </a:rPr>
                  <a:t>una</a:t>
                </a:r>
                <a:r>
                  <a:rPr lang="en-US" sz="2000" dirty="0">
                    <a:latin typeface="Times New Roman" panose="02020603050405020304" pitchFamily="18" charset="0"/>
                    <a:ea typeface="Times New Roman" panose="02020603050405020304" pitchFamily="18" charset="0"/>
                  </a:rPr>
                  <a:t> persona que </a:t>
                </a:r>
                <a:r>
                  <a:rPr lang="en-US" sz="2000" dirty="0" err="1">
                    <a:latin typeface="Times New Roman" panose="02020603050405020304" pitchFamily="18" charset="0"/>
                    <a:ea typeface="Times New Roman" panose="02020603050405020304" pitchFamily="18" charset="0"/>
                  </a:rPr>
                  <a:t>nazca</a:t>
                </a:r>
                <a:r>
                  <a:rPr lang="en-US" sz="2000" dirty="0">
                    <a:latin typeface="Times New Roman" panose="02020603050405020304" pitchFamily="18" charset="0"/>
                    <a:ea typeface="Times New Roman" panose="02020603050405020304" pitchFamily="18" charset="0"/>
                  </a:rPr>
                  <a:t> hoy </a:t>
                </a:r>
                <a:r>
                  <a:rPr lang="en-US" sz="2000" dirty="0" err="1">
                    <a:latin typeface="Times New Roman" panose="02020603050405020304" pitchFamily="18" charset="0"/>
                    <a:ea typeface="Times New Roman" panose="02020603050405020304" pitchFamily="18" charset="0"/>
                  </a:rPr>
                  <a:t>si</a:t>
                </a:r>
                <a:r>
                  <a:rPr lang="en-US" sz="2000" dirty="0">
                    <a:latin typeface="Times New Roman" panose="02020603050405020304" pitchFamily="18" charset="0"/>
                    <a:ea typeface="Times New Roman" panose="02020603050405020304" pitchFamily="18" charset="0"/>
                  </a:rPr>
                  <a:t> se </a:t>
                </a:r>
                <a:r>
                  <a:rPr lang="en-US" sz="2000" dirty="0" err="1">
                    <a:latin typeface="Times New Roman" panose="02020603050405020304" pitchFamily="18" charset="0"/>
                    <a:ea typeface="Times New Roman" panose="02020603050405020304" pitchFamily="18" charset="0"/>
                  </a:rPr>
                  <a:t>mantienen</a:t>
                </a:r>
                <a:r>
                  <a:rPr lang="en-US" sz="2000" dirty="0">
                    <a:latin typeface="Times New Roman" panose="02020603050405020304" pitchFamily="18" charset="0"/>
                    <a:ea typeface="Times New Roman" panose="02020603050405020304" pitchFamily="18" charset="0"/>
                  </a:rPr>
                  <a:t> </a:t>
                </a:r>
                <a:r>
                  <a:rPr lang="en-US" sz="2000" dirty="0" err="1">
                    <a:latin typeface="Times New Roman" panose="02020603050405020304" pitchFamily="18" charset="0"/>
                    <a:ea typeface="Times New Roman" panose="02020603050405020304" pitchFamily="18" charset="0"/>
                  </a:rPr>
                  <a:t>en</a:t>
                </a:r>
                <a:r>
                  <a:rPr lang="en-US" sz="2000" dirty="0">
                    <a:latin typeface="Times New Roman" panose="02020603050405020304" pitchFamily="18" charset="0"/>
                    <a:ea typeface="Times New Roman" panose="02020603050405020304" pitchFamily="18" charset="0"/>
                  </a:rPr>
                  <a:t> </a:t>
                </a:r>
                <a:r>
                  <a:rPr lang="en-US" sz="2000" dirty="0" err="1">
                    <a:latin typeface="Times New Roman" panose="02020603050405020304" pitchFamily="18" charset="0"/>
                    <a:ea typeface="Times New Roman" panose="02020603050405020304" pitchFamily="18" charset="0"/>
                  </a:rPr>
                  <a:t>el</a:t>
                </a:r>
                <a:r>
                  <a:rPr lang="en-US" sz="2000" dirty="0">
                    <a:latin typeface="Times New Roman" panose="02020603050405020304" pitchFamily="18" charset="0"/>
                    <a:ea typeface="Times New Roman" panose="02020603050405020304" pitchFamily="18" charset="0"/>
                  </a:rPr>
                  <a:t> </a:t>
                </a:r>
                <a:r>
                  <a:rPr lang="en-US" sz="2000" dirty="0" err="1">
                    <a:latin typeface="Times New Roman" panose="02020603050405020304" pitchFamily="18" charset="0"/>
                    <a:ea typeface="Times New Roman" panose="02020603050405020304" pitchFamily="18" charset="0"/>
                  </a:rPr>
                  <a:t>tiempo</a:t>
                </a:r>
                <a:r>
                  <a:rPr lang="en-US" sz="2000" dirty="0">
                    <a:latin typeface="Times New Roman" panose="02020603050405020304" pitchFamily="18" charset="0"/>
                    <a:ea typeface="Times New Roman" panose="02020603050405020304" pitchFamily="18" charset="0"/>
                  </a:rPr>
                  <a:t> las </a:t>
                </a:r>
                <a:r>
                  <a:rPr lang="en-US" sz="2000" dirty="0" err="1">
                    <a:latin typeface="Times New Roman" panose="02020603050405020304" pitchFamily="18" charset="0"/>
                    <a:ea typeface="Times New Roman" panose="02020603050405020304" pitchFamily="18" charset="0"/>
                  </a:rPr>
                  <a:t>tasas</a:t>
                </a:r>
                <a:r>
                  <a:rPr lang="en-US" sz="2000" dirty="0">
                    <a:latin typeface="Times New Roman" panose="02020603050405020304" pitchFamily="18" charset="0"/>
                    <a:ea typeface="Times New Roman" panose="02020603050405020304" pitchFamily="18" charset="0"/>
                  </a:rPr>
                  <a:t> de </a:t>
                </a:r>
                <a:r>
                  <a:rPr lang="en-US" sz="2000" dirty="0" err="1">
                    <a:latin typeface="Times New Roman" panose="02020603050405020304" pitchFamily="18" charset="0"/>
                    <a:ea typeface="Times New Roman" panose="02020603050405020304" pitchFamily="18" charset="0"/>
                  </a:rPr>
                  <a:t>mortalidad</a:t>
                </a:r>
                <a:r>
                  <a:rPr lang="en-US" sz="2000" dirty="0">
                    <a:latin typeface="Times New Roman" panose="02020603050405020304" pitchFamily="18" charset="0"/>
                    <a:ea typeface="Times New Roman" panose="02020603050405020304" pitchFamily="18" charset="0"/>
                  </a:rPr>
                  <a:t> </a:t>
                </a:r>
                <a:r>
                  <a:rPr lang="en-US" sz="2000" dirty="0" err="1">
                    <a:latin typeface="Times New Roman" panose="02020603050405020304" pitchFamily="18" charset="0"/>
                    <a:ea typeface="Times New Roman" panose="02020603050405020304" pitchFamily="18" charset="0"/>
                  </a:rPr>
                  <a:t>observadas</a:t>
                </a:r>
                <a:r>
                  <a:rPr lang="en-US" sz="2000" dirty="0">
                    <a:latin typeface="Times New Roman" panose="02020603050405020304" pitchFamily="18" charset="0"/>
                    <a:ea typeface="Times New Roman" panose="02020603050405020304" pitchFamily="18" charset="0"/>
                  </a:rPr>
                  <a:t>.</a:t>
                </a:r>
              </a:p>
              <a:p>
                <a:pPr marL="457200" lvl="1"/>
                <a:endParaRPr lang="en-US" sz="2000" dirty="0">
                  <a:latin typeface="Times New Roman" panose="02020603050405020304" pitchFamily="18" charset="0"/>
                  <a:ea typeface="Times New Roman" panose="02020603050405020304" pitchFamily="18" charset="0"/>
                </a:endParaRPr>
              </a:p>
              <a:p>
                <a:pPr marL="457200" lvl="1"/>
                <a:r>
                  <a:rPr lang="en-US" sz="2000" dirty="0">
                    <a:effectLst/>
                    <a:latin typeface="Times New Roman" panose="02020603050405020304" pitchFamily="18" charset="0"/>
                    <a:ea typeface="Times New Roman" panose="02020603050405020304" pitchFamily="18" charset="0"/>
                  </a:rPr>
                  <a:t>La </a:t>
                </a:r>
                <a:r>
                  <a:rPr lang="en-US" sz="2000" dirty="0" err="1">
                    <a:effectLst/>
                    <a:latin typeface="Times New Roman" panose="02020603050405020304" pitchFamily="18" charset="0"/>
                    <a:ea typeface="Times New Roman" panose="02020603050405020304" pitchFamily="18" charset="0"/>
                  </a:rPr>
                  <a:t>más</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conocida</a:t>
                </a:r>
                <a:r>
                  <a:rPr lang="en-US" sz="2000" dirty="0">
                    <a:effectLst/>
                    <a:latin typeface="Times New Roman" panose="02020603050405020304" pitchFamily="18" charset="0"/>
                    <a:ea typeface="Times New Roman" panose="02020603050405020304" pitchFamily="18" charset="0"/>
                  </a:rPr>
                  <a:t> es la </a:t>
                </a:r>
                <a:r>
                  <a:rPr lang="en-US" sz="2000" dirty="0" err="1">
                    <a:effectLst/>
                    <a:latin typeface="Times New Roman" panose="02020603050405020304" pitchFamily="18" charset="0"/>
                    <a:ea typeface="Times New Roman" panose="02020603050405020304" pitchFamily="18" charset="0"/>
                  </a:rPr>
                  <a:t>esperanza</a:t>
                </a:r>
                <a:r>
                  <a:rPr lang="en-US" sz="2000" dirty="0">
                    <a:effectLst/>
                    <a:latin typeface="Times New Roman" panose="02020603050405020304" pitchFamily="18" charset="0"/>
                    <a:ea typeface="Times New Roman" panose="02020603050405020304" pitchFamily="18" charset="0"/>
                  </a:rPr>
                  <a:t> de </a:t>
                </a:r>
                <a:r>
                  <a:rPr lang="en-US" sz="2000" dirty="0" err="1">
                    <a:effectLst/>
                    <a:latin typeface="Times New Roman" panose="02020603050405020304" pitchFamily="18" charset="0"/>
                    <a:ea typeface="Times New Roman" panose="02020603050405020304" pitchFamily="18" charset="0"/>
                  </a:rPr>
                  <a:t>vida</a:t>
                </a:r>
                <a:r>
                  <a:rPr lang="en-US" sz="2000" dirty="0">
                    <a:effectLst/>
                    <a:latin typeface="Times New Roman" panose="02020603050405020304" pitchFamily="18" charset="0"/>
                    <a:ea typeface="Times New Roman" panose="02020603050405020304" pitchFamily="18" charset="0"/>
                  </a:rPr>
                  <a:t> al </a:t>
                </a:r>
                <a:r>
                  <a:rPr lang="en-US" sz="2000" dirty="0" err="1">
                    <a:effectLst/>
                    <a:latin typeface="Times New Roman" panose="02020603050405020304" pitchFamily="18" charset="0"/>
                    <a:ea typeface="Times New Roman" panose="02020603050405020304" pitchFamily="18" charset="0"/>
                  </a:rPr>
                  <a:t>nacimiento</a:t>
                </a:r>
                <a:r>
                  <a:rPr lang="en-US" sz="2000" dirty="0">
                    <a:effectLst/>
                    <a:latin typeface="Times New Roman" panose="02020603050405020304" pitchFamily="18" charset="0"/>
                    <a:ea typeface="Times New Roman" panose="02020603050405020304" pitchFamily="18" charset="0"/>
                  </a:rPr>
                  <a:t> e</a:t>
                </a:r>
                <a:r>
                  <a:rPr lang="en-US" sz="1400" dirty="0">
                    <a:effectLst/>
                    <a:latin typeface="Times New Roman" panose="02020603050405020304" pitchFamily="18" charset="0"/>
                    <a:ea typeface="Times New Roman" panose="02020603050405020304" pitchFamily="18" charset="0"/>
                  </a:rPr>
                  <a:t>0</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pero</a:t>
                </a:r>
                <a:r>
                  <a:rPr lang="en-US" sz="2000" dirty="0">
                    <a:effectLst/>
                    <a:latin typeface="Times New Roman" panose="02020603050405020304" pitchFamily="18" charset="0"/>
                    <a:ea typeface="Times New Roman" panose="02020603050405020304" pitchFamily="18" charset="0"/>
                  </a:rPr>
                  <a:t> se </a:t>
                </a:r>
                <a:r>
                  <a:rPr lang="en-US" sz="2000" dirty="0" err="1">
                    <a:effectLst/>
                    <a:latin typeface="Times New Roman" panose="02020603050405020304" pitchFamily="18" charset="0"/>
                    <a:ea typeface="Times New Roman" panose="02020603050405020304" pitchFamily="18" charset="0"/>
                  </a:rPr>
                  <a:t>pueden</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calcular</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esperanzas</a:t>
                </a:r>
                <a:r>
                  <a:rPr lang="en-US" sz="2000" dirty="0">
                    <a:effectLst/>
                    <a:latin typeface="Times New Roman" panose="02020603050405020304" pitchFamily="18" charset="0"/>
                    <a:ea typeface="Times New Roman" panose="02020603050405020304" pitchFamily="18" charset="0"/>
                  </a:rPr>
                  <a:t> de </a:t>
                </a:r>
                <a:r>
                  <a:rPr lang="en-US" sz="2000" dirty="0" err="1">
                    <a:effectLst/>
                    <a:latin typeface="Times New Roman" panose="02020603050405020304" pitchFamily="18" charset="0"/>
                    <a:ea typeface="Times New Roman" panose="02020603050405020304" pitchFamily="18" charset="0"/>
                  </a:rPr>
                  <a:t>vida</a:t>
                </a:r>
                <a:r>
                  <a:rPr lang="en-US" sz="2000" dirty="0">
                    <a:effectLst/>
                    <a:latin typeface="Times New Roman" panose="02020603050405020304" pitchFamily="18" charset="0"/>
                    <a:ea typeface="Times New Roman" panose="02020603050405020304" pitchFamily="18" charset="0"/>
                  </a:rPr>
                  <a:t> para </a:t>
                </a:r>
                <a:r>
                  <a:rPr lang="en-US" sz="2000" dirty="0" err="1">
                    <a:effectLst/>
                    <a:latin typeface="Times New Roman" panose="02020603050405020304" pitchFamily="18" charset="0"/>
                    <a:ea typeface="Times New Roman" panose="02020603050405020304" pitchFamily="18" charset="0"/>
                  </a:rPr>
                  <a:t>distintas</a:t>
                </a:r>
                <a:r>
                  <a:rPr lang="en-US" sz="2000" dirty="0">
                    <a:effectLst/>
                    <a:latin typeface="Times New Roman" panose="02020603050405020304" pitchFamily="18" charset="0"/>
                    <a:ea typeface="Times New Roman" panose="02020603050405020304" pitchFamily="18" charset="0"/>
                  </a:rPr>
                  <a:t> </a:t>
                </a:r>
                <a:r>
                  <a:rPr lang="en-US" sz="2000" dirty="0" err="1">
                    <a:effectLst/>
                    <a:latin typeface="Times New Roman" panose="02020603050405020304" pitchFamily="18" charset="0"/>
                    <a:ea typeface="Times New Roman" panose="02020603050405020304" pitchFamily="18" charset="0"/>
                  </a:rPr>
                  <a:t>edades</a:t>
                </a:r>
                <a:r>
                  <a:rPr lang="en-US" sz="2000" dirty="0">
                    <a:effectLst/>
                    <a:latin typeface="Times New Roman" panose="02020603050405020304" pitchFamily="18" charset="0"/>
                    <a:ea typeface="Times New Roman" panose="02020603050405020304" pitchFamily="18" charset="0"/>
                  </a:rPr>
                  <a:t>. </a:t>
                </a:r>
              </a:p>
              <a:p>
                <a:pPr marL="914400" lvl="2"/>
                <a:r>
                  <a:rPr lang="en-US" sz="1600" dirty="0">
                    <a:latin typeface="Times New Roman" panose="02020603050405020304" pitchFamily="18" charset="0"/>
                    <a:ea typeface="Times New Roman" panose="02020603050405020304" pitchFamily="18" charset="0"/>
                  </a:rPr>
                  <a:t>Por </a:t>
                </a:r>
                <a:r>
                  <a:rPr lang="en-US" sz="1600" dirty="0" err="1">
                    <a:latin typeface="Times New Roman" panose="02020603050405020304" pitchFamily="18" charset="0"/>
                    <a:ea typeface="Times New Roman" panose="02020603050405020304" pitchFamily="18" charset="0"/>
                  </a:rPr>
                  <a:t>ejemplo</a:t>
                </a:r>
                <a:r>
                  <a:rPr lang="en-US" sz="1600" dirty="0">
                    <a:latin typeface="Times New Roman" panose="02020603050405020304" pitchFamily="18" charset="0"/>
                    <a:ea typeface="Times New Roman" panose="02020603050405020304" pitchFamily="18" charset="0"/>
                  </a:rPr>
                  <a:t>, </a:t>
                </a:r>
                <a:r>
                  <a:rPr lang="en-US" sz="1600" dirty="0" err="1">
                    <a:latin typeface="Times New Roman" panose="02020603050405020304" pitchFamily="18" charset="0"/>
                    <a:ea typeface="Times New Roman" panose="02020603050405020304" pitchFamily="18" charset="0"/>
                  </a:rPr>
                  <a:t>en</a:t>
                </a:r>
                <a:r>
                  <a:rPr lang="en-US" sz="1600" dirty="0">
                    <a:latin typeface="Times New Roman" panose="02020603050405020304" pitchFamily="18" charset="0"/>
                    <a:ea typeface="Times New Roman" panose="02020603050405020304" pitchFamily="18" charset="0"/>
                  </a:rPr>
                  <a:t> </a:t>
                </a:r>
                <a:r>
                  <a:rPr lang="en-US" sz="1600" dirty="0" err="1">
                    <a:latin typeface="Times New Roman" panose="02020603050405020304" pitchFamily="18" charset="0"/>
                    <a:ea typeface="Times New Roman" panose="02020603050405020304" pitchFamily="18" charset="0"/>
                  </a:rPr>
                  <a:t>actuariado</a:t>
                </a:r>
                <a:r>
                  <a:rPr lang="en-US" sz="1600" dirty="0">
                    <a:latin typeface="Times New Roman" panose="02020603050405020304" pitchFamily="18" charset="0"/>
                    <a:ea typeface="Times New Roman" panose="02020603050405020304" pitchFamily="18" charset="0"/>
                  </a:rPr>
                  <a:t> para </a:t>
                </a:r>
                <a:r>
                  <a:rPr lang="en-US" sz="1600" dirty="0" err="1">
                    <a:latin typeface="Times New Roman" panose="02020603050405020304" pitchFamily="18" charset="0"/>
                    <a:ea typeface="Times New Roman" panose="02020603050405020304" pitchFamily="18" charset="0"/>
                  </a:rPr>
                  <a:t>pensiones</a:t>
                </a:r>
                <a:r>
                  <a:rPr lang="en-US" sz="1600" dirty="0">
                    <a:latin typeface="Times New Roman" panose="02020603050405020304" pitchFamily="18" charset="0"/>
                    <a:ea typeface="Times New Roman" panose="02020603050405020304" pitchFamily="18" charset="0"/>
                  </a:rPr>
                  <a:t>, es </a:t>
                </a:r>
                <a:r>
                  <a:rPr lang="en-US" sz="1600" dirty="0" err="1">
                    <a:latin typeface="Times New Roman" panose="02020603050405020304" pitchFamily="18" charset="0"/>
                    <a:ea typeface="Times New Roman" panose="02020603050405020304" pitchFamily="18" charset="0"/>
                  </a:rPr>
                  <a:t>útil</a:t>
                </a:r>
                <a:r>
                  <a:rPr lang="en-US" sz="1600" dirty="0">
                    <a:latin typeface="Times New Roman" panose="02020603050405020304" pitchFamily="18" charset="0"/>
                    <a:ea typeface="Times New Roman" panose="02020603050405020304" pitchFamily="18" charset="0"/>
                  </a:rPr>
                  <a:t> e</a:t>
                </a:r>
                <a:r>
                  <a:rPr lang="en-US" sz="1100" dirty="0">
                    <a:latin typeface="Times New Roman" panose="02020603050405020304" pitchFamily="18" charset="0"/>
                    <a:ea typeface="Times New Roman" panose="02020603050405020304" pitchFamily="18" charset="0"/>
                  </a:rPr>
                  <a:t>65</a:t>
                </a:r>
                <a:endParaRPr lang="en-US" sz="1600" dirty="0">
                  <a:effectLst/>
                  <a:latin typeface="Times New Roman" panose="02020603050405020304" pitchFamily="18" charset="0"/>
                  <a:ea typeface="Times New Roman" panose="02020603050405020304" pitchFamily="18" charset="0"/>
                </a:endParaRPr>
              </a:p>
            </p:txBody>
          </p:sp>
        </mc:Choice>
        <mc:Fallback xmlns="">
          <p:sp>
            <p:nvSpPr>
              <p:cNvPr id="3" name="Marcador de contenido 2">
                <a:extLst>
                  <a:ext uri="{FF2B5EF4-FFF2-40B4-BE49-F238E27FC236}">
                    <a16:creationId xmlns:a16="http://schemas.microsoft.com/office/drawing/2014/main" id="{E0D2130B-1C53-D591-37C5-4B3C3F8AB233}"/>
                  </a:ext>
                </a:extLst>
              </p:cNvPr>
              <p:cNvSpPr>
                <a:spLocks noGrp="1" noRot="1" noChangeAspect="1" noMove="1" noResize="1" noEditPoints="1" noAdjustHandles="1" noChangeArrowheads="1" noChangeShapeType="1" noTextEdit="1"/>
              </p:cNvSpPr>
              <p:nvPr>
                <p:ph idx="1"/>
              </p:nvPr>
            </p:nvSpPr>
            <p:spPr>
              <a:xfrm>
                <a:off x="838200" y="1481960"/>
                <a:ext cx="10515600" cy="5123792"/>
              </a:xfrm>
              <a:blipFill>
                <a:blip r:embed="rId2"/>
                <a:stretch>
                  <a:fillRect l="-928" t="-1902" r="-986"/>
                </a:stretch>
              </a:blipFill>
            </p:spPr>
            <p:txBody>
              <a:bodyPr/>
              <a:lstStyle/>
              <a:p>
                <a:r>
                  <a:rPr lang="en-US">
                    <a:noFill/>
                  </a:rPr>
                  <a:t> </a:t>
                </a:r>
              </a:p>
            </p:txBody>
          </p:sp>
        </mc:Fallback>
      </mc:AlternateContent>
    </p:spTree>
    <p:extLst>
      <p:ext uri="{BB962C8B-B14F-4D97-AF65-F5344CB8AC3E}">
        <p14:creationId xmlns:p14="http://schemas.microsoft.com/office/powerpoint/2010/main" val="2186209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E9F0E-046B-EAF0-91E0-45B3D2DE027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AB1BE20-1032-43FD-6288-D197BE056535}"/>
              </a:ext>
            </a:extLst>
          </p:cNvPr>
          <p:cNvSpPr>
            <a:spLocks noGrp="1"/>
          </p:cNvSpPr>
          <p:nvPr>
            <p:ph type="title"/>
          </p:nvPr>
        </p:nvSpPr>
        <p:spPr>
          <a:xfrm>
            <a:off x="583323" y="365125"/>
            <a:ext cx="11083159" cy="1325563"/>
          </a:xfrm>
        </p:spPr>
        <p:txBody>
          <a:bodyPr/>
          <a:lstStyle/>
          <a:p>
            <a:r>
              <a:rPr lang="es-CR" dirty="0"/>
              <a:t>Tabla de Vida como distribución de probabilidad</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C460FEA-5686-9AC5-DE94-40A48D184B82}"/>
                  </a:ext>
                </a:extLst>
              </p:cNvPr>
              <p:cNvSpPr>
                <a:spLocks noGrp="1"/>
              </p:cNvSpPr>
              <p:nvPr>
                <p:ph idx="1"/>
              </p:nvPr>
            </p:nvSpPr>
            <p:spPr>
              <a:xfrm>
                <a:off x="838200" y="1690688"/>
                <a:ext cx="10515600" cy="4915063"/>
              </a:xfrm>
            </p:spPr>
            <p:txBody>
              <a:bodyPr>
                <a:normAutofit/>
              </a:bodyPr>
              <a:lstStyle/>
              <a:p>
                <a:r>
                  <a:rPr lang="es-CR" dirty="0"/>
                  <a:t>Cuando se presenta la tabla de vida con una raíz “grande”, esta se puede entender como una cohorte sintética</a:t>
                </a:r>
              </a:p>
              <a:p>
                <a:r>
                  <a:rPr lang="es-CR" dirty="0"/>
                  <a:t>Pero cuando se toma una raíz=1, entonces dos de las funciones de la tabla de vida se pueden entender como funciones relacionadas con distribuciones de probabilidad: </a:t>
                </a:r>
                <a:r>
                  <a:rPr lang="es-CR" dirty="0" err="1"/>
                  <a:t>dx</a:t>
                </a:r>
                <a:r>
                  <a:rPr lang="es-CR" dirty="0"/>
                  <a:t> y lx.</a:t>
                </a:r>
              </a:p>
              <a:p>
                <a:r>
                  <a:rPr lang="es-CR" dirty="0"/>
                  <a:t>Sea x (la edad), una variable aleatoria continua, entonces:</a:t>
                </a:r>
              </a:p>
              <a:p>
                <a:pPr lvl="1"/>
                <a14:m>
                  <m:oMath xmlns:m="http://schemas.openxmlformats.org/officeDocument/2006/math">
                    <m:sSub>
                      <m:sSubPr>
                        <m:ctrlPr>
                          <a:rPr lang="es-CR" i="1" smtClean="0">
                            <a:latin typeface="Cambria Math" panose="02040503050406030204" pitchFamily="18" charset="0"/>
                          </a:rPr>
                        </m:ctrlPr>
                      </m:sSubPr>
                      <m:e>
                        <m:r>
                          <a:rPr lang="es-CR" b="0" i="1" smtClean="0">
                            <a:latin typeface="Cambria Math" panose="02040503050406030204" pitchFamily="18" charset="0"/>
                          </a:rPr>
                          <m:t>𝑙</m:t>
                        </m:r>
                      </m:e>
                      <m:sub>
                        <m:r>
                          <a:rPr lang="es-CR" b="0" i="1" smtClean="0">
                            <a:latin typeface="Cambria Math" panose="02040503050406030204" pitchFamily="18" charset="0"/>
                          </a:rPr>
                          <m:t>𝑥</m:t>
                        </m:r>
                      </m:sub>
                    </m:sSub>
                    <m:r>
                      <a:rPr lang="es-CR" b="0" i="1" smtClean="0">
                        <a:latin typeface="Cambria Math" panose="02040503050406030204" pitchFamily="18" charset="0"/>
                      </a:rPr>
                      <m:t>=1−</m:t>
                    </m:r>
                    <m:r>
                      <a:rPr lang="es-CR" b="0" i="1" smtClean="0">
                        <a:latin typeface="Cambria Math" panose="02040503050406030204" pitchFamily="18" charset="0"/>
                      </a:rPr>
                      <m:t>𝐹</m:t>
                    </m:r>
                    <m:r>
                      <a:rPr lang="es-CR" b="0" i="1" smtClean="0">
                        <a:latin typeface="Cambria Math" panose="02040503050406030204" pitchFamily="18" charset="0"/>
                      </a:rPr>
                      <m:t>(</m:t>
                    </m:r>
                    <m:r>
                      <a:rPr lang="es-CR" b="0" i="1" smtClean="0">
                        <a:latin typeface="Cambria Math" panose="02040503050406030204" pitchFamily="18" charset="0"/>
                      </a:rPr>
                      <m:t>𝑥</m:t>
                    </m:r>
                    <m:r>
                      <a:rPr lang="es-CR" b="0" i="1" smtClean="0">
                        <a:latin typeface="Cambria Math" panose="02040503050406030204" pitchFamily="18" charset="0"/>
                      </a:rPr>
                      <m:t>)</m:t>
                    </m:r>
                  </m:oMath>
                </a14:m>
                <a:endParaRPr lang="es-CR" dirty="0"/>
              </a:p>
              <a:p>
                <a:pPr lvl="1"/>
                <a:endParaRPr lang="es-CR" i="1" dirty="0">
                  <a:latin typeface="Cambria Math" panose="02040503050406030204" pitchFamily="18" charset="0"/>
                </a:endParaRPr>
              </a:p>
              <a:p>
                <a:pPr lvl="1"/>
                <a14:m>
                  <m:oMath xmlns:m="http://schemas.openxmlformats.org/officeDocument/2006/math">
                    <m:sSub>
                      <m:sSubPr>
                        <m:ctrlPr>
                          <a:rPr lang="es-CR" i="1" smtClean="0">
                            <a:latin typeface="Cambria Math" panose="02040503050406030204" pitchFamily="18" charset="0"/>
                          </a:rPr>
                        </m:ctrlPr>
                      </m:sSubPr>
                      <m:e>
                        <m:r>
                          <a:rPr lang="es-CR" b="0" i="1" smtClean="0">
                            <a:latin typeface="Cambria Math" panose="02040503050406030204" pitchFamily="18" charset="0"/>
                          </a:rPr>
                          <m:t>𝑑</m:t>
                        </m:r>
                      </m:e>
                      <m:sub>
                        <m:r>
                          <a:rPr lang="es-CR" b="0" i="1" smtClean="0">
                            <a:latin typeface="Cambria Math" panose="02040503050406030204" pitchFamily="18" charset="0"/>
                          </a:rPr>
                          <m:t>𝑥</m:t>
                        </m:r>
                      </m:sub>
                    </m:sSub>
                    <m:r>
                      <a:rPr lang="es-CR" b="0" i="1" smtClean="0">
                        <a:latin typeface="Cambria Math" panose="02040503050406030204" pitchFamily="18" charset="0"/>
                      </a:rPr>
                      <m:t>=</m:t>
                    </m:r>
                    <m:r>
                      <a:rPr lang="es-CR" b="0" i="1" smtClean="0">
                        <a:latin typeface="Cambria Math" panose="02040503050406030204" pitchFamily="18" charset="0"/>
                      </a:rPr>
                      <m:t>𝑓</m:t>
                    </m:r>
                    <m:r>
                      <a:rPr lang="es-CR" b="0" i="1" smtClean="0">
                        <a:latin typeface="Cambria Math" panose="02040503050406030204" pitchFamily="18" charset="0"/>
                      </a:rPr>
                      <m:t>(</m:t>
                    </m:r>
                    <m:r>
                      <a:rPr lang="es-CR" b="0" i="1" smtClean="0">
                        <a:latin typeface="Cambria Math" panose="02040503050406030204" pitchFamily="18" charset="0"/>
                      </a:rPr>
                      <m:t>𝑥</m:t>
                    </m:r>
                    <m:r>
                      <a:rPr lang="es-CR" b="0" i="1" smtClean="0">
                        <a:latin typeface="Cambria Math" panose="02040503050406030204" pitchFamily="18" charset="0"/>
                      </a:rPr>
                      <m:t>)</m:t>
                    </m:r>
                  </m:oMath>
                </a14:m>
                <a:r>
                  <a:rPr lang="es-CR" dirty="0"/>
                  <a:t>, por lo que en tiempo discreto (equivalente a la tabla de vida como cohorte):</a:t>
                </a:r>
              </a:p>
              <a:p>
                <a:pPr lvl="2"/>
                <a:r>
                  <a:rPr lang="es-ES" dirty="0">
                    <a:effectLst/>
                    <a:latin typeface="Cambria" panose="02040503050406030204" pitchFamily="18" charset="0"/>
                    <a:ea typeface="Cambria" panose="02040503050406030204" pitchFamily="18" charset="0"/>
                    <a:cs typeface="Cambria" panose="02040503050406030204" pitchFamily="18" charset="0"/>
                  </a:rPr>
                  <a:t> </a:t>
                </a:r>
                <a14:m>
                  <m:oMath xmlns:m="http://schemas.openxmlformats.org/officeDocument/2006/math">
                    <m:sPre>
                      <m:sPrePr>
                        <m:ctrlPr>
                          <a:rPr lang="en-US" i="1">
                            <a:latin typeface="Cambria Math" panose="02040503050406030204" pitchFamily="18" charset="0"/>
                            <a:ea typeface="Cambria Math" panose="02040503050406030204" pitchFamily="18" charset="0"/>
                          </a:rPr>
                        </m:ctrlPr>
                      </m:sPrePr>
                      <m:sub>
                        <m:r>
                          <a:rPr lang="es-CR" i="1">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s-CR" i="1">
                                <a:latin typeface="Cambria Math" panose="02040503050406030204" pitchFamily="18" charset="0"/>
                              </a:rPr>
                              <m:t>𝑑</m:t>
                            </m:r>
                          </m:e>
                          <m:sub>
                            <m:r>
                              <a:rPr lang="es-CR" i="1">
                                <a:latin typeface="Cambria Math" panose="02040503050406030204" pitchFamily="18" charset="0"/>
                              </a:rPr>
                              <m:t>𝑥</m:t>
                            </m:r>
                          </m:sub>
                        </m:sSub>
                      </m:e>
                    </m:sPre>
                    <m:r>
                      <a:rPr lang="es-ES" i="1">
                        <a:effectLst/>
                        <a:latin typeface="Cambria Math" panose="02040503050406030204" pitchFamily="18" charset="0"/>
                        <a:ea typeface="Cambria Math" panose="02040503050406030204" pitchFamily="18" charset="0"/>
                        <a:cs typeface="Cambria Math" panose="02040503050406030204" pitchFamily="18" charset="0"/>
                      </a:rPr>
                      <m:t>=</m:t>
                    </m:r>
                    <m:r>
                      <a:rPr lang="es-CR" i="1" smtClean="0">
                        <a:effectLst/>
                        <a:latin typeface="Cambria Math" panose="02040503050406030204" pitchFamily="18" charset="0"/>
                        <a:ea typeface="Cambria Math" panose="02040503050406030204" pitchFamily="18" charset="0"/>
                        <a:cs typeface="Cambria Math" panose="02040503050406030204" pitchFamily="18" charset="0"/>
                      </a:rPr>
                      <m:t>𝐹</m:t>
                    </m:r>
                    <m:d>
                      <m:dPr>
                        <m:ctrlPr>
                          <a:rPr lang="es-CR" b="0" i="1" smtClean="0">
                            <a:effectLst/>
                            <a:latin typeface="Cambria Math" panose="02040503050406030204" pitchFamily="18" charset="0"/>
                            <a:ea typeface="Cambria Math" panose="02040503050406030204" pitchFamily="18" charset="0"/>
                            <a:cs typeface="Cambria Math" panose="02040503050406030204" pitchFamily="18" charset="0"/>
                          </a:rPr>
                        </m:ctrlPr>
                      </m:dPr>
                      <m:e>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𝑥</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𝑛</m:t>
                        </m:r>
                      </m:e>
                    </m:d>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𝐹</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𝑥</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m:t>
                    </m:r>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s-ES" i="1">
                            <a:effectLst/>
                            <a:latin typeface="Cambria Math" panose="02040503050406030204" pitchFamily="18" charset="0"/>
                            <a:ea typeface="Cambria Math" panose="02040503050406030204" pitchFamily="18" charset="0"/>
                            <a:cs typeface="Cambria Math" panose="02040503050406030204" pitchFamily="18" charset="0"/>
                          </a:rPr>
                          <m:t>𝑙</m:t>
                        </m:r>
                      </m:e>
                      <m:sub>
                        <m:r>
                          <a:rPr lang="es-ES" i="1">
                            <a:effectLst/>
                            <a:latin typeface="Cambria Math" panose="02040503050406030204" pitchFamily="18" charset="0"/>
                            <a:ea typeface="Cambria Math" panose="02040503050406030204" pitchFamily="18" charset="0"/>
                            <a:cs typeface="Cambria Math" panose="02040503050406030204" pitchFamily="18" charset="0"/>
                          </a:rPr>
                          <m:t>𝑥</m:t>
                        </m:r>
                      </m:sub>
                    </m:sSub>
                    <m:r>
                      <a:rPr lang="es-ES" i="1">
                        <a:effectLst/>
                        <a:latin typeface="Cambria Math" panose="02040503050406030204" pitchFamily="18" charset="0"/>
                        <a:ea typeface="Cambria Math" panose="02040503050406030204" pitchFamily="18" charset="0"/>
                        <a:cs typeface="Cambria Math" panose="02040503050406030204" pitchFamily="18" charset="0"/>
                      </a:rPr>
                      <m:t>−</m:t>
                    </m:r>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s-ES" i="1">
                            <a:effectLst/>
                            <a:latin typeface="Cambria Math" panose="02040503050406030204" pitchFamily="18" charset="0"/>
                            <a:ea typeface="Cambria Math" panose="02040503050406030204" pitchFamily="18" charset="0"/>
                            <a:cs typeface="Cambria Math" panose="02040503050406030204" pitchFamily="18" charset="0"/>
                          </a:rPr>
                          <m:t>𝑙</m:t>
                        </m:r>
                      </m:e>
                      <m:sub>
                        <m:r>
                          <a:rPr lang="es-ES" i="1">
                            <a:effectLst/>
                            <a:latin typeface="Cambria Math" panose="02040503050406030204" pitchFamily="18" charset="0"/>
                            <a:ea typeface="Cambria Math" panose="02040503050406030204" pitchFamily="18" charset="0"/>
                            <a:cs typeface="Cambria Math" panose="02040503050406030204" pitchFamily="18" charset="0"/>
                          </a:rPr>
                          <m:t>𝑥</m:t>
                        </m:r>
                        <m:r>
                          <a:rPr lang="es-ES" i="1">
                            <a:effectLst/>
                            <a:latin typeface="Cambria Math" panose="02040503050406030204" pitchFamily="18" charset="0"/>
                            <a:ea typeface="Cambria Math" panose="02040503050406030204" pitchFamily="18" charset="0"/>
                            <a:cs typeface="Cambria Math" panose="02040503050406030204" pitchFamily="18" charset="0"/>
                          </a:rPr>
                          <m:t>−1</m:t>
                        </m:r>
                      </m:sub>
                    </m:sSub>
                  </m:oMath>
                </a14:m>
                <a:endParaRPr lang="en-US" dirty="0">
                  <a:effectLst/>
                  <a:latin typeface="Times New Roman" panose="02020603050405020304" pitchFamily="18" charset="0"/>
                  <a:ea typeface="Times New Roman" panose="02020603050405020304" pitchFamily="18" charset="0"/>
                </a:endParaRPr>
              </a:p>
              <a:p>
                <a:pPr lvl="1"/>
                <a:endParaRPr lang="es-CR" dirty="0"/>
              </a:p>
              <a:p>
                <a:endParaRPr lang="es-CR" dirty="0"/>
              </a:p>
              <a:p>
                <a:pPr lvl="1"/>
                <a:endParaRPr lang="es-CR" dirty="0"/>
              </a:p>
            </p:txBody>
          </p:sp>
        </mc:Choice>
        <mc:Fallback xmlns="">
          <p:sp>
            <p:nvSpPr>
              <p:cNvPr id="3" name="Marcador de contenido 2">
                <a:extLst>
                  <a:ext uri="{FF2B5EF4-FFF2-40B4-BE49-F238E27FC236}">
                    <a16:creationId xmlns:a16="http://schemas.microsoft.com/office/drawing/2014/main" id="{DC460FEA-5686-9AC5-DE94-40A48D184B82}"/>
                  </a:ext>
                </a:extLst>
              </p:cNvPr>
              <p:cNvSpPr>
                <a:spLocks noGrp="1" noRot="1" noChangeAspect="1" noMove="1" noResize="1" noEditPoints="1" noAdjustHandles="1" noChangeArrowheads="1" noChangeShapeType="1" noTextEdit="1"/>
              </p:cNvSpPr>
              <p:nvPr>
                <p:ph idx="1"/>
              </p:nvPr>
            </p:nvSpPr>
            <p:spPr>
              <a:xfrm>
                <a:off x="838200" y="1690688"/>
                <a:ext cx="10515600" cy="4915063"/>
              </a:xfrm>
              <a:blipFill>
                <a:blip r:embed="rId2"/>
                <a:stretch>
                  <a:fillRect l="-1043" t="-2107" r="-406"/>
                </a:stretch>
              </a:blipFill>
            </p:spPr>
            <p:txBody>
              <a:bodyPr/>
              <a:lstStyle/>
              <a:p>
                <a:r>
                  <a:rPr lang="en-US">
                    <a:noFill/>
                  </a:rPr>
                  <a:t> </a:t>
                </a:r>
              </a:p>
            </p:txBody>
          </p:sp>
        </mc:Fallback>
      </mc:AlternateContent>
    </p:spTree>
    <p:extLst>
      <p:ext uri="{BB962C8B-B14F-4D97-AF65-F5344CB8AC3E}">
        <p14:creationId xmlns:p14="http://schemas.microsoft.com/office/powerpoint/2010/main" val="4155956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D5121-2D2E-E9E3-7A24-C165B817E4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08E296F-3243-92F2-2410-D36849B079A4}"/>
              </a:ext>
            </a:extLst>
          </p:cNvPr>
          <p:cNvSpPr>
            <a:spLocks noGrp="1"/>
          </p:cNvSpPr>
          <p:nvPr>
            <p:ph type="title"/>
          </p:nvPr>
        </p:nvSpPr>
        <p:spPr>
          <a:xfrm>
            <a:off x="583323" y="365125"/>
            <a:ext cx="11083159" cy="1325563"/>
          </a:xfrm>
        </p:spPr>
        <p:txBody>
          <a:bodyPr/>
          <a:lstStyle/>
          <a:p>
            <a:r>
              <a:rPr lang="es-CR" dirty="0"/>
              <a:t>Tabla de Vida como distribución de probabilidad</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DAF8BA5-DE89-4CA6-83F0-8359DA2BFEF5}"/>
                  </a:ext>
                </a:extLst>
              </p:cNvPr>
              <p:cNvSpPr>
                <a:spLocks noGrp="1"/>
              </p:cNvSpPr>
              <p:nvPr>
                <p:ph idx="1"/>
              </p:nvPr>
            </p:nvSpPr>
            <p:spPr>
              <a:xfrm>
                <a:off x="838200" y="1690688"/>
                <a:ext cx="10515600" cy="4915063"/>
              </a:xfrm>
            </p:spPr>
            <p:txBody>
              <a:bodyPr>
                <a:normAutofit/>
              </a:bodyPr>
              <a:lstStyle/>
              <a:p>
                <a:r>
                  <a:rPr lang="es-CR" dirty="0"/>
                  <a:t>Sea x (la edad), una variable aleatoria continua, y</a:t>
                </a:r>
              </a:p>
              <a:p>
                <a:r>
                  <a:rPr lang="es-CR" dirty="0"/>
                  <a:t>Sea g(x) = f(x) para todo </a:t>
                </a:r>
                <a:r>
                  <a:rPr lang="es-CR" dirty="0" err="1"/>
                  <a:t>x</a:t>
                </a:r>
                <a:r>
                  <a:rPr lang="es-CR" dirty="0" err="1">
                    <a:sym typeface="Symbol" panose="05050102010706020507" pitchFamily="18" charset="2"/>
                  </a:rPr>
                  <a:t>y</a:t>
                </a:r>
                <a:r>
                  <a:rPr lang="es-CR" dirty="0">
                    <a:sym typeface="Symbol" panose="05050102010706020507" pitchFamily="18" charset="2"/>
                  </a:rPr>
                  <a:t>,</a:t>
                </a:r>
              </a:p>
              <a:p>
                <a:r>
                  <a:rPr lang="es-CR" dirty="0">
                    <a:sym typeface="Symbol" panose="05050102010706020507" pitchFamily="18" charset="2"/>
                  </a:rPr>
                  <a:t>E</a:t>
                </a:r>
                <a:r>
                  <a:rPr lang="es-CR" dirty="0"/>
                  <a:t>ntonces:</a:t>
                </a:r>
              </a:p>
              <a:p>
                <a:pPr lvl="1"/>
                <a14:m>
                  <m:oMath xmlns:m="http://schemas.openxmlformats.org/officeDocument/2006/math">
                    <m:sPre>
                      <m:sPrePr>
                        <m:ctrlPr>
                          <a:rPr lang="en-US" i="1">
                            <a:latin typeface="Cambria Math" panose="02040503050406030204" pitchFamily="18" charset="0"/>
                            <a:ea typeface="Cambria Math" panose="02040503050406030204" pitchFamily="18" charset="0"/>
                          </a:rPr>
                        </m:ctrlPr>
                      </m:sPrePr>
                      <m:sub>
                        <m:r>
                          <a:rPr lang="es-CR" i="1">
                            <a:latin typeface="Cambria Math" panose="02040503050406030204" pitchFamily="18" charset="0"/>
                            <a:ea typeface="Cambria Math" panose="02040503050406030204" pitchFamily="18" charset="0"/>
                          </a:rPr>
                          <m:t>𝑛</m:t>
                        </m:r>
                      </m:sub>
                      <m:sup/>
                      <m:e>
                        <m:sSub>
                          <m:sSubPr>
                            <m:ctrlPr>
                              <a:rPr lang="en-US" i="1">
                                <a:latin typeface="Cambria Math" panose="02040503050406030204" pitchFamily="18" charset="0"/>
                              </a:rPr>
                            </m:ctrlPr>
                          </m:sSubPr>
                          <m:e>
                            <m:r>
                              <a:rPr lang="es-CR" i="1">
                                <a:latin typeface="Cambria Math" panose="02040503050406030204" pitchFamily="18" charset="0"/>
                              </a:rPr>
                              <m:t>𝐿</m:t>
                            </m:r>
                          </m:e>
                          <m:sub>
                            <m:r>
                              <a:rPr lang="en-US" b="0" i="1" smtClean="0">
                                <a:latin typeface="Cambria Math" panose="02040503050406030204" pitchFamily="18" charset="0"/>
                              </a:rPr>
                              <m:t>𝑦</m:t>
                            </m:r>
                          </m:sub>
                        </m:sSub>
                      </m:e>
                    </m:sPre>
                    <m:r>
                      <a:rPr lang="en-US" i="1">
                        <a:latin typeface="Cambria Math" panose="02040503050406030204" pitchFamily="18" charset="0"/>
                      </a:rPr>
                      <m:t> </m:t>
                    </m:r>
                    <m:r>
                      <a:rPr lang="es-ES" i="1">
                        <a:latin typeface="Cambria Math" panose="02040503050406030204" pitchFamily="18" charset="0"/>
                        <a:ea typeface="Cambria Math" panose="02040503050406030204" pitchFamily="18" charset="0"/>
                        <a:cs typeface="Cambria Math" panose="02040503050406030204" pitchFamily="18" charset="0"/>
                      </a:rPr>
                      <m:t>=</m:t>
                    </m:r>
                    <m:nary>
                      <m:naryPr>
                        <m:ctrlPr>
                          <a:rPr lang="es-ES"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𝑦</m:t>
                        </m:r>
                      </m:sub>
                      <m:sup>
                        <m:r>
                          <a:rPr lang="en-US" b="0" i="1" smtClean="0">
                            <a:latin typeface="Cambria Math" panose="02040503050406030204" pitchFamily="18" charset="0"/>
                            <a:ea typeface="Cambria Math" panose="02040503050406030204" pitchFamily="18" charset="0"/>
                          </a:rPr>
                          <m:t>𝑦</m:t>
                        </m:r>
                        <m:r>
                          <a:rPr lang="es-CR" b="0" i="1" smtClean="0">
                            <a:latin typeface="Cambria Math" panose="02040503050406030204" pitchFamily="18" charset="0"/>
                            <a:ea typeface="Cambria Math" panose="02040503050406030204" pitchFamily="18" charset="0"/>
                          </a:rPr>
                          <m:t>+</m:t>
                        </m:r>
                        <m:r>
                          <a:rPr lang="es-CR" b="0" i="1" smtClean="0">
                            <a:latin typeface="Cambria Math" panose="02040503050406030204" pitchFamily="18" charset="0"/>
                            <a:ea typeface="Cambria Math" panose="02040503050406030204" pitchFamily="18" charset="0"/>
                          </a:rPr>
                          <m:t>𝑛</m:t>
                        </m:r>
                      </m:sup>
                      <m:e>
                        <m:r>
                          <a:rPr lang="es-CR" b="0" i="1" smtClean="0">
                            <a:latin typeface="Cambria Math" panose="02040503050406030204" pitchFamily="18" charset="0"/>
                            <a:ea typeface="Cambria Math" panose="02040503050406030204" pitchFamily="18" charset="0"/>
                          </a:rPr>
                          <m:t>𝑓</m:t>
                        </m:r>
                        <m:d>
                          <m:dPr>
                            <m:ctrlPr>
                              <a:rPr lang="es-CR" b="0" i="1" smtClean="0">
                                <a:latin typeface="Cambria Math" panose="02040503050406030204" pitchFamily="18" charset="0"/>
                                <a:ea typeface="Cambria Math" panose="02040503050406030204" pitchFamily="18" charset="0"/>
                              </a:rPr>
                            </m:ctrlPr>
                          </m:dPr>
                          <m:e>
                            <m:r>
                              <a:rPr lang="es-CR" b="0" i="1" smtClean="0">
                                <a:latin typeface="Cambria Math" panose="02040503050406030204" pitchFamily="18" charset="0"/>
                                <a:ea typeface="Cambria Math" panose="02040503050406030204" pitchFamily="18" charset="0"/>
                              </a:rPr>
                              <m:t>𝑥</m:t>
                            </m:r>
                          </m:e>
                        </m:d>
                        <m:r>
                          <a:rPr lang="es-CR" b="0" i="1" smtClean="0">
                            <a:latin typeface="Cambria Math" panose="02040503050406030204" pitchFamily="18" charset="0"/>
                            <a:ea typeface="Cambria Math" panose="02040503050406030204" pitchFamily="18" charset="0"/>
                          </a:rPr>
                          <m:t>𝑑𝑥</m:t>
                        </m:r>
                      </m:e>
                    </m:nary>
                  </m:oMath>
                </a14:m>
                <a:endParaRPr lang="es-CR" dirty="0"/>
              </a:p>
              <a:p>
                <a:pPr lvl="1"/>
                <a:endParaRPr lang="es-CR" i="1" dirty="0">
                  <a:latin typeface="Cambria Math" panose="02040503050406030204" pitchFamily="18" charset="0"/>
                </a:endParaRPr>
              </a:p>
              <a:p>
                <a:pPr lvl="1"/>
                <a14:m>
                  <m:oMath xmlns:m="http://schemas.openxmlformats.org/officeDocument/2006/math">
                    <m:r>
                      <m:rPr>
                        <m:nor/>
                      </m:rPr>
                      <a:rPr lang="es-ES" dirty="0">
                        <a:latin typeface="Cambria" panose="02040503050406030204" pitchFamily="18" charset="0"/>
                        <a:ea typeface="Cambria" panose="02040503050406030204" pitchFamily="18" charset="0"/>
                        <a:cs typeface="Cambria" panose="02040503050406030204" pitchFamily="18" charset="0"/>
                      </a:rPr>
                      <m:t> </m:t>
                    </m:r>
                    <m:sSub>
                      <m:sSubPr>
                        <m:ctrlPr>
                          <a:rPr lang="en-US" i="1">
                            <a:latin typeface="Cambria Math" panose="02040503050406030204" pitchFamily="18" charset="0"/>
                            <a:ea typeface="Cambria Math" panose="02040503050406030204" pitchFamily="18" charset="0"/>
                            <a:cs typeface="Cambria Math" panose="02040503050406030204" pitchFamily="18" charset="0"/>
                          </a:rPr>
                        </m:ctrlPr>
                      </m:sSubPr>
                      <m:e>
                        <m:r>
                          <a:rPr lang="es-ES" i="1">
                            <a:latin typeface="Cambria Math" panose="02040503050406030204" pitchFamily="18" charset="0"/>
                            <a:ea typeface="Cambria Math" panose="02040503050406030204" pitchFamily="18" charset="0"/>
                            <a:cs typeface="Cambria Math" panose="02040503050406030204" pitchFamily="18" charset="0"/>
                          </a:rPr>
                          <m:t>𝑇</m:t>
                        </m:r>
                      </m:e>
                      <m:sub>
                        <m:r>
                          <a:rPr lang="en-US" b="0" i="1" smtClean="0">
                            <a:latin typeface="Cambria Math" panose="02040503050406030204" pitchFamily="18" charset="0"/>
                            <a:ea typeface="Cambria Math" panose="02040503050406030204" pitchFamily="18" charset="0"/>
                            <a:cs typeface="Cambria Math" panose="02040503050406030204" pitchFamily="18" charset="0"/>
                          </a:rPr>
                          <m:t>𝑦</m:t>
                        </m:r>
                      </m:sub>
                    </m:sSub>
                    <m:r>
                      <a:rPr lang="es-ES" i="1">
                        <a:latin typeface="Cambria Math" panose="02040503050406030204" pitchFamily="18" charset="0"/>
                        <a:ea typeface="Cambria Math" panose="02040503050406030204" pitchFamily="18" charset="0"/>
                        <a:cs typeface="Cambria Math" panose="02040503050406030204" pitchFamily="18" charset="0"/>
                      </a:rPr>
                      <m:t>=</m:t>
                    </m:r>
                  </m:oMath>
                </a14:m>
                <a:r>
                  <a:rPr lang="es-ES" dirty="0">
                    <a:ea typeface="Cambria Math" panose="02040503050406030204" pitchFamily="18" charset="0"/>
                  </a:rPr>
                  <a:t> </a:t>
                </a:r>
                <a14:m>
                  <m:oMath xmlns:m="http://schemas.openxmlformats.org/officeDocument/2006/math">
                    <m:nary>
                      <m:naryPr>
                        <m:ctrlPr>
                          <a:rPr lang="es-ES" i="1">
                            <a:latin typeface="Cambria Math" panose="02040503050406030204" pitchFamily="18" charset="0"/>
                            <a:ea typeface="Cambria Math" panose="02040503050406030204" pitchFamily="18" charset="0"/>
                          </a:rPr>
                        </m:ctrlPr>
                      </m:naryPr>
                      <m:sub>
                        <m:r>
                          <a:rPr lang="en-US" b="0" i="1" smtClean="0">
                            <a:latin typeface="Cambria Math" panose="02040503050406030204" pitchFamily="18" charset="0"/>
                            <a:ea typeface="Cambria Math" panose="02040503050406030204" pitchFamily="18" charset="0"/>
                          </a:rPr>
                          <m:t>𝑦</m:t>
                        </m:r>
                      </m:sub>
                      <m:sup>
                        <m:r>
                          <a:rPr lang="es-CR" i="1" smtClean="0">
                            <a:latin typeface="Cambria Math" panose="02040503050406030204" pitchFamily="18" charset="0"/>
                            <a:ea typeface="Cambria Math" panose="02040503050406030204" pitchFamily="18" charset="0"/>
                          </a:rPr>
                          <m:t>𝜔</m:t>
                        </m:r>
                      </m:sup>
                      <m:e>
                        <m:r>
                          <a:rPr lang="es-CR" i="1">
                            <a:latin typeface="Cambria Math" panose="02040503050406030204" pitchFamily="18" charset="0"/>
                            <a:ea typeface="Cambria Math" panose="02040503050406030204" pitchFamily="18" charset="0"/>
                          </a:rPr>
                          <m:t>𝑓</m:t>
                        </m:r>
                        <m:d>
                          <m:dPr>
                            <m:ctrlPr>
                              <a:rPr lang="es-CR" i="1">
                                <a:latin typeface="Cambria Math" panose="02040503050406030204" pitchFamily="18" charset="0"/>
                                <a:ea typeface="Cambria Math" panose="02040503050406030204" pitchFamily="18" charset="0"/>
                              </a:rPr>
                            </m:ctrlPr>
                          </m:dPr>
                          <m:e>
                            <m:r>
                              <a:rPr lang="es-CR" i="1">
                                <a:latin typeface="Cambria Math" panose="02040503050406030204" pitchFamily="18" charset="0"/>
                                <a:ea typeface="Cambria Math" panose="02040503050406030204" pitchFamily="18" charset="0"/>
                              </a:rPr>
                              <m:t>𝑥</m:t>
                            </m:r>
                          </m:e>
                        </m:d>
                        <m:r>
                          <a:rPr lang="es-CR" b="0" i="1" smtClean="0">
                            <a:latin typeface="Cambria Math" panose="02040503050406030204" pitchFamily="18" charset="0"/>
                            <a:ea typeface="Cambria Math" panose="02040503050406030204" pitchFamily="18" charset="0"/>
                          </a:rPr>
                          <m:t>𝑑𝑥</m:t>
                        </m:r>
                      </m:e>
                    </m:nary>
                  </m:oMath>
                </a14:m>
                <a:endParaRPr lang="en-US" dirty="0">
                  <a:effectLst/>
                  <a:latin typeface="Times New Roman" panose="02020603050405020304" pitchFamily="18" charset="0"/>
                  <a:ea typeface="Times New Roman" panose="02020603050405020304" pitchFamily="18" charset="0"/>
                </a:endParaRPr>
              </a:p>
              <a:p>
                <a:pPr lvl="1"/>
                <a:endParaRPr lang="es-CR" i="1" dirty="0">
                  <a:effectLst/>
                  <a:latin typeface="Cambria Math" panose="02040503050406030204" pitchFamily="18" charset="0"/>
                  <a:ea typeface="Cambria Math" panose="02040503050406030204" pitchFamily="18" charset="0"/>
                  <a:cs typeface="Cambria Math" panose="02040503050406030204" pitchFamily="18" charset="0"/>
                </a:endParaRPr>
              </a:p>
              <a:p>
                <a:pPr lvl="1"/>
                <a14:m>
                  <m:oMath xmlns:m="http://schemas.openxmlformats.org/officeDocument/2006/math">
                    <m:sSub>
                      <m:sSubPr>
                        <m:ctrlPr>
                          <a:rPr lang="en-US" i="1" smtClean="0">
                            <a:effectLst/>
                            <a:latin typeface="Cambria Math" panose="02040503050406030204" pitchFamily="18" charset="0"/>
                            <a:ea typeface="Cambria Math" panose="02040503050406030204" pitchFamily="18" charset="0"/>
                            <a:cs typeface="Cambria Math" panose="02040503050406030204" pitchFamily="18" charset="0"/>
                          </a:rPr>
                        </m:ctrlPr>
                      </m:sSubPr>
                      <m:e>
                        <m:r>
                          <a:rPr lang="es-ES" i="1">
                            <a:effectLst/>
                            <a:latin typeface="Cambria Math" panose="02040503050406030204" pitchFamily="18" charset="0"/>
                            <a:ea typeface="Cambria Math" panose="02040503050406030204" pitchFamily="18" charset="0"/>
                            <a:cs typeface="Cambria Math" panose="02040503050406030204" pitchFamily="18" charset="0"/>
                          </a:rPr>
                          <m:t>𝑒</m:t>
                        </m:r>
                      </m:e>
                      <m:sub>
                        <m:r>
                          <a:rPr lang="en-US" b="0" i="1" smtClean="0">
                            <a:effectLst/>
                            <a:latin typeface="Cambria Math" panose="02040503050406030204" pitchFamily="18" charset="0"/>
                            <a:ea typeface="Cambria Math" panose="02040503050406030204" pitchFamily="18" charset="0"/>
                            <a:cs typeface="Cambria Math" panose="02040503050406030204" pitchFamily="18" charset="0"/>
                          </a:rPr>
                          <m:t>𝑦</m:t>
                        </m:r>
                      </m:sub>
                    </m:sSub>
                    <m:r>
                      <a:rPr lang="es-ES" i="1">
                        <a:effectLst/>
                        <a:latin typeface="Cambria Math" panose="02040503050406030204" pitchFamily="18" charset="0"/>
                        <a:ea typeface="Cambria Math" panose="02040503050406030204" pitchFamily="18" charset="0"/>
                        <a:cs typeface="Cambria Math" panose="02040503050406030204" pitchFamily="18" charset="0"/>
                      </a:rPr>
                      <m:t>=</m:t>
                    </m:r>
                    <m:f>
                      <m:fPr>
                        <m:ctrlPr>
                          <a:rPr lang="es-ES" i="1" smtClean="0">
                            <a:effectLst/>
                            <a:latin typeface="Cambria Math" panose="02040503050406030204" pitchFamily="18" charset="0"/>
                            <a:ea typeface="Cambria Math" panose="02040503050406030204" pitchFamily="18" charset="0"/>
                          </a:rPr>
                        </m:ctrlPr>
                      </m:fPr>
                      <m:num>
                        <m:nary>
                          <m:naryPr>
                            <m:ctrlPr>
                              <a:rPr lang="es-ES" i="1">
                                <a:latin typeface="Cambria Math" panose="02040503050406030204" pitchFamily="18" charset="0"/>
                                <a:ea typeface="Cambria Math" panose="02040503050406030204" pitchFamily="18" charset="0"/>
                              </a:rPr>
                            </m:ctrlPr>
                          </m:naryPr>
                          <m:sub>
                            <m:r>
                              <m:rPr>
                                <m:brk m:alnAt="23"/>
                              </m:rPr>
                              <a:rPr lang="es-CR" i="1">
                                <a:latin typeface="Cambria Math" panose="02040503050406030204" pitchFamily="18" charset="0"/>
                                <a:ea typeface="Cambria Math" panose="02040503050406030204" pitchFamily="18" charset="0"/>
                              </a:rPr>
                              <m:t>𝑥</m:t>
                            </m:r>
                          </m:sub>
                          <m:sup>
                            <m:r>
                              <a:rPr lang="es-CR" i="1">
                                <a:latin typeface="Cambria Math" panose="02040503050406030204" pitchFamily="18" charset="0"/>
                                <a:ea typeface="Cambria Math" panose="02040503050406030204" pitchFamily="18" charset="0"/>
                              </a:rPr>
                              <m:t>𝜔</m:t>
                            </m:r>
                          </m:sup>
                          <m:e>
                            <m:r>
                              <a:rPr lang="es-CR" i="1">
                                <a:latin typeface="Cambria Math" panose="02040503050406030204" pitchFamily="18" charset="0"/>
                                <a:ea typeface="Cambria Math" panose="02040503050406030204" pitchFamily="18" charset="0"/>
                              </a:rPr>
                              <m:t>𝑥</m:t>
                            </m:r>
                            <m:r>
                              <a:rPr lang="es-CR"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𝑔</m:t>
                            </m:r>
                            <m:d>
                              <m:dPr>
                                <m:ctrlPr>
                                  <a:rPr lang="es-CR" i="1">
                                    <a:latin typeface="Cambria Math" panose="02040503050406030204" pitchFamily="18" charset="0"/>
                                    <a:ea typeface="Cambria Math" panose="02040503050406030204" pitchFamily="18" charset="0"/>
                                  </a:rPr>
                                </m:ctrlPr>
                              </m:dPr>
                              <m:e>
                                <m:r>
                                  <a:rPr lang="es-CR" i="1">
                                    <a:latin typeface="Cambria Math" panose="02040503050406030204" pitchFamily="18" charset="0"/>
                                    <a:ea typeface="Cambria Math" panose="02040503050406030204" pitchFamily="18" charset="0"/>
                                  </a:rPr>
                                  <m:t>𝑥</m:t>
                                </m:r>
                              </m:e>
                            </m:d>
                            <m:r>
                              <a:rPr lang="es-CR" i="1">
                                <a:latin typeface="Cambria Math" panose="02040503050406030204" pitchFamily="18" charset="0"/>
                                <a:ea typeface="Cambria Math" panose="02040503050406030204" pitchFamily="18" charset="0"/>
                              </a:rPr>
                              <m:t>𝑑𝑥</m:t>
                            </m:r>
                          </m:e>
                        </m:nary>
                      </m:num>
                      <m:den>
                        <m:r>
                          <a:rPr lang="en-US" b="0" i="1" smtClean="0">
                            <a:effectLst/>
                            <a:latin typeface="Cambria Math" panose="02040503050406030204" pitchFamily="18" charset="0"/>
                            <a:ea typeface="Cambria Math" panose="02040503050406030204" pitchFamily="18" charset="0"/>
                          </a:rPr>
                          <m:t>1−</m:t>
                        </m:r>
                        <m:r>
                          <a:rPr lang="en-US" b="0" i="1" smtClean="0">
                            <a:effectLst/>
                            <a:latin typeface="Cambria Math" panose="02040503050406030204" pitchFamily="18" charset="0"/>
                            <a:ea typeface="Cambria Math" panose="02040503050406030204" pitchFamily="18" charset="0"/>
                          </a:rPr>
                          <m:t>𝐹</m:t>
                        </m:r>
                        <m:r>
                          <a:rPr lang="en-US" b="0" i="1" smtClean="0">
                            <a:effectLst/>
                            <a:latin typeface="Cambria Math" panose="02040503050406030204" pitchFamily="18" charset="0"/>
                            <a:ea typeface="Cambria Math" panose="02040503050406030204" pitchFamily="18" charset="0"/>
                          </a:rPr>
                          <m:t>(</m:t>
                        </m:r>
                        <m:r>
                          <a:rPr lang="en-US" b="0" i="1" smtClean="0">
                            <a:effectLst/>
                            <a:latin typeface="Cambria Math" panose="02040503050406030204" pitchFamily="18" charset="0"/>
                            <a:ea typeface="Cambria Math" panose="02040503050406030204" pitchFamily="18" charset="0"/>
                          </a:rPr>
                          <m:t>𝑦</m:t>
                        </m:r>
                        <m:r>
                          <a:rPr lang="en-US" b="0" i="1" smtClean="0">
                            <a:effectLst/>
                            <a:latin typeface="Cambria Math" panose="02040503050406030204" pitchFamily="18" charset="0"/>
                            <a:ea typeface="Cambria Math" panose="02040503050406030204" pitchFamily="18" charset="0"/>
                          </a:rPr>
                          <m:t>)</m:t>
                        </m:r>
                      </m:den>
                    </m:f>
                    <m:r>
                      <a:rPr lang="es-ES" i="1">
                        <a:effectLst/>
                        <a:latin typeface="Cambria Math" panose="02040503050406030204" pitchFamily="18" charset="0"/>
                        <a:ea typeface="Cambria Math" panose="02040503050406030204" pitchFamily="18" charset="0"/>
                        <a:cs typeface="Cambria Math" panose="02040503050406030204" pitchFamily="18" charset="0"/>
                      </a:rPr>
                      <m:t>−</m:t>
                    </m:r>
                    <m:r>
                      <a:rPr lang="es-ES" i="1">
                        <a:effectLst/>
                        <a:latin typeface="Cambria Math" panose="02040503050406030204" pitchFamily="18" charset="0"/>
                        <a:ea typeface="Cambria Math" panose="02040503050406030204" pitchFamily="18" charset="0"/>
                        <a:cs typeface="Cambria Math" panose="02040503050406030204" pitchFamily="18" charset="0"/>
                      </a:rPr>
                      <m:t>𝑥</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𝐸</m:t>
                    </m:r>
                    <m:d>
                      <m:dPr>
                        <m:ctrlPr>
                          <a:rPr lang="es-CR" b="0" i="1" smtClean="0">
                            <a:effectLst/>
                            <a:latin typeface="Cambria Math" panose="02040503050406030204" pitchFamily="18" charset="0"/>
                            <a:ea typeface="Cambria Math" panose="02040503050406030204" pitchFamily="18" charset="0"/>
                            <a:cs typeface="Cambria Math" panose="02040503050406030204" pitchFamily="18" charset="0"/>
                          </a:rPr>
                        </m:ctrlPr>
                      </m:dPr>
                      <m:e>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𝑥</m:t>
                        </m:r>
                      </m:e>
                    </m:d>
                  </m:oMath>
                </a14:m>
                <a:endParaRPr lang="es-CR" b="0" dirty="0">
                  <a:effectLst/>
                  <a:latin typeface="Times New Roman" panose="02020603050405020304" pitchFamily="18" charset="0"/>
                  <a:ea typeface="Cambria Math" panose="02040503050406030204" pitchFamily="18" charset="0"/>
                  <a:cs typeface="Cambria Math" panose="02040503050406030204" pitchFamily="18" charset="0"/>
                </a:endParaRPr>
              </a:p>
              <a:p>
                <a:pPr lvl="1"/>
                <a:endParaRPr lang="es-CR" dirty="0"/>
              </a:p>
              <a:p>
                <a:endParaRPr lang="es-CR" dirty="0"/>
              </a:p>
              <a:p>
                <a:pPr lvl="1"/>
                <a:endParaRPr lang="es-CR" dirty="0"/>
              </a:p>
            </p:txBody>
          </p:sp>
        </mc:Choice>
        <mc:Fallback xmlns="">
          <p:sp>
            <p:nvSpPr>
              <p:cNvPr id="3" name="Marcador de contenido 2">
                <a:extLst>
                  <a:ext uri="{FF2B5EF4-FFF2-40B4-BE49-F238E27FC236}">
                    <a16:creationId xmlns:a16="http://schemas.microsoft.com/office/drawing/2014/main" id="{8DAF8BA5-DE89-4CA6-83F0-8359DA2BFEF5}"/>
                  </a:ext>
                </a:extLst>
              </p:cNvPr>
              <p:cNvSpPr>
                <a:spLocks noGrp="1" noRot="1" noChangeAspect="1" noMove="1" noResize="1" noEditPoints="1" noAdjustHandles="1" noChangeArrowheads="1" noChangeShapeType="1" noTextEdit="1"/>
              </p:cNvSpPr>
              <p:nvPr>
                <p:ph idx="1"/>
              </p:nvPr>
            </p:nvSpPr>
            <p:spPr>
              <a:xfrm>
                <a:off x="838200" y="1690688"/>
                <a:ext cx="10515600" cy="4915063"/>
              </a:xfrm>
              <a:blipFill>
                <a:blip r:embed="rId2"/>
                <a:stretch>
                  <a:fillRect l="-1043" t="-2107"/>
                </a:stretch>
              </a:blipFill>
            </p:spPr>
            <p:txBody>
              <a:bodyPr/>
              <a:lstStyle/>
              <a:p>
                <a:r>
                  <a:rPr lang="en-US">
                    <a:noFill/>
                  </a:rPr>
                  <a:t> </a:t>
                </a:r>
              </a:p>
            </p:txBody>
          </p:sp>
        </mc:Fallback>
      </mc:AlternateContent>
    </p:spTree>
    <p:extLst>
      <p:ext uri="{BB962C8B-B14F-4D97-AF65-F5344CB8AC3E}">
        <p14:creationId xmlns:p14="http://schemas.microsoft.com/office/powerpoint/2010/main" val="1016277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7B421-C4BB-88F4-CC5B-A1B82227070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59DE57F-3725-68BA-91BB-D97634802672}"/>
              </a:ext>
            </a:extLst>
          </p:cNvPr>
          <p:cNvSpPr>
            <a:spLocks noGrp="1"/>
          </p:cNvSpPr>
          <p:nvPr>
            <p:ph type="title"/>
          </p:nvPr>
        </p:nvSpPr>
        <p:spPr>
          <a:xfrm>
            <a:off x="583323" y="365125"/>
            <a:ext cx="11083159" cy="1325563"/>
          </a:xfrm>
        </p:spPr>
        <p:txBody>
          <a:bodyPr/>
          <a:lstStyle/>
          <a:p>
            <a:r>
              <a:rPr lang="es-CR" dirty="0"/>
              <a:t>Tabla de Vida como distribución de probabilidad</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E835322-3070-50DA-8A69-0EACCAEB0477}"/>
                  </a:ext>
                </a:extLst>
              </p:cNvPr>
              <p:cNvSpPr>
                <a:spLocks noGrp="1"/>
              </p:cNvSpPr>
              <p:nvPr>
                <p:ph idx="1"/>
              </p:nvPr>
            </p:nvSpPr>
            <p:spPr>
              <a:xfrm>
                <a:off x="838200" y="1690688"/>
                <a:ext cx="10515600" cy="4915063"/>
              </a:xfrm>
            </p:spPr>
            <p:txBody>
              <a:bodyPr>
                <a:normAutofit/>
              </a:bodyPr>
              <a:lstStyle/>
              <a:p>
                <a:r>
                  <a:rPr lang="en-US" dirty="0">
                    <a:effectLst/>
                    <a:latin typeface="Times New Roman" panose="02020603050405020304" pitchFamily="18" charset="0"/>
                    <a:ea typeface="Times New Roman" panose="02020603050405020304" pitchFamily="18" charset="0"/>
                  </a:rPr>
                  <a:t>Dado que la </a:t>
                </a:r>
                <a:r>
                  <a:rPr lang="en-US" dirty="0" err="1">
                    <a:effectLst/>
                    <a:latin typeface="Times New Roman" panose="02020603050405020304" pitchFamily="18" charset="0"/>
                    <a:ea typeface="Times New Roman" panose="02020603050405020304" pitchFamily="18" charset="0"/>
                  </a:rPr>
                  <a:t>esperanza</a:t>
                </a:r>
                <a:r>
                  <a:rPr lang="en-US" dirty="0">
                    <a:effectLst/>
                    <a:latin typeface="Times New Roman" panose="02020603050405020304" pitchFamily="18" charset="0"/>
                    <a:ea typeface="Times New Roman" panose="02020603050405020304" pitchFamily="18" charset="0"/>
                  </a:rPr>
                  <a:t> de </a:t>
                </a:r>
                <a:r>
                  <a:rPr lang="en-US" dirty="0" err="1">
                    <a:effectLst/>
                    <a:latin typeface="Times New Roman" panose="02020603050405020304" pitchFamily="18" charset="0"/>
                    <a:ea typeface="Times New Roman" panose="02020603050405020304" pitchFamily="18" charset="0"/>
                  </a:rPr>
                  <a:t>vida</a:t>
                </a:r>
                <a:r>
                  <a:rPr lang="en-US" dirty="0">
                    <a:effectLst/>
                    <a:latin typeface="Times New Roman" panose="02020603050405020304" pitchFamily="18" charset="0"/>
                    <a:ea typeface="Times New Roman" panose="02020603050405020304" pitchFamily="18" charset="0"/>
                  </a:rPr>
                  <a:t> es </a:t>
                </a:r>
                <a:r>
                  <a:rPr lang="en-US" dirty="0" err="1">
                    <a:effectLst/>
                    <a:latin typeface="Times New Roman" panose="02020603050405020304" pitchFamily="18" charset="0"/>
                    <a:ea typeface="Times New Roman" panose="02020603050405020304" pitchFamily="18" charset="0"/>
                  </a:rPr>
                  <a:t>una</a:t>
                </a:r>
                <a:r>
                  <a:rPr lang="en-US" dirty="0">
                    <a:effectLst/>
                    <a:latin typeface="Times New Roman" panose="02020603050405020304" pitchFamily="18" charset="0"/>
                    <a:ea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rPr>
                  <a:t>esperanza</a:t>
                </a:r>
                <a:r>
                  <a:rPr lang="en-US" dirty="0">
                    <a:effectLst/>
                    <a:latin typeface="Times New Roman" panose="02020603050405020304" pitchFamily="18" charset="0"/>
                    <a:ea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rPr>
                  <a:t>matemática</a:t>
                </a:r>
                <a:r>
                  <a:rPr lang="en-US" dirty="0">
                    <a:effectLst/>
                    <a:latin typeface="Times New Roman" panose="02020603050405020304" pitchFamily="18" charset="0"/>
                    <a:ea typeface="Times New Roman" panose="02020603050405020304" pitchFamily="18" charset="0"/>
                  </a:rPr>
                  <a:t>, se le </a:t>
                </a:r>
                <a:r>
                  <a:rPr lang="en-US" dirty="0" err="1">
                    <a:effectLst/>
                    <a:latin typeface="Times New Roman" panose="02020603050405020304" pitchFamily="18" charset="0"/>
                    <a:ea typeface="Times New Roman" panose="02020603050405020304" pitchFamily="18" charset="0"/>
                  </a:rPr>
                  <a:t>puede</a:t>
                </a:r>
                <a:r>
                  <a:rPr lang="en-US" dirty="0">
                    <a:effectLst/>
                    <a:latin typeface="Times New Roman" panose="02020603050405020304" pitchFamily="18" charset="0"/>
                    <a:ea typeface="Times New Roman" panose="02020603050405020304" pitchFamily="18" charset="0"/>
                  </a:rPr>
                  <a:t> </a:t>
                </a:r>
                <a:r>
                  <a:rPr lang="en-US" dirty="0" err="1">
                    <a:effectLst/>
                    <a:latin typeface="Times New Roman" panose="02020603050405020304" pitchFamily="18" charset="0"/>
                    <a:ea typeface="Times New Roman" panose="02020603050405020304" pitchFamily="18" charset="0"/>
                  </a:rPr>
                  <a:t>calcular</a:t>
                </a:r>
                <a:r>
                  <a:rPr lang="en-US" dirty="0">
                    <a:effectLst/>
                    <a:latin typeface="Times New Roman" panose="02020603050405020304" pitchFamily="18" charset="0"/>
                    <a:ea typeface="Times New Roman" panose="02020603050405020304" pitchFamily="18" charset="0"/>
                  </a:rPr>
                  <a:t> la </a:t>
                </a:r>
                <a:r>
                  <a:rPr lang="en-US" dirty="0" err="1">
                    <a:effectLst/>
                    <a:latin typeface="Times New Roman" panose="02020603050405020304" pitchFamily="18" charset="0"/>
                    <a:ea typeface="Times New Roman" panose="02020603050405020304" pitchFamily="18" charset="0"/>
                  </a:rPr>
                  <a:t>Variancia</a:t>
                </a:r>
                <a:r>
                  <a:rPr lang="en-US" dirty="0">
                    <a:effectLst/>
                    <a:latin typeface="Times New Roman" panose="02020603050405020304" pitchFamily="18" charset="0"/>
                    <a:ea typeface="Times New Roman" panose="02020603050405020304" pitchFamily="18" charset="0"/>
                  </a:rPr>
                  <a:t>. </a:t>
                </a:r>
              </a:p>
              <a:p>
                <a:r>
                  <a:rPr lang="en-US" dirty="0">
                    <a:latin typeface="Times New Roman" panose="02020603050405020304" pitchFamily="18" charset="0"/>
                    <a:ea typeface="Times New Roman" panose="02020603050405020304" pitchFamily="18" charset="0"/>
                  </a:rPr>
                  <a:t>En general, las </a:t>
                </a:r>
                <a:r>
                  <a:rPr lang="en-US" dirty="0" err="1">
                    <a:latin typeface="Times New Roman" panose="02020603050405020304" pitchFamily="18" charset="0"/>
                    <a:ea typeface="Times New Roman" panose="02020603050405020304" pitchFamily="18" charset="0"/>
                  </a:rPr>
                  <a:t>variancias</a:t>
                </a:r>
                <a:r>
                  <a:rPr lang="en-US" dirty="0">
                    <a:latin typeface="Times New Roman" panose="02020603050405020304" pitchFamily="18" charset="0"/>
                    <a:ea typeface="Times New Roman" panose="02020603050405020304" pitchFamily="18" charset="0"/>
                  </a:rPr>
                  <a:t> de </a:t>
                </a:r>
                <a:r>
                  <a:rPr lang="en-US" dirty="0" err="1">
                    <a:latin typeface="Times New Roman" panose="02020603050405020304" pitchFamily="18" charset="0"/>
                    <a:ea typeface="Times New Roman" panose="02020603050405020304" pitchFamily="18" charset="0"/>
                  </a:rPr>
                  <a:t>distribuciones</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truncadas</a:t>
                </a:r>
                <a:r>
                  <a:rPr lang="en-US" dirty="0">
                    <a:latin typeface="Times New Roman" panose="02020603050405020304" pitchFamily="18" charset="0"/>
                    <a:ea typeface="Times New Roman" panose="02020603050405020304" pitchFamily="18" charset="0"/>
                  </a:rPr>
                  <a:t> son </a:t>
                </a:r>
                <a:r>
                  <a:rPr lang="en-US" dirty="0" err="1">
                    <a:latin typeface="Times New Roman" panose="02020603050405020304" pitchFamily="18" charset="0"/>
                    <a:ea typeface="Times New Roman" panose="02020603050405020304" pitchFamily="18" charset="0"/>
                  </a:rPr>
                  <a:t>complejas</a:t>
                </a:r>
                <a:r>
                  <a:rPr lang="en-US" dirty="0">
                    <a:latin typeface="Times New Roman" panose="02020603050405020304" pitchFamily="18" charset="0"/>
                    <a:ea typeface="Times New Roman" panose="02020603050405020304" pitchFamily="18" charset="0"/>
                  </a:rPr>
                  <a:t>, </a:t>
                </a:r>
                <a:r>
                  <a:rPr lang="en-US" dirty="0" err="1">
                    <a:latin typeface="Times New Roman" panose="02020603050405020304" pitchFamily="18" charset="0"/>
                    <a:ea typeface="Times New Roman" panose="02020603050405020304" pitchFamily="18" charset="0"/>
                  </a:rPr>
                  <a:t>por</a:t>
                </a:r>
                <a:r>
                  <a:rPr lang="en-US" dirty="0">
                    <a:latin typeface="Times New Roman" panose="02020603050405020304" pitchFamily="18" charset="0"/>
                    <a:ea typeface="Times New Roman" panose="02020603050405020304" pitchFamily="18" charset="0"/>
                  </a:rPr>
                  <a:t> lo que se </a:t>
                </a:r>
                <a:r>
                  <a:rPr lang="en-US" dirty="0" err="1">
                    <a:latin typeface="Times New Roman" panose="02020603050405020304" pitchFamily="18" charset="0"/>
                    <a:ea typeface="Times New Roman" panose="02020603050405020304" pitchFamily="18" charset="0"/>
                  </a:rPr>
                  <a:t>ofrece</a:t>
                </a:r>
                <a:r>
                  <a:rPr lang="en-US" dirty="0">
                    <a:latin typeface="Times New Roman" panose="02020603050405020304" pitchFamily="18" charset="0"/>
                    <a:ea typeface="Times New Roman" panose="02020603050405020304" pitchFamily="18" charset="0"/>
                  </a:rPr>
                  <a:t> la f</a:t>
                </a:r>
                <a:r>
                  <a:rPr lang="es-CR" dirty="0" err="1">
                    <a:latin typeface="Times New Roman" panose="02020603050405020304" pitchFamily="18" charset="0"/>
                    <a:ea typeface="Times New Roman" panose="02020603050405020304" pitchFamily="18" charset="0"/>
                  </a:rPr>
                  <a:t>órmula</a:t>
                </a:r>
                <a:r>
                  <a:rPr lang="es-CR" dirty="0">
                    <a:latin typeface="Times New Roman" panose="02020603050405020304" pitchFamily="18" charset="0"/>
                    <a:ea typeface="Times New Roman" panose="02020603050405020304" pitchFamily="18" charset="0"/>
                  </a:rPr>
                  <a:t> de la variancia para al esperanza de vida al nacimiento</a:t>
                </a:r>
                <a:r>
                  <a:rPr lang="en-US" dirty="0">
                    <a:effectLst/>
                    <a:latin typeface="Times New Roman" panose="02020603050405020304" pitchFamily="18" charset="0"/>
                    <a:ea typeface="Times New Roman" panose="02020603050405020304" pitchFamily="18" charset="0"/>
                  </a:rPr>
                  <a:t>:</a:t>
                </a:r>
              </a:p>
              <a:p>
                <a:pPr lvl="1"/>
                <a14:m>
                  <m:oMath xmlns:m="http://schemas.openxmlformats.org/officeDocument/2006/math">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𝑉𝑎𝑟</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𝑥</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 =</m:t>
                    </m:r>
                    <m:nary>
                      <m:naryPr>
                        <m:ctrlPr>
                          <a:rPr lang="es-CR" b="0" i="1" smtClean="0">
                            <a:effectLst/>
                            <a:latin typeface="Cambria Math" panose="02040503050406030204" pitchFamily="18" charset="0"/>
                            <a:ea typeface="Cambria Math" panose="02040503050406030204" pitchFamily="18" charset="0"/>
                          </a:rPr>
                        </m:ctrlPr>
                      </m:naryPr>
                      <m:sub>
                        <m:r>
                          <m:rPr>
                            <m:brk m:alnAt="23"/>
                          </m:rPr>
                          <a:rPr lang="es-CR" b="0" i="1" smtClean="0">
                            <a:effectLst/>
                            <a:latin typeface="Cambria Math" panose="02040503050406030204" pitchFamily="18" charset="0"/>
                            <a:ea typeface="Cambria Math" panose="02040503050406030204" pitchFamily="18" charset="0"/>
                          </a:rPr>
                          <m:t>0</m:t>
                        </m:r>
                      </m:sub>
                      <m:sup>
                        <m:r>
                          <a:rPr lang="es-CR" b="0" i="1" smtClean="0">
                            <a:effectLst/>
                            <a:latin typeface="Cambria Math" panose="02040503050406030204" pitchFamily="18" charset="0"/>
                            <a:ea typeface="Cambria Math" panose="02040503050406030204" pitchFamily="18" charset="0"/>
                          </a:rPr>
                          <m:t>𝜔</m:t>
                        </m:r>
                      </m:sup>
                      <m:e>
                        <m:sSup>
                          <m:sSupPr>
                            <m:ctrlPr>
                              <a:rPr lang="es-CR" b="0" i="1" smtClean="0">
                                <a:effectLst/>
                                <a:latin typeface="Cambria Math" panose="02040503050406030204" pitchFamily="18" charset="0"/>
                                <a:ea typeface="Cambria Math" panose="02040503050406030204" pitchFamily="18" charset="0"/>
                              </a:rPr>
                            </m:ctrlPr>
                          </m:sSupPr>
                          <m:e>
                            <m:d>
                              <m:dPr>
                                <m:ctrlPr>
                                  <a:rPr lang="es-CR" i="1">
                                    <a:latin typeface="Cambria Math" panose="02040503050406030204" pitchFamily="18" charset="0"/>
                                    <a:ea typeface="Cambria Math" panose="02040503050406030204" pitchFamily="18" charset="0"/>
                                  </a:rPr>
                                </m:ctrlPr>
                              </m:dPr>
                              <m:e>
                                <m:r>
                                  <a:rPr lang="es-CR" i="1">
                                    <a:latin typeface="Cambria Math" panose="02040503050406030204" pitchFamily="18" charset="0"/>
                                    <a:ea typeface="Cambria Math" panose="02040503050406030204" pitchFamily="18" charset="0"/>
                                  </a:rPr>
                                  <m:t>𝑥</m:t>
                                </m:r>
                                <m:r>
                                  <a:rPr lang="es-CR" i="1">
                                    <a:latin typeface="Cambria Math" panose="02040503050406030204" pitchFamily="18" charset="0"/>
                                    <a:ea typeface="Cambria Math" panose="02040503050406030204" pitchFamily="18" charset="0"/>
                                  </a:rPr>
                                  <m:t>−</m:t>
                                </m:r>
                                <m:sSub>
                                  <m:sSubPr>
                                    <m:ctrlPr>
                                      <a:rPr lang="es-CR" i="1">
                                        <a:latin typeface="Cambria Math" panose="02040503050406030204" pitchFamily="18" charset="0"/>
                                        <a:ea typeface="Cambria Math" panose="02040503050406030204" pitchFamily="18" charset="0"/>
                                      </a:rPr>
                                    </m:ctrlPr>
                                  </m:sSubPr>
                                  <m:e>
                                    <m:r>
                                      <a:rPr lang="es-CR" i="1">
                                        <a:latin typeface="Cambria Math" panose="02040503050406030204" pitchFamily="18" charset="0"/>
                                        <a:ea typeface="Cambria Math" panose="02040503050406030204" pitchFamily="18" charset="0"/>
                                      </a:rPr>
                                      <m:t>𝑒</m:t>
                                    </m:r>
                                  </m:e>
                                  <m:sub>
                                    <m:r>
                                      <a:rPr lang="es-CR" i="1">
                                        <a:latin typeface="Cambria Math" panose="02040503050406030204" pitchFamily="18" charset="0"/>
                                        <a:ea typeface="Cambria Math" panose="02040503050406030204" pitchFamily="18" charset="0"/>
                                      </a:rPr>
                                      <m:t>0</m:t>
                                    </m:r>
                                  </m:sub>
                                </m:sSub>
                              </m:e>
                            </m:d>
                          </m:e>
                          <m:sup>
                            <m:r>
                              <a:rPr lang="es-CR" b="0" i="1" smtClean="0">
                                <a:effectLst/>
                                <a:latin typeface="Cambria Math" panose="02040503050406030204" pitchFamily="18" charset="0"/>
                                <a:ea typeface="Cambria Math" panose="02040503050406030204" pitchFamily="18" charset="0"/>
                              </a:rPr>
                              <m:t>2</m:t>
                            </m:r>
                          </m:sup>
                        </m:sSup>
                        <m:r>
                          <a:rPr lang="es-CR" b="0" i="1" smtClean="0">
                            <a:effectLst/>
                            <a:latin typeface="Cambria Math" panose="02040503050406030204" pitchFamily="18" charset="0"/>
                            <a:ea typeface="Cambria Math" panose="02040503050406030204" pitchFamily="18" charset="0"/>
                          </a:rPr>
                          <m:t>∗</m:t>
                        </m:r>
                        <m:r>
                          <a:rPr lang="es-CR" b="0" i="1" smtClean="0">
                            <a:effectLst/>
                            <a:latin typeface="Cambria Math" panose="02040503050406030204" pitchFamily="18" charset="0"/>
                            <a:ea typeface="Cambria Math" panose="02040503050406030204" pitchFamily="18" charset="0"/>
                          </a:rPr>
                          <m:t>𝑓</m:t>
                        </m:r>
                        <m:d>
                          <m:dPr>
                            <m:ctrlPr>
                              <a:rPr lang="es-CR" b="0" i="1" smtClean="0">
                                <a:effectLst/>
                                <a:latin typeface="Cambria Math" panose="02040503050406030204" pitchFamily="18" charset="0"/>
                                <a:ea typeface="Cambria Math" panose="02040503050406030204" pitchFamily="18" charset="0"/>
                              </a:rPr>
                            </m:ctrlPr>
                          </m:dPr>
                          <m:e>
                            <m:r>
                              <a:rPr lang="es-CR" b="0" i="1" smtClean="0">
                                <a:effectLst/>
                                <a:latin typeface="Cambria Math" panose="02040503050406030204" pitchFamily="18" charset="0"/>
                                <a:ea typeface="Cambria Math" panose="02040503050406030204" pitchFamily="18" charset="0"/>
                              </a:rPr>
                              <m:t>𝑥</m:t>
                            </m:r>
                          </m:e>
                        </m:d>
                        <m:r>
                          <a:rPr lang="es-CR" b="0" i="1" smtClean="0">
                            <a:effectLst/>
                            <a:latin typeface="Cambria Math" panose="02040503050406030204" pitchFamily="18" charset="0"/>
                            <a:ea typeface="Cambria Math" panose="02040503050406030204" pitchFamily="18" charset="0"/>
                          </a:rPr>
                          <m:t>𝑑𝑥</m:t>
                        </m:r>
                        <m:r>
                          <a:rPr lang="es-CR" b="0" i="1" smtClean="0">
                            <a:effectLst/>
                            <a:latin typeface="Cambria Math" panose="02040503050406030204" pitchFamily="18" charset="0"/>
                            <a:ea typeface="Cambria Math" panose="02040503050406030204" pitchFamily="18" charset="0"/>
                          </a:rPr>
                          <m:t>=</m:t>
                        </m:r>
                      </m:e>
                    </m:nary>
                    <m:nary>
                      <m:naryPr>
                        <m:ctrlPr>
                          <a:rPr lang="es-ES" i="1">
                            <a:latin typeface="Cambria Math" panose="02040503050406030204" pitchFamily="18" charset="0"/>
                            <a:ea typeface="Cambria Math" panose="02040503050406030204" pitchFamily="18" charset="0"/>
                          </a:rPr>
                        </m:ctrlPr>
                      </m:naryPr>
                      <m:sub>
                        <m:r>
                          <a:rPr lang="es-CR" b="0" i="1" smtClean="0">
                            <a:latin typeface="Cambria Math" panose="02040503050406030204" pitchFamily="18" charset="0"/>
                            <a:ea typeface="Cambria Math" panose="02040503050406030204" pitchFamily="18" charset="0"/>
                          </a:rPr>
                          <m:t>0</m:t>
                        </m:r>
                      </m:sub>
                      <m:sup>
                        <m:r>
                          <a:rPr lang="es-CR" i="1">
                            <a:latin typeface="Cambria Math" panose="02040503050406030204" pitchFamily="18" charset="0"/>
                            <a:ea typeface="Cambria Math" panose="02040503050406030204" pitchFamily="18" charset="0"/>
                          </a:rPr>
                          <m:t>𝜔</m:t>
                        </m:r>
                      </m:sup>
                      <m:e>
                        <m:sSup>
                          <m:sSupPr>
                            <m:ctrlPr>
                              <a:rPr lang="es-CR" i="1" smtClean="0">
                                <a:latin typeface="Cambria Math" panose="02040503050406030204" pitchFamily="18" charset="0"/>
                                <a:ea typeface="Cambria Math" panose="02040503050406030204" pitchFamily="18" charset="0"/>
                              </a:rPr>
                            </m:ctrlPr>
                          </m:sSupPr>
                          <m:e>
                            <m:r>
                              <a:rPr lang="es-CR" b="0" i="1" smtClean="0">
                                <a:latin typeface="Cambria Math" panose="02040503050406030204" pitchFamily="18" charset="0"/>
                                <a:ea typeface="Cambria Math" panose="02040503050406030204" pitchFamily="18" charset="0"/>
                              </a:rPr>
                              <m:t>𝑥</m:t>
                            </m:r>
                          </m:e>
                          <m:sup>
                            <m:r>
                              <a:rPr lang="es-CR" b="0" i="1" smtClean="0">
                                <a:latin typeface="Cambria Math" panose="02040503050406030204" pitchFamily="18" charset="0"/>
                                <a:ea typeface="Cambria Math" panose="02040503050406030204" pitchFamily="18" charset="0"/>
                              </a:rPr>
                              <m:t>2</m:t>
                            </m:r>
                          </m:sup>
                        </m:sSup>
                        <m:r>
                          <a:rPr lang="es-CR" b="0" i="1" smtClean="0">
                            <a:latin typeface="Cambria Math" panose="02040503050406030204" pitchFamily="18" charset="0"/>
                            <a:ea typeface="Cambria Math" panose="02040503050406030204" pitchFamily="18" charset="0"/>
                          </a:rPr>
                          <m:t>∗</m:t>
                        </m:r>
                        <m:r>
                          <a:rPr lang="es-CR" i="1">
                            <a:latin typeface="Cambria Math" panose="02040503050406030204" pitchFamily="18" charset="0"/>
                            <a:ea typeface="Cambria Math" panose="02040503050406030204" pitchFamily="18" charset="0"/>
                          </a:rPr>
                          <m:t>𝑓</m:t>
                        </m:r>
                        <m:d>
                          <m:dPr>
                            <m:ctrlPr>
                              <a:rPr lang="es-CR" i="1">
                                <a:latin typeface="Cambria Math" panose="02040503050406030204" pitchFamily="18" charset="0"/>
                                <a:ea typeface="Cambria Math" panose="02040503050406030204" pitchFamily="18" charset="0"/>
                              </a:rPr>
                            </m:ctrlPr>
                          </m:dPr>
                          <m:e>
                            <m:r>
                              <a:rPr lang="es-CR" i="1">
                                <a:latin typeface="Cambria Math" panose="02040503050406030204" pitchFamily="18" charset="0"/>
                                <a:ea typeface="Cambria Math" panose="02040503050406030204" pitchFamily="18" charset="0"/>
                              </a:rPr>
                              <m:t>𝑥</m:t>
                            </m:r>
                          </m:e>
                        </m:d>
                        <m:r>
                          <a:rPr lang="es-CR" i="1">
                            <a:latin typeface="Cambria Math" panose="02040503050406030204" pitchFamily="18" charset="0"/>
                            <a:ea typeface="Cambria Math" panose="02040503050406030204" pitchFamily="18" charset="0"/>
                          </a:rPr>
                          <m:t>𝑑𝑥</m:t>
                        </m:r>
                        <m:r>
                          <a:rPr lang="es-CR" b="0" i="1" smtClean="0">
                            <a:latin typeface="Cambria Math" panose="02040503050406030204" pitchFamily="18" charset="0"/>
                            <a:ea typeface="Cambria Math" panose="02040503050406030204" pitchFamily="18" charset="0"/>
                          </a:rPr>
                          <m:t>−</m:t>
                        </m:r>
                        <m:sSup>
                          <m:sSupPr>
                            <m:ctrlPr>
                              <a:rPr lang="es-CR" b="0" i="1" smtClean="0">
                                <a:latin typeface="Cambria Math" panose="02040503050406030204" pitchFamily="18" charset="0"/>
                                <a:ea typeface="Cambria Math" panose="02040503050406030204" pitchFamily="18" charset="0"/>
                              </a:rPr>
                            </m:ctrlPr>
                          </m:sSupPr>
                          <m:e>
                            <m:d>
                              <m:dPr>
                                <m:ctrlPr>
                                  <a:rPr lang="es-CR" b="0" i="1" smtClean="0">
                                    <a:latin typeface="Cambria Math" panose="02040503050406030204" pitchFamily="18" charset="0"/>
                                    <a:ea typeface="Cambria Math" panose="02040503050406030204" pitchFamily="18" charset="0"/>
                                  </a:rPr>
                                </m:ctrlPr>
                              </m:dPr>
                              <m:e>
                                <m:nary>
                                  <m:naryPr>
                                    <m:ctrlPr>
                                      <a:rPr lang="es-ES" i="1">
                                        <a:latin typeface="Cambria Math" panose="02040503050406030204" pitchFamily="18" charset="0"/>
                                        <a:ea typeface="Cambria Math" panose="02040503050406030204" pitchFamily="18" charset="0"/>
                                      </a:rPr>
                                    </m:ctrlPr>
                                  </m:naryPr>
                                  <m:sub>
                                    <m:r>
                                      <a:rPr lang="es-CR" b="0" i="1" smtClean="0">
                                        <a:latin typeface="Cambria Math" panose="02040503050406030204" pitchFamily="18" charset="0"/>
                                        <a:ea typeface="Cambria Math" panose="02040503050406030204" pitchFamily="18" charset="0"/>
                                      </a:rPr>
                                      <m:t>0</m:t>
                                    </m:r>
                                  </m:sub>
                                  <m:sup>
                                    <m:r>
                                      <a:rPr lang="es-CR" i="1">
                                        <a:latin typeface="Cambria Math" panose="02040503050406030204" pitchFamily="18" charset="0"/>
                                        <a:ea typeface="Cambria Math" panose="02040503050406030204" pitchFamily="18" charset="0"/>
                                      </a:rPr>
                                      <m:t>𝜔</m:t>
                                    </m:r>
                                  </m:sup>
                                  <m:e>
                                    <m:r>
                                      <a:rPr lang="es-CR" i="1">
                                        <a:latin typeface="Cambria Math" panose="02040503050406030204" pitchFamily="18" charset="0"/>
                                        <a:ea typeface="Cambria Math" panose="02040503050406030204" pitchFamily="18" charset="0"/>
                                      </a:rPr>
                                      <m:t>𝑥</m:t>
                                    </m:r>
                                    <m:r>
                                      <a:rPr lang="es-CR" i="1">
                                        <a:latin typeface="Cambria Math" panose="02040503050406030204" pitchFamily="18" charset="0"/>
                                        <a:ea typeface="Cambria Math" panose="02040503050406030204" pitchFamily="18" charset="0"/>
                                      </a:rPr>
                                      <m:t>∗</m:t>
                                    </m:r>
                                    <m:r>
                                      <a:rPr lang="es-CR" i="1">
                                        <a:latin typeface="Cambria Math" panose="02040503050406030204" pitchFamily="18" charset="0"/>
                                        <a:ea typeface="Cambria Math" panose="02040503050406030204" pitchFamily="18" charset="0"/>
                                      </a:rPr>
                                      <m:t>𝑓</m:t>
                                    </m:r>
                                    <m:d>
                                      <m:dPr>
                                        <m:ctrlPr>
                                          <a:rPr lang="es-CR" i="1">
                                            <a:latin typeface="Cambria Math" panose="02040503050406030204" pitchFamily="18" charset="0"/>
                                            <a:ea typeface="Cambria Math" panose="02040503050406030204" pitchFamily="18" charset="0"/>
                                          </a:rPr>
                                        </m:ctrlPr>
                                      </m:dPr>
                                      <m:e>
                                        <m:r>
                                          <a:rPr lang="es-CR" i="1">
                                            <a:latin typeface="Cambria Math" panose="02040503050406030204" pitchFamily="18" charset="0"/>
                                            <a:ea typeface="Cambria Math" panose="02040503050406030204" pitchFamily="18" charset="0"/>
                                          </a:rPr>
                                          <m:t>𝑥</m:t>
                                        </m:r>
                                      </m:e>
                                    </m:d>
                                    <m:r>
                                      <a:rPr lang="es-CR" i="1">
                                        <a:latin typeface="Cambria Math" panose="02040503050406030204" pitchFamily="18" charset="0"/>
                                        <a:ea typeface="Cambria Math" panose="02040503050406030204" pitchFamily="18" charset="0"/>
                                      </a:rPr>
                                      <m:t>𝑑𝑥</m:t>
                                    </m:r>
                                  </m:e>
                                </m:nary>
                              </m:e>
                            </m:d>
                          </m:e>
                          <m:sup>
                            <m:r>
                              <a:rPr lang="es-CR" b="0" i="1" smtClean="0">
                                <a:latin typeface="Cambria Math" panose="02040503050406030204" pitchFamily="18" charset="0"/>
                                <a:ea typeface="Cambria Math" panose="02040503050406030204" pitchFamily="18" charset="0"/>
                              </a:rPr>
                              <m:t>2</m:t>
                            </m:r>
                          </m:sup>
                        </m:sSup>
                      </m:e>
                    </m:nary>
                  </m:oMath>
                </a14:m>
                <a:endParaRPr lang="es-CR" dirty="0"/>
              </a:p>
              <a:p>
                <a:endParaRPr lang="es-CR" dirty="0"/>
              </a:p>
              <a:p>
                <a:r>
                  <a:rPr lang="es-CR" dirty="0"/>
                  <a:t>En términos discretos, se puede calcular como:</a:t>
                </a:r>
              </a:p>
              <a:p>
                <a:pPr lvl="1"/>
                <a14:m>
                  <m:oMath xmlns:m="http://schemas.openxmlformats.org/officeDocument/2006/math">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𝑉𝑎𝑟</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𝑥</m:t>
                    </m:r>
                    <m:r>
                      <a:rPr lang="es-CR" b="0" i="1" smtClean="0">
                        <a:effectLst/>
                        <a:latin typeface="Cambria Math" panose="02040503050406030204" pitchFamily="18" charset="0"/>
                        <a:ea typeface="Cambria Math" panose="02040503050406030204" pitchFamily="18" charset="0"/>
                        <a:cs typeface="Cambria Math" panose="02040503050406030204" pitchFamily="18" charset="0"/>
                      </a:rPr>
                      <m:t>) =</m:t>
                    </m:r>
                  </m:oMath>
                </a14:m>
                <a:r>
                  <a:rPr lang="es-CR" dirty="0">
                    <a:ea typeface="Cambria Math" panose="02040503050406030204" pitchFamily="18" charset="0"/>
                  </a:rPr>
                  <a:t> </a:t>
                </a:r>
                <a14:m>
                  <m:oMath xmlns:m="http://schemas.openxmlformats.org/officeDocument/2006/math">
                    <m:nary>
                      <m:naryPr>
                        <m:chr m:val="∑"/>
                        <m:ctrlPr>
                          <a:rPr lang="es-CR" i="1">
                            <a:latin typeface="Cambria Math" panose="02040503050406030204" pitchFamily="18" charset="0"/>
                            <a:ea typeface="Cambria Math" panose="02040503050406030204" pitchFamily="18" charset="0"/>
                          </a:rPr>
                        </m:ctrlPr>
                      </m:naryPr>
                      <m:sub>
                        <m:r>
                          <m:rPr>
                            <m:brk m:alnAt="23"/>
                          </m:rPr>
                          <a:rPr lang="es-CR" i="1">
                            <a:latin typeface="Cambria Math" panose="02040503050406030204" pitchFamily="18" charset="0"/>
                            <a:ea typeface="Cambria Math" panose="02040503050406030204" pitchFamily="18" charset="0"/>
                          </a:rPr>
                          <m:t>𝑥</m:t>
                        </m:r>
                        <m:r>
                          <a:rPr lang="es-CR" i="1">
                            <a:latin typeface="Cambria Math" panose="02040503050406030204" pitchFamily="18" charset="0"/>
                            <a:ea typeface="Cambria Math" panose="02040503050406030204" pitchFamily="18" charset="0"/>
                          </a:rPr>
                          <m:t>=0</m:t>
                        </m:r>
                      </m:sub>
                      <m:sup>
                        <m:r>
                          <a:rPr lang="es-CR" i="1">
                            <a:latin typeface="Cambria Math" panose="02040503050406030204" pitchFamily="18" charset="0"/>
                            <a:ea typeface="Cambria Math" panose="02040503050406030204" pitchFamily="18" charset="0"/>
                          </a:rPr>
                          <m:t>𝜔</m:t>
                        </m:r>
                      </m:sup>
                      <m:e>
                        <m:d>
                          <m:dPr>
                            <m:begChr m:val="["/>
                            <m:endChr m:val="]"/>
                            <m:ctrlPr>
                              <a:rPr lang="es-CR" i="1">
                                <a:latin typeface="Cambria Math" panose="02040503050406030204" pitchFamily="18" charset="0"/>
                                <a:ea typeface="Cambria Math" panose="02040503050406030204" pitchFamily="18" charset="0"/>
                              </a:rPr>
                            </m:ctrlPr>
                          </m:dPr>
                          <m:e>
                            <m:r>
                              <a:rPr lang="es-CR" i="1">
                                <a:latin typeface="Cambria Math" panose="02040503050406030204" pitchFamily="18" charset="0"/>
                                <a:ea typeface="Cambria Math" panose="02040503050406030204" pitchFamily="18" charset="0"/>
                              </a:rPr>
                              <m:t>𝑑</m:t>
                            </m:r>
                            <m:d>
                              <m:dPr>
                                <m:ctrlPr>
                                  <a:rPr lang="es-CR" i="1">
                                    <a:latin typeface="Cambria Math" panose="02040503050406030204" pitchFamily="18" charset="0"/>
                                    <a:ea typeface="Cambria Math" panose="02040503050406030204" pitchFamily="18" charset="0"/>
                                  </a:rPr>
                                </m:ctrlPr>
                              </m:dPr>
                              <m:e>
                                <m:r>
                                  <a:rPr lang="es-CR" i="1">
                                    <a:latin typeface="Cambria Math" panose="02040503050406030204" pitchFamily="18" charset="0"/>
                                    <a:ea typeface="Cambria Math" panose="02040503050406030204" pitchFamily="18" charset="0"/>
                                  </a:rPr>
                                  <m:t>𝑥</m:t>
                                </m:r>
                              </m:e>
                            </m:d>
                            <m:r>
                              <a:rPr lang="es-CR" i="1">
                                <a:latin typeface="Cambria Math" panose="02040503050406030204" pitchFamily="18" charset="0"/>
                                <a:ea typeface="Cambria Math" panose="02040503050406030204" pitchFamily="18" charset="0"/>
                              </a:rPr>
                              <m:t>∗</m:t>
                            </m:r>
                            <m:sSup>
                              <m:sSupPr>
                                <m:ctrlPr>
                                  <a:rPr lang="es-CR" i="1">
                                    <a:latin typeface="Cambria Math" panose="02040503050406030204" pitchFamily="18" charset="0"/>
                                    <a:ea typeface="Cambria Math" panose="02040503050406030204" pitchFamily="18" charset="0"/>
                                  </a:rPr>
                                </m:ctrlPr>
                              </m:sSupPr>
                              <m:e>
                                <m:d>
                                  <m:dPr>
                                    <m:ctrlPr>
                                      <a:rPr lang="es-CR" i="1">
                                        <a:latin typeface="Cambria Math" panose="02040503050406030204" pitchFamily="18" charset="0"/>
                                        <a:ea typeface="Cambria Math" panose="02040503050406030204" pitchFamily="18" charset="0"/>
                                      </a:rPr>
                                    </m:ctrlPr>
                                  </m:dPr>
                                  <m:e>
                                    <m:r>
                                      <a:rPr lang="es-CR" i="1">
                                        <a:latin typeface="Cambria Math" panose="02040503050406030204" pitchFamily="18" charset="0"/>
                                        <a:ea typeface="Cambria Math" panose="02040503050406030204" pitchFamily="18" charset="0"/>
                                      </a:rPr>
                                      <m:t>𝑥</m:t>
                                    </m:r>
                                    <m:r>
                                      <a:rPr lang="es-CR" i="1">
                                        <a:latin typeface="Cambria Math" panose="02040503050406030204" pitchFamily="18" charset="0"/>
                                        <a:ea typeface="Cambria Math" panose="02040503050406030204" pitchFamily="18" charset="0"/>
                                      </a:rPr>
                                      <m:t>−</m:t>
                                    </m:r>
                                    <m:sSub>
                                      <m:sSubPr>
                                        <m:ctrlPr>
                                          <a:rPr lang="es-CR" i="1">
                                            <a:latin typeface="Cambria Math" panose="02040503050406030204" pitchFamily="18" charset="0"/>
                                            <a:ea typeface="Cambria Math" panose="02040503050406030204" pitchFamily="18" charset="0"/>
                                          </a:rPr>
                                        </m:ctrlPr>
                                      </m:sSubPr>
                                      <m:e>
                                        <m:r>
                                          <a:rPr lang="es-CR" i="1">
                                            <a:latin typeface="Cambria Math" panose="02040503050406030204" pitchFamily="18" charset="0"/>
                                            <a:ea typeface="Cambria Math" panose="02040503050406030204" pitchFamily="18" charset="0"/>
                                          </a:rPr>
                                          <m:t>𝑒</m:t>
                                        </m:r>
                                      </m:e>
                                      <m:sub>
                                        <m:r>
                                          <a:rPr lang="es-CR" i="1">
                                            <a:latin typeface="Cambria Math" panose="02040503050406030204" pitchFamily="18" charset="0"/>
                                            <a:ea typeface="Cambria Math" panose="02040503050406030204" pitchFamily="18" charset="0"/>
                                          </a:rPr>
                                          <m:t>0</m:t>
                                        </m:r>
                                      </m:sub>
                                    </m:sSub>
                                  </m:e>
                                </m:d>
                              </m:e>
                              <m:sup>
                                <m:r>
                                  <a:rPr lang="es-CR" i="1">
                                    <a:latin typeface="Cambria Math" panose="02040503050406030204" pitchFamily="18" charset="0"/>
                                    <a:ea typeface="Cambria Math" panose="02040503050406030204" pitchFamily="18" charset="0"/>
                                  </a:rPr>
                                  <m:t>2</m:t>
                                </m:r>
                              </m:sup>
                            </m:sSup>
                          </m:e>
                        </m:d>
                      </m:e>
                    </m:nary>
                  </m:oMath>
                </a14:m>
                <a:r>
                  <a:rPr lang="es-CR" dirty="0"/>
                  <a:t>=</a:t>
                </a:r>
                <a:r>
                  <a:rPr lang="es-CR" dirty="0">
                    <a:ea typeface="Cambria Math" panose="02040503050406030204" pitchFamily="18" charset="0"/>
                  </a:rPr>
                  <a:t> </a:t>
                </a:r>
                <a14:m>
                  <m:oMath xmlns:m="http://schemas.openxmlformats.org/officeDocument/2006/math">
                    <m:nary>
                      <m:naryPr>
                        <m:chr m:val="∑"/>
                        <m:ctrlPr>
                          <a:rPr lang="es-CR" i="1">
                            <a:latin typeface="Cambria Math" panose="02040503050406030204" pitchFamily="18" charset="0"/>
                            <a:ea typeface="Cambria Math" panose="02040503050406030204" pitchFamily="18" charset="0"/>
                          </a:rPr>
                        </m:ctrlPr>
                      </m:naryPr>
                      <m:sub>
                        <m:r>
                          <m:rPr>
                            <m:brk m:alnAt="23"/>
                          </m:rPr>
                          <a:rPr lang="es-CR" i="1">
                            <a:latin typeface="Cambria Math" panose="02040503050406030204" pitchFamily="18" charset="0"/>
                            <a:ea typeface="Cambria Math" panose="02040503050406030204" pitchFamily="18" charset="0"/>
                          </a:rPr>
                          <m:t>𝑥</m:t>
                        </m:r>
                        <m:r>
                          <a:rPr lang="es-CR" i="1">
                            <a:latin typeface="Cambria Math" panose="02040503050406030204" pitchFamily="18" charset="0"/>
                            <a:ea typeface="Cambria Math" panose="02040503050406030204" pitchFamily="18" charset="0"/>
                          </a:rPr>
                          <m:t>=0</m:t>
                        </m:r>
                      </m:sub>
                      <m:sup>
                        <m:r>
                          <a:rPr lang="es-CR" i="1">
                            <a:latin typeface="Cambria Math" panose="02040503050406030204" pitchFamily="18" charset="0"/>
                            <a:ea typeface="Cambria Math" panose="02040503050406030204" pitchFamily="18" charset="0"/>
                          </a:rPr>
                          <m:t>𝜔</m:t>
                        </m:r>
                      </m:sup>
                      <m:e>
                        <m:d>
                          <m:dPr>
                            <m:begChr m:val="["/>
                            <m:endChr m:val="]"/>
                            <m:ctrlPr>
                              <a:rPr lang="es-CR" i="1">
                                <a:latin typeface="Cambria Math" panose="02040503050406030204" pitchFamily="18" charset="0"/>
                                <a:ea typeface="Cambria Math" panose="02040503050406030204" pitchFamily="18" charset="0"/>
                              </a:rPr>
                            </m:ctrlPr>
                          </m:dPr>
                          <m:e>
                            <m:sSup>
                              <m:sSupPr>
                                <m:ctrlPr>
                                  <a:rPr lang="es-CR" i="1" smtClean="0">
                                    <a:latin typeface="Cambria Math" panose="02040503050406030204" pitchFamily="18" charset="0"/>
                                    <a:ea typeface="Cambria Math" panose="02040503050406030204" pitchFamily="18" charset="0"/>
                                  </a:rPr>
                                </m:ctrlPr>
                              </m:sSupPr>
                              <m:e>
                                <m:r>
                                  <a:rPr lang="es-CR" b="0" i="1" smtClean="0">
                                    <a:latin typeface="Cambria Math" panose="02040503050406030204" pitchFamily="18" charset="0"/>
                                    <a:ea typeface="Cambria Math" panose="02040503050406030204" pitchFamily="18" charset="0"/>
                                  </a:rPr>
                                  <m:t>𝑥</m:t>
                                </m:r>
                              </m:e>
                              <m:sup>
                                <m:r>
                                  <a:rPr lang="es-CR" b="0" i="1" smtClean="0">
                                    <a:latin typeface="Cambria Math" panose="02040503050406030204" pitchFamily="18" charset="0"/>
                                    <a:ea typeface="Cambria Math" panose="02040503050406030204" pitchFamily="18" charset="0"/>
                                  </a:rPr>
                                  <m:t>2</m:t>
                                </m:r>
                              </m:sup>
                            </m:sSup>
                            <m:r>
                              <a:rPr lang="es-CR" i="1">
                                <a:latin typeface="Cambria Math" panose="02040503050406030204" pitchFamily="18" charset="0"/>
                                <a:ea typeface="Cambria Math" panose="02040503050406030204" pitchFamily="18" charset="0"/>
                              </a:rPr>
                              <m:t>𝑑</m:t>
                            </m:r>
                            <m:d>
                              <m:dPr>
                                <m:ctrlPr>
                                  <a:rPr lang="es-CR" i="1">
                                    <a:latin typeface="Cambria Math" panose="02040503050406030204" pitchFamily="18" charset="0"/>
                                    <a:ea typeface="Cambria Math" panose="02040503050406030204" pitchFamily="18" charset="0"/>
                                  </a:rPr>
                                </m:ctrlPr>
                              </m:dPr>
                              <m:e>
                                <m:r>
                                  <a:rPr lang="es-CR" i="1">
                                    <a:latin typeface="Cambria Math" panose="02040503050406030204" pitchFamily="18" charset="0"/>
                                    <a:ea typeface="Cambria Math" panose="02040503050406030204" pitchFamily="18" charset="0"/>
                                  </a:rPr>
                                  <m:t>𝑥</m:t>
                                </m:r>
                              </m:e>
                            </m:d>
                          </m:e>
                        </m:d>
                      </m:e>
                    </m:nary>
                    <m:r>
                      <a:rPr lang="es-CR" b="0" i="1" smtClean="0">
                        <a:latin typeface="Cambria Math" panose="02040503050406030204" pitchFamily="18" charset="0"/>
                        <a:ea typeface="Cambria Math" panose="02040503050406030204" pitchFamily="18" charset="0"/>
                      </a:rPr>
                      <m:t>−</m:t>
                    </m:r>
                    <m:sSup>
                      <m:sSupPr>
                        <m:ctrlPr>
                          <a:rPr lang="es-CR" b="0" i="1" smtClean="0">
                            <a:latin typeface="Cambria Math" panose="02040503050406030204" pitchFamily="18" charset="0"/>
                            <a:ea typeface="Cambria Math" panose="02040503050406030204" pitchFamily="18" charset="0"/>
                          </a:rPr>
                        </m:ctrlPr>
                      </m:sSupPr>
                      <m:e>
                        <m:d>
                          <m:dPr>
                            <m:ctrlPr>
                              <a:rPr lang="es-CR" i="1">
                                <a:latin typeface="Cambria Math" panose="02040503050406030204" pitchFamily="18" charset="0"/>
                                <a:ea typeface="Cambria Math" panose="02040503050406030204" pitchFamily="18" charset="0"/>
                              </a:rPr>
                            </m:ctrlPr>
                          </m:dPr>
                          <m:e>
                            <m:nary>
                              <m:naryPr>
                                <m:chr m:val="∑"/>
                                <m:ctrlPr>
                                  <a:rPr lang="es-CR" i="1">
                                    <a:latin typeface="Cambria Math" panose="02040503050406030204" pitchFamily="18" charset="0"/>
                                    <a:ea typeface="Cambria Math" panose="02040503050406030204" pitchFamily="18" charset="0"/>
                                  </a:rPr>
                                </m:ctrlPr>
                              </m:naryPr>
                              <m:sub>
                                <m:r>
                                  <m:rPr>
                                    <m:brk m:alnAt="23"/>
                                  </m:rPr>
                                  <a:rPr lang="es-CR" i="1">
                                    <a:latin typeface="Cambria Math" panose="02040503050406030204" pitchFamily="18" charset="0"/>
                                    <a:ea typeface="Cambria Math" panose="02040503050406030204" pitchFamily="18" charset="0"/>
                                  </a:rPr>
                                  <m:t>𝑥</m:t>
                                </m:r>
                                <m:r>
                                  <a:rPr lang="es-CR" i="1">
                                    <a:latin typeface="Cambria Math" panose="02040503050406030204" pitchFamily="18" charset="0"/>
                                    <a:ea typeface="Cambria Math" panose="02040503050406030204" pitchFamily="18" charset="0"/>
                                  </a:rPr>
                                  <m:t>=0</m:t>
                                </m:r>
                              </m:sub>
                              <m:sup>
                                <m:r>
                                  <a:rPr lang="es-CR" i="1">
                                    <a:latin typeface="Cambria Math" panose="02040503050406030204" pitchFamily="18" charset="0"/>
                                    <a:ea typeface="Cambria Math" panose="02040503050406030204" pitchFamily="18" charset="0"/>
                                  </a:rPr>
                                  <m:t>𝜔</m:t>
                                </m:r>
                              </m:sup>
                              <m:e>
                                <m:d>
                                  <m:dPr>
                                    <m:begChr m:val="["/>
                                    <m:endChr m:val="]"/>
                                    <m:ctrlPr>
                                      <a:rPr lang="es-CR" i="1">
                                        <a:latin typeface="Cambria Math" panose="02040503050406030204" pitchFamily="18" charset="0"/>
                                        <a:ea typeface="Cambria Math" panose="02040503050406030204" pitchFamily="18" charset="0"/>
                                      </a:rPr>
                                    </m:ctrlPr>
                                  </m:dPr>
                                  <m:e>
                                    <m:r>
                                      <a:rPr lang="es-CR" i="1">
                                        <a:latin typeface="Cambria Math" panose="02040503050406030204" pitchFamily="18" charset="0"/>
                                        <a:ea typeface="Cambria Math" panose="02040503050406030204" pitchFamily="18" charset="0"/>
                                      </a:rPr>
                                      <m:t>𝑥𝑑</m:t>
                                    </m:r>
                                    <m:d>
                                      <m:dPr>
                                        <m:ctrlPr>
                                          <a:rPr lang="es-CR" i="1">
                                            <a:latin typeface="Cambria Math" panose="02040503050406030204" pitchFamily="18" charset="0"/>
                                            <a:ea typeface="Cambria Math" panose="02040503050406030204" pitchFamily="18" charset="0"/>
                                          </a:rPr>
                                        </m:ctrlPr>
                                      </m:dPr>
                                      <m:e>
                                        <m:r>
                                          <a:rPr lang="es-CR" i="1">
                                            <a:latin typeface="Cambria Math" panose="02040503050406030204" pitchFamily="18" charset="0"/>
                                            <a:ea typeface="Cambria Math" panose="02040503050406030204" pitchFamily="18" charset="0"/>
                                          </a:rPr>
                                          <m:t>𝑥</m:t>
                                        </m:r>
                                      </m:e>
                                    </m:d>
                                  </m:e>
                                </m:d>
                              </m:e>
                            </m:nary>
                          </m:e>
                        </m:d>
                      </m:e>
                      <m:sup>
                        <m:r>
                          <a:rPr lang="es-CR" b="0" i="1" smtClean="0">
                            <a:latin typeface="Cambria Math" panose="02040503050406030204" pitchFamily="18" charset="0"/>
                            <a:ea typeface="Cambria Math" panose="02040503050406030204" pitchFamily="18" charset="0"/>
                          </a:rPr>
                          <m:t>2</m:t>
                        </m:r>
                      </m:sup>
                    </m:sSup>
                  </m:oMath>
                </a14:m>
                <a:endParaRPr lang="es-CR" dirty="0"/>
              </a:p>
              <a:p>
                <a:endParaRPr lang="es-CR" dirty="0"/>
              </a:p>
              <a:p>
                <a:pPr lvl="1"/>
                <a:endParaRPr lang="es-CR" dirty="0"/>
              </a:p>
            </p:txBody>
          </p:sp>
        </mc:Choice>
        <mc:Fallback xmlns="">
          <p:sp>
            <p:nvSpPr>
              <p:cNvPr id="3" name="Marcador de contenido 2">
                <a:extLst>
                  <a:ext uri="{FF2B5EF4-FFF2-40B4-BE49-F238E27FC236}">
                    <a16:creationId xmlns:a16="http://schemas.microsoft.com/office/drawing/2014/main" id="{2E835322-3070-50DA-8A69-0EACCAEB0477}"/>
                  </a:ext>
                </a:extLst>
              </p:cNvPr>
              <p:cNvSpPr>
                <a:spLocks noGrp="1" noRot="1" noChangeAspect="1" noMove="1" noResize="1" noEditPoints="1" noAdjustHandles="1" noChangeArrowheads="1" noChangeShapeType="1" noTextEdit="1"/>
              </p:cNvSpPr>
              <p:nvPr>
                <p:ph idx="1"/>
              </p:nvPr>
            </p:nvSpPr>
            <p:spPr>
              <a:xfrm>
                <a:off x="838200" y="1690688"/>
                <a:ext cx="10515600" cy="4915063"/>
              </a:xfrm>
              <a:blipFill>
                <a:blip r:embed="rId2"/>
                <a:stretch>
                  <a:fillRect l="-1043" t="-2107" b="-1859"/>
                </a:stretch>
              </a:blipFill>
            </p:spPr>
            <p:txBody>
              <a:bodyPr/>
              <a:lstStyle/>
              <a:p>
                <a:r>
                  <a:rPr lang="en-US">
                    <a:noFill/>
                  </a:rPr>
                  <a:t> </a:t>
                </a:r>
              </a:p>
            </p:txBody>
          </p:sp>
        </mc:Fallback>
      </mc:AlternateContent>
    </p:spTree>
    <p:extLst>
      <p:ext uri="{BB962C8B-B14F-4D97-AF65-F5344CB8AC3E}">
        <p14:creationId xmlns:p14="http://schemas.microsoft.com/office/powerpoint/2010/main" val="983416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57C42-31C9-24D8-202D-7DF97AF34FE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09BD04A-4590-C74B-1504-9E551D344209}"/>
              </a:ext>
            </a:extLst>
          </p:cNvPr>
          <p:cNvSpPr>
            <a:spLocks noGrp="1"/>
          </p:cNvSpPr>
          <p:nvPr>
            <p:ph type="title"/>
          </p:nvPr>
        </p:nvSpPr>
        <p:spPr/>
        <p:txBody>
          <a:bodyPr/>
          <a:lstStyle/>
          <a:p>
            <a:r>
              <a:rPr lang="es-CR" dirty="0"/>
              <a:t>Construcción de tabla de vida abreviada</a:t>
            </a:r>
            <a:endParaRPr lang="en-US" dirty="0"/>
          </a:p>
        </p:txBody>
      </p:sp>
      <p:sp>
        <p:nvSpPr>
          <p:cNvPr id="3" name="Marcador de contenido 2">
            <a:extLst>
              <a:ext uri="{FF2B5EF4-FFF2-40B4-BE49-F238E27FC236}">
                <a16:creationId xmlns:a16="http://schemas.microsoft.com/office/drawing/2014/main" id="{66607A19-C941-DFDE-7AC7-005797ACE2A1}"/>
              </a:ext>
            </a:extLst>
          </p:cNvPr>
          <p:cNvSpPr>
            <a:spLocks noGrp="1"/>
          </p:cNvSpPr>
          <p:nvPr>
            <p:ph idx="1"/>
          </p:nvPr>
        </p:nvSpPr>
        <p:spPr>
          <a:xfrm>
            <a:off x="838200" y="1825624"/>
            <a:ext cx="10515600" cy="4780127"/>
          </a:xfrm>
        </p:spPr>
        <p:txBody>
          <a:bodyPr>
            <a:normAutofit/>
          </a:bodyPr>
          <a:lstStyle/>
          <a:p>
            <a:r>
              <a:rPr lang="es-CR" dirty="0"/>
              <a:t>Tabla de vida completa:  Tabla de vida por edades simples</a:t>
            </a:r>
          </a:p>
          <a:p>
            <a:endParaRPr lang="es-CR" dirty="0"/>
          </a:p>
          <a:p>
            <a:r>
              <a:rPr lang="es-CR" dirty="0"/>
              <a:t>Tabla de vida abreviada: Tabla de vida por edades quinquenales</a:t>
            </a:r>
          </a:p>
          <a:p>
            <a:pPr lvl="1"/>
            <a:r>
              <a:rPr lang="es-CR" dirty="0"/>
              <a:t>Aunque tradicionalmente se separan los grupos de edades 0 y de 1 a 4.</a:t>
            </a:r>
          </a:p>
          <a:p>
            <a:endParaRPr lang="es-CR" dirty="0"/>
          </a:p>
          <a:p>
            <a:pPr lvl="1"/>
            <a:endParaRPr lang="es-CR" dirty="0"/>
          </a:p>
        </p:txBody>
      </p:sp>
    </p:spTree>
    <p:extLst>
      <p:ext uri="{BB962C8B-B14F-4D97-AF65-F5344CB8AC3E}">
        <p14:creationId xmlns:p14="http://schemas.microsoft.com/office/powerpoint/2010/main" val="3480509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CCF60-9082-8DFD-F15B-4CBA4F120C1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47718AF-70D1-F829-7677-BCD90474C280}"/>
              </a:ext>
            </a:extLst>
          </p:cNvPr>
          <p:cNvSpPr>
            <a:spLocks noGrp="1"/>
          </p:cNvSpPr>
          <p:nvPr>
            <p:ph type="title"/>
          </p:nvPr>
        </p:nvSpPr>
        <p:spPr/>
        <p:txBody>
          <a:bodyPr/>
          <a:lstStyle/>
          <a:p>
            <a:r>
              <a:rPr lang="es-CR" dirty="0"/>
              <a:t>Construcción de tabla de vida abreviada</a:t>
            </a:r>
            <a:endParaRPr lang="en-US" dirty="0"/>
          </a:p>
        </p:txBody>
      </p:sp>
      <p:sp>
        <p:nvSpPr>
          <p:cNvPr id="3" name="Marcador de contenido 2">
            <a:extLst>
              <a:ext uri="{FF2B5EF4-FFF2-40B4-BE49-F238E27FC236}">
                <a16:creationId xmlns:a16="http://schemas.microsoft.com/office/drawing/2014/main" id="{FDBA583C-A647-2990-E491-28E3C0E63924}"/>
              </a:ext>
            </a:extLst>
          </p:cNvPr>
          <p:cNvSpPr>
            <a:spLocks noGrp="1"/>
          </p:cNvSpPr>
          <p:nvPr>
            <p:ph idx="1"/>
          </p:nvPr>
        </p:nvSpPr>
        <p:spPr>
          <a:xfrm>
            <a:off x="838200" y="1825624"/>
            <a:ext cx="10515600" cy="4780127"/>
          </a:xfrm>
        </p:spPr>
        <p:txBody>
          <a:bodyPr>
            <a:normAutofit/>
          </a:bodyPr>
          <a:lstStyle/>
          <a:p>
            <a:r>
              <a:rPr lang="es-CR" dirty="0"/>
              <a:t>Generalmente se inicia con las tasas de mortalidad </a:t>
            </a:r>
            <a:r>
              <a:rPr lang="es-CR" sz="1800" dirty="0" err="1"/>
              <a:t>n</a:t>
            </a:r>
            <a:r>
              <a:rPr lang="es-CR" dirty="0" err="1"/>
              <a:t>m</a:t>
            </a:r>
            <a:r>
              <a:rPr lang="es-CR" sz="1800" dirty="0" err="1"/>
              <a:t>x</a:t>
            </a:r>
            <a:endParaRPr lang="es-CR" sz="1800" dirty="0"/>
          </a:p>
          <a:p>
            <a:endParaRPr lang="es-CR" dirty="0"/>
          </a:p>
          <a:p>
            <a:r>
              <a:rPr lang="es-CR" dirty="0"/>
              <a:t>Se usan las fórmulas expuestas en la presentación.</a:t>
            </a:r>
          </a:p>
          <a:p>
            <a:endParaRPr lang="es-CR" dirty="0"/>
          </a:p>
          <a:p>
            <a:r>
              <a:rPr lang="es-CR" dirty="0"/>
              <a:t>Se tienen que tomar decisiones con respecto de los grupos más jóvenes y los grupos más viejos.</a:t>
            </a:r>
          </a:p>
          <a:p>
            <a:endParaRPr lang="es-CR" dirty="0"/>
          </a:p>
          <a:p>
            <a:pPr lvl="1"/>
            <a:endParaRPr lang="es-CR" dirty="0"/>
          </a:p>
        </p:txBody>
      </p:sp>
    </p:spTree>
    <p:extLst>
      <p:ext uri="{BB962C8B-B14F-4D97-AF65-F5344CB8AC3E}">
        <p14:creationId xmlns:p14="http://schemas.microsoft.com/office/powerpoint/2010/main" val="366845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2C363-5FC8-C162-B5B1-55453330D6F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865836E-8F69-DF29-8527-4805ADDE32BB}"/>
              </a:ext>
            </a:extLst>
          </p:cNvPr>
          <p:cNvSpPr>
            <a:spLocks noGrp="1"/>
          </p:cNvSpPr>
          <p:nvPr>
            <p:ph type="title"/>
          </p:nvPr>
        </p:nvSpPr>
        <p:spPr/>
        <p:txBody>
          <a:bodyPr/>
          <a:lstStyle/>
          <a:p>
            <a:r>
              <a:rPr lang="es-CR" dirty="0"/>
              <a:t>Construcción de tabla de vida abreviada: Grupos más jóvenes</a:t>
            </a:r>
            <a:endParaRPr lang="en-US" dirty="0"/>
          </a:p>
        </p:txBody>
      </p:sp>
      <p:sp>
        <p:nvSpPr>
          <p:cNvPr id="3" name="Marcador de contenido 2">
            <a:extLst>
              <a:ext uri="{FF2B5EF4-FFF2-40B4-BE49-F238E27FC236}">
                <a16:creationId xmlns:a16="http://schemas.microsoft.com/office/drawing/2014/main" id="{2D2363EC-B09A-92F1-CDFB-64763869F7DF}"/>
              </a:ext>
            </a:extLst>
          </p:cNvPr>
          <p:cNvSpPr>
            <a:spLocks noGrp="1"/>
          </p:cNvSpPr>
          <p:nvPr>
            <p:ph idx="1"/>
          </p:nvPr>
        </p:nvSpPr>
        <p:spPr>
          <a:xfrm>
            <a:off x="838200" y="1825624"/>
            <a:ext cx="10515600" cy="4780127"/>
          </a:xfrm>
        </p:spPr>
        <p:txBody>
          <a:bodyPr>
            <a:normAutofit/>
          </a:bodyPr>
          <a:lstStyle/>
          <a:p>
            <a:r>
              <a:rPr lang="es-CR" dirty="0"/>
              <a:t>Preston, </a:t>
            </a:r>
            <a:r>
              <a:rPr lang="es-CR" dirty="0" err="1"/>
              <a:t>Heuveline</a:t>
            </a:r>
            <a:r>
              <a:rPr lang="es-CR" dirty="0"/>
              <a:t> y Guillot (2001,p.48) recomiendan esta tabla para decidir los valores de </a:t>
            </a:r>
            <a:r>
              <a:rPr lang="es-CR" sz="1800" dirty="0" err="1"/>
              <a:t>n</a:t>
            </a:r>
            <a:r>
              <a:rPr lang="es-CR" dirty="0" err="1"/>
              <a:t>a</a:t>
            </a:r>
            <a:r>
              <a:rPr lang="es-CR" sz="1800" dirty="0" err="1"/>
              <a:t>x</a:t>
            </a:r>
            <a:r>
              <a:rPr lang="es-CR" dirty="0"/>
              <a:t>:</a:t>
            </a:r>
          </a:p>
          <a:p>
            <a:endParaRPr lang="es-CR" dirty="0"/>
          </a:p>
        </p:txBody>
      </p:sp>
      <p:graphicFrame>
        <p:nvGraphicFramePr>
          <p:cNvPr id="4" name="Tabla 3">
            <a:extLst>
              <a:ext uri="{FF2B5EF4-FFF2-40B4-BE49-F238E27FC236}">
                <a16:creationId xmlns:a16="http://schemas.microsoft.com/office/drawing/2014/main" id="{2F31B68C-1E0A-8E6E-A010-B55C16D5CDE0}"/>
              </a:ext>
            </a:extLst>
          </p:cNvPr>
          <p:cNvGraphicFramePr>
            <a:graphicFrameLocks noGrp="1"/>
          </p:cNvGraphicFramePr>
          <p:nvPr>
            <p:extLst>
              <p:ext uri="{D42A27DB-BD31-4B8C-83A1-F6EECF244321}">
                <p14:modId xmlns:p14="http://schemas.microsoft.com/office/powerpoint/2010/main" val="3565975791"/>
              </p:ext>
            </p:extLst>
          </p:nvPr>
        </p:nvGraphicFramePr>
        <p:xfrm>
          <a:off x="1196428" y="2917747"/>
          <a:ext cx="8127999" cy="25958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53120340"/>
                    </a:ext>
                  </a:extLst>
                </a:gridCol>
                <a:gridCol w="2709333">
                  <a:extLst>
                    <a:ext uri="{9D8B030D-6E8A-4147-A177-3AD203B41FA5}">
                      <a16:colId xmlns:a16="http://schemas.microsoft.com/office/drawing/2014/main" val="2565955893"/>
                    </a:ext>
                  </a:extLst>
                </a:gridCol>
                <a:gridCol w="2709333">
                  <a:extLst>
                    <a:ext uri="{9D8B030D-6E8A-4147-A177-3AD203B41FA5}">
                      <a16:colId xmlns:a16="http://schemas.microsoft.com/office/drawing/2014/main" val="1798387598"/>
                    </a:ext>
                  </a:extLst>
                </a:gridCol>
              </a:tblGrid>
              <a:tr h="370840">
                <a:tc>
                  <a:txBody>
                    <a:bodyPr/>
                    <a:lstStyle/>
                    <a:p>
                      <a:r>
                        <a:rPr lang="es-CR" dirty="0" err="1"/>
                        <a:t>nax</a:t>
                      </a:r>
                      <a:endParaRPr lang="en-US" dirty="0"/>
                    </a:p>
                  </a:txBody>
                  <a:tcPr/>
                </a:tc>
                <a:tc>
                  <a:txBody>
                    <a:bodyPr/>
                    <a:lstStyle/>
                    <a:p>
                      <a:r>
                        <a:rPr lang="es-CR" dirty="0"/>
                        <a:t>Hombres</a:t>
                      </a:r>
                      <a:endParaRPr lang="en-US" dirty="0"/>
                    </a:p>
                  </a:txBody>
                  <a:tcPr/>
                </a:tc>
                <a:tc>
                  <a:txBody>
                    <a:bodyPr/>
                    <a:lstStyle/>
                    <a:p>
                      <a:r>
                        <a:rPr lang="es-CR" dirty="0"/>
                        <a:t>Mujeres</a:t>
                      </a:r>
                      <a:endParaRPr lang="en-US" dirty="0"/>
                    </a:p>
                  </a:txBody>
                  <a:tcPr/>
                </a:tc>
                <a:extLst>
                  <a:ext uri="{0D108BD9-81ED-4DB2-BD59-A6C34878D82A}">
                    <a16:rowId xmlns:a16="http://schemas.microsoft.com/office/drawing/2014/main" val="2135731906"/>
                  </a:ext>
                </a:extLst>
              </a:tr>
              <a:tr h="370840">
                <a:tc>
                  <a:txBody>
                    <a:bodyPr/>
                    <a:lstStyle/>
                    <a:p>
                      <a:r>
                        <a:rPr lang="es-CR" dirty="0"/>
                        <a:t>Para </a:t>
                      </a:r>
                      <a:r>
                        <a:rPr lang="es-CR" sz="1100" dirty="0"/>
                        <a:t>1</a:t>
                      </a:r>
                      <a:r>
                        <a:rPr lang="es-CR" dirty="0"/>
                        <a:t>a</a:t>
                      </a:r>
                      <a:r>
                        <a:rPr lang="es-CR" sz="1100" dirty="0"/>
                        <a:t>0</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97497421"/>
                  </a:ext>
                </a:extLst>
              </a:tr>
              <a:tr h="370840">
                <a:tc>
                  <a:txBody>
                    <a:bodyPr/>
                    <a:lstStyle/>
                    <a:p>
                      <a:r>
                        <a:rPr lang="es-CR" dirty="0"/>
                        <a:t>-Si </a:t>
                      </a:r>
                      <a:r>
                        <a:rPr lang="es-CR" sz="1100" dirty="0"/>
                        <a:t>1</a:t>
                      </a:r>
                      <a:r>
                        <a:rPr lang="es-CR" dirty="0"/>
                        <a:t>m</a:t>
                      </a:r>
                      <a:r>
                        <a:rPr lang="es-CR" sz="1100" dirty="0"/>
                        <a:t>0</a:t>
                      </a:r>
                      <a:r>
                        <a:rPr lang="es-CR" dirty="0">
                          <a:sym typeface="Symbol" panose="05050102010706020507" pitchFamily="18" charset="2"/>
                        </a:rPr>
                        <a:t>0.107</a:t>
                      </a:r>
                      <a:endParaRPr lang="en-US" dirty="0"/>
                    </a:p>
                  </a:txBody>
                  <a:tcPr/>
                </a:tc>
                <a:tc>
                  <a:txBody>
                    <a:bodyPr/>
                    <a:lstStyle/>
                    <a:p>
                      <a:r>
                        <a:rPr lang="es-CR" dirty="0"/>
                        <a:t>0.330</a:t>
                      </a:r>
                      <a:endParaRPr lang="en-US" dirty="0"/>
                    </a:p>
                  </a:txBody>
                  <a:tcPr/>
                </a:tc>
                <a:tc>
                  <a:txBody>
                    <a:bodyPr/>
                    <a:lstStyle/>
                    <a:p>
                      <a:r>
                        <a:rPr lang="es-CR" dirty="0"/>
                        <a:t>0.350</a:t>
                      </a:r>
                      <a:endParaRPr lang="en-US" dirty="0"/>
                    </a:p>
                  </a:txBody>
                  <a:tcPr/>
                </a:tc>
                <a:extLst>
                  <a:ext uri="{0D108BD9-81ED-4DB2-BD59-A6C34878D82A}">
                    <a16:rowId xmlns:a16="http://schemas.microsoft.com/office/drawing/2014/main" val="3706425594"/>
                  </a:ext>
                </a:extLst>
              </a:tr>
              <a:tr h="370840">
                <a:tc>
                  <a:txBody>
                    <a:bodyPr/>
                    <a:lstStyle/>
                    <a:p>
                      <a:r>
                        <a:rPr lang="es-CR" dirty="0"/>
                        <a:t>-Si </a:t>
                      </a:r>
                      <a:r>
                        <a:rPr lang="es-CR" sz="1100" dirty="0"/>
                        <a:t>1</a:t>
                      </a:r>
                      <a:r>
                        <a:rPr lang="es-CR" dirty="0"/>
                        <a:t>m</a:t>
                      </a:r>
                      <a:r>
                        <a:rPr lang="es-CR" sz="1100" dirty="0"/>
                        <a:t>0</a:t>
                      </a:r>
                      <a:r>
                        <a:rPr lang="en-US" dirty="0"/>
                        <a:t>&lt;</a:t>
                      </a:r>
                      <a:r>
                        <a:rPr lang="es-CR" dirty="0"/>
                        <a:t>0.107</a:t>
                      </a:r>
                      <a:endParaRPr lang="en-US" dirty="0"/>
                    </a:p>
                  </a:txBody>
                  <a:tcPr/>
                </a:tc>
                <a:tc>
                  <a:txBody>
                    <a:bodyPr/>
                    <a:lstStyle/>
                    <a:p>
                      <a:r>
                        <a:rPr lang="es-CR" dirty="0"/>
                        <a:t>0.045+2.684*</a:t>
                      </a:r>
                      <a:r>
                        <a:rPr lang="es-CR" sz="1100" dirty="0"/>
                        <a:t>1</a:t>
                      </a:r>
                      <a:r>
                        <a:rPr lang="es-CR" dirty="0"/>
                        <a:t>m</a:t>
                      </a:r>
                      <a:r>
                        <a:rPr lang="es-CR" sz="1100" dirty="0"/>
                        <a:t>0</a:t>
                      </a:r>
                      <a:endParaRPr lang="en-US" dirty="0"/>
                    </a:p>
                  </a:txBody>
                  <a:tcPr/>
                </a:tc>
                <a:tc>
                  <a:txBody>
                    <a:bodyPr/>
                    <a:lstStyle/>
                    <a:p>
                      <a:r>
                        <a:rPr lang="es-CR" dirty="0"/>
                        <a:t>0.053+2.800*</a:t>
                      </a:r>
                      <a:r>
                        <a:rPr lang="es-CR" sz="1100" dirty="0"/>
                        <a:t>1</a:t>
                      </a:r>
                      <a:r>
                        <a:rPr lang="es-CR" dirty="0"/>
                        <a:t>m</a:t>
                      </a:r>
                      <a:r>
                        <a:rPr lang="es-CR" sz="1100" dirty="0"/>
                        <a:t>0</a:t>
                      </a:r>
                      <a:endParaRPr lang="en-US" dirty="0"/>
                    </a:p>
                  </a:txBody>
                  <a:tcPr/>
                </a:tc>
                <a:extLst>
                  <a:ext uri="{0D108BD9-81ED-4DB2-BD59-A6C34878D82A}">
                    <a16:rowId xmlns:a16="http://schemas.microsoft.com/office/drawing/2014/main" val="333064096"/>
                  </a:ext>
                </a:extLst>
              </a:tr>
              <a:tr h="370840">
                <a:tc>
                  <a:txBody>
                    <a:bodyPr/>
                    <a:lstStyle/>
                    <a:p>
                      <a:r>
                        <a:rPr lang="es-CR" dirty="0"/>
                        <a:t>Para </a:t>
                      </a:r>
                      <a:r>
                        <a:rPr lang="es-CR" sz="1100" dirty="0"/>
                        <a:t>4</a:t>
                      </a:r>
                      <a:r>
                        <a:rPr lang="es-CR" dirty="0"/>
                        <a:t>a</a:t>
                      </a:r>
                      <a:r>
                        <a:rPr lang="es-CR" sz="1100" dirty="0"/>
                        <a:t>1</a:t>
                      </a:r>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950234211"/>
                  </a:ext>
                </a:extLst>
              </a:tr>
              <a:tr h="370840">
                <a:tc>
                  <a:txBody>
                    <a:bodyPr/>
                    <a:lstStyle/>
                    <a:p>
                      <a:r>
                        <a:rPr lang="es-CR" dirty="0"/>
                        <a:t>-Si </a:t>
                      </a:r>
                      <a:r>
                        <a:rPr lang="es-CR" sz="1100" dirty="0"/>
                        <a:t>1</a:t>
                      </a:r>
                      <a:r>
                        <a:rPr lang="es-CR" dirty="0"/>
                        <a:t>m</a:t>
                      </a:r>
                      <a:r>
                        <a:rPr lang="es-CR" sz="1100" dirty="0"/>
                        <a:t>0</a:t>
                      </a:r>
                      <a:r>
                        <a:rPr lang="es-CR" dirty="0">
                          <a:sym typeface="Symbol" panose="05050102010706020507" pitchFamily="18" charset="2"/>
                        </a:rPr>
                        <a:t>0.107</a:t>
                      </a:r>
                      <a:endParaRPr lang="en-US" dirty="0"/>
                    </a:p>
                  </a:txBody>
                  <a:tcPr/>
                </a:tc>
                <a:tc>
                  <a:txBody>
                    <a:bodyPr/>
                    <a:lstStyle/>
                    <a:p>
                      <a:r>
                        <a:rPr lang="es-CR" dirty="0"/>
                        <a:t>1.352</a:t>
                      </a:r>
                      <a:endParaRPr lang="en-US" dirty="0"/>
                    </a:p>
                  </a:txBody>
                  <a:tcPr/>
                </a:tc>
                <a:tc>
                  <a:txBody>
                    <a:bodyPr/>
                    <a:lstStyle/>
                    <a:p>
                      <a:r>
                        <a:rPr lang="es-CR" dirty="0"/>
                        <a:t>1.361</a:t>
                      </a:r>
                      <a:endParaRPr lang="en-US" dirty="0"/>
                    </a:p>
                  </a:txBody>
                  <a:tcPr/>
                </a:tc>
                <a:extLst>
                  <a:ext uri="{0D108BD9-81ED-4DB2-BD59-A6C34878D82A}">
                    <a16:rowId xmlns:a16="http://schemas.microsoft.com/office/drawing/2014/main" val="2448045631"/>
                  </a:ext>
                </a:extLst>
              </a:tr>
              <a:tr h="370840">
                <a:tc>
                  <a:txBody>
                    <a:bodyPr/>
                    <a:lstStyle/>
                    <a:p>
                      <a:r>
                        <a:rPr lang="es-CR" dirty="0"/>
                        <a:t>-Si </a:t>
                      </a:r>
                      <a:r>
                        <a:rPr lang="es-CR" sz="1100" dirty="0"/>
                        <a:t>1</a:t>
                      </a:r>
                      <a:r>
                        <a:rPr lang="es-CR" dirty="0"/>
                        <a:t>m</a:t>
                      </a:r>
                      <a:r>
                        <a:rPr lang="es-CR" sz="1100" dirty="0"/>
                        <a:t>0</a:t>
                      </a:r>
                      <a:r>
                        <a:rPr lang="en-US" dirty="0"/>
                        <a:t>&lt;</a:t>
                      </a:r>
                      <a:r>
                        <a:rPr lang="es-CR" dirty="0"/>
                        <a:t>0.107</a:t>
                      </a:r>
                      <a:endParaRPr lang="en-US" dirty="0"/>
                    </a:p>
                  </a:txBody>
                  <a:tcPr/>
                </a:tc>
                <a:tc>
                  <a:txBody>
                    <a:bodyPr/>
                    <a:lstStyle/>
                    <a:p>
                      <a:r>
                        <a:rPr lang="es-CR" dirty="0"/>
                        <a:t>1.651-2.816*</a:t>
                      </a:r>
                      <a:r>
                        <a:rPr lang="es-CR" sz="1100" dirty="0"/>
                        <a:t>1</a:t>
                      </a:r>
                      <a:r>
                        <a:rPr lang="es-CR" dirty="0"/>
                        <a:t>m</a:t>
                      </a:r>
                      <a:r>
                        <a:rPr lang="es-CR" sz="1100" dirty="0"/>
                        <a:t>0</a:t>
                      </a:r>
                      <a:endParaRPr lang="en-US" dirty="0"/>
                    </a:p>
                  </a:txBody>
                  <a:tcPr/>
                </a:tc>
                <a:tc>
                  <a:txBody>
                    <a:bodyPr/>
                    <a:lstStyle/>
                    <a:p>
                      <a:r>
                        <a:rPr lang="es-CR" dirty="0"/>
                        <a:t>1.522-1.518*</a:t>
                      </a:r>
                      <a:r>
                        <a:rPr lang="es-CR" sz="1100" dirty="0"/>
                        <a:t>1</a:t>
                      </a:r>
                      <a:r>
                        <a:rPr lang="es-CR" dirty="0"/>
                        <a:t>m</a:t>
                      </a:r>
                      <a:r>
                        <a:rPr lang="es-CR" sz="1100" dirty="0"/>
                        <a:t>0</a:t>
                      </a:r>
                      <a:endParaRPr lang="en-US" dirty="0"/>
                    </a:p>
                  </a:txBody>
                  <a:tcPr/>
                </a:tc>
                <a:extLst>
                  <a:ext uri="{0D108BD9-81ED-4DB2-BD59-A6C34878D82A}">
                    <a16:rowId xmlns:a16="http://schemas.microsoft.com/office/drawing/2014/main" val="1388324396"/>
                  </a:ext>
                </a:extLst>
              </a:tr>
            </a:tbl>
          </a:graphicData>
        </a:graphic>
      </p:graphicFrame>
    </p:spTree>
    <p:extLst>
      <p:ext uri="{BB962C8B-B14F-4D97-AF65-F5344CB8AC3E}">
        <p14:creationId xmlns:p14="http://schemas.microsoft.com/office/powerpoint/2010/main" val="1393777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5802B-68EE-2FE8-CF28-0AA34C69D7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50C7325-5F69-F3FB-97B7-7EBB79023D18}"/>
              </a:ext>
            </a:extLst>
          </p:cNvPr>
          <p:cNvSpPr>
            <a:spLocks noGrp="1"/>
          </p:cNvSpPr>
          <p:nvPr>
            <p:ph type="title"/>
          </p:nvPr>
        </p:nvSpPr>
        <p:spPr>
          <a:xfrm>
            <a:off x="838200" y="365125"/>
            <a:ext cx="10515600" cy="990709"/>
          </a:xfrm>
        </p:spPr>
        <p:txBody>
          <a:bodyPr>
            <a:normAutofit/>
          </a:bodyPr>
          <a:lstStyle/>
          <a:p>
            <a:r>
              <a:rPr lang="es-CR" dirty="0"/>
              <a:t>Construcción de tabla de vida completa</a:t>
            </a:r>
            <a:endParaRPr lang="en-US" dirty="0"/>
          </a:p>
        </p:txBody>
      </p:sp>
      <p:sp>
        <p:nvSpPr>
          <p:cNvPr id="3" name="Marcador de contenido 2">
            <a:extLst>
              <a:ext uri="{FF2B5EF4-FFF2-40B4-BE49-F238E27FC236}">
                <a16:creationId xmlns:a16="http://schemas.microsoft.com/office/drawing/2014/main" id="{54447DD8-FF2D-F63F-76AC-1A7FC64196A0}"/>
              </a:ext>
            </a:extLst>
          </p:cNvPr>
          <p:cNvSpPr>
            <a:spLocks noGrp="1"/>
          </p:cNvSpPr>
          <p:nvPr>
            <p:ph idx="1"/>
          </p:nvPr>
        </p:nvSpPr>
        <p:spPr>
          <a:xfrm>
            <a:off x="838200" y="1825624"/>
            <a:ext cx="10515600" cy="4780127"/>
          </a:xfrm>
        </p:spPr>
        <p:txBody>
          <a:bodyPr>
            <a:normAutofit/>
          </a:bodyPr>
          <a:lstStyle/>
          <a:p>
            <a:r>
              <a:rPr lang="es-CR" dirty="0"/>
              <a:t>Se utilizan los mismos criterios que con la tabla de vida abreviada.</a:t>
            </a:r>
          </a:p>
          <a:p>
            <a:r>
              <a:rPr lang="es-CR" dirty="0"/>
              <a:t>Para las </a:t>
            </a:r>
            <a:r>
              <a:rPr lang="es-CR" dirty="0" err="1"/>
              <a:t>a</a:t>
            </a:r>
            <a:r>
              <a:rPr lang="es-CR" sz="1800" dirty="0" err="1"/>
              <a:t>x</a:t>
            </a:r>
            <a:r>
              <a:rPr lang="es-CR" dirty="0"/>
              <a:t> de los grupos más jóvenes, se pueden utilizar los valores de Greville: a</a:t>
            </a:r>
            <a:r>
              <a:rPr lang="es-CR" sz="2000" dirty="0"/>
              <a:t>1</a:t>
            </a:r>
            <a:r>
              <a:rPr lang="es-CR" dirty="0"/>
              <a:t>=</a:t>
            </a:r>
            <a:r>
              <a:rPr lang="es-ES" dirty="0">
                <a:effectLst/>
                <a:latin typeface="Cambria" panose="02040503050406030204" pitchFamily="18" charset="0"/>
                <a:ea typeface="Cambria" panose="02040503050406030204" pitchFamily="18" charset="0"/>
                <a:cs typeface="Cambria" panose="02040503050406030204" pitchFamily="18" charset="0"/>
              </a:rPr>
              <a:t>0.41,a</a:t>
            </a:r>
            <a:r>
              <a:rPr lang="es-ES" sz="1800" dirty="0">
                <a:effectLst/>
                <a:latin typeface="Cambria" panose="02040503050406030204" pitchFamily="18" charset="0"/>
                <a:ea typeface="Cambria" panose="02040503050406030204" pitchFamily="18" charset="0"/>
                <a:cs typeface="Cambria" panose="02040503050406030204" pitchFamily="18" charset="0"/>
              </a:rPr>
              <a:t>2</a:t>
            </a:r>
            <a:r>
              <a:rPr lang="es-ES" dirty="0">
                <a:effectLst/>
                <a:latin typeface="Cambria" panose="02040503050406030204" pitchFamily="18" charset="0"/>
                <a:ea typeface="Cambria" panose="02040503050406030204" pitchFamily="18" charset="0"/>
                <a:cs typeface="Cambria" panose="02040503050406030204" pitchFamily="18" charset="0"/>
              </a:rPr>
              <a:t>=0.47,a</a:t>
            </a:r>
            <a:r>
              <a:rPr lang="es-ES" sz="1800" dirty="0">
                <a:effectLst/>
                <a:latin typeface="Cambria" panose="02040503050406030204" pitchFamily="18" charset="0"/>
                <a:ea typeface="Cambria" panose="02040503050406030204" pitchFamily="18" charset="0"/>
                <a:cs typeface="Cambria" panose="02040503050406030204" pitchFamily="18" charset="0"/>
              </a:rPr>
              <a:t>3</a:t>
            </a:r>
            <a:r>
              <a:rPr lang="es-ES" dirty="0">
                <a:effectLst/>
                <a:latin typeface="Cambria" panose="02040503050406030204" pitchFamily="18" charset="0"/>
                <a:ea typeface="Cambria" panose="02040503050406030204" pitchFamily="18" charset="0"/>
                <a:cs typeface="Cambria" panose="02040503050406030204" pitchFamily="18" charset="0"/>
              </a:rPr>
              <a:t>=0.48 y a</a:t>
            </a:r>
            <a:r>
              <a:rPr lang="es-ES" sz="1800" dirty="0">
                <a:effectLst/>
                <a:latin typeface="Cambria" panose="02040503050406030204" pitchFamily="18" charset="0"/>
                <a:ea typeface="Cambria" panose="02040503050406030204" pitchFamily="18" charset="0"/>
                <a:cs typeface="Cambria" panose="02040503050406030204" pitchFamily="18" charset="0"/>
              </a:rPr>
              <a:t>4</a:t>
            </a:r>
            <a:r>
              <a:rPr lang="es-ES" dirty="0">
                <a:effectLst/>
                <a:latin typeface="Cambria" panose="02040503050406030204" pitchFamily="18" charset="0"/>
                <a:ea typeface="Cambria" panose="02040503050406030204" pitchFamily="18" charset="0"/>
                <a:cs typeface="Cambria" panose="02040503050406030204" pitchFamily="18" charset="0"/>
              </a:rPr>
              <a:t>=0.48</a:t>
            </a:r>
          </a:p>
          <a:p>
            <a:r>
              <a:rPr lang="es-ES" dirty="0">
                <a:ea typeface="Cambria" panose="02040503050406030204" pitchFamily="18" charset="0"/>
              </a:rPr>
              <a:t>Para a</a:t>
            </a:r>
            <a:r>
              <a:rPr lang="es-ES" sz="1600" dirty="0">
                <a:ea typeface="Cambria" panose="02040503050406030204" pitchFamily="18" charset="0"/>
              </a:rPr>
              <a:t>0</a:t>
            </a:r>
            <a:r>
              <a:rPr lang="es-ES" dirty="0">
                <a:ea typeface="Cambria" panose="02040503050406030204" pitchFamily="18" charset="0"/>
              </a:rPr>
              <a:t>, se busca el factor de separación con datos empíricos.</a:t>
            </a:r>
            <a:endParaRPr lang="es-CR" dirty="0">
              <a:ea typeface="Cambria" panose="02040503050406030204" pitchFamily="18" charset="0"/>
            </a:endParaRPr>
          </a:p>
          <a:p>
            <a:endParaRPr lang="es-CR" dirty="0"/>
          </a:p>
          <a:p>
            <a:endParaRPr lang="es-CR" dirty="0"/>
          </a:p>
        </p:txBody>
      </p:sp>
    </p:spTree>
    <p:extLst>
      <p:ext uri="{BB962C8B-B14F-4D97-AF65-F5344CB8AC3E}">
        <p14:creationId xmlns:p14="http://schemas.microsoft.com/office/powerpoint/2010/main" val="2574526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A868C-E765-174E-567C-3BDF13AF07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0749C42-3EE4-3C03-B52D-3BA11BEC4A51}"/>
              </a:ext>
            </a:extLst>
          </p:cNvPr>
          <p:cNvSpPr>
            <a:spLocks noGrp="1"/>
          </p:cNvSpPr>
          <p:nvPr>
            <p:ph type="title"/>
          </p:nvPr>
        </p:nvSpPr>
        <p:spPr/>
        <p:txBody>
          <a:bodyPr/>
          <a:lstStyle/>
          <a:p>
            <a:r>
              <a:rPr lang="es-CR" dirty="0"/>
              <a:t>Construcción de tabla de vida abreviada: Grupos abierto final</a:t>
            </a:r>
            <a:endParaRPr lang="en-US"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4BBC1B5-3931-AD36-9174-8F087D8884D6}"/>
                  </a:ext>
                </a:extLst>
              </p:cNvPr>
              <p:cNvSpPr>
                <a:spLocks noGrp="1"/>
              </p:cNvSpPr>
              <p:nvPr>
                <p:ph idx="1"/>
              </p:nvPr>
            </p:nvSpPr>
            <p:spPr>
              <a:xfrm>
                <a:off x="838200" y="1825624"/>
                <a:ext cx="10515600" cy="4780127"/>
              </a:xfrm>
            </p:spPr>
            <p:txBody>
              <a:bodyPr>
                <a:normAutofit/>
              </a:bodyPr>
              <a:lstStyle/>
              <a:p>
                <a:r>
                  <a:rPr lang="es-CR" dirty="0"/>
                  <a:t>Preston, </a:t>
                </a:r>
                <a:r>
                  <a:rPr lang="es-CR" dirty="0" err="1"/>
                  <a:t>Heuveline</a:t>
                </a:r>
                <a:r>
                  <a:rPr lang="es-CR" dirty="0"/>
                  <a:t> y Guillot (2001,p.48) recomiendan esta tabla para decidir el valor  de </a:t>
                </a:r>
                <a:r>
                  <a:rPr lang="es-CR" sz="1800" dirty="0">
                    <a:sym typeface="Symbol" panose="05050102010706020507" pitchFamily="18" charset="2"/>
                  </a:rPr>
                  <a:t></a:t>
                </a:r>
                <a:r>
                  <a:rPr lang="es-CR" dirty="0"/>
                  <a:t>L</a:t>
                </a:r>
                <a:r>
                  <a:rPr lang="es-CR" sz="1800" dirty="0"/>
                  <a:t>x</a:t>
                </a:r>
                <a:r>
                  <a:rPr lang="es-CR" dirty="0"/>
                  <a:t>:</a:t>
                </a:r>
              </a:p>
              <a:p>
                <a:pPr lvl="1"/>
                <a14:m>
                  <m:oMath xmlns:m="http://schemas.openxmlformats.org/officeDocument/2006/math">
                    <m:sPre>
                      <m:sPrePr>
                        <m:ctrlPr>
                          <a:rPr lang="es-CR" i="1" smtClean="0">
                            <a:latin typeface="Cambria Math" panose="02040503050406030204" pitchFamily="18" charset="0"/>
                          </a:rPr>
                        </m:ctrlPr>
                      </m:sPrePr>
                      <m:sub>
                        <m:r>
                          <a:rPr lang="es-CR" i="1" smtClean="0">
                            <a:latin typeface="Cambria Math" panose="02040503050406030204" pitchFamily="18" charset="0"/>
                            <a:ea typeface="Cambria Math" panose="02040503050406030204" pitchFamily="18" charset="0"/>
                          </a:rPr>
                          <m:t>𝜔</m:t>
                        </m:r>
                      </m:sub>
                      <m:sup/>
                      <m:e>
                        <m:sSub>
                          <m:sSubPr>
                            <m:ctrlPr>
                              <a:rPr lang="en-US"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𝑥</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𝑥</m:t>
                                </m:r>
                              </m:sub>
                            </m:sSub>
                          </m:num>
                          <m:den>
                            <m:sSub>
                              <m:sSubPr>
                                <m:ctrlPr>
                                  <a:rPr lang="en-US" b="0" i="1" smtClean="0">
                                    <a:latin typeface="Cambria Math" panose="02040503050406030204" pitchFamily="18" charset="0"/>
                                  </a:rPr>
                                </m:ctrlPr>
                              </m:sSubPr>
                              <m:e>
                                <m:sPre>
                                  <m:sPrePr>
                                    <m:ctrlPr>
                                      <a:rPr lang="en-US" b="0" i="1" smtClean="0">
                                        <a:latin typeface="Cambria Math" panose="02040503050406030204" pitchFamily="18" charset="0"/>
                                      </a:rPr>
                                    </m:ctrlPr>
                                  </m:sPrePr>
                                  <m:sub>
                                    <m:r>
                                      <a:rPr lang="en-US" b="0" i="1" smtClean="0">
                                        <a:latin typeface="Cambria Math" panose="02040503050406030204" pitchFamily="18" charset="0"/>
                                        <a:ea typeface="Cambria Math" panose="02040503050406030204" pitchFamily="18" charset="0"/>
                                      </a:rPr>
                                      <m:t>𝜔</m:t>
                                    </m:r>
                                  </m:sub>
                                  <m:sup/>
                                  <m:e>
                                    <m:r>
                                      <a:rPr lang="en-US" b="0" i="1" smtClean="0">
                                        <a:latin typeface="Cambria Math" panose="02040503050406030204" pitchFamily="18" charset="0"/>
                                      </a:rPr>
                                      <m:t>𝑚</m:t>
                                    </m:r>
                                  </m:e>
                                </m:sPre>
                              </m:e>
                              <m:sub>
                                <m:r>
                                  <a:rPr lang="en-US" b="0" i="1" smtClean="0">
                                    <a:latin typeface="Cambria Math" panose="02040503050406030204" pitchFamily="18" charset="0"/>
                                  </a:rPr>
                                  <m:t>𝑥</m:t>
                                </m:r>
                              </m:sub>
                            </m:sSub>
                          </m:den>
                        </m:f>
                      </m:e>
                    </m:sPre>
                  </m:oMath>
                </a14:m>
                <a:endParaRPr lang="es-CR" dirty="0"/>
              </a:p>
              <a:p>
                <a:pPr lvl="1"/>
                <a:r>
                  <a:rPr lang="es-CR" dirty="0"/>
                  <a:t>donde: l</a:t>
                </a:r>
                <a:r>
                  <a:rPr lang="es-CR" sz="1600" dirty="0"/>
                  <a:t>x</a:t>
                </a:r>
                <a:r>
                  <a:rPr lang="es-CR" dirty="0"/>
                  <a:t> para el grupo final tiene que ser exactamente al </a:t>
                </a:r>
                <a:r>
                  <a:rPr lang="es-CR" dirty="0" err="1"/>
                  <a:t>d</a:t>
                </a:r>
                <a:r>
                  <a:rPr lang="es-CR" sz="1600" dirty="0" err="1"/>
                  <a:t>x</a:t>
                </a:r>
                <a:r>
                  <a:rPr lang="es-CR" dirty="0"/>
                  <a:t> del grupo final.  </a:t>
                </a:r>
              </a:p>
              <a:p>
                <a:pPr lvl="1"/>
                <a:r>
                  <a:rPr lang="es-CR" dirty="0"/>
                  <a:t>Además, </a:t>
                </a:r>
                <a:r>
                  <a:rPr lang="es-CR" sz="1600" dirty="0">
                    <a:sym typeface="Symbol" panose="05050102010706020507" pitchFamily="18" charset="2"/>
                  </a:rPr>
                  <a:t></a:t>
                </a:r>
                <a:r>
                  <a:rPr lang="es-CR" dirty="0" err="1"/>
                  <a:t>q</a:t>
                </a:r>
                <a:r>
                  <a:rPr lang="es-CR" sz="1600" dirty="0" err="1"/>
                  <a:t>x</a:t>
                </a:r>
                <a:r>
                  <a:rPr lang="es-CR" dirty="0"/>
                  <a:t>=1</a:t>
                </a:r>
              </a:p>
              <a:p>
                <a:pPr lvl="1"/>
                <a:r>
                  <a:rPr lang="es-CR" dirty="0"/>
                  <a:t>Dadas estas equivalencias, puede despejar </a:t>
                </a:r>
                <a:r>
                  <a:rPr lang="es-CR" sz="1600" dirty="0" err="1"/>
                  <a:t>n</a:t>
                </a:r>
                <a:r>
                  <a:rPr lang="es-CR" dirty="0" err="1"/>
                  <a:t>a</a:t>
                </a:r>
                <a:r>
                  <a:rPr lang="es-CR" sz="1600" dirty="0" err="1"/>
                  <a:t>x</a:t>
                </a:r>
                <a:r>
                  <a:rPr lang="es-CR" dirty="0"/>
                  <a:t> de la siguiente forma:</a:t>
                </a:r>
              </a:p>
              <a:p>
                <a:pPr lvl="1"/>
                <a14:m>
                  <m:oMath xmlns:m="http://schemas.openxmlformats.org/officeDocument/2006/math">
                    <m:sPre>
                      <m:sPrePr>
                        <m:ctrlPr>
                          <a:rPr lang="es-CR" i="1" smtClean="0">
                            <a:latin typeface="Cambria Math" panose="02040503050406030204" pitchFamily="18" charset="0"/>
                          </a:rPr>
                        </m:ctrlPr>
                      </m:sPrePr>
                      <m:sub>
                        <m:r>
                          <a:rPr lang="es-CR" i="1" smtClean="0">
                            <a:latin typeface="Cambria Math" panose="02040503050406030204" pitchFamily="18" charset="0"/>
                            <a:ea typeface="Cambria Math" panose="02040503050406030204" pitchFamily="18" charset="0"/>
                          </a:rPr>
                          <m:t>𝜔</m:t>
                        </m:r>
                      </m:sub>
                      <m:sup/>
                      <m:e>
                        <m:sSub>
                          <m:sSubPr>
                            <m:ctrlPr>
                              <a:rPr lang="en-US" i="1" smtClean="0">
                                <a:latin typeface="Cambria Math" panose="02040503050406030204" pitchFamily="18" charset="0"/>
                              </a:rPr>
                            </m:ctrlPr>
                          </m:sSubPr>
                          <m:e>
                            <m:r>
                              <a:rPr lang="es-CR" b="0" i="1" smtClean="0">
                                <a:latin typeface="Cambria Math" panose="02040503050406030204" pitchFamily="18" charset="0"/>
                              </a:rPr>
                              <m:t>𝑎</m:t>
                            </m:r>
                          </m:e>
                          <m:sub>
                            <m:r>
                              <a:rPr lang="es-CR" b="0" i="1" smtClean="0">
                                <a:latin typeface="Cambria Math" panose="02040503050406030204" pitchFamily="18" charset="0"/>
                              </a:rPr>
                              <m:t>𝑥</m:t>
                            </m:r>
                          </m:sub>
                        </m:sSub>
                        <m:r>
                          <a:rPr lang="es-CR" b="0" i="1" smtClean="0">
                            <a:latin typeface="Cambria Math" panose="02040503050406030204" pitchFamily="18" charset="0"/>
                          </a:rPr>
                          <m:t>=</m:t>
                        </m:r>
                        <m:f>
                          <m:fPr>
                            <m:ctrlPr>
                              <a:rPr lang="es-CR" b="0" i="1" smtClean="0">
                                <a:latin typeface="Cambria Math" panose="02040503050406030204" pitchFamily="18" charset="0"/>
                              </a:rPr>
                            </m:ctrlPr>
                          </m:fPr>
                          <m:num>
                            <m:sPre>
                              <m:sPrePr>
                                <m:ctrlPr>
                                  <a:rPr lang="es-CR" b="0" i="1" smtClean="0">
                                    <a:latin typeface="Cambria Math" panose="02040503050406030204" pitchFamily="18" charset="0"/>
                                  </a:rPr>
                                </m:ctrlPr>
                              </m:sPrePr>
                              <m:sub>
                                <m:r>
                                  <a:rPr lang="es-CR" b="0" i="1" smtClean="0">
                                    <a:latin typeface="Cambria Math" panose="02040503050406030204" pitchFamily="18" charset="0"/>
                                    <a:ea typeface="Cambria Math" panose="02040503050406030204" pitchFamily="18" charset="0"/>
                                  </a:rPr>
                                  <m:t>𝜔</m:t>
                                </m:r>
                              </m:sub>
                              <m:sup/>
                              <m:e>
                                <m:sSub>
                                  <m:sSubPr>
                                    <m:ctrlPr>
                                      <a:rPr lang="en-US" i="1" smtClean="0">
                                        <a:latin typeface="Cambria Math" panose="02040503050406030204" pitchFamily="18" charset="0"/>
                                      </a:rPr>
                                    </m:ctrlPr>
                                  </m:sSubPr>
                                  <m:e>
                                    <m:r>
                                      <a:rPr lang="es-CR" b="0" i="1" smtClean="0">
                                        <a:latin typeface="Cambria Math" panose="02040503050406030204" pitchFamily="18" charset="0"/>
                                      </a:rPr>
                                      <m:t>𝐿</m:t>
                                    </m:r>
                                  </m:e>
                                  <m:sub>
                                    <m:r>
                                      <a:rPr lang="es-CR" b="0" i="1" smtClean="0">
                                        <a:latin typeface="Cambria Math" panose="02040503050406030204" pitchFamily="18" charset="0"/>
                                      </a:rPr>
                                      <m:t>𝑥</m:t>
                                    </m:r>
                                  </m:sub>
                                </m:sSub>
                              </m:e>
                            </m:sPre>
                          </m:num>
                          <m:den>
                            <m:sPre>
                              <m:sPrePr>
                                <m:ctrlPr>
                                  <a:rPr lang="es-CR" i="1">
                                    <a:latin typeface="Cambria Math" panose="02040503050406030204" pitchFamily="18" charset="0"/>
                                  </a:rPr>
                                </m:ctrlPr>
                              </m:sPrePr>
                              <m:sub>
                                <m:r>
                                  <a:rPr lang="es-CR" i="1">
                                    <a:latin typeface="Cambria Math" panose="02040503050406030204" pitchFamily="18" charset="0"/>
                                    <a:ea typeface="Cambria Math" panose="02040503050406030204" pitchFamily="18" charset="0"/>
                                  </a:rPr>
                                  <m:t>𝜔</m:t>
                                </m:r>
                              </m:sub>
                              <m:sup/>
                              <m:e>
                                <m:sSub>
                                  <m:sSubPr>
                                    <m:ctrlPr>
                                      <a:rPr lang="en-US" i="1">
                                        <a:latin typeface="Cambria Math" panose="02040503050406030204" pitchFamily="18" charset="0"/>
                                      </a:rPr>
                                    </m:ctrlPr>
                                  </m:sSubPr>
                                  <m:e>
                                    <m:r>
                                      <a:rPr lang="es-CR" b="0" i="1" smtClean="0">
                                        <a:latin typeface="Cambria Math" panose="02040503050406030204" pitchFamily="18" charset="0"/>
                                      </a:rPr>
                                      <m:t>𝑑</m:t>
                                    </m:r>
                                  </m:e>
                                  <m:sub>
                                    <m:r>
                                      <a:rPr lang="es-CR" i="1">
                                        <a:latin typeface="Cambria Math" panose="02040503050406030204" pitchFamily="18" charset="0"/>
                                      </a:rPr>
                                      <m:t>𝑥</m:t>
                                    </m:r>
                                  </m:sub>
                                </m:sSub>
                              </m:e>
                            </m:sPre>
                          </m:den>
                        </m:f>
                      </m:e>
                    </m:sPre>
                  </m:oMath>
                </a14:m>
                <a:endParaRPr lang="es-CR" dirty="0"/>
              </a:p>
            </p:txBody>
          </p:sp>
        </mc:Choice>
        <mc:Fallback xmlns="">
          <p:sp>
            <p:nvSpPr>
              <p:cNvPr id="3" name="Marcador de contenido 2">
                <a:extLst>
                  <a:ext uri="{FF2B5EF4-FFF2-40B4-BE49-F238E27FC236}">
                    <a16:creationId xmlns:a16="http://schemas.microsoft.com/office/drawing/2014/main" id="{74BBC1B5-3931-AD36-9174-8F087D8884D6}"/>
                  </a:ext>
                </a:extLst>
              </p:cNvPr>
              <p:cNvSpPr>
                <a:spLocks noGrp="1" noRot="1" noChangeAspect="1" noMove="1" noResize="1" noEditPoints="1" noAdjustHandles="1" noChangeArrowheads="1" noChangeShapeType="1" noTextEdit="1"/>
              </p:cNvSpPr>
              <p:nvPr>
                <p:ph idx="1"/>
              </p:nvPr>
            </p:nvSpPr>
            <p:spPr>
              <a:xfrm>
                <a:off x="838200" y="1825624"/>
                <a:ext cx="10515600" cy="4780127"/>
              </a:xfrm>
              <a:blipFill>
                <a:blip r:embed="rId2"/>
                <a:stretch>
                  <a:fillRect l="-1043" t="-2166"/>
                </a:stretch>
              </a:blipFill>
            </p:spPr>
            <p:txBody>
              <a:bodyPr/>
              <a:lstStyle/>
              <a:p>
                <a:r>
                  <a:rPr lang="en-US">
                    <a:noFill/>
                  </a:rPr>
                  <a:t> </a:t>
                </a:r>
              </a:p>
            </p:txBody>
          </p:sp>
        </mc:Fallback>
      </mc:AlternateContent>
    </p:spTree>
    <p:extLst>
      <p:ext uri="{BB962C8B-B14F-4D97-AF65-F5344CB8AC3E}">
        <p14:creationId xmlns:p14="http://schemas.microsoft.com/office/powerpoint/2010/main" val="361509772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2103</TotalTime>
  <Words>1553</Words>
  <Application>Microsoft Office PowerPoint</Application>
  <PresentationFormat>Panorámica</PresentationFormat>
  <Paragraphs>143</Paragraphs>
  <Slides>17</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17</vt:i4>
      </vt:variant>
    </vt:vector>
  </HeadingPairs>
  <TitlesOfParts>
    <vt:vector size="26" baseType="lpstr">
      <vt:lpstr>Aptos</vt:lpstr>
      <vt:lpstr>Aptos Display</vt:lpstr>
      <vt:lpstr>Arial</vt:lpstr>
      <vt:lpstr>Cambria</vt:lpstr>
      <vt:lpstr>Cambria Math</vt:lpstr>
      <vt:lpstr>Noto Sans Symbols</vt:lpstr>
      <vt:lpstr>Symbol</vt:lpstr>
      <vt:lpstr>Times New Roman</vt:lpstr>
      <vt:lpstr>Tema de Office</vt:lpstr>
      <vt:lpstr>XS-3010 Introducción a la demografía y bioestadística 2025</vt:lpstr>
      <vt:lpstr>Guía</vt:lpstr>
      <vt:lpstr>Definición de Tabla de Vida</vt:lpstr>
      <vt:lpstr>Tabla de Vida como cohorte sintética</vt:lpstr>
      <vt:lpstr>Funciones de tabla de vida</vt:lpstr>
      <vt:lpstr>Funciones de tabla de vida</vt:lpstr>
      <vt:lpstr>Funciones de tabla de vida</vt:lpstr>
      <vt:lpstr>Funciones de tabla de vida</vt:lpstr>
      <vt:lpstr>Funciones de tabla de vida</vt:lpstr>
      <vt:lpstr>Tabla de Vida como distribución de probabilidad</vt:lpstr>
      <vt:lpstr>Tabla de Vida como distribución de probabilidad</vt:lpstr>
      <vt:lpstr>Tabla de Vida como distribución de probabilidad</vt:lpstr>
      <vt:lpstr>Construcción de tabla de vida abreviada</vt:lpstr>
      <vt:lpstr>Construcción de tabla de vida abreviada</vt:lpstr>
      <vt:lpstr>Construcción de tabla de vida abreviada: Grupos más jóvenes</vt:lpstr>
      <vt:lpstr>Construcción de tabla de vida completa</vt:lpstr>
      <vt:lpstr>Construcción de tabla de vida abreviada: Grupos abierto final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Gilbert Brenes-Camacho</dc:creator>
  <cp:lastModifiedBy>Gilbert Brenes</cp:lastModifiedBy>
  <cp:revision>42</cp:revision>
  <dcterms:created xsi:type="dcterms:W3CDTF">2025-01-10T18:14:17Z</dcterms:created>
  <dcterms:modified xsi:type="dcterms:W3CDTF">2026-03-06T15:29:00Z</dcterms:modified>
</cp:coreProperties>
</file>