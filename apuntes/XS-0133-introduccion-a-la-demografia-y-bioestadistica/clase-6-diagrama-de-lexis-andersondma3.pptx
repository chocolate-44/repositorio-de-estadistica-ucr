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0" r:id="rId4"/>
    <p:sldId id="291" r:id="rId5"/>
    <p:sldId id="292" r:id="rId6"/>
    <p:sldId id="264" r:id="rId7"/>
    <p:sldId id="295" r:id="rId8"/>
    <p:sldId id="293" r:id="rId9"/>
    <p:sldId id="294" r:id="rId10"/>
    <p:sldId id="297" r:id="rId11"/>
    <p:sldId id="29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104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F9E0F-2E37-D02F-547A-10F255FF2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671617-3171-C0BB-7B2D-FFAD6F3446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47B137-18FE-FB7D-8BF6-535881DF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8E15A3-A9FB-E51A-6027-7A459C712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AEB6A8-87B8-0FE2-8510-B477863A1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11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4B53C-26E4-4134-73B5-99607FF8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0AA165-019D-8D97-5339-692E5ECA0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A95A2F-9947-C6DB-7193-A2165E6B7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D0C00C-8058-4459-BB83-F55E2DC1B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8232C3-9540-7A94-419A-AEFD82DC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59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CBEECA-3AA7-4D32-7042-A8B54A6B3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5696CA-D73C-A1A6-BA95-E0D7B4237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58304-32CA-3CA1-1FEA-B54A6997C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2470CC-025A-4FA6-3440-70494EFBF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8631FF-C52A-37B0-1CB5-4C47A825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33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65B9E0-5F65-F95C-75A5-FFDFA572D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C07C85-FC85-A278-CBB6-F7BA37D38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A9137E-6DA1-1130-C0F6-0EFAF2564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243844-8075-2FD4-1CCF-DE1ABECC0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5AC555-78FE-1B1B-7737-E79DCF371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3F9F5C-5DFD-32D8-7DB2-B044BEA4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59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255C0-1415-85BE-1165-9C0C54F07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0A1395-0A9F-B80E-E211-F1ACA8325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FD740BA-BF8A-108D-EACE-225C192F9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3784550-95A2-77DC-D665-4337294435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B531739-FB3E-B2CC-A0DB-6D8ED7CF8A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E871342-3E4B-6DB6-2FF7-A0D5D2DE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35E8FDE-7414-CF64-FF6E-FEC0CC281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508BCD7-8715-678B-A4B2-84F06478D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172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D7687-04E9-D6B1-A4FF-1A9CFCF2C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F5849E-DE97-5A76-F782-8354D71D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80C7457-F67A-3A13-2724-40313EE3E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9BA60A-5909-F0B8-0EAE-8FAEA7530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967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5915CA-E095-FAA6-F2FB-AD27D9CF4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83CBB2E-B003-4EBF-5D10-DD61FA6D2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DFD563-37EF-1088-2DAD-86E1CDA5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18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96882-6B5B-134A-1A76-8B29181B5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057575-A3C6-3476-6CBD-2E57BA6BF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8DF928-6051-AFCD-7EF8-FFFC297FD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598E56-7530-3052-762D-51C64A133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B0D834-54DF-9448-9C2A-E3F16D772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5B2950-AC42-85DE-D11F-EED4223FF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13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3BEFF3-A2EC-EED8-FEA5-1DFF3828E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566923D-B92D-3492-502B-2AC57CC19C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B5D60C-0915-EA6A-7D7B-93EDA3F78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856C2D-73B1-4F36-1491-9038AEE4D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9C87A3-772E-817F-E0BD-CEB52B825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A8470E-36E1-7796-C269-F5FABC64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19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5BD62-80B5-73AC-247B-557D541B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356E60C-69ED-36D4-E379-D90AA993E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8533B8-B990-570F-2FF9-F5CB4C8AC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2D7539-EC26-3063-B6AA-BDDD30A42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213976-546D-B209-4AE5-55B62C103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375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032FBA-D46B-9AD9-6A4A-CCC671639B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0765D1-3113-7EE5-5D68-7C2610512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BF1DF9-8FBB-EF60-5CB8-B832135B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117F01-7DF1-4C58-D99D-DDCD27503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479F5B-A745-4D30-0645-6FD930FF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506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C587F12-B27F-FB1F-C6A6-F70AD3126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0B90C4-B84F-C1FB-760E-72D4EA32F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73809E-B4B5-A1E4-417D-0E7C53210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296595-A99A-7B3C-D00D-B8BF2287F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634B69-AF7A-9040-FD3E-70FCCA37CA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8975F5-9759-D9DD-E21A-5B7FE4D546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R" dirty="0"/>
              <a:t>XS-3010 Introducción a la demografía y bioestadística</a:t>
            </a:r>
            <a:br>
              <a:rPr lang="en-US" dirty="0"/>
            </a:br>
            <a:r>
              <a:rPr lang="en-US" dirty="0"/>
              <a:t>2025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45B192-1ED3-E270-42E8-2C7C1D9FDD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625341"/>
          </a:xfrm>
        </p:spPr>
        <p:txBody>
          <a:bodyPr>
            <a:normAutofit/>
          </a:bodyPr>
          <a:lstStyle/>
          <a:p>
            <a:r>
              <a:rPr lang="en-US" dirty="0" err="1"/>
              <a:t>Profesor</a:t>
            </a:r>
            <a:r>
              <a:rPr lang="en-US" dirty="0"/>
              <a:t> Gilbert </a:t>
            </a:r>
            <a:r>
              <a:rPr lang="en-US" dirty="0" err="1"/>
              <a:t>Brenes</a:t>
            </a:r>
            <a:r>
              <a:rPr lang="en-US" dirty="0"/>
              <a:t> Camacho, Grupo 01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Tema 6. DIAGRAMA DE LEXIS</a:t>
            </a:r>
          </a:p>
        </p:txBody>
      </p:sp>
    </p:spTree>
    <p:extLst>
      <p:ext uri="{BB962C8B-B14F-4D97-AF65-F5344CB8AC3E}">
        <p14:creationId xmlns:p14="http://schemas.microsoft.com/office/powerpoint/2010/main" val="3347622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E3B47C-32F1-1ECC-95EB-A077866F1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Guía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7D0468-056F-7E17-F512-4EFD0D5D0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3033"/>
            <a:ext cx="10515600" cy="4679841"/>
          </a:xfrm>
        </p:spPr>
        <p:txBody>
          <a:bodyPr>
            <a:normAutofit/>
          </a:bodyPr>
          <a:lstStyle/>
          <a:p>
            <a:r>
              <a:rPr lang="es-CR" dirty="0"/>
              <a:t>Definiciones de cohorte y cohorte sintética</a:t>
            </a:r>
          </a:p>
          <a:p>
            <a:endParaRPr lang="es-CR" dirty="0"/>
          </a:p>
          <a:p>
            <a:r>
              <a:rPr lang="es-CR" dirty="0"/>
              <a:t>Diagrama de Lexis</a:t>
            </a:r>
          </a:p>
          <a:p>
            <a:pPr lvl="1"/>
            <a:r>
              <a:rPr lang="es-CR" dirty="0"/>
              <a:t>Construcción</a:t>
            </a:r>
          </a:p>
          <a:p>
            <a:pPr lvl="1"/>
            <a:r>
              <a:rPr lang="es-CR" dirty="0"/>
              <a:t>Interpretación</a:t>
            </a:r>
          </a:p>
        </p:txBody>
      </p:sp>
    </p:spTree>
    <p:extLst>
      <p:ext uri="{BB962C8B-B14F-4D97-AF65-F5344CB8AC3E}">
        <p14:creationId xmlns:p14="http://schemas.microsoft.com/office/powerpoint/2010/main" val="288393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25C71-D0DF-B360-7506-80681B21C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CD2CBE-53B4-20C6-073D-CA07F305D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Recordemos el concepto de cohorte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DB378A-69B2-8CD0-743F-178CDB951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4662"/>
            <a:ext cx="10515600" cy="5058213"/>
          </a:xfrm>
        </p:spPr>
        <p:txBody>
          <a:bodyPr>
            <a:normAutofit/>
          </a:bodyPr>
          <a:lstStyle/>
          <a:p>
            <a:r>
              <a:rPr lang="es-CR" dirty="0"/>
              <a:t>Se refiere a un conjunto de sujetos que comparten una misma característica durante un momento o período dado.</a:t>
            </a:r>
          </a:p>
          <a:p>
            <a:r>
              <a:rPr lang="es-CR" dirty="0"/>
              <a:t>Se le conoce también como generación.</a:t>
            </a:r>
          </a:p>
          <a:p>
            <a:pPr lvl="1"/>
            <a:r>
              <a:rPr lang="es-CR" dirty="0"/>
              <a:t>La cohorte de nacidos en 2005 en Costa Rica son todas las personas que nacieron entre el 1 de enero de 2005 y el 31 de diciembre de 2005 dentro del territorio costarricense.</a:t>
            </a:r>
          </a:p>
          <a:p>
            <a:pPr lvl="1"/>
            <a:r>
              <a:rPr lang="es-CR" dirty="0"/>
              <a:t>La cohorte de graduados de la carrera de Estadística en 2024 son todas las personas que obtuvieron el título de bachillerato en Estadística durante el año 2024.</a:t>
            </a:r>
          </a:p>
          <a:p>
            <a:r>
              <a:rPr lang="es-CR" dirty="0"/>
              <a:t>Cohorte sintética:  Una cohorte artificial creada a partir de indicadores demográficos de período.</a:t>
            </a:r>
          </a:p>
          <a:p>
            <a:pPr lvl="1"/>
            <a:endParaRPr lang="es-CR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41235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0A505-6D0F-5302-16B0-35CB1EEA8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19243D-2AB4-8A87-E120-4529F89D1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Recordemos el concepto de cohorte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487FF1-889A-337C-062E-158C78680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4662"/>
            <a:ext cx="10515600" cy="5058213"/>
          </a:xfrm>
        </p:spPr>
        <p:txBody>
          <a:bodyPr>
            <a:normAutofit/>
          </a:bodyPr>
          <a:lstStyle/>
          <a:p>
            <a:r>
              <a:rPr lang="es-CR" dirty="0"/>
              <a:t>Cohorte sintética:  Una cohorte artificial creada a partir de indicadores demográficos de período.</a:t>
            </a:r>
          </a:p>
          <a:p>
            <a:r>
              <a:rPr lang="es-CR" dirty="0"/>
              <a:t>Generalmente se toman las tasas específicas por edad (edades simples, edades quinquenales, edades decenales, etc.), y a un número ficticio de sujetos se le aplican las tasas a cada edad.</a:t>
            </a:r>
          </a:p>
          <a:p>
            <a:r>
              <a:rPr lang="es-CR" dirty="0"/>
              <a:t>Al final, se calcula alguna medida de posición o variabilidad con la construcción de esa cohorte ficticia.</a:t>
            </a:r>
          </a:p>
          <a:p>
            <a:pPr lvl="1"/>
            <a:endParaRPr lang="es-CR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60260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97379-0938-B961-688B-3B52966A0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F6A49A-C6E8-915A-CBDD-61BBDE2CE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 err="1"/>
              <a:t>Recordermos</a:t>
            </a:r>
            <a:r>
              <a:rPr lang="es-CR" dirty="0"/>
              <a:t> el concepto de cohorte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236F3B-E924-CC73-32EF-26B44371A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4662"/>
            <a:ext cx="10515600" cy="5058213"/>
          </a:xfrm>
        </p:spPr>
        <p:txBody>
          <a:bodyPr>
            <a:normAutofit/>
          </a:bodyPr>
          <a:lstStyle/>
          <a:p>
            <a:r>
              <a:rPr lang="es-CR" dirty="0"/>
              <a:t>El concepto de Cohorte sintética es una de las principales contribuciones de la demografía al área de construcción de indicadores estadísticos.</a:t>
            </a:r>
          </a:p>
          <a:p>
            <a:r>
              <a:rPr lang="es-CR" dirty="0"/>
              <a:t>Permite construir indicadores que resumen un concepto  a partir de una estructura por edades.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27024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0F746-29AE-1097-D16D-27F7E1537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F888-D33A-2737-EA61-9ECBDE46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Diagrama de Lexis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DB1BE9-ED97-ACCA-103D-B9103B96D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132"/>
            <a:ext cx="10515600" cy="5202620"/>
          </a:xfrm>
        </p:spPr>
        <p:txBody>
          <a:bodyPr>
            <a:normAutofit/>
          </a:bodyPr>
          <a:lstStyle/>
          <a:p>
            <a:r>
              <a:rPr lang="es-CR" dirty="0"/>
              <a:t>Representación gráfica de la evolución o devenir del tamaño de una cohorte real o sintética.</a:t>
            </a:r>
          </a:p>
          <a:p>
            <a:pPr lvl="1"/>
            <a:r>
              <a:rPr lang="es-CR" dirty="0"/>
              <a:t>La línea horizontal en edad 0 se refiere a la cantidad de nacimientos entre el 1 de enero y el 31 de diciembre del año t</a:t>
            </a:r>
          </a:p>
          <a:p>
            <a:pPr lvl="2"/>
            <a:r>
              <a:rPr lang="es-CR" dirty="0"/>
              <a:t>En otras palabras, el tamaño original de la cohorte t</a:t>
            </a:r>
          </a:p>
          <a:p>
            <a:pPr lvl="1"/>
            <a:r>
              <a:rPr lang="es-CR" dirty="0"/>
              <a:t>La línea horizontal para el resto de edades representa la cantidad de personas de la cohorte t que han sobrevivido a la edad x.</a:t>
            </a:r>
          </a:p>
          <a:p>
            <a:pPr lvl="1"/>
            <a:r>
              <a:rPr lang="es-CR" dirty="0"/>
              <a:t>La línea vertical representa la cantidad de personas de la cohorte t en llegar vivas al 31 de diciembre de cierto año </a:t>
            </a:r>
            <a:r>
              <a:rPr lang="es-CR" dirty="0" err="1"/>
              <a:t>t+k</a:t>
            </a:r>
            <a:endParaRPr lang="es-CR" dirty="0"/>
          </a:p>
          <a:p>
            <a:pPr lvl="1"/>
            <a:r>
              <a:rPr lang="es-CR" dirty="0"/>
              <a:t> Los valores dentro de cada triángulo representan las defunciones</a:t>
            </a:r>
          </a:p>
          <a:p>
            <a:pPr lvl="2"/>
            <a:r>
              <a:rPr lang="es-CR" dirty="0"/>
              <a:t>El triángulo superior representa la cantidad de defunciones en la edad x durante el año t de la cohorte t-x-1</a:t>
            </a:r>
          </a:p>
          <a:p>
            <a:pPr lvl="2"/>
            <a:r>
              <a:rPr lang="es-CR" dirty="0"/>
              <a:t>El triángulo inferior representa la cantidad de defunciones a la edad x durante el año de la cohorte t-x.</a:t>
            </a:r>
          </a:p>
        </p:txBody>
      </p:sp>
    </p:spTree>
    <p:extLst>
      <p:ext uri="{BB962C8B-B14F-4D97-AF65-F5344CB8AC3E}">
        <p14:creationId xmlns:p14="http://schemas.microsoft.com/office/powerpoint/2010/main" val="1957573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37CF2-8FF3-7F94-B6A2-405D7B9D3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80FEC-C665-1053-3231-31CE2C98E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55" y="380890"/>
            <a:ext cx="2380593" cy="4206876"/>
          </a:xfrm>
        </p:spPr>
        <p:txBody>
          <a:bodyPr>
            <a:normAutofit/>
          </a:bodyPr>
          <a:lstStyle/>
          <a:p>
            <a:r>
              <a:rPr lang="es-CR" dirty="0"/>
              <a:t>Diagrama de Lexis</a:t>
            </a:r>
            <a:endParaRPr lang="en-US" dirty="0"/>
          </a:p>
        </p:txBody>
      </p:sp>
      <p:pic>
        <p:nvPicPr>
          <p:cNvPr id="4" name="Imagen 3" descr="Gráfico&#10;&#10;El contenido generado por IA puede ser incorrecto.">
            <a:extLst>
              <a:ext uri="{FF2B5EF4-FFF2-40B4-BE49-F238E27FC236}">
                <a16:creationId xmlns:a16="http://schemas.microsoft.com/office/drawing/2014/main" id="{349789F6-A51A-5D00-52D1-AF5E77AF0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9" y="0"/>
            <a:ext cx="9839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321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955EF-388B-B59E-3C52-072BB451D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C4D11-AB99-B40D-A56A-E4A494A9D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22" y="380890"/>
            <a:ext cx="2416340" cy="4206876"/>
          </a:xfrm>
        </p:spPr>
        <p:txBody>
          <a:bodyPr>
            <a:normAutofit/>
          </a:bodyPr>
          <a:lstStyle/>
          <a:p>
            <a:r>
              <a:rPr lang="es-CR" dirty="0"/>
              <a:t>Diagrama de Lexis</a:t>
            </a:r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C1EE5D7-5467-EDF9-D365-5C9011EB4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795" y="0"/>
            <a:ext cx="98356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98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E201CBE-1132-943D-EC6F-CF9F5B8DB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9186" y="0"/>
            <a:ext cx="8217902" cy="6858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4DEF6B9-912B-6F8D-E972-E5F3BA7A3B97}"/>
              </a:ext>
            </a:extLst>
          </p:cNvPr>
          <p:cNvSpPr txBox="1"/>
          <p:nvPr/>
        </p:nvSpPr>
        <p:spPr>
          <a:xfrm>
            <a:off x="8150772" y="445019"/>
            <a:ext cx="40386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1. Cuál es la probabilidad de que una persona nacida en el año 2009 esté aún viva el primero de enero del 2013?</a:t>
            </a:r>
          </a:p>
          <a:p>
            <a:pPr marL="342900" indent="-342900">
              <a:buAutoNum type="arabicPeriod"/>
            </a:pPr>
            <a:endParaRPr lang="es-ES" dirty="0"/>
          </a:p>
          <a:p>
            <a:pPr marL="342900" indent="-342900">
              <a:buAutoNum type="arabicPeriod"/>
            </a:pPr>
            <a:endParaRPr lang="es-ES" dirty="0"/>
          </a:p>
          <a:p>
            <a:pPr marL="342900" indent="-342900">
              <a:buAutoNum type="arabicPeriod"/>
            </a:pPr>
            <a:endParaRPr lang="es-ES" dirty="0"/>
          </a:p>
          <a:p>
            <a:endParaRPr lang="es-ES" dirty="0"/>
          </a:p>
          <a:p>
            <a:r>
              <a:rPr lang="es-ES" dirty="0"/>
              <a:t>2. ¿Cuántos recién nacidos del 2010 llegan a cumplir 3 años?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3. Cuántas personas nacidas en el año 2011 mueren antes de cumplir 2 años de edad?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60134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CA7B6-56BA-5EFA-0A68-3930E44A9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688E916-CA8B-D8DF-51C0-C90950F52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9186" y="0"/>
            <a:ext cx="8217902" cy="6858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BB22C9B-0F24-B7A6-9CF9-C260EDCF3544}"/>
              </a:ext>
            </a:extLst>
          </p:cNvPr>
          <p:cNvSpPr txBox="1"/>
          <p:nvPr/>
        </p:nvSpPr>
        <p:spPr>
          <a:xfrm>
            <a:off x="8150772" y="445019"/>
            <a:ext cx="40386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4. Cuál es la probabilidad de que una persona nacida en el 2009 cumpla 1 años, pero muera antes de cumplir 4 años?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5. ¿Cuál es la tasa de defunción a la edad 1 en el 2012?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6. Suponiendo que las muertes se distribuyen uniformemente a través del año, cuántas personas menores de 3 años hay el 30 de junio del 2013?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50723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956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1402</TotalTime>
  <Words>549</Words>
  <Application>Microsoft Office PowerPoint</Application>
  <PresentationFormat>Panorámica</PresentationFormat>
  <Paragraphs>60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XS-3010 Introducción a la demografía y bioestadística 2025</vt:lpstr>
      <vt:lpstr>Guía</vt:lpstr>
      <vt:lpstr>Recordemos el concepto de cohorte</vt:lpstr>
      <vt:lpstr>Recordemos el concepto de cohorte</vt:lpstr>
      <vt:lpstr>Recordermos el concepto de cohorte</vt:lpstr>
      <vt:lpstr>Diagrama de Lexis</vt:lpstr>
      <vt:lpstr>Diagrama de Lexis</vt:lpstr>
      <vt:lpstr>Diagrama de Lexis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Gilbert Brenes-Camacho</dc:creator>
  <cp:lastModifiedBy>Gilbert Brenes</cp:lastModifiedBy>
  <cp:revision>28</cp:revision>
  <dcterms:created xsi:type="dcterms:W3CDTF">2025-01-10T18:14:17Z</dcterms:created>
  <dcterms:modified xsi:type="dcterms:W3CDTF">2026-03-06T15:47:04Z</dcterms:modified>
</cp:coreProperties>
</file>