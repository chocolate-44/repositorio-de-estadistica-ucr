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323" r:id="rId5"/>
    <p:sldId id="324" r:id="rId6"/>
    <p:sldId id="325" r:id="rId7"/>
    <p:sldId id="343" r:id="rId8"/>
    <p:sldId id="355" r:id="rId9"/>
    <p:sldId id="344" r:id="rId10"/>
    <p:sldId id="356" r:id="rId11"/>
    <p:sldId id="357" r:id="rId12"/>
    <p:sldId id="34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13" autoAdjust="0"/>
    <p:restoredTop sz="94660"/>
  </p:normalViewPr>
  <p:slideViewPr>
    <p:cSldViewPr snapToGrid="0" showGuides="1">
      <p:cViewPr varScale="1">
        <p:scale>
          <a:sx n="74" d="100"/>
          <a:sy n="74" d="100"/>
        </p:scale>
        <p:origin x="605" y="67"/>
      </p:cViewPr>
      <p:guideLst>
        <p:guide orient="horz" pos="21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4F9E0F-2E37-D02F-547A-10F255FF2CC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2F671617-3171-C0BB-7B2D-FFAD6F3446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E747B137-18FE-FB7D-8BF6-535881DF992F}"/>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C48E15A3-A9FB-E51A-6027-7A459C71260E}"/>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7DAEB6A8-87B8-0FE2-8510-B477863A1D51}"/>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568511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14B53C-26E4-4134-73B5-99607FF8E6D6}"/>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3D0AA165-019D-8D97-5339-692E5ECA01D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D0A95A2F-9947-C6DB-7193-A2165E6B7508}"/>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7CD0C00C-8058-4459-BB83-F55E2DC1BACB}"/>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208232C3-9540-7A94-419A-AEFD82DCDE52}"/>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655259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CBEECA-3AA7-4D32-7042-A8B54A6B37C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3A5696CA-D73C-A1A6-BA95-E0D7B42370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A558304-32CA-3CA1-1FEA-B54A6997C5DC}"/>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F62470CC-025A-4FA6-3440-70494EFBF05F}"/>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F78631FF-C52A-37B0-1CB5-4C47A82549D9}"/>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219133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65B9E0-5F65-F95C-75A5-FFDFA572DD9F}"/>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A8C07C85-FC85-A278-CBB6-F7BA37D3876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FDA9137E-6DA1-1130-C0F6-0EFAF25643D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1E243844-8075-2FD4-1CCF-DE1ABECC07FA}"/>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6" name="Marcador de pie de página 5">
            <a:extLst>
              <a:ext uri="{FF2B5EF4-FFF2-40B4-BE49-F238E27FC236}">
                <a16:creationId xmlns:a16="http://schemas.microsoft.com/office/drawing/2014/main" id="{8B5AC555-78FE-1B1B-7737-E79DCF371535}"/>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F13F9F5C-5DFD-32D8-7DB2-B044BEA4ABD7}"/>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2708259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E255C0-1415-85BE-1165-9C0C54F0778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BB0A1395-0A9F-B80E-E211-F1ACA83250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FD740BA-BF8A-108D-EACE-225C192F923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63784550-95A2-77DC-D665-4337294435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B531739-FB3E-B2CC-A0DB-6D8ED7CF8A8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EE871342-3E4B-6DB6-2FF7-A0D5D2DEFED8}"/>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8" name="Marcador de pie de página 7">
            <a:extLst>
              <a:ext uri="{FF2B5EF4-FFF2-40B4-BE49-F238E27FC236}">
                <a16:creationId xmlns:a16="http://schemas.microsoft.com/office/drawing/2014/main" id="{A35E8FDE-7414-CF64-FF6E-FEC0CC281343}"/>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4508BCD7-8715-678B-A4B2-84F06478DC70}"/>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827172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BD7687-04E9-D6B1-A4FF-1A9CFCF2C80D}"/>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89F5849E-DE97-5A76-F782-8354D71D5A58}"/>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4" name="Marcador de pie de página 3">
            <a:extLst>
              <a:ext uri="{FF2B5EF4-FFF2-40B4-BE49-F238E27FC236}">
                <a16:creationId xmlns:a16="http://schemas.microsoft.com/office/drawing/2014/main" id="{280C7457-F67A-3A13-2724-40313EE3E676}"/>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C49BA60A-5909-F0B8-0EAE-8FAEA7530A76}"/>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1725967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5915CA-E095-FAA6-F2FB-AD27D9CF409B}"/>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3" name="Marcador de pie de página 2">
            <a:extLst>
              <a:ext uri="{FF2B5EF4-FFF2-40B4-BE49-F238E27FC236}">
                <a16:creationId xmlns:a16="http://schemas.microsoft.com/office/drawing/2014/main" id="{C83CBB2E-B003-4EBF-5D10-DD61FA6D2E1C}"/>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33DFD563-37EF-1088-2DAD-86E1CDA531B0}"/>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066218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996882-6B5B-134A-1A76-8B29181B5B1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FF057575-A3C6-3476-6CBD-2E57BA6BF9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388DF928-6051-AFCD-7EF8-FFFC297FD5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E598E56-7530-3052-762D-51C64A133480}"/>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6" name="Marcador de pie de página 5">
            <a:extLst>
              <a:ext uri="{FF2B5EF4-FFF2-40B4-BE49-F238E27FC236}">
                <a16:creationId xmlns:a16="http://schemas.microsoft.com/office/drawing/2014/main" id="{68B0D834-54DF-9448-9C2A-E3F16D772E60}"/>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995B2950-AC42-85DE-D11F-EED4223FFACD}"/>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69391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3BEFF3-A2EC-EED8-FEA5-1DFF3828E72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3566923D-B92D-3492-502B-2AC57CC19C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CAB5D60C-0915-EA6A-7D7B-93EDA3F78E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C856C2D-73B1-4F36-1491-9038AEE4DD71}"/>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6" name="Marcador de pie de página 5">
            <a:extLst>
              <a:ext uri="{FF2B5EF4-FFF2-40B4-BE49-F238E27FC236}">
                <a16:creationId xmlns:a16="http://schemas.microsoft.com/office/drawing/2014/main" id="{DC9C87A3-772E-817F-E0BD-CEB52B825BE3}"/>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8BA8470E-36E1-7796-C269-F5FABC646D54}"/>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696019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05BD62-80B5-73AC-247B-557D541BCBCC}"/>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6356E60C-69ED-36D4-E379-D90AA993E81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128533B8-B990-570F-2FF9-F5CB4C8ACC9C}"/>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5A2D7539-EC26-3063-B6AA-BDDD30A4274D}"/>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C6213976-546D-B209-4AE5-55B62C103C11}"/>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984375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C032FBA-D46B-9AD9-6A4A-CCC671639BF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7E0765D1-3113-7EE5-5D68-7C2610512D2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19BF1DF9-8FBB-EF60-5CB8-B832135B2B50}"/>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C4117F01-7DF1-4C58-D99D-DDCD2750329C}"/>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84479F5B-A745-4D30-0645-6FD930FF9504}"/>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371506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C587F12-B27F-FB1F-C6A6-F70AD31262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F80B90C4-B84F-C1FB-760E-72D4EA32F8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FF73809E-B4B5-A1E4-417D-0E7C53210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D9296595-A99A-7B3C-D00D-B8BF2287F5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Marcador de número de diapositiva 5">
            <a:extLst>
              <a:ext uri="{FF2B5EF4-FFF2-40B4-BE49-F238E27FC236}">
                <a16:creationId xmlns:a16="http://schemas.microsoft.com/office/drawing/2014/main" id="{E2634B69-AF7A-9040-FD3E-70FCCA37CA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844222-9D2F-4AD5-8895-FD8084360767}" type="slidenum">
              <a:rPr lang="en-US" smtClean="0"/>
              <a:t>‹Nº›</a:t>
            </a:fld>
            <a:endParaRPr lang="en-US"/>
          </a:p>
        </p:txBody>
      </p:sp>
    </p:spTree>
    <p:extLst>
      <p:ext uri="{BB962C8B-B14F-4D97-AF65-F5344CB8AC3E}">
        <p14:creationId xmlns:p14="http://schemas.microsoft.com/office/powerpoint/2010/main" val="18931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8975F5-9759-D9DD-E21A-5B7FE4D5467A}"/>
              </a:ext>
            </a:extLst>
          </p:cNvPr>
          <p:cNvSpPr>
            <a:spLocks noGrp="1"/>
          </p:cNvSpPr>
          <p:nvPr>
            <p:ph type="ctrTitle"/>
          </p:nvPr>
        </p:nvSpPr>
        <p:spPr/>
        <p:txBody>
          <a:bodyPr>
            <a:normAutofit fontScale="90000"/>
          </a:bodyPr>
          <a:lstStyle/>
          <a:p>
            <a:r>
              <a:rPr lang="es-CR" dirty="0"/>
              <a:t>XS-3010 Introducción a la demografía y bioestadística</a:t>
            </a:r>
            <a:br>
              <a:rPr lang="en-US" dirty="0"/>
            </a:br>
            <a:r>
              <a:rPr lang="en-US" dirty="0"/>
              <a:t>2025</a:t>
            </a:r>
          </a:p>
        </p:txBody>
      </p:sp>
      <p:sp>
        <p:nvSpPr>
          <p:cNvPr id="3" name="Subtítulo 2">
            <a:extLst>
              <a:ext uri="{FF2B5EF4-FFF2-40B4-BE49-F238E27FC236}">
                <a16:creationId xmlns:a16="http://schemas.microsoft.com/office/drawing/2014/main" id="{D645B192-1ED3-E270-42E8-2C7C1D9FDD4C}"/>
              </a:ext>
            </a:extLst>
          </p:cNvPr>
          <p:cNvSpPr>
            <a:spLocks noGrp="1"/>
          </p:cNvSpPr>
          <p:nvPr>
            <p:ph type="subTitle" idx="1"/>
          </p:nvPr>
        </p:nvSpPr>
        <p:spPr/>
        <p:txBody>
          <a:bodyPr>
            <a:normAutofit lnSpcReduction="10000"/>
          </a:bodyPr>
          <a:lstStyle/>
          <a:p>
            <a:r>
              <a:rPr lang="en-US" dirty="0" err="1"/>
              <a:t>Profesor</a:t>
            </a:r>
            <a:r>
              <a:rPr lang="en-US" dirty="0"/>
              <a:t> Gilbert </a:t>
            </a:r>
            <a:r>
              <a:rPr lang="en-US" dirty="0" err="1"/>
              <a:t>Brenes</a:t>
            </a:r>
            <a:r>
              <a:rPr lang="en-US" dirty="0"/>
              <a:t> Camacho, Grupo 01</a:t>
            </a:r>
          </a:p>
          <a:p>
            <a:endParaRPr lang="en-US" dirty="0"/>
          </a:p>
          <a:p>
            <a:endParaRPr lang="en-US" dirty="0"/>
          </a:p>
          <a:p>
            <a:r>
              <a:rPr lang="es-CR" dirty="0"/>
              <a:t>PROYECCIONES DE POBLACIÓN</a:t>
            </a:r>
            <a:endParaRPr lang="en-US" dirty="0"/>
          </a:p>
        </p:txBody>
      </p:sp>
    </p:spTree>
    <p:extLst>
      <p:ext uri="{BB962C8B-B14F-4D97-AF65-F5344CB8AC3E}">
        <p14:creationId xmlns:p14="http://schemas.microsoft.com/office/powerpoint/2010/main" val="3347622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E3B47C-32F1-1ECC-95EB-A077866F1A94}"/>
              </a:ext>
            </a:extLst>
          </p:cNvPr>
          <p:cNvSpPr>
            <a:spLocks noGrp="1"/>
          </p:cNvSpPr>
          <p:nvPr>
            <p:ph type="title"/>
          </p:nvPr>
        </p:nvSpPr>
        <p:spPr/>
        <p:txBody>
          <a:bodyPr/>
          <a:lstStyle/>
          <a:p>
            <a:r>
              <a:rPr lang="es-CR" dirty="0"/>
              <a:t>Guía</a:t>
            </a:r>
            <a:endParaRPr lang="en-US" dirty="0"/>
          </a:p>
        </p:txBody>
      </p:sp>
      <p:sp>
        <p:nvSpPr>
          <p:cNvPr id="3" name="Marcador de contenido 2">
            <a:extLst>
              <a:ext uri="{FF2B5EF4-FFF2-40B4-BE49-F238E27FC236}">
                <a16:creationId xmlns:a16="http://schemas.microsoft.com/office/drawing/2014/main" id="{CF7D0468-056F-7E17-F512-4EFD0D5D0ACD}"/>
              </a:ext>
            </a:extLst>
          </p:cNvPr>
          <p:cNvSpPr>
            <a:spLocks noGrp="1"/>
          </p:cNvSpPr>
          <p:nvPr>
            <p:ph idx="1"/>
          </p:nvPr>
        </p:nvSpPr>
        <p:spPr>
          <a:xfrm>
            <a:off x="838200" y="1466193"/>
            <a:ext cx="10515600" cy="5026682"/>
          </a:xfrm>
        </p:spPr>
        <p:txBody>
          <a:bodyPr>
            <a:normAutofit/>
          </a:bodyPr>
          <a:lstStyle/>
          <a:p>
            <a:r>
              <a:rPr lang="es-ES" dirty="0"/>
              <a:t>Conceptos</a:t>
            </a:r>
          </a:p>
          <a:p>
            <a:r>
              <a:rPr lang="es-ES" dirty="0"/>
              <a:t>Métodos de proyecciones</a:t>
            </a:r>
          </a:p>
          <a:p>
            <a:r>
              <a:rPr lang="es-ES" dirty="0"/>
              <a:t>Proyecciones por componentes</a:t>
            </a:r>
          </a:p>
          <a:p>
            <a:pPr lvl="1"/>
            <a:endParaRPr lang="es-CR" dirty="0"/>
          </a:p>
        </p:txBody>
      </p:sp>
    </p:spTree>
    <p:extLst>
      <p:ext uri="{BB962C8B-B14F-4D97-AF65-F5344CB8AC3E}">
        <p14:creationId xmlns:p14="http://schemas.microsoft.com/office/powerpoint/2010/main" val="288393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0F746-29AE-1097-D16D-27F7E1537C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9EF888-D33A-2737-EA61-9ECBDE469D0C}"/>
              </a:ext>
            </a:extLst>
          </p:cNvPr>
          <p:cNvSpPr>
            <a:spLocks noGrp="1"/>
          </p:cNvSpPr>
          <p:nvPr>
            <p:ph type="title"/>
          </p:nvPr>
        </p:nvSpPr>
        <p:spPr>
          <a:xfrm>
            <a:off x="838200" y="365125"/>
            <a:ext cx="10515600" cy="738461"/>
          </a:xfrm>
        </p:spPr>
        <p:txBody>
          <a:bodyPr/>
          <a:lstStyle/>
          <a:p>
            <a:r>
              <a:rPr lang="es-CR" dirty="0"/>
              <a:t>Conceptos</a:t>
            </a:r>
            <a:endParaRPr lang="en-US" dirty="0"/>
          </a:p>
        </p:txBody>
      </p:sp>
      <p:sp>
        <p:nvSpPr>
          <p:cNvPr id="3" name="Marcador de contenido 2">
            <a:extLst>
              <a:ext uri="{FF2B5EF4-FFF2-40B4-BE49-F238E27FC236}">
                <a16:creationId xmlns:a16="http://schemas.microsoft.com/office/drawing/2014/main" id="{E6DB1BE9-ED97-ACCA-103D-B9103B96DC99}"/>
              </a:ext>
            </a:extLst>
          </p:cNvPr>
          <p:cNvSpPr>
            <a:spLocks noGrp="1"/>
          </p:cNvSpPr>
          <p:nvPr>
            <p:ph idx="1"/>
          </p:nvPr>
        </p:nvSpPr>
        <p:spPr>
          <a:xfrm>
            <a:off x="838200" y="1355834"/>
            <a:ext cx="10515600" cy="5249917"/>
          </a:xfrm>
        </p:spPr>
        <p:txBody>
          <a:bodyPr>
            <a:normAutofit fontScale="92500" lnSpcReduction="10000"/>
          </a:bodyPr>
          <a:lstStyle/>
          <a:p>
            <a:r>
              <a:rPr lang="es-ES" dirty="0"/>
              <a:t>Estimación demográfica:  Indicador o valor calculado de un parámetro relativo a una variable específica de la población (Rincón, 1990). </a:t>
            </a:r>
          </a:p>
          <a:p>
            <a:endParaRPr lang="es-ES" dirty="0"/>
          </a:p>
          <a:p>
            <a:r>
              <a:rPr lang="es-ES" dirty="0"/>
              <a:t>Estimación de población: Es el número de personas que se calcula tiene o tuvo una población en un momento específico del tiempo, ya sea globalmente o de una categoría más reducida (Rincón, 1990):</a:t>
            </a:r>
          </a:p>
          <a:p>
            <a:pPr lvl="1"/>
            <a:r>
              <a:rPr lang="es-ES" dirty="0"/>
              <a:t>En CR, cuando se habla de estimaciones, son las cifras pasadas o presentes</a:t>
            </a:r>
          </a:p>
          <a:p>
            <a:endParaRPr lang="es-ES" dirty="0"/>
          </a:p>
          <a:p>
            <a:r>
              <a:rPr lang="es-ES" dirty="0"/>
              <a:t>Proyección de población : Es en definitiva el resultado de un conjunto de estimaciones demográficas, matemáticas o de otro tipo, por medio de las cuales se busca establecer las tendencias más plausibles de las variables determinantes de la dinámica poblacional y, con ello, la derivación de los volúmenes de población y de sus principales características hacia el futuro.  (Rincón, 1990). </a:t>
            </a:r>
          </a:p>
        </p:txBody>
      </p:sp>
    </p:spTree>
    <p:extLst>
      <p:ext uri="{BB962C8B-B14F-4D97-AF65-F5344CB8AC3E}">
        <p14:creationId xmlns:p14="http://schemas.microsoft.com/office/powerpoint/2010/main" val="1957573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1CBDF-1302-85F5-ABD7-ABC3F049C1B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02DC705-3AE8-4409-9B52-6E7E0C32908F}"/>
              </a:ext>
            </a:extLst>
          </p:cNvPr>
          <p:cNvSpPr>
            <a:spLocks noGrp="1"/>
          </p:cNvSpPr>
          <p:nvPr>
            <p:ph type="title"/>
          </p:nvPr>
        </p:nvSpPr>
        <p:spPr>
          <a:xfrm>
            <a:off x="838200" y="365125"/>
            <a:ext cx="10515600" cy="738461"/>
          </a:xfrm>
        </p:spPr>
        <p:txBody>
          <a:bodyPr/>
          <a:lstStyle/>
          <a:p>
            <a:r>
              <a:rPr lang="es-CR" dirty="0"/>
              <a:t>Conceptos</a:t>
            </a:r>
            <a:endParaRPr lang="en-US" dirty="0"/>
          </a:p>
        </p:txBody>
      </p:sp>
      <p:sp>
        <p:nvSpPr>
          <p:cNvPr id="3" name="Marcador de contenido 2">
            <a:extLst>
              <a:ext uri="{FF2B5EF4-FFF2-40B4-BE49-F238E27FC236}">
                <a16:creationId xmlns:a16="http://schemas.microsoft.com/office/drawing/2014/main" id="{A6693463-7CC7-9EDD-C3B0-A2A109293E9F}"/>
              </a:ext>
            </a:extLst>
          </p:cNvPr>
          <p:cNvSpPr>
            <a:spLocks noGrp="1"/>
          </p:cNvSpPr>
          <p:nvPr>
            <p:ph idx="1"/>
          </p:nvPr>
        </p:nvSpPr>
        <p:spPr>
          <a:xfrm>
            <a:off x="838200" y="1355834"/>
            <a:ext cx="10515600" cy="5249917"/>
          </a:xfrm>
        </p:spPr>
        <p:txBody>
          <a:bodyPr>
            <a:normAutofit fontScale="92500" lnSpcReduction="10000"/>
          </a:bodyPr>
          <a:lstStyle/>
          <a:p>
            <a:r>
              <a:rPr lang="es-ES" dirty="0"/>
              <a:t>Retroproyecciones:  En este caso se hace referencia a las estimaciones que se realizan hacia el pasado.  Al igual que en los casos anteriores, se parte de una población base y se busca predecir la población de los años anteriores.  </a:t>
            </a:r>
          </a:p>
          <a:p>
            <a:endParaRPr lang="es-ES" dirty="0"/>
          </a:p>
          <a:p>
            <a:r>
              <a:rPr lang="es-ES" dirty="0"/>
              <a:t>Modelos agregativos de estimación poblacional:   Consiste en aquellos métodos que realizan estimaciones independientemente para cada área geográfica particular, que obtienen las proyecciones nacionales por suma de éstas (Rincón, 1989) </a:t>
            </a:r>
          </a:p>
          <a:p>
            <a:endParaRPr lang="es-ES" dirty="0"/>
          </a:p>
          <a:p>
            <a:r>
              <a:rPr lang="es-ES" dirty="0"/>
              <a:t>Modelos </a:t>
            </a:r>
            <a:r>
              <a:rPr lang="es-ES" dirty="0" err="1"/>
              <a:t>desagregativos</a:t>
            </a:r>
            <a:r>
              <a:rPr lang="es-ES" dirty="0"/>
              <a:t> de estimación poblacional:  Consisten en aquellas técnicas de estimación, que a partir de las estimaciones nacionales se lleva a cabo una desagregación de ellas, para obtener las estimaciones regionales y para áreas menores (Rincón, 1989). </a:t>
            </a:r>
          </a:p>
        </p:txBody>
      </p:sp>
    </p:spTree>
    <p:extLst>
      <p:ext uri="{BB962C8B-B14F-4D97-AF65-F5344CB8AC3E}">
        <p14:creationId xmlns:p14="http://schemas.microsoft.com/office/powerpoint/2010/main" val="1861772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DC838-823D-0602-4D5E-C15D1B2934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657CEDA-4A80-901D-B2F4-A7EDF6621FFC}"/>
              </a:ext>
            </a:extLst>
          </p:cNvPr>
          <p:cNvSpPr>
            <a:spLocks noGrp="1"/>
          </p:cNvSpPr>
          <p:nvPr>
            <p:ph type="title"/>
          </p:nvPr>
        </p:nvSpPr>
        <p:spPr>
          <a:xfrm>
            <a:off x="838200" y="365125"/>
            <a:ext cx="10515600" cy="738461"/>
          </a:xfrm>
        </p:spPr>
        <p:txBody>
          <a:bodyPr/>
          <a:lstStyle/>
          <a:p>
            <a:r>
              <a:rPr lang="es-CR" dirty="0"/>
              <a:t>Conceptos</a:t>
            </a:r>
            <a:endParaRPr lang="en-US" dirty="0"/>
          </a:p>
        </p:txBody>
      </p:sp>
      <p:sp>
        <p:nvSpPr>
          <p:cNvPr id="3" name="Marcador de contenido 2">
            <a:extLst>
              <a:ext uri="{FF2B5EF4-FFF2-40B4-BE49-F238E27FC236}">
                <a16:creationId xmlns:a16="http://schemas.microsoft.com/office/drawing/2014/main" id="{ADBD49E2-869B-69E1-839B-61CDC77D7C85}"/>
              </a:ext>
            </a:extLst>
          </p:cNvPr>
          <p:cNvSpPr>
            <a:spLocks noGrp="1"/>
          </p:cNvSpPr>
          <p:nvPr>
            <p:ph idx="1"/>
          </p:nvPr>
        </p:nvSpPr>
        <p:spPr>
          <a:xfrm>
            <a:off x="838200" y="1355834"/>
            <a:ext cx="10515600" cy="5249917"/>
          </a:xfrm>
        </p:spPr>
        <p:txBody>
          <a:bodyPr>
            <a:normAutofit/>
          </a:bodyPr>
          <a:lstStyle/>
          <a:p>
            <a:r>
              <a:rPr lang="es-ES" dirty="0"/>
              <a:t>Proyecciones derivadas: Corresponden a estimaciones que se realizan sobre una proyección con respecto a  ciertas necesidades de la población; por ejemplo:  necesidades futuras de maestros, médicos, camas hospitalarias, policías, etc. </a:t>
            </a:r>
            <a:endParaRPr lang="es-CR" dirty="0"/>
          </a:p>
        </p:txBody>
      </p:sp>
    </p:spTree>
    <p:extLst>
      <p:ext uri="{BB962C8B-B14F-4D97-AF65-F5344CB8AC3E}">
        <p14:creationId xmlns:p14="http://schemas.microsoft.com/office/powerpoint/2010/main" val="3020647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BE64B-F9EC-6C03-2A96-C4EE0A492B5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413120-C685-EAD2-2BA8-B6022F9A8E4A}"/>
              </a:ext>
            </a:extLst>
          </p:cNvPr>
          <p:cNvSpPr>
            <a:spLocks noGrp="1"/>
          </p:cNvSpPr>
          <p:nvPr>
            <p:ph type="title"/>
          </p:nvPr>
        </p:nvSpPr>
        <p:spPr>
          <a:xfrm>
            <a:off x="838200" y="365125"/>
            <a:ext cx="10515600" cy="738461"/>
          </a:xfrm>
        </p:spPr>
        <p:txBody>
          <a:bodyPr/>
          <a:lstStyle/>
          <a:p>
            <a:r>
              <a:rPr lang="es-CR" dirty="0"/>
              <a:t>Métodos de proyección</a:t>
            </a:r>
            <a:endParaRPr lang="en-US" dirty="0"/>
          </a:p>
        </p:txBody>
      </p:sp>
      <p:sp>
        <p:nvSpPr>
          <p:cNvPr id="3" name="Marcador de contenido 2">
            <a:extLst>
              <a:ext uri="{FF2B5EF4-FFF2-40B4-BE49-F238E27FC236}">
                <a16:creationId xmlns:a16="http://schemas.microsoft.com/office/drawing/2014/main" id="{03DF87BB-7546-55E6-2FC1-BC8D355C0127}"/>
              </a:ext>
            </a:extLst>
          </p:cNvPr>
          <p:cNvSpPr>
            <a:spLocks noGrp="1"/>
          </p:cNvSpPr>
          <p:nvPr>
            <p:ph idx="1"/>
          </p:nvPr>
        </p:nvSpPr>
        <p:spPr>
          <a:xfrm>
            <a:off x="838200" y="1355834"/>
            <a:ext cx="10515600" cy="5249917"/>
          </a:xfrm>
        </p:spPr>
        <p:txBody>
          <a:bodyPr>
            <a:normAutofit/>
          </a:bodyPr>
          <a:lstStyle/>
          <a:p>
            <a:r>
              <a:rPr lang="es-ES" dirty="0"/>
              <a:t>Modelos de crecimiento: </a:t>
            </a:r>
          </a:p>
          <a:p>
            <a:pPr lvl="1"/>
            <a:r>
              <a:rPr lang="es-ES" dirty="0"/>
              <a:t>Aritmético, geométrico y exponencial.</a:t>
            </a:r>
          </a:p>
          <a:p>
            <a:pPr lvl="1"/>
            <a:r>
              <a:rPr lang="es-ES" dirty="0"/>
              <a:t>Curvas logísticas</a:t>
            </a:r>
          </a:p>
          <a:p>
            <a:pPr lvl="1"/>
            <a:r>
              <a:rPr lang="es-ES" dirty="0"/>
              <a:t>Criterio experto</a:t>
            </a:r>
          </a:p>
          <a:p>
            <a:pPr lvl="1"/>
            <a:r>
              <a:rPr lang="es-ES" dirty="0"/>
              <a:t>Proyecciones por componentes</a:t>
            </a:r>
          </a:p>
        </p:txBody>
      </p:sp>
    </p:spTree>
    <p:extLst>
      <p:ext uri="{BB962C8B-B14F-4D97-AF65-F5344CB8AC3E}">
        <p14:creationId xmlns:p14="http://schemas.microsoft.com/office/powerpoint/2010/main" val="1501849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CB6DE-0CEE-72A7-A788-FFAEA4F311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4C62455-484B-CFE2-5354-55EAC20E46C7}"/>
              </a:ext>
            </a:extLst>
          </p:cNvPr>
          <p:cNvSpPr>
            <a:spLocks noGrp="1"/>
          </p:cNvSpPr>
          <p:nvPr>
            <p:ph type="title"/>
          </p:nvPr>
        </p:nvSpPr>
        <p:spPr>
          <a:xfrm>
            <a:off x="838200" y="365125"/>
            <a:ext cx="10515600" cy="738461"/>
          </a:xfrm>
        </p:spPr>
        <p:txBody>
          <a:bodyPr/>
          <a:lstStyle/>
          <a:p>
            <a:r>
              <a:rPr lang="es-CR" dirty="0"/>
              <a:t>Proyecciones por componentes</a:t>
            </a:r>
            <a:endParaRPr lang="en-US" dirty="0"/>
          </a:p>
        </p:txBody>
      </p:sp>
      <p:sp>
        <p:nvSpPr>
          <p:cNvPr id="3" name="Marcador de contenido 2">
            <a:extLst>
              <a:ext uri="{FF2B5EF4-FFF2-40B4-BE49-F238E27FC236}">
                <a16:creationId xmlns:a16="http://schemas.microsoft.com/office/drawing/2014/main" id="{79EE62A4-C125-C94B-C097-F24082DD5F1B}"/>
              </a:ext>
            </a:extLst>
          </p:cNvPr>
          <p:cNvSpPr>
            <a:spLocks noGrp="1"/>
          </p:cNvSpPr>
          <p:nvPr>
            <p:ph idx="1"/>
          </p:nvPr>
        </p:nvSpPr>
        <p:spPr>
          <a:xfrm>
            <a:off x="838200" y="1355834"/>
            <a:ext cx="10515600" cy="5249917"/>
          </a:xfrm>
        </p:spPr>
        <p:txBody>
          <a:bodyPr>
            <a:normAutofit/>
          </a:bodyPr>
          <a:lstStyle/>
          <a:p>
            <a:r>
              <a:rPr lang="es-ES" dirty="0"/>
              <a:t>Consiste en desagregar el crecimiento de la población  en sus componentes demográficos fundamentales por medio de la ecuación compensadora. </a:t>
            </a:r>
          </a:p>
          <a:p>
            <a:pPr marL="457200" lvl="1">
              <a:lnSpc>
                <a:spcPct val="115000"/>
              </a:lnSpc>
              <a:spcAft>
                <a:spcPts val="1000"/>
              </a:spcAft>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N</a:t>
            </a:r>
            <a:r>
              <a:rPr lang="en-US" baseline="-25000" dirty="0">
                <a:effectLst/>
                <a:latin typeface="Times New Roman" panose="02020603050405020304" pitchFamily="18" charset="0"/>
                <a:ea typeface="Times New Roman" panose="02020603050405020304" pitchFamily="18" charset="0"/>
                <a:cs typeface="Times New Roman" panose="02020603050405020304" pitchFamily="18" charset="0"/>
              </a:rPr>
              <a:t> x + 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N</a:t>
            </a:r>
            <a:r>
              <a:rPr lang="en-US"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x</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 B</a:t>
            </a:r>
            <a:r>
              <a:rPr lang="en-US" baseline="-25000" dirty="0">
                <a:effectLst/>
                <a:latin typeface="Times New Roman" panose="02020603050405020304" pitchFamily="18" charset="0"/>
                <a:ea typeface="Times New Roman" panose="02020603050405020304" pitchFamily="18" charset="0"/>
                <a:cs typeface="Times New Roman" panose="02020603050405020304" pitchFamily="18" charset="0"/>
              </a:rPr>
              <a:t>x + 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D</a:t>
            </a:r>
            <a:r>
              <a:rPr lang="en-US" baseline="-25000" dirty="0">
                <a:effectLst/>
                <a:latin typeface="Times New Roman" panose="02020603050405020304" pitchFamily="18" charset="0"/>
                <a:ea typeface="Times New Roman" panose="02020603050405020304" pitchFamily="18" charset="0"/>
                <a:cs typeface="Times New Roman" panose="02020603050405020304" pitchFamily="18" charset="0"/>
              </a:rPr>
              <a:t>x + 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SM</a:t>
            </a:r>
            <a:r>
              <a:rPr lang="en-US"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x</a:t>
            </a:r>
            <a:r>
              <a:rPr lang="en-US" baseline="-25000" dirty="0">
                <a:effectLst/>
                <a:latin typeface="Times New Roman" panose="02020603050405020304" pitchFamily="18" charset="0"/>
                <a:ea typeface="Times New Roman" panose="02020603050405020304" pitchFamily="18" charset="0"/>
                <a:cs typeface="Times New Roman" panose="02020603050405020304" pitchFamily="18" charset="0"/>
              </a:rPr>
              <a:t> + 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marR="0">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s-CR" sz="1800" dirty="0">
                <a:effectLst/>
                <a:latin typeface="Times New Roman" panose="02020603050405020304" pitchFamily="18" charset="0"/>
                <a:ea typeface="Times New Roman" panose="02020603050405020304" pitchFamily="18" charset="0"/>
                <a:cs typeface="Times New Roman" panose="02020603050405020304" pitchFamily="18" charset="0"/>
              </a:rPr>
              <a:t>donde:  </a:t>
            </a:r>
            <a:r>
              <a:rPr lang="es-CR" sz="1800" dirty="0" err="1">
                <a:effectLst/>
                <a:latin typeface="Times New Roman" panose="02020603050405020304" pitchFamily="18" charset="0"/>
                <a:ea typeface="Times New Roman" panose="02020603050405020304" pitchFamily="18" charset="0"/>
                <a:cs typeface="Times New Roman" panose="02020603050405020304" pitchFamily="18" charset="0"/>
              </a:rPr>
              <a:t>N</a:t>
            </a:r>
            <a:r>
              <a:rPr lang="es-CR" sz="1800"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x</a:t>
            </a:r>
            <a:r>
              <a:rPr lang="es-CR" sz="1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s-ES_tradnl" sz="1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t</a:t>
            </a:r>
            <a:r>
              <a:rPr lang="es-CR" sz="1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s-CR" sz="1800" dirty="0">
                <a:effectLst/>
                <a:latin typeface="Times New Roman" panose="02020603050405020304" pitchFamily="18" charset="0"/>
                <a:ea typeface="Times New Roman" panose="02020603050405020304" pitchFamily="18" charset="0"/>
                <a:cs typeface="Times New Roman" panose="02020603050405020304" pitchFamily="18" charset="0"/>
              </a:rPr>
              <a:t>es la población</a:t>
            </a:r>
            <a:r>
              <a:rPr lang="es-CR" sz="1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s-CR" sz="1800" dirty="0">
                <a:effectLst/>
                <a:latin typeface="Times New Roman" panose="02020603050405020304" pitchFamily="18" charset="0"/>
                <a:ea typeface="Times New Roman" panose="02020603050405020304" pitchFamily="18" charset="0"/>
                <a:cs typeface="Times New Roman" panose="02020603050405020304" pitchFamily="18" charset="0"/>
              </a:rPr>
              <a:t>estimada t años después del año base x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1000"/>
              </a:spcAft>
            </a:pPr>
            <a:r>
              <a:rPr lang="es-C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s-CR" sz="1800" dirty="0" err="1">
                <a:effectLst/>
                <a:latin typeface="Times New Roman" panose="02020603050405020304" pitchFamily="18" charset="0"/>
                <a:ea typeface="Times New Roman" panose="02020603050405020304" pitchFamily="18" charset="0"/>
                <a:cs typeface="Times New Roman" panose="02020603050405020304" pitchFamily="18" charset="0"/>
              </a:rPr>
              <a:t>N</a:t>
            </a:r>
            <a:r>
              <a:rPr lang="es-CR" sz="1800"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x</a:t>
            </a:r>
            <a:r>
              <a:rPr lang="es-CR" sz="1800" dirty="0">
                <a:effectLst/>
                <a:latin typeface="Times New Roman" panose="02020603050405020304" pitchFamily="18" charset="0"/>
                <a:ea typeface="Times New Roman" panose="02020603050405020304" pitchFamily="18" charset="0"/>
                <a:cs typeface="Times New Roman" panose="02020603050405020304" pitchFamily="18" charset="0"/>
              </a:rPr>
              <a:t>  es la población en el año base x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1000"/>
              </a:spcAft>
            </a:pPr>
            <a:r>
              <a:rPr lang="es-C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s-CR" sz="1800" dirty="0" err="1">
                <a:effectLst/>
                <a:latin typeface="Times New Roman" panose="02020603050405020304" pitchFamily="18" charset="0"/>
                <a:ea typeface="Times New Roman" panose="02020603050405020304" pitchFamily="18" charset="0"/>
                <a:cs typeface="Times New Roman" panose="02020603050405020304" pitchFamily="18" charset="0"/>
              </a:rPr>
              <a:t>B</a:t>
            </a:r>
            <a:r>
              <a:rPr lang="es-CR" sz="1800"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x</a:t>
            </a:r>
            <a:r>
              <a:rPr lang="es-CR" sz="1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 + t</a:t>
            </a:r>
            <a:r>
              <a:rPr lang="es-CR" sz="1800" dirty="0">
                <a:effectLst/>
                <a:latin typeface="Times New Roman" panose="02020603050405020304" pitchFamily="18" charset="0"/>
                <a:ea typeface="Times New Roman" panose="02020603050405020304" pitchFamily="18" charset="0"/>
                <a:cs typeface="Times New Roman" panose="02020603050405020304" pitchFamily="18" charset="0"/>
              </a:rPr>
              <a:t>  es el número de nacimientos ocurridos entre el año x y el año x + 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1000"/>
              </a:spcAft>
            </a:pPr>
            <a:r>
              <a:rPr lang="es-C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s-CR" sz="1800" dirty="0" err="1">
                <a:effectLst/>
                <a:latin typeface="Times New Roman" panose="02020603050405020304" pitchFamily="18" charset="0"/>
                <a:ea typeface="Times New Roman" panose="02020603050405020304" pitchFamily="18" charset="0"/>
                <a:cs typeface="Times New Roman" panose="02020603050405020304" pitchFamily="18" charset="0"/>
              </a:rPr>
              <a:t>D</a:t>
            </a:r>
            <a:r>
              <a:rPr lang="es-CR" sz="1800"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x</a:t>
            </a:r>
            <a:r>
              <a:rPr lang="es-CR" sz="1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 + t</a:t>
            </a:r>
            <a:r>
              <a:rPr lang="es-CR" sz="1800" dirty="0">
                <a:effectLst/>
                <a:latin typeface="Times New Roman" panose="02020603050405020304" pitchFamily="18" charset="0"/>
                <a:ea typeface="Times New Roman" panose="02020603050405020304" pitchFamily="18" charset="0"/>
                <a:cs typeface="Times New Roman" panose="02020603050405020304" pitchFamily="18" charset="0"/>
              </a:rPr>
              <a:t>  es el número de defunciones ocurridas entre el año x y el año x + 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1000"/>
              </a:spcAft>
            </a:pPr>
            <a:r>
              <a:rPr lang="es-C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s-CR" sz="1800" dirty="0" err="1">
                <a:effectLst/>
                <a:latin typeface="Times New Roman" panose="02020603050405020304" pitchFamily="18" charset="0"/>
                <a:ea typeface="Times New Roman" panose="02020603050405020304" pitchFamily="18" charset="0"/>
                <a:cs typeface="Times New Roman" panose="02020603050405020304" pitchFamily="18" charset="0"/>
              </a:rPr>
              <a:t>SM</a:t>
            </a:r>
            <a:r>
              <a:rPr lang="es-CR" sz="1800"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x</a:t>
            </a:r>
            <a:r>
              <a:rPr lang="es-CR" sz="1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s-ES_tradnl" sz="1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t</a:t>
            </a:r>
            <a:r>
              <a:rPr lang="es-CR" sz="1800" dirty="0">
                <a:effectLst/>
                <a:latin typeface="Times New Roman" panose="02020603050405020304" pitchFamily="18" charset="0"/>
                <a:ea typeface="Times New Roman" panose="02020603050405020304" pitchFamily="18" charset="0"/>
                <a:cs typeface="Times New Roman" panose="02020603050405020304" pitchFamily="18" charset="0"/>
              </a:rPr>
              <a:t>  es el saldo migratorio que tuvo lugar entre el año x y el año x + 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a:lnSpc>
                <a:spcPct val="115000"/>
              </a:lnSpc>
              <a:spcAft>
                <a:spcPts val="1000"/>
              </a:spcAft>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08497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0BFEA-FE61-31EA-0277-9DCDC908C16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AA3F164-0C8C-8630-CE01-95B17DA4DA2D}"/>
              </a:ext>
            </a:extLst>
          </p:cNvPr>
          <p:cNvSpPr>
            <a:spLocks noGrp="1"/>
          </p:cNvSpPr>
          <p:nvPr>
            <p:ph type="title"/>
          </p:nvPr>
        </p:nvSpPr>
        <p:spPr>
          <a:xfrm>
            <a:off x="838200" y="365125"/>
            <a:ext cx="10515600" cy="738461"/>
          </a:xfrm>
        </p:spPr>
        <p:txBody>
          <a:bodyPr/>
          <a:lstStyle/>
          <a:p>
            <a:r>
              <a:rPr lang="es-CR" dirty="0"/>
              <a:t>Proyecciones por componentes</a:t>
            </a:r>
            <a:endParaRPr lang="en-US" dirty="0"/>
          </a:p>
        </p:txBody>
      </p:sp>
      <p:sp>
        <p:nvSpPr>
          <p:cNvPr id="3" name="Marcador de contenido 2">
            <a:extLst>
              <a:ext uri="{FF2B5EF4-FFF2-40B4-BE49-F238E27FC236}">
                <a16:creationId xmlns:a16="http://schemas.microsoft.com/office/drawing/2014/main" id="{1A3A1AD9-51C2-1876-1028-EA3C25CDA58B}"/>
              </a:ext>
            </a:extLst>
          </p:cNvPr>
          <p:cNvSpPr>
            <a:spLocks noGrp="1"/>
          </p:cNvSpPr>
          <p:nvPr>
            <p:ph idx="1"/>
          </p:nvPr>
        </p:nvSpPr>
        <p:spPr>
          <a:xfrm>
            <a:off x="838200" y="1355834"/>
            <a:ext cx="10515600" cy="5249917"/>
          </a:xfrm>
        </p:spPr>
        <p:txBody>
          <a:bodyPr>
            <a:normAutofit fontScale="92500" lnSpcReduction="10000"/>
          </a:bodyPr>
          <a:lstStyle/>
          <a:p>
            <a:r>
              <a:rPr lang="es-ES" dirty="0"/>
              <a:t>El nombre de este método se debe a que su estrategia metodológica consiste en proyectar los tres componentes del cambio poblacional:  mortalidad, natalidad y migración.</a:t>
            </a:r>
          </a:p>
          <a:p>
            <a:endParaRPr lang="es-ES"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s-ES" dirty="0">
                <a:effectLst/>
                <a:latin typeface="Times New Roman" panose="02020603050405020304" pitchFamily="18" charset="0"/>
                <a:ea typeface="Times New Roman" panose="02020603050405020304" pitchFamily="18" charset="0"/>
                <a:cs typeface="Times New Roman" panose="02020603050405020304" pitchFamily="18" charset="0"/>
              </a:rPr>
              <a:t>Para realizar esta variación del método de los componentes se requiere: </a:t>
            </a:r>
          </a:p>
          <a:p>
            <a:pPr lvl="1"/>
            <a:r>
              <a:rPr lang="es-ES" dirty="0">
                <a:effectLst/>
                <a:latin typeface="Times New Roman" panose="02020603050405020304" pitchFamily="18" charset="0"/>
                <a:ea typeface="Times New Roman" panose="02020603050405020304" pitchFamily="18" charset="0"/>
                <a:cs typeface="Times New Roman" panose="02020603050405020304" pitchFamily="18" charset="0"/>
              </a:rPr>
              <a:t>Series de tiempo pasadas de cada componente. </a:t>
            </a:r>
          </a:p>
          <a:p>
            <a:pPr lvl="1"/>
            <a:r>
              <a:rPr lang="es-ES" dirty="0">
                <a:effectLst/>
                <a:latin typeface="Times New Roman" panose="02020603050405020304" pitchFamily="18" charset="0"/>
                <a:ea typeface="Times New Roman" panose="02020603050405020304" pitchFamily="18" charset="0"/>
                <a:cs typeface="Times New Roman" panose="02020603050405020304" pitchFamily="18" charset="0"/>
              </a:rPr>
              <a:t>Establecer una población base distribuida por sexo y grupos de edad  (Generalmente el censo corregido por </a:t>
            </a:r>
            <a:r>
              <a:rPr lang="es-ES" dirty="0" err="1">
                <a:effectLst/>
                <a:latin typeface="Times New Roman" panose="02020603050405020304" pitchFamily="18" charset="0"/>
                <a:ea typeface="Times New Roman" panose="02020603050405020304" pitchFamily="18" charset="0"/>
                <a:cs typeface="Times New Roman" panose="02020603050405020304" pitchFamily="18" charset="0"/>
              </a:rPr>
              <a:t>subenumeración</a:t>
            </a:r>
            <a:r>
              <a:rPr lang="es-ES" dirty="0">
                <a:effectLst/>
                <a:latin typeface="Times New Roman" panose="02020603050405020304" pitchFamily="18" charset="0"/>
                <a:ea typeface="Times New Roman" panose="02020603050405020304" pitchFamily="18" charset="0"/>
                <a:cs typeface="Times New Roman" panose="02020603050405020304" pitchFamily="18" charset="0"/>
              </a:rPr>
              <a:t>), y trasladada al 30 de junio del año que se quiere utilizar como referencia.  Si se desean realizar proyecciones quinquenales, entonces es conveniente efectuar este traslado hasta un año terminado en cero o en cinco. </a:t>
            </a:r>
          </a:p>
          <a:p>
            <a:pPr lvl="1"/>
            <a:r>
              <a:rPr lang="es-ES" dirty="0">
                <a:effectLst/>
                <a:latin typeface="Times New Roman" panose="02020603050405020304" pitchFamily="18" charset="0"/>
                <a:ea typeface="Times New Roman" panose="02020603050405020304" pitchFamily="18" charset="0"/>
                <a:cs typeface="Times New Roman" panose="02020603050405020304" pitchFamily="18" charset="0"/>
              </a:rPr>
              <a:t>Se proyecta cada grupo de edad hacia el nuevo período (generalmente 5 años) de acuerdo con las tendencias esperadas en los patrones de fecundidad, mortalidad y migración.  El proceso se repite tantas veces como sea necesario para alcanzar el año hasta el cual se pretende proyectar esta población.</a:t>
            </a:r>
          </a:p>
          <a:p>
            <a:pPr marL="457200" lvl="1">
              <a:lnSpc>
                <a:spcPct val="115000"/>
              </a:lnSpc>
              <a:spcAft>
                <a:spcPts val="1000"/>
              </a:spcAft>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83092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F01B9-19C2-D99A-EA77-968F9E22A1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9C056B0-42FD-069C-8D7C-0F2B1F4F4AFD}"/>
              </a:ext>
            </a:extLst>
          </p:cNvPr>
          <p:cNvSpPr>
            <a:spLocks noGrp="1"/>
          </p:cNvSpPr>
          <p:nvPr>
            <p:ph type="title"/>
          </p:nvPr>
        </p:nvSpPr>
        <p:spPr>
          <a:xfrm>
            <a:off x="838200" y="365125"/>
            <a:ext cx="10515600" cy="738461"/>
          </a:xfrm>
        </p:spPr>
        <p:txBody>
          <a:bodyPr/>
          <a:lstStyle/>
          <a:p>
            <a:r>
              <a:rPr lang="es-CR" dirty="0"/>
              <a:t>Proyección de la mortalidad</a:t>
            </a:r>
            <a:endParaRPr lang="en-US" dirty="0"/>
          </a:p>
        </p:txBody>
      </p:sp>
      <p:sp>
        <p:nvSpPr>
          <p:cNvPr id="3" name="Marcador de contenido 2">
            <a:extLst>
              <a:ext uri="{FF2B5EF4-FFF2-40B4-BE49-F238E27FC236}">
                <a16:creationId xmlns:a16="http://schemas.microsoft.com/office/drawing/2014/main" id="{7597B4EA-9EC3-FD83-5721-B912DAEB3E9E}"/>
              </a:ext>
            </a:extLst>
          </p:cNvPr>
          <p:cNvSpPr>
            <a:spLocks noGrp="1"/>
          </p:cNvSpPr>
          <p:nvPr>
            <p:ph idx="1"/>
          </p:nvPr>
        </p:nvSpPr>
        <p:spPr>
          <a:xfrm>
            <a:off x="838200" y="1355834"/>
            <a:ext cx="10515600" cy="5249917"/>
          </a:xfrm>
        </p:spPr>
        <p:txBody>
          <a:bodyPr>
            <a:normAutofit/>
          </a:bodyPr>
          <a:lstStyle/>
          <a:p>
            <a:r>
              <a:rPr lang="es-ES" dirty="0"/>
              <a:t>Generalmente se proyectan las tasas específicas de mortalidad (</a:t>
            </a:r>
            <a:r>
              <a:rPr lang="es-ES" dirty="0" err="1"/>
              <a:t>nmx</a:t>
            </a:r>
            <a:r>
              <a:rPr lang="es-ES" dirty="0"/>
              <a:t>), por sexo y grupos de edad (grupos quinquenales)</a:t>
            </a:r>
          </a:p>
          <a:p>
            <a:r>
              <a:rPr lang="es-ES" dirty="0"/>
              <a:t>Se calculan funciones de las tablas de vida proyectadas, sobre todo las relaciones de supervivencia (</a:t>
            </a:r>
            <a:r>
              <a:rPr lang="es-ES" sz="1800" dirty="0" err="1"/>
              <a:t>n</a:t>
            </a:r>
            <a:r>
              <a:rPr lang="es-ES" dirty="0" err="1"/>
              <a:t>S</a:t>
            </a:r>
            <a:r>
              <a:rPr lang="es-ES" sz="1800" dirty="0" err="1"/>
              <a:t>x</a:t>
            </a:r>
            <a:r>
              <a:rPr lang="es-ES" dirty="0"/>
              <a:t>).</a:t>
            </a:r>
          </a:p>
          <a:p>
            <a:r>
              <a:rPr lang="es-ES" dirty="0"/>
              <a:t>Método popular actualmente: </a:t>
            </a:r>
          </a:p>
          <a:p>
            <a:pPr lvl="1"/>
            <a:r>
              <a:rPr lang="es-ES" dirty="0"/>
              <a:t>Método de Lee Carter</a:t>
            </a:r>
          </a:p>
          <a:p>
            <a:r>
              <a:rPr lang="es-ES" dirty="0"/>
              <a:t>Método de la División de Población de Naciones Unidas:</a:t>
            </a:r>
          </a:p>
          <a:p>
            <a:pPr lvl="1"/>
            <a:r>
              <a:rPr lang="es-ES" dirty="0"/>
              <a:t>Proyecciones jerárquicas </a:t>
            </a:r>
            <a:r>
              <a:rPr lang="es-ES" dirty="0" err="1"/>
              <a:t>bayesianaas</a:t>
            </a:r>
            <a:endParaRPr lang="es-ES" dirty="0"/>
          </a:p>
        </p:txBody>
      </p:sp>
    </p:spTree>
    <p:extLst>
      <p:ext uri="{BB962C8B-B14F-4D97-AF65-F5344CB8AC3E}">
        <p14:creationId xmlns:p14="http://schemas.microsoft.com/office/powerpoint/2010/main" val="3449189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56ADF-3D63-6F47-6981-23D34E94844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AABC733-B634-9736-EC97-7A091409DEF1}"/>
              </a:ext>
            </a:extLst>
          </p:cNvPr>
          <p:cNvSpPr>
            <a:spLocks noGrp="1"/>
          </p:cNvSpPr>
          <p:nvPr>
            <p:ph type="title"/>
          </p:nvPr>
        </p:nvSpPr>
        <p:spPr>
          <a:xfrm>
            <a:off x="838200" y="365125"/>
            <a:ext cx="10515600" cy="738461"/>
          </a:xfrm>
        </p:spPr>
        <p:txBody>
          <a:bodyPr/>
          <a:lstStyle/>
          <a:p>
            <a:r>
              <a:rPr lang="es-CR" dirty="0"/>
              <a:t>Proyección de la fecundidad</a:t>
            </a:r>
            <a:endParaRPr lang="en-US" dirty="0"/>
          </a:p>
        </p:txBody>
      </p:sp>
      <p:sp>
        <p:nvSpPr>
          <p:cNvPr id="3" name="Marcador de contenido 2">
            <a:extLst>
              <a:ext uri="{FF2B5EF4-FFF2-40B4-BE49-F238E27FC236}">
                <a16:creationId xmlns:a16="http://schemas.microsoft.com/office/drawing/2014/main" id="{47D7877F-DFD5-526B-AD40-66D3A04C95F5}"/>
              </a:ext>
            </a:extLst>
          </p:cNvPr>
          <p:cNvSpPr>
            <a:spLocks noGrp="1"/>
          </p:cNvSpPr>
          <p:nvPr>
            <p:ph idx="1"/>
          </p:nvPr>
        </p:nvSpPr>
        <p:spPr>
          <a:xfrm>
            <a:off x="838200" y="1355834"/>
            <a:ext cx="10515600" cy="5249917"/>
          </a:xfrm>
        </p:spPr>
        <p:txBody>
          <a:bodyPr>
            <a:normAutofit/>
          </a:bodyPr>
          <a:lstStyle/>
          <a:p>
            <a:r>
              <a:rPr lang="es-ES" dirty="0"/>
              <a:t>Se requiere estimar el comportamiento pasado de las tasas específicas de fecundidad y de la tasa global de fecundidad.  </a:t>
            </a:r>
          </a:p>
          <a:p>
            <a:r>
              <a:rPr lang="es-ES" dirty="0"/>
              <a:t>Antes se planteaban hipótesis de comportamiento futuro límites (hipótesis baja, media y alta).  </a:t>
            </a:r>
          </a:p>
          <a:p>
            <a:r>
              <a:rPr lang="es-ES" dirty="0"/>
              <a:t>Actualmente, se utilizan modelos lineales y modelos de datos funcionales.</a:t>
            </a:r>
          </a:p>
          <a:p>
            <a:r>
              <a:rPr lang="es-ES" dirty="0"/>
              <a:t>Las tasas proyectadas permiten estimar los nacimientos que se esperaría ocurrieran en cada período.</a:t>
            </a:r>
          </a:p>
        </p:txBody>
      </p:sp>
    </p:spTree>
    <p:extLst>
      <p:ext uri="{BB962C8B-B14F-4D97-AF65-F5344CB8AC3E}">
        <p14:creationId xmlns:p14="http://schemas.microsoft.com/office/powerpoint/2010/main" val="3414032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1C4F2-0E8C-B3F5-6A43-69FCDB87396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18DC3C0-C132-90A4-45F0-0796FA5DE1DC}"/>
              </a:ext>
            </a:extLst>
          </p:cNvPr>
          <p:cNvSpPr>
            <a:spLocks noGrp="1"/>
          </p:cNvSpPr>
          <p:nvPr>
            <p:ph type="title"/>
          </p:nvPr>
        </p:nvSpPr>
        <p:spPr>
          <a:xfrm>
            <a:off x="838200" y="365125"/>
            <a:ext cx="10515600" cy="738461"/>
          </a:xfrm>
        </p:spPr>
        <p:txBody>
          <a:bodyPr/>
          <a:lstStyle/>
          <a:p>
            <a:r>
              <a:rPr lang="es-CR" dirty="0"/>
              <a:t>Proyección de la migración</a:t>
            </a:r>
            <a:endParaRPr lang="en-US" dirty="0"/>
          </a:p>
        </p:txBody>
      </p:sp>
      <p:sp>
        <p:nvSpPr>
          <p:cNvPr id="3" name="Marcador de contenido 2">
            <a:extLst>
              <a:ext uri="{FF2B5EF4-FFF2-40B4-BE49-F238E27FC236}">
                <a16:creationId xmlns:a16="http://schemas.microsoft.com/office/drawing/2014/main" id="{7ED9103D-77C4-70AD-98BC-CD0BEC12FFD4}"/>
              </a:ext>
            </a:extLst>
          </p:cNvPr>
          <p:cNvSpPr>
            <a:spLocks noGrp="1"/>
          </p:cNvSpPr>
          <p:nvPr>
            <p:ph idx="1"/>
          </p:nvPr>
        </p:nvSpPr>
        <p:spPr>
          <a:xfrm>
            <a:off x="838200" y="1355834"/>
            <a:ext cx="10515600" cy="5249917"/>
          </a:xfrm>
        </p:spPr>
        <p:txBody>
          <a:bodyPr>
            <a:normAutofit/>
          </a:bodyPr>
          <a:lstStyle/>
          <a:p>
            <a:r>
              <a:rPr lang="es-ES" dirty="0"/>
              <a:t>En el pasado se planteaban hipótesis de comportamiento futuro límite.  </a:t>
            </a:r>
          </a:p>
          <a:p>
            <a:r>
              <a:rPr lang="es-ES" dirty="0"/>
              <a:t>Actualmente se utilizan modelos lineales y modelos de datos funcionales. </a:t>
            </a:r>
          </a:p>
        </p:txBody>
      </p:sp>
    </p:spTree>
    <p:extLst>
      <p:ext uri="{BB962C8B-B14F-4D97-AF65-F5344CB8AC3E}">
        <p14:creationId xmlns:p14="http://schemas.microsoft.com/office/powerpoint/2010/main" val="3349957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64D58-2D25-B007-E7B9-6AD0544BBDB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8B81F50-574E-7E96-CB84-76623BCA57F8}"/>
              </a:ext>
            </a:extLst>
          </p:cNvPr>
          <p:cNvSpPr>
            <a:spLocks noGrp="1"/>
          </p:cNvSpPr>
          <p:nvPr>
            <p:ph type="title"/>
          </p:nvPr>
        </p:nvSpPr>
        <p:spPr>
          <a:xfrm>
            <a:off x="599089" y="365125"/>
            <a:ext cx="11303877" cy="738461"/>
          </a:xfrm>
        </p:spPr>
        <p:txBody>
          <a:bodyPr>
            <a:normAutofit fontScale="90000"/>
          </a:bodyPr>
          <a:lstStyle/>
          <a:p>
            <a:r>
              <a:rPr lang="es-CR" dirty="0"/>
              <a:t>Ecuación de proyección </a:t>
            </a:r>
            <a:r>
              <a:rPr lang="es-CR" sz="3600" dirty="0"/>
              <a:t>(Preston, </a:t>
            </a:r>
            <a:r>
              <a:rPr lang="es-CR" sz="3600" dirty="0" err="1"/>
              <a:t>Heuveline</a:t>
            </a:r>
            <a:r>
              <a:rPr lang="es-CR" sz="3600" dirty="0"/>
              <a:t> y Guillot, 2002).</a:t>
            </a:r>
            <a:endParaRPr lang="en-US" sz="3600" dirty="0"/>
          </a:p>
        </p:txBody>
      </p:sp>
      <p:sp>
        <p:nvSpPr>
          <p:cNvPr id="3" name="Marcador de contenido 2">
            <a:extLst>
              <a:ext uri="{FF2B5EF4-FFF2-40B4-BE49-F238E27FC236}">
                <a16:creationId xmlns:a16="http://schemas.microsoft.com/office/drawing/2014/main" id="{83775930-9FF6-7FD3-0103-EC17A370BDF4}"/>
              </a:ext>
            </a:extLst>
          </p:cNvPr>
          <p:cNvSpPr>
            <a:spLocks noGrp="1"/>
          </p:cNvSpPr>
          <p:nvPr>
            <p:ph idx="1"/>
          </p:nvPr>
        </p:nvSpPr>
        <p:spPr>
          <a:xfrm>
            <a:off x="838200" y="1355834"/>
            <a:ext cx="10515600" cy="5249917"/>
          </a:xfrm>
        </p:spPr>
        <p:txBody>
          <a:bodyPr>
            <a:normAutofit/>
          </a:bodyPr>
          <a:lstStyle/>
          <a:p>
            <a:endParaRPr lang="es-ES" dirty="0"/>
          </a:p>
        </p:txBody>
      </p:sp>
    </p:spTree>
    <p:extLst>
      <p:ext uri="{BB962C8B-B14F-4D97-AF65-F5344CB8AC3E}">
        <p14:creationId xmlns:p14="http://schemas.microsoft.com/office/powerpoint/2010/main" val="226964461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2577</TotalTime>
  <Words>812</Words>
  <Application>Microsoft Office PowerPoint</Application>
  <PresentationFormat>Panorámica</PresentationFormat>
  <Paragraphs>61</Paragraphs>
  <Slides>12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Aptos</vt:lpstr>
      <vt:lpstr>Aptos Display</vt:lpstr>
      <vt:lpstr>Arial</vt:lpstr>
      <vt:lpstr>Calibri</vt:lpstr>
      <vt:lpstr>Times New Roman</vt:lpstr>
      <vt:lpstr>Tema de Office</vt:lpstr>
      <vt:lpstr>XS-3010 Introducción a la demografía y bioestadística 2025</vt:lpstr>
      <vt:lpstr>Guía</vt:lpstr>
      <vt:lpstr>Conceptos</vt:lpstr>
      <vt:lpstr>Conceptos</vt:lpstr>
      <vt:lpstr>Conceptos</vt:lpstr>
      <vt:lpstr>Métodos de proyección</vt:lpstr>
      <vt:lpstr>Proyecciones por componentes</vt:lpstr>
      <vt:lpstr>Proyecciones por componentes</vt:lpstr>
      <vt:lpstr>Proyección de la mortalidad</vt:lpstr>
      <vt:lpstr>Proyección de la fecundidad</vt:lpstr>
      <vt:lpstr>Proyección de la migración</vt:lpstr>
      <vt:lpstr>Ecuación de proyección (Preston, Heuveline y Guillot, 2002).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Gilbert Brenes-Camacho</dc:creator>
  <cp:lastModifiedBy>Gilbert Brenes</cp:lastModifiedBy>
  <cp:revision>58</cp:revision>
  <dcterms:created xsi:type="dcterms:W3CDTF">2025-01-10T18:14:17Z</dcterms:created>
  <dcterms:modified xsi:type="dcterms:W3CDTF">2026-03-06T15:41:17Z</dcterms:modified>
</cp:coreProperties>
</file>