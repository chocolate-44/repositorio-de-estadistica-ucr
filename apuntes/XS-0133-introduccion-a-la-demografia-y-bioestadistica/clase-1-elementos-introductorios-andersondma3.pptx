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02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F9E0F-2E37-D02F-547A-10F255FF2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71617-3171-C0BB-7B2D-FFAD6F344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7B137-18FE-FB7D-8BF6-535881DF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E15A3-A9FB-E51A-6027-7A459C71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AEB6A8-87B8-0FE2-8510-B477863A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1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4B53C-26E4-4134-73B5-99607FF8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0AA165-019D-8D97-5339-692E5ECA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95A2F-9947-C6DB-7193-A2165E6B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D0C00C-8058-4459-BB83-F55E2DC1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8232C3-9540-7A94-419A-AEFD82DC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5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BEECA-3AA7-4D32-7042-A8B54A6B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5696CA-D73C-A1A6-BA95-E0D7B4237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58304-32CA-3CA1-1FEA-B54A6997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2470CC-025A-4FA6-3440-70494EFB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8631FF-C52A-37B0-1CB5-4C47A825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5B9E0-5F65-F95C-75A5-FFDFA572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07C85-FC85-A278-CBB6-F7BA37D38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A9137E-6DA1-1130-C0F6-0EFAF2564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43844-8075-2FD4-1CCF-DE1ABECC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5AC555-78FE-1B1B-7737-E79DCF37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3F9F5C-5DFD-32D8-7DB2-B044BEA4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5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255C0-1415-85BE-1165-9C0C54F07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0A1395-0A9F-B80E-E211-F1ACA832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D740BA-BF8A-108D-EACE-225C192F9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784550-95A2-77DC-D665-43372944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31739-FB3E-B2CC-A0DB-6D8ED7CF8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871342-3E4B-6DB6-2FF7-A0D5D2DE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35E8FDE-7414-CF64-FF6E-FEC0CC28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08BCD7-8715-678B-A4B2-84F06478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7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D7687-04E9-D6B1-A4FF-1A9CFCF2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F5849E-DE97-5A76-F782-8354D71D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0C7457-F67A-3A13-2724-40313EE3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9BA60A-5909-F0B8-0EAE-8FAEA753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6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5915CA-E095-FAA6-F2FB-AD27D9CF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3CBB2E-B003-4EBF-5D10-DD61FA6D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DFD563-37EF-1088-2DAD-86E1CDA5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96882-6B5B-134A-1A76-8B29181B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057575-A3C6-3476-6CBD-2E57BA6BF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8DF928-6051-AFCD-7EF8-FFFC297FD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598E56-7530-3052-762D-51C64A13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B0D834-54DF-9448-9C2A-E3F16D77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5B2950-AC42-85DE-D11F-EED4223F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1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BEFF3-A2EC-EED8-FEA5-1DFF3828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66923D-B92D-3492-502B-2AC57CC19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B5D60C-0915-EA6A-7D7B-93EDA3F78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856C2D-73B1-4F36-1491-9038AEE4D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9C87A3-772E-817F-E0BD-CEB52B82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A8470E-36E1-7796-C269-F5FABC64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5BD62-80B5-73AC-247B-557D541B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56E60C-69ED-36D4-E379-D90AA993E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533B8-B990-570F-2FF9-F5CB4C8A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2D7539-EC26-3063-B6AA-BDDD30A4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213976-546D-B209-4AE5-55B62C10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7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032FBA-D46B-9AD9-6A4A-CCC671639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765D1-3113-7EE5-5D68-7C2610512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F1DF9-8FBB-EF60-5CB8-B832135B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117F01-7DF1-4C58-D99D-DDCD2750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479F5B-A745-4D30-0645-6FD930FF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0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587F12-B27F-FB1F-C6A6-F70AD3126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B90C4-B84F-C1FB-760E-72D4EA32F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73809E-B4B5-A1E4-417D-0E7C53210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1F3F1-497C-47B9-A18E-83DECA3909B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296595-A99A-7B3C-D00D-B8BF2287F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634B69-AF7A-9040-FD3E-70FCCA37C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975F5-9759-D9DD-E21A-5B7FE4D54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XS-3010 Introducción a la demografía y bioestadística</a:t>
            </a:r>
            <a:br>
              <a:rPr lang="en-US" dirty="0"/>
            </a:br>
            <a:r>
              <a:rPr lang="en-US" dirty="0"/>
              <a:t>2025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170EDB77-053C-3CF5-F903-3C2FD73B3575}"/>
              </a:ext>
            </a:extLst>
          </p:cNvPr>
          <p:cNvSpPr txBox="1">
            <a:spLocks/>
          </p:cNvSpPr>
          <p:nvPr/>
        </p:nvSpPr>
        <p:spPr>
          <a:xfrm>
            <a:off x="1676400" y="37544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Profesor</a:t>
            </a:r>
            <a:r>
              <a:rPr lang="en-US" dirty="0"/>
              <a:t> Gilbert </a:t>
            </a:r>
            <a:r>
              <a:rPr lang="en-US" dirty="0" err="1"/>
              <a:t>Brenes</a:t>
            </a:r>
            <a:r>
              <a:rPr lang="en-US" dirty="0"/>
              <a:t> Camacho, Grupo 01</a:t>
            </a:r>
          </a:p>
          <a:p>
            <a:endParaRPr lang="en-US" dirty="0"/>
          </a:p>
          <a:p>
            <a:endParaRPr lang="en-US" dirty="0"/>
          </a:p>
          <a:p>
            <a:r>
              <a:rPr lang="es-CR" dirty="0"/>
              <a:t>INTRODUCCIÓN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2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B47C-32F1-1ECC-95EB-A077866F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Guía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D0468-056F-7E17-F512-4EFD0D5D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Definición de demografía:</a:t>
            </a:r>
          </a:p>
          <a:p>
            <a:pPr lvl="1"/>
            <a:r>
              <a:rPr lang="es-CR" dirty="0"/>
              <a:t>¿Qué es cambio demográfico?</a:t>
            </a:r>
          </a:p>
          <a:p>
            <a:pPr lvl="1"/>
            <a:r>
              <a:rPr lang="es-CR" dirty="0"/>
              <a:t>Diferencia entre demografía y estudios de población</a:t>
            </a:r>
          </a:p>
          <a:p>
            <a:r>
              <a:rPr lang="es-CR" dirty="0"/>
              <a:t>Definición de bioestadística:</a:t>
            </a:r>
          </a:p>
          <a:p>
            <a:pPr lvl="1"/>
            <a:r>
              <a:rPr lang="es-CR" dirty="0"/>
              <a:t>Definición general</a:t>
            </a:r>
          </a:p>
          <a:p>
            <a:pPr lvl="1"/>
            <a:r>
              <a:rPr lang="en-US" dirty="0"/>
              <a:t>Desarrollo de las </a:t>
            </a:r>
            <a:r>
              <a:rPr lang="en-US" dirty="0" err="1"/>
              <a:t>técnicas</a:t>
            </a:r>
            <a:r>
              <a:rPr lang="en-US" dirty="0"/>
              <a:t> de </a:t>
            </a:r>
            <a:r>
              <a:rPr lang="en-US" dirty="0" err="1"/>
              <a:t>bioestadística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9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D4E6E-FA53-3D72-C1BC-04F36CAE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¿Qué es demografía?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A1A153-C4B7-1A1F-BDA0-35A0370D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CR" dirty="0"/>
              <a:t>“Ciencia cuyo fin es el estudio de la población humana y que se ocupa de su dimensión, estructura, evolución y caracteres generales, considerados principalmente desde el punto de vista cuantitativo” (IUSSP, según </a:t>
            </a:r>
            <a:r>
              <a:rPr lang="es-CR" dirty="0" err="1"/>
              <a:t>Welti</a:t>
            </a:r>
            <a:r>
              <a:rPr lang="es-CR" dirty="0"/>
              <a:t>, 1997, p.17).</a:t>
            </a:r>
          </a:p>
          <a:p>
            <a:r>
              <a:rPr lang="en-US" dirty="0"/>
              <a:t>“El </a:t>
            </a:r>
            <a:r>
              <a:rPr lang="en-US" dirty="0" err="1"/>
              <a:t>estudio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determinantes</a:t>
            </a:r>
            <a:r>
              <a:rPr lang="en-US" dirty="0"/>
              <a:t> y las </a:t>
            </a:r>
            <a:r>
              <a:rPr lang="en-US" dirty="0" err="1"/>
              <a:t>consecuencias</a:t>
            </a:r>
            <a:r>
              <a:rPr lang="en-US" dirty="0"/>
              <a:t> del </a:t>
            </a:r>
            <a:r>
              <a:rPr lang="en-US" dirty="0" err="1"/>
              <a:t>tamaño</a:t>
            </a:r>
            <a:r>
              <a:rPr lang="en-US" dirty="0"/>
              <a:t> y </a:t>
            </a:r>
            <a:r>
              <a:rPr lang="en-US" dirty="0" err="1"/>
              <a:t>estructura</a:t>
            </a:r>
            <a:r>
              <a:rPr lang="en-US" dirty="0"/>
              <a:t> de la población” (Peston, 1978, </a:t>
            </a:r>
            <a:r>
              <a:rPr lang="en-US" dirty="0" err="1"/>
              <a:t>citado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Welti, 1997, p.17)</a:t>
            </a:r>
          </a:p>
          <a:p>
            <a:r>
              <a:rPr lang="es-ES" dirty="0"/>
              <a:t>“La ciencia que estudia aquellos procesos que determinan la formación, la conservación y la desaparición de las poblaciones. Tales procesos son los de fecundidad, mortalidad y movilidad. La variedad de combinaciones de estos fenómenos, interdependientes entre sí, supone la velocidad de las modificaciones de la población, tanto en sus dimensiones numéricas como en su estructura” (</a:t>
            </a:r>
            <a:r>
              <a:rPr lang="es-ES" dirty="0" err="1"/>
              <a:t>Livi-Bacci</a:t>
            </a:r>
            <a:r>
              <a:rPr lang="es-ES" dirty="0"/>
              <a:t>, 1993, p. 10, citado por Prieto Rosas y </a:t>
            </a:r>
            <a:r>
              <a:rPr lang="es-ES" dirty="0" err="1"/>
              <a:t>Robello</a:t>
            </a:r>
            <a:r>
              <a:rPr lang="es-ES" dirty="0"/>
              <a:t>, 2023, p.1, Cap.1).</a:t>
            </a:r>
          </a:p>
        </p:txBody>
      </p:sp>
    </p:spTree>
    <p:extLst>
      <p:ext uri="{BB962C8B-B14F-4D97-AF65-F5344CB8AC3E}">
        <p14:creationId xmlns:p14="http://schemas.microsoft.com/office/powerpoint/2010/main" val="1821158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F7FD-AE5E-0C0F-7FDB-5211D6027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2B601-3F9F-6557-37DE-A84182D1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393731" cy="2914103"/>
          </a:xfrm>
        </p:spPr>
        <p:txBody>
          <a:bodyPr>
            <a:normAutofit/>
          </a:bodyPr>
          <a:lstStyle/>
          <a:p>
            <a:r>
              <a:rPr lang="es-CR" dirty="0"/>
              <a:t>¿Qué es demografía?</a:t>
            </a:r>
            <a:endParaRPr lang="en-U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83FA5F0-9C89-A489-A81C-9E649E708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75131"/>
            <a:ext cx="10515600" cy="72521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CR" dirty="0"/>
              <a:t>(</a:t>
            </a:r>
            <a:r>
              <a:rPr lang="es-CR" dirty="0" err="1"/>
              <a:t>Weeks</a:t>
            </a:r>
            <a:r>
              <a:rPr lang="es-CR" dirty="0"/>
              <a:t>, 2015,p.13, citado por </a:t>
            </a:r>
            <a:r>
              <a:rPr lang="es-ES" dirty="0"/>
              <a:t>Prieto Rosas y </a:t>
            </a:r>
            <a:r>
              <a:rPr lang="es-ES" dirty="0" err="1"/>
              <a:t>Robello</a:t>
            </a:r>
            <a:r>
              <a:rPr lang="es-ES" dirty="0"/>
              <a:t>, 2023, </a:t>
            </a:r>
            <a:r>
              <a:rPr lang="es-ES"/>
              <a:t>p.2, </a:t>
            </a:r>
            <a:r>
              <a:rPr lang="es-ES" dirty="0"/>
              <a:t>Cap.1</a:t>
            </a:r>
            <a:r>
              <a:rPr lang="es-CR" dirty="0"/>
              <a:t> </a:t>
            </a: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532895-D980-C4A3-29F6-46BF8ADC6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062" y="555870"/>
            <a:ext cx="6925642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94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93F4F-B948-01B7-F19C-C4A4B6CA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9B652-B715-4E7D-F0E1-74611EF8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¿Qué es demografía?: Conceptos claves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A67F79-B22C-B85D-3770-A17DFEAF3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R" dirty="0"/>
              <a:t>Determinantes del cambio poblacional:</a:t>
            </a:r>
          </a:p>
          <a:p>
            <a:pPr lvl="1"/>
            <a:r>
              <a:rPr lang="es-CR" dirty="0"/>
              <a:t>Directos: Nacimientos, defunciones, flujos inmigratorios, y flujos emigratorios.</a:t>
            </a:r>
          </a:p>
          <a:p>
            <a:pPr lvl="1"/>
            <a:r>
              <a:rPr lang="es-CR" dirty="0"/>
              <a:t>Indirectos: Matrimonios y divorcios, métodos anticonceptivos, morbilidad</a:t>
            </a:r>
          </a:p>
          <a:p>
            <a:r>
              <a:rPr lang="es-CR" dirty="0"/>
              <a:t>Estructura poblacional:</a:t>
            </a:r>
          </a:p>
          <a:p>
            <a:pPr lvl="1"/>
            <a:r>
              <a:rPr lang="es-CR" dirty="0"/>
              <a:t>Más básicas: Por sexo, edad y unidad geográfica.</a:t>
            </a:r>
          </a:p>
          <a:p>
            <a:pPr lvl="1"/>
            <a:r>
              <a:rPr lang="es-CR" dirty="0"/>
              <a:t>Otras clasificaciones de estructura: estado conyugal, actividad económica, causas de muerte, etc.</a:t>
            </a:r>
          </a:p>
          <a:p>
            <a:r>
              <a:rPr lang="en-US" dirty="0" err="1"/>
              <a:t>Velocidad</a:t>
            </a:r>
            <a:r>
              <a:rPr lang="en-US" dirty="0"/>
              <a:t> de las </a:t>
            </a:r>
            <a:r>
              <a:rPr lang="en-US" dirty="0" err="1"/>
              <a:t>modificaciones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Tasas</a:t>
            </a:r>
            <a:r>
              <a:rPr lang="en-US" dirty="0"/>
              <a:t> de </a:t>
            </a:r>
            <a:r>
              <a:rPr lang="en-US" dirty="0" err="1"/>
              <a:t>crecimiento</a:t>
            </a:r>
            <a:r>
              <a:rPr lang="en-US" dirty="0"/>
              <a:t> o </a:t>
            </a:r>
            <a:r>
              <a:rPr lang="en-US" dirty="0" err="1"/>
              <a:t>decrecimiento</a:t>
            </a:r>
            <a:r>
              <a:rPr lang="en-US" dirty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867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6035B-2D41-D2A4-FCD4-6C476E51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44599-5C87-38A0-9829-DFE15E87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Conceptos básicos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279F1D-C8A7-6746-8870-6776D224C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R" dirty="0"/>
              <a:t>Estado:</a:t>
            </a:r>
          </a:p>
          <a:p>
            <a:pPr lvl="1"/>
            <a:r>
              <a:rPr lang="es-CR" dirty="0"/>
              <a:t>Relacionado con el concepto “stock” (como en inventarios).</a:t>
            </a:r>
          </a:p>
          <a:p>
            <a:pPr lvl="1"/>
            <a:r>
              <a:rPr lang="es-CR" dirty="0"/>
              <a:t>Se refiere a un momento dado o instante: una fecha, un año. </a:t>
            </a:r>
          </a:p>
          <a:p>
            <a:pPr lvl="1"/>
            <a:r>
              <a:rPr lang="es-CR" dirty="0"/>
              <a:t>Generalmente se mide con censos o encuestas transversales.</a:t>
            </a:r>
          </a:p>
          <a:p>
            <a:pPr lvl="1"/>
            <a:r>
              <a:rPr lang="es-CR" dirty="0"/>
              <a:t>Son características de los sujetos (personas, pero también animales, por ej.)</a:t>
            </a:r>
          </a:p>
          <a:p>
            <a:r>
              <a:rPr lang="es-CR" dirty="0"/>
              <a:t>Movimiento:</a:t>
            </a:r>
          </a:p>
          <a:p>
            <a:pPr lvl="1"/>
            <a:r>
              <a:rPr lang="es-CR" dirty="0"/>
              <a:t>Relacionado con los conceptos de flujo y de cambio poblacional.</a:t>
            </a:r>
          </a:p>
          <a:p>
            <a:pPr lvl="1"/>
            <a:r>
              <a:rPr lang="es-CR" dirty="0"/>
              <a:t>Son características de los sucesos (como nacimientos, defunciones, migraciones).</a:t>
            </a:r>
          </a:p>
          <a:p>
            <a:pPr lvl="1"/>
            <a:r>
              <a:rPr lang="es-CR" dirty="0"/>
              <a:t>Se refiere a un período (durante un año, un mes, un quinquenio, etc.)</a:t>
            </a:r>
          </a:p>
          <a:p>
            <a:pPr lvl="1"/>
            <a:r>
              <a:rPr lang="es-CR" dirty="0"/>
              <a:t>Generalmente se mide con registros (estadísticas vitales) o encuestas longitudinales, aunque se puede medir con información retrospectiva de estudios transversales (censos, encuestas).</a:t>
            </a:r>
          </a:p>
          <a:p>
            <a:pPr lvl="1"/>
            <a:endParaRPr lang="es-CR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991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25C71-D0DF-B360-7506-80681B21C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D2CBE-53B4-20C6-073D-CA07F305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El concepto de cohorte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DB378A-69B2-8CD0-743F-178CDB951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662"/>
            <a:ext cx="10515600" cy="5058213"/>
          </a:xfrm>
        </p:spPr>
        <p:txBody>
          <a:bodyPr>
            <a:normAutofit fontScale="92500" lnSpcReduction="10000"/>
          </a:bodyPr>
          <a:lstStyle/>
          <a:p>
            <a:r>
              <a:rPr lang="es-CR" dirty="0"/>
              <a:t>Uno de los conceptos más particulares de la demografía pero que se usa también en la bioestadística</a:t>
            </a:r>
          </a:p>
          <a:p>
            <a:r>
              <a:rPr lang="es-CR" dirty="0"/>
              <a:t>Se refiere a un conjunto de sujetos que comparten una misma característica durante un momento o período dado.</a:t>
            </a:r>
          </a:p>
          <a:p>
            <a:r>
              <a:rPr lang="es-CR" dirty="0"/>
              <a:t>Se le conoce también como generación.</a:t>
            </a:r>
          </a:p>
          <a:p>
            <a:r>
              <a:rPr lang="es-CR" dirty="0"/>
              <a:t>La cohorte de nacidos en 2005 en Costa Rica son todas las personas que nacieron entre el 1 de enero de 2005 y el 31 de diciembre de 2005 dentro del territorio costarricense.</a:t>
            </a:r>
          </a:p>
          <a:p>
            <a:r>
              <a:rPr lang="es-CR" dirty="0"/>
              <a:t>La cohorte de graduados de la carrera de Estadística en 2024 son todas las personas que obtuvieron el título de bachillerato en Estadística durante el año 2024.</a:t>
            </a:r>
          </a:p>
          <a:p>
            <a:r>
              <a:rPr lang="es-CR" dirty="0"/>
              <a:t>Cohorte sintética:  Una cohorte artificial creada a partir de indicadores demográficos de período.</a:t>
            </a:r>
          </a:p>
          <a:p>
            <a:pPr lvl="1"/>
            <a:endParaRPr lang="es-CR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1235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53C6-7DE1-39A6-0456-9359C702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B1122-E7F0-3139-3C83-86DA918C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Diferencia entre demografía y estudios de población.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1253A0-081F-1866-AF03-BC253FA39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84678"/>
          </a:xfrm>
        </p:spPr>
        <p:txBody>
          <a:bodyPr>
            <a:normAutofit/>
          </a:bodyPr>
          <a:lstStyle/>
          <a:p>
            <a:r>
              <a:rPr lang="es-CR" dirty="0"/>
              <a:t>Mientras la demografía se centra en los aspectos cuantitativos del estado y cambio demográfico, los estudios de población surgen de diversas ciencias que permiten analizar teórica y empíricamente el estado y cambio demográfico:</a:t>
            </a:r>
          </a:p>
          <a:p>
            <a:pPr lvl="1"/>
            <a:endParaRPr lang="es-CR" dirty="0"/>
          </a:p>
          <a:p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DF9B452-F0BD-6233-351D-0D772FE638BB}"/>
              </a:ext>
            </a:extLst>
          </p:cNvPr>
          <p:cNvSpPr txBox="1">
            <a:spLocks/>
          </p:cNvSpPr>
          <p:nvPr/>
        </p:nvSpPr>
        <p:spPr>
          <a:xfrm>
            <a:off x="838200" y="3745241"/>
            <a:ext cx="10515600" cy="2747634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R" dirty="0"/>
              <a:t>Sociología</a:t>
            </a:r>
          </a:p>
          <a:p>
            <a:r>
              <a:rPr lang="es-CR" dirty="0"/>
              <a:t>Economía</a:t>
            </a:r>
          </a:p>
          <a:p>
            <a:r>
              <a:rPr lang="es-CR" dirty="0"/>
              <a:t>Biología</a:t>
            </a:r>
          </a:p>
          <a:p>
            <a:r>
              <a:rPr lang="es-CR" dirty="0"/>
              <a:t>Geografía</a:t>
            </a:r>
          </a:p>
          <a:p>
            <a:r>
              <a:rPr lang="es-CR" dirty="0"/>
              <a:t>Gerontología</a:t>
            </a:r>
          </a:p>
          <a:p>
            <a:r>
              <a:rPr lang="es-CR" dirty="0"/>
              <a:t>Antropología</a:t>
            </a:r>
          </a:p>
          <a:p>
            <a:r>
              <a:rPr lang="es-CR" dirty="0"/>
              <a:t>Psicología</a:t>
            </a:r>
          </a:p>
          <a:p>
            <a:r>
              <a:rPr lang="es-CR" dirty="0"/>
              <a:t>Ciencias Políticas (Políticas de Población, migración)</a:t>
            </a:r>
          </a:p>
          <a:p>
            <a:r>
              <a:rPr lang="es-CR" dirty="0"/>
              <a:t>Y…</a:t>
            </a:r>
          </a:p>
          <a:p>
            <a:r>
              <a:rPr lang="es-CR" dirty="0"/>
              <a:t>Matemática, Estadística y </a:t>
            </a:r>
            <a:r>
              <a:rPr lang="es-CR" dirty="0" err="1"/>
              <a:t>Actuariado</a:t>
            </a:r>
            <a:r>
              <a:rPr lang="es-CR" dirty="0"/>
              <a:t> (más o menos)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8162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6CC3C-5CB5-EDB3-8223-791597119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00892-2438-02B2-DB4C-0FA1D6EB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¿Qué es bioestadística?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5B36F4-F57F-D143-8316-45FA83BD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R" dirty="0"/>
              <a:t>Bioestadística es “la aplicación de principios estadísticos en las ciencias biológicas/biomédicas” (</a:t>
            </a:r>
            <a:r>
              <a:rPr lang="es-CR" dirty="0" err="1"/>
              <a:t>Lachin</a:t>
            </a:r>
            <a:r>
              <a:rPr lang="es-CR" dirty="0"/>
              <a:t>, 2000, p. 2)</a:t>
            </a:r>
          </a:p>
          <a:p>
            <a:r>
              <a:rPr lang="es-CR" dirty="0"/>
              <a:t>La investigación biomédica incluye desde “el estudio de la biología celular a la terapéutica clínica” (</a:t>
            </a:r>
            <a:r>
              <a:rPr lang="es-CR" dirty="0" err="1"/>
              <a:t>Lachin</a:t>
            </a:r>
            <a:r>
              <a:rPr lang="es-CR" dirty="0"/>
              <a:t>, 2000, p.2)</a:t>
            </a:r>
          </a:p>
          <a:p>
            <a:r>
              <a:rPr lang="es-CR" dirty="0"/>
              <a:t>Cuando se estudia las características clínicas de poblaciones, la disciplina se conoce como epidemiología: “el estudio de la distribución y etiología de la enfermedad humana” (</a:t>
            </a:r>
            <a:r>
              <a:rPr lang="es-CR" dirty="0" err="1"/>
              <a:t>Lachin</a:t>
            </a:r>
            <a:r>
              <a:rPr lang="es-CR" dirty="0"/>
              <a:t>, 2000, p.3)</a:t>
            </a:r>
          </a:p>
          <a:p>
            <a:pPr lvl="1"/>
            <a:r>
              <a:rPr lang="es-CR" dirty="0"/>
              <a:t>Esta definición liga a la epidemiología y la bioestadística con la demografía centrada en la salud y la mortalidad.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943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F746-29AE-1097-D16D-27F7E153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F888-D33A-2737-EA61-9ECBDE46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Desarrollo de las técnicas bioestadísticas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DB1BE9-ED97-ACCA-103D-B9103B96D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R" dirty="0"/>
              <a:t>Si bien es cierto la bioestadística incluye toda el área general de las aplicaciones biológicas, el término “bioestadística” se ha ligado más los estudios biomédicos, sobre todo epidemiología y desarrollo de pruebas clínicas.</a:t>
            </a:r>
          </a:p>
          <a:p>
            <a:endParaRPr lang="es-CR"/>
          </a:p>
          <a:p>
            <a:r>
              <a:rPr lang="es-CR" dirty="0"/>
              <a:t>La aplicación bioestadística incluye:</a:t>
            </a:r>
          </a:p>
          <a:p>
            <a:pPr lvl="1"/>
            <a:r>
              <a:rPr lang="es-CR" dirty="0"/>
              <a:t>Tasas de mortalidad y morbilidad y riesgos relativos (conceptos simples)</a:t>
            </a:r>
          </a:p>
          <a:p>
            <a:pPr lvl="1"/>
            <a:r>
              <a:rPr lang="es-ES" dirty="0"/>
              <a:t>Diseño y análisis de ensayos clínicos</a:t>
            </a:r>
          </a:p>
          <a:p>
            <a:pPr lvl="1"/>
            <a:r>
              <a:rPr lang="es-ES" dirty="0"/>
              <a:t>Medidas de abundancia y diversidad microbiológica</a:t>
            </a:r>
          </a:p>
        </p:txBody>
      </p:sp>
    </p:spTree>
    <p:extLst>
      <p:ext uri="{BB962C8B-B14F-4D97-AF65-F5344CB8AC3E}">
        <p14:creationId xmlns:p14="http://schemas.microsoft.com/office/powerpoint/2010/main" val="19575732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835</Words>
  <Application>Microsoft Office PowerPoint</Application>
  <PresentationFormat>Panorámica</PresentationFormat>
  <Paragraphs>69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XS-3010 Introducción a la demografía y bioestadística 2025</vt:lpstr>
      <vt:lpstr>Guía</vt:lpstr>
      <vt:lpstr>¿Qué es demografía?</vt:lpstr>
      <vt:lpstr>¿Qué es demografía?</vt:lpstr>
      <vt:lpstr>¿Qué es demografía?: Conceptos claves</vt:lpstr>
      <vt:lpstr>Conceptos básicos</vt:lpstr>
      <vt:lpstr>El concepto de cohorte</vt:lpstr>
      <vt:lpstr>Diferencia entre demografía y estudios de población.</vt:lpstr>
      <vt:lpstr>¿Qué es bioestadística?</vt:lpstr>
      <vt:lpstr>Desarrollo de las técnicas bioestadísticas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 Brenes-Camacho</dc:creator>
  <cp:lastModifiedBy>Gilbert Brenes-Camacho</cp:lastModifiedBy>
  <cp:revision>7</cp:revision>
  <dcterms:created xsi:type="dcterms:W3CDTF">2025-01-10T18:14:17Z</dcterms:created>
  <dcterms:modified xsi:type="dcterms:W3CDTF">2025-02-27T15:33:06Z</dcterms:modified>
</cp:coreProperties>
</file>