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4" r:id="rId4"/>
    <p:sldId id="323" r:id="rId5"/>
    <p:sldId id="324" r:id="rId6"/>
    <p:sldId id="325" r:id="rId7"/>
    <p:sldId id="326" r:id="rId8"/>
    <p:sldId id="327" r:id="rId9"/>
    <p:sldId id="328" r:id="rId10"/>
    <p:sldId id="329" r:id="rId11"/>
    <p:sldId id="330" r:id="rId12"/>
    <p:sldId id="331" r:id="rId13"/>
    <p:sldId id="312" r:id="rId14"/>
    <p:sldId id="332" r:id="rId15"/>
    <p:sldId id="334" r:id="rId16"/>
    <p:sldId id="333" r:id="rId17"/>
    <p:sldId id="335" r:id="rId18"/>
    <p:sldId id="336" r:id="rId19"/>
    <p:sldId id="337" r:id="rId20"/>
    <p:sldId id="338" r:id="rId21"/>
    <p:sldId id="339" r:id="rId22"/>
    <p:sldId id="340" r:id="rId23"/>
    <p:sldId id="341" r:id="rId24"/>
    <p:sldId id="290" r:id="rId25"/>
    <p:sldId id="343" r:id="rId26"/>
    <p:sldId id="342"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513" autoAdjust="0"/>
    <p:restoredTop sz="94660"/>
  </p:normalViewPr>
  <p:slideViewPr>
    <p:cSldViewPr snapToGrid="0" showGuides="1">
      <p:cViewPr varScale="1">
        <p:scale>
          <a:sx n="74" d="100"/>
          <a:sy n="74" d="100"/>
        </p:scale>
        <p:origin x="605" y="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4F9E0F-2E37-D02F-547A-10F255FF2CC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a:p>
        </p:txBody>
      </p:sp>
      <p:sp>
        <p:nvSpPr>
          <p:cNvPr id="3" name="Subtítulo 2">
            <a:extLst>
              <a:ext uri="{FF2B5EF4-FFF2-40B4-BE49-F238E27FC236}">
                <a16:creationId xmlns:a16="http://schemas.microsoft.com/office/drawing/2014/main" id="{2F671617-3171-C0BB-7B2D-FFAD6F3446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a:p>
        </p:txBody>
      </p:sp>
      <p:sp>
        <p:nvSpPr>
          <p:cNvPr id="4" name="Marcador de fecha 3">
            <a:extLst>
              <a:ext uri="{FF2B5EF4-FFF2-40B4-BE49-F238E27FC236}">
                <a16:creationId xmlns:a16="http://schemas.microsoft.com/office/drawing/2014/main" id="{E747B137-18FE-FB7D-8BF6-535881DF992F}"/>
              </a:ext>
            </a:extLst>
          </p:cNvPr>
          <p:cNvSpPr>
            <a:spLocks noGrp="1"/>
          </p:cNvSpPr>
          <p:nvPr>
            <p:ph type="dt" sz="half" idx="10"/>
          </p:nvPr>
        </p:nvSpPr>
        <p:spPr/>
        <p:txBody>
          <a:bodyPr/>
          <a:lstStyle/>
          <a:p>
            <a:fld id="{B981F3F1-497C-47B9-A18E-83DECA3909B3}" type="datetimeFigureOut">
              <a:rPr lang="en-US" smtClean="0"/>
              <a:t>4/17/2026</a:t>
            </a:fld>
            <a:endParaRPr lang="en-US"/>
          </a:p>
        </p:txBody>
      </p:sp>
      <p:sp>
        <p:nvSpPr>
          <p:cNvPr id="5" name="Marcador de pie de página 4">
            <a:extLst>
              <a:ext uri="{FF2B5EF4-FFF2-40B4-BE49-F238E27FC236}">
                <a16:creationId xmlns:a16="http://schemas.microsoft.com/office/drawing/2014/main" id="{C48E15A3-A9FB-E51A-6027-7A459C71260E}"/>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7DAEB6A8-87B8-0FE2-8510-B477863A1D51}"/>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5685118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14B53C-26E4-4134-73B5-99607FF8E6D6}"/>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3D0AA165-019D-8D97-5339-692E5ECA01D2}"/>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D0A95A2F-9947-C6DB-7193-A2165E6B7508}"/>
              </a:ext>
            </a:extLst>
          </p:cNvPr>
          <p:cNvSpPr>
            <a:spLocks noGrp="1"/>
          </p:cNvSpPr>
          <p:nvPr>
            <p:ph type="dt" sz="half" idx="10"/>
          </p:nvPr>
        </p:nvSpPr>
        <p:spPr/>
        <p:txBody>
          <a:bodyPr/>
          <a:lstStyle/>
          <a:p>
            <a:fld id="{B981F3F1-497C-47B9-A18E-83DECA3909B3}" type="datetimeFigureOut">
              <a:rPr lang="en-US" smtClean="0"/>
              <a:t>4/17/2026</a:t>
            </a:fld>
            <a:endParaRPr lang="en-US"/>
          </a:p>
        </p:txBody>
      </p:sp>
      <p:sp>
        <p:nvSpPr>
          <p:cNvPr id="5" name="Marcador de pie de página 4">
            <a:extLst>
              <a:ext uri="{FF2B5EF4-FFF2-40B4-BE49-F238E27FC236}">
                <a16:creationId xmlns:a16="http://schemas.microsoft.com/office/drawing/2014/main" id="{7CD0C00C-8058-4459-BB83-F55E2DC1BACB}"/>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208232C3-9540-7A94-419A-AEFD82DCDE52}"/>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3655259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CBEECA-3AA7-4D32-7042-A8B54A6B37CE}"/>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3A5696CA-D73C-A1A6-BA95-E0D7B423704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A558304-32CA-3CA1-1FEA-B54A6997C5DC}"/>
              </a:ext>
            </a:extLst>
          </p:cNvPr>
          <p:cNvSpPr>
            <a:spLocks noGrp="1"/>
          </p:cNvSpPr>
          <p:nvPr>
            <p:ph type="dt" sz="half" idx="10"/>
          </p:nvPr>
        </p:nvSpPr>
        <p:spPr/>
        <p:txBody>
          <a:bodyPr/>
          <a:lstStyle/>
          <a:p>
            <a:fld id="{B981F3F1-497C-47B9-A18E-83DECA3909B3}" type="datetimeFigureOut">
              <a:rPr lang="en-US" smtClean="0"/>
              <a:t>4/17/2026</a:t>
            </a:fld>
            <a:endParaRPr lang="en-US"/>
          </a:p>
        </p:txBody>
      </p:sp>
      <p:sp>
        <p:nvSpPr>
          <p:cNvPr id="5" name="Marcador de pie de página 4">
            <a:extLst>
              <a:ext uri="{FF2B5EF4-FFF2-40B4-BE49-F238E27FC236}">
                <a16:creationId xmlns:a16="http://schemas.microsoft.com/office/drawing/2014/main" id="{F62470CC-025A-4FA6-3440-70494EFBF05F}"/>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F78631FF-C52A-37B0-1CB5-4C47A82549D9}"/>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219133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65B9E0-5F65-F95C-75A5-FFDFA572DD9F}"/>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A8C07C85-FC85-A278-CBB6-F7BA37D38765}"/>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contenido 3">
            <a:extLst>
              <a:ext uri="{FF2B5EF4-FFF2-40B4-BE49-F238E27FC236}">
                <a16:creationId xmlns:a16="http://schemas.microsoft.com/office/drawing/2014/main" id="{FDA9137E-6DA1-1130-C0F6-0EFAF25643D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fecha 4">
            <a:extLst>
              <a:ext uri="{FF2B5EF4-FFF2-40B4-BE49-F238E27FC236}">
                <a16:creationId xmlns:a16="http://schemas.microsoft.com/office/drawing/2014/main" id="{1E243844-8075-2FD4-1CCF-DE1ABECC07FA}"/>
              </a:ext>
            </a:extLst>
          </p:cNvPr>
          <p:cNvSpPr>
            <a:spLocks noGrp="1"/>
          </p:cNvSpPr>
          <p:nvPr>
            <p:ph type="dt" sz="half" idx="10"/>
          </p:nvPr>
        </p:nvSpPr>
        <p:spPr/>
        <p:txBody>
          <a:bodyPr/>
          <a:lstStyle/>
          <a:p>
            <a:fld id="{B981F3F1-497C-47B9-A18E-83DECA3909B3}" type="datetimeFigureOut">
              <a:rPr lang="en-US" smtClean="0"/>
              <a:t>4/17/2026</a:t>
            </a:fld>
            <a:endParaRPr lang="en-US"/>
          </a:p>
        </p:txBody>
      </p:sp>
      <p:sp>
        <p:nvSpPr>
          <p:cNvPr id="6" name="Marcador de pie de página 5">
            <a:extLst>
              <a:ext uri="{FF2B5EF4-FFF2-40B4-BE49-F238E27FC236}">
                <a16:creationId xmlns:a16="http://schemas.microsoft.com/office/drawing/2014/main" id="{8B5AC555-78FE-1B1B-7737-E79DCF371535}"/>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F13F9F5C-5DFD-32D8-7DB2-B044BEA4ABD7}"/>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2708259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E255C0-1415-85BE-1165-9C0C54F07781}"/>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BB0A1395-0A9F-B80E-E211-F1ACA83250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FFD740BA-BF8A-108D-EACE-225C192F923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texto 4">
            <a:extLst>
              <a:ext uri="{FF2B5EF4-FFF2-40B4-BE49-F238E27FC236}">
                <a16:creationId xmlns:a16="http://schemas.microsoft.com/office/drawing/2014/main" id="{63784550-95A2-77DC-D665-4337294435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1B531739-FB3E-B2CC-A0DB-6D8ED7CF8A87}"/>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Marcador de fecha 6">
            <a:extLst>
              <a:ext uri="{FF2B5EF4-FFF2-40B4-BE49-F238E27FC236}">
                <a16:creationId xmlns:a16="http://schemas.microsoft.com/office/drawing/2014/main" id="{EE871342-3E4B-6DB6-2FF7-A0D5D2DEFED8}"/>
              </a:ext>
            </a:extLst>
          </p:cNvPr>
          <p:cNvSpPr>
            <a:spLocks noGrp="1"/>
          </p:cNvSpPr>
          <p:nvPr>
            <p:ph type="dt" sz="half" idx="10"/>
          </p:nvPr>
        </p:nvSpPr>
        <p:spPr/>
        <p:txBody>
          <a:bodyPr/>
          <a:lstStyle/>
          <a:p>
            <a:fld id="{B981F3F1-497C-47B9-A18E-83DECA3909B3}" type="datetimeFigureOut">
              <a:rPr lang="en-US" smtClean="0"/>
              <a:t>4/17/2026</a:t>
            </a:fld>
            <a:endParaRPr lang="en-US"/>
          </a:p>
        </p:txBody>
      </p:sp>
      <p:sp>
        <p:nvSpPr>
          <p:cNvPr id="8" name="Marcador de pie de página 7">
            <a:extLst>
              <a:ext uri="{FF2B5EF4-FFF2-40B4-BE49-F238E27FC236}">
                <a16:creationId xmlns:a16="http://schemas.microsoft.com/office/drawing/2014/main" id="{A35E8FDE-7414-CF64-FF6E-FEC0CC281343}"/>
              </a:ext>
            </a:extLst>
          </p:cNvPr>
          <p:cNvSpPr>
            <a:spLocks noGrp="1"/>
          </p:cNvSpPr>
          <p:nvPr>
            <p:ph type="ftr" sz="quarter" idx="11"/>
          </p:nvPr>
        </p:nvSpPr>
        <p:spPr/>
        <p:txBody>
          <a:bodyPr/>
          <a:lstStyle/>
          <a:p>
            <a:endParaRPr lang="en-US"/>
          </a:p>
        </p:txBody>
      </p:sp>
      <p:sp>
        <p:nvSpPr>
          <p:cNvPr id="9" name="Marcador de número de diapositiva 8">
            <a:extLst>
              <a:ext uri="{FF2B5EF4-FFF2-40B4-BE49-F238E27FC236}">
                <a16:creationId xmlns:a16="http://schemas.microsoft.com/office/drawing/2014/main" id="{4508BCD7-8715-678B-A4B2-84F06478DC70}"/>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827172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BD7687-04E9-D6B1-A4FF-1A9CFCF2C80D}"/>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fecha 2">
            <a:extLst>
              <a:ext uri="{FF2B5EF4-FFF2-40B4-BE49-F238E27FC236}">
                <a16:creationId xmlns:a16="http://schemas.microsoft.com/office/drawing/2014/main" id="{89F5849E-DE97-5A76-F782-8354D71D5A58}"/>
              </a:ext>
            </a:extLst>
          </p:cNvPr>
          <p:cNvSpPr>
            <a:spLocks noGrp="1"/>
          </p:cNvSpPr>
          <p:nvPr>
            <p:ph type="dt" sz="half" idx="10"/>
          </p:nvPr>
        </p:nvSpPr>
        <p:spPr/>
        <p:txBody>
          <a:bodyPr/>
          <a:lstStyle/>
          <a:p>
            <a:fld id="{B981F3F1-497C-47B9-A18E-83DECA3909B3}" type="datetimeFigureOut">
              <a:rPr lang="en-US" smtClean="0"/>
              <a:t>4/17/2026</a:t>
            </a:fld>
            <a:endParaRPr lang="en-US"/>
          </a:p>
        </p:txBody>
      </p:sp>
      <p:sp>
        <p:nvSpPr>
          <p:cNvPr id="4" name="Marcador de pie de página 3">
            <a:extLst>
              <a:ext uri="{FF2B5EF4-FFF2-40B4-BE49-F238E27FC236}">
                <a16:creationId xmlns:a16="http://schemas.microsoft.com/office/drawing/2014/main" id="{280C7457-F67A-3A13-2724-40313EE3E676}"/>
              </a:ext>
            </a:extLst>
          </p:cNvPr>
          <p:cNvSpPr>
            <a:spLocks noGrp="1"/>
          </p:cNvSpPr>
          <p:nvPr>
            <p:ph type="ftr" sz="quarter" idx="11"/>
          </p:nvPr>
        </p:nvSpPr>
        <p:spPr/>
        <p:txBody>
          <a:bodyPr/>
          <a:lstStyle/>
          <a:p>
            <a:endParaRPr lang="en-US"/>
          </a:p>
        </p:txBody>
      </p:sp>
      <p:sp>
        <p:nvSpPr>
          <p:cNvPr id="5" name="Marcador de número de diapositiva 4">
            <a:extLst>
              <a:ext uri="{FF2B5EF4-FFF2-40B4-BE49-F238E27FC236}">
                <a16:creationId xmlns:a16="http://schemas.microsoft.com/office/drawing/2014/main" id="{C49BA60A-5909-F0B8-0EAE-8FAEA7530A76}"/>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1725967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35915CA-E095-FAA6-F2FB-AD27D9CF409B}"/>
              </a:ext>
            </a:extLst>
          </p:cNvPr>
          <p:cNvSpPr>
            <a:spLocks noGrp="1"/>
          </p:cNvSpPr>
          <p:nvPr>
            <p:ph type="dt" sz="half" idx="10"/>
          </p:nvPr>
        </p:nvSpPr>
        <p:spPr/>
        <p:txBody>
          <a:bodyPr/>
          <a:lstStyle/>
          <a:p>
            <a:fld id="{B981F3F1-497C-47B9-A18E-83DECA3909B3}" type="datetimeFigureOut">
              <a:rPr lang="en-US" smtClean="0"/>
              <a:t>4/17/2026</a:t>
            </a:fld>
            <a:endParaRPr lang="en-US"/>
          </a:p>
        </p:txBody>
      </p:sp>
      <p:sp>
        <p:nvSpPr>
          <p:cNvPr id="3" name="Marcador de pie de página 2">
            <a:extLst>
              <a:ext uri="{FF2B5EF4-FFF2-40B4-BE49-F238E27FC236}">
                <a16:creationId xmlns:a16="http://schemas.microsoft.com/office/drawing/2014/main" id="{C83CBB2E-B003-4EBF-5D10-DD61FA6D2E1C}"/>
              </a:ext>
            </a:extLst>
          </p:cNvPr>
          <p:cNvSpPr>
            <a:spLocks noGrp="1"/>
          </p:cNvSpPr>
          <p:nvPr>
            <p:ph type="ftr" sz="quarter" idx="11"/>
          </p:nvPr>
        </p:nvSpPr>
        <p:spPr/>
        <p:txBody>
          <a:bodyPr/>
          <a:lstStyle/>
          <a:p>
            <a:endParaRPr lang="en-US"/>
          </a:p>
        </p:txBody>
      </p:sp>
      <p:sp>
        <p:nvSpPr>
          <p:cNvPr id="4" name="Marcador de número de diapositiva 3">
            <a:extLst>
              <a:ext uri="{FF2B5EF4-FFF2-40B4-BE49-F238E27FC236}">
                <a16:creationId xmlns:a16="http://schemas.microsoft.com/office/drawing/2014/main" id="{33DFD563-37EF-1088-2DAD-86E1CDA531B0}"/>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30662189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996882-6B5B-134A-1A76-8B29181B5B1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FF057575-A3C6-3476-6CBD-2E57BA6BF9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texto 3">
            <a:extLst>
              <a:ext uri="{FF2B5EF4-FFF2-40B4-BE49-F238E27FC236}">
                <a16:creationId xmlns:a16="http://schemas.microsoft.com/office/drawing/2014/main" id="{388DF928-6051-AFCD-7EF8-FFFC297FD5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E598E56-7530-3052-762D-51C64A133480}"/>
              </a:ext>
            </a:extLst>
          </p:cNvPr>
          <p:cNvSpPr>
            <a:spLocks noGrp="1"/>
          </p:cNvSpPr>
          <p:nvPr>
            <p:ph type="dt" sz="half" idx="10"/>
          </p:nvPr>
        </p:nvSpPr>
        <p:spPr/>
        <p:txBody>
          <a:bodyPr/>
          <a:lstStyle/>
          <a:p>
            <a:fld id="{B981F3F1-497C-47B9-A18E-83DECA3909B3}" type="datetimeFigureOut">
              <a:rPr lang="en-US" smtClean="0"/>
              <a:t>4/17/2026</a:t>
            </a:fld>
            <a:endParaRPr lang="en-US"/>
          </a:p>
        </p:txBody>
      </p:sp>
      <p:sp>
        <p:nvSpPr>
          <p:cNvPr id="6" name="Marcador de pie de página 5">
            <a:extLst>
              <a:ext uri="{FF2B5EF4-FFF2-40B4-BE49-F238E27FC236}">
                <a16:creationId xmlns:a16="http://schemas.microsoft.com/office/drawing/2014/main" id="{68B0D834-54DF-9448-9C2A-E3F16D772E60}"/>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995B2950-AC42-85DE-D11F-EED4223FFACD}"/>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693913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3BEFF3-A2EC-EED8-FEA5-1DFF3828E72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posición de imagen 2">
            <a:extLst>
              <a:ext uri="{FF2B5EF4-FFF2-40B4-BE49-F238E27FC236}">
                <a16:creationId xmlns:a16="http://schemas.microsoft.com/office/drawing/2014/main" id="{3566923D-B92D-3492-502B-2AC57CC19C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Marcador de texto 3">
            <a:extLst>
              <a:ext uri="{FF2B5EF4-FFF2-40B4-BE49-F238E27FC236}">
                <a16:creationId xmlns:a16="http://schemas.microsoft.com/office/drawing/2014/main" id="{CAB5D60C-0915-EA6A-7D7B-93EDA3F78E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C856C2D-73B1-4F36-1491-9038AEE4DD71}"/>
              </a:ext>
            </a:extLst>
          </p:cNvPr>
          <p:cNvSpPr>
            <a:spLocks noGrp="1"/>
          </p:cNvSpPr>
          <p:nvPr>
            <p:ph type="dt" sz="half" idx="10"/>
          </p:nvPr>
        </p:nvSpPr>
        <p:spPr/>
        <p:txBody>
          <a:bodyPr/>
          <a:lstStyle/>
          <a:p>
            <a:fld id="{B981F3F1-497C-47B9-A18E-83DECA3909B3}" type="datetimeFigureOut">
              <a:rPr lang="en-US" smtClean="0"/>
              <a:t>4/17/2026</a:t>
            </a:fld>
            <a:endParaRPr lang="en-US"/>
          </a:p>
        </p:txBody>
      </p:sp>
      <p:sp>
        <p:nvSpPr>
          <p:cNvPr id="6" name="Marcador de pie de página 5">
            <a:extLst>
              <a:ext uri="{FF2B5EF4-FFF2-40B4-BE49-F238E27FC236}">
                <a16:creationId xmlns:a16="http://schemas.microsoft.com/office/drawing/2014/main" id="{DC9C87A3-772E-817F-E0BD-CEB52B825BE3}"/>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8BA8470E-36E1-7796-C269-F5FABC646D54}"/>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6960195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05BD62-80B5-73AC-247B-557D541BCBCC}"/>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6356E60C-69ED-36D4-E379-D90AA993E819}"/>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128533B8-B990-570F-2FF9-F5CB4C8ACC9C}"/>
              </a:ext>
            </a:extLst>
          </p:cNvPr>
          <p:cNvSpPr>
            <a:spLocks noGrp="1"/>
          </p:cNvSpPr>
          <p:nvPr>
            <p:ph type="dt" sz="half" idx="10"/>
          </p:nvPr>
        </p:nvSpPr>
        <p:spPr/>
        <p:txBody>
          <a:bodyPr/>
          <a:lstStyle/>
          <a:p>
            <a:fld id="{B981F3F1-497C-47B9-A18E-83DECA3909B3}" type="datetimeFigureOut">
              <a:rPr lang="en-US" smtClean="0"/>
              <a:t>4/17/2026</a:t>
            </a:fld>
            <a:endParaRPr lang="en-US"/>
          </a:p>
        </p:txBody>
      </p:sp>
      <p:sp>
        <p:nvSpPr>
          <p:cNvPr id="5" name="Marcador de pie de página 4">
            <a:extLst>
              <a:ext uri="{FF2B5EF4-FFF2-40B4-BE49-F238E27FC236}">
                <a16:creationId xmlns:a16="http://schemas.microsoft.com/office/drawing/2014/main" id="{5A2D7539-EC26-3063-B6AA-BDDD30A4274D}"/>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C6213976-546D-B209-4AE5-55B62C103C11}"/>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3984375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C032FBA-D46B-9AD9-6A4A-CCC671639BF2}"/>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7E0765D1-3113-7EE5-5D68-7C2610512D23}"/>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19BF1DF9-8FBB-EF60-5CB8-B832135B2B50}"/>
              </a:ext>
            </a:extLst>
          </p:cNvPr>
          <p:cNvSpPr>
            <a:spLocks noGrp="1"/>
          </p:cNvSpPr>
          <p:nvPr>
            <p:ph type="dt" sz="half" idx="10"/>
          </p:nvPr>
        </p:nvSpPr>
        <p:spPr/>
        <p:txBody>
          <a:bodyPr/>
          <a:lstStyle/>
          <a:p>
            <a:fld id="{B981F3F1-497C-47B9-A18E-83DECA3909B3}" type="datetimeFigureOut">
              <a:rPr lang="en-US" smtClean="0"/>
              <a:t>4/17/2026</a:t>
            </a:fld>
            <a:endParaRPr lang="en-US"/>
          </a:p>
        </p:txBody>
      </p:sp>
      <p:sp>
        <p:nvSpPr>
          <p:cNvPr id="5" name="Marcador de pie de página 4">
            <a:extLst>
              <a:ext uri="{FF2B5EF4-FFF2-40B4-BE49-F238E27FC236}">
                <a16:creationId xmlns:a16="http://schemas.microsoft.com/office/drawing/2014/main" id="{C4117F01-7DF1-4C58-D99D-DDCD2750329C}"/>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84479F5B-A745-4D30-0645-6FD930FF9504}"/>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3371506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C587F12-B27F-FB1F-C6A6-F70AD31262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F80B90C4-B84F-C1FB-760E-72D4EA32F8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FF73809E-B4B5-A1E4-417D-0E7C532109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981F3F1-497C-47B9-A18E-83DECA3909B3}" type="datetimeFigureOut">
              <a:rPr lang="en-US" smtClean="0"/>
              <a:t>4/17/2026</a:t>
            </a:fld>
            <a:endParaRPr lang="en-US"/>
          </a:p>
        </p:txBody>
      </p:sp>
      <p:sp>
        <p:nvSpPr>
          <p:cNvPr id="5" name="Marcador de pie de página 4">
            <a:extLst>
              <a:ext uri="{FF2B5EF4-FFF2-40B4-BE49-F238E27FC236}">
                <a16:creationId xmlns:a16="http://schemas.microsoft.com/office/drawing/2014/main" id="{D9296595-A99A-7B3C-D00D-B8BF2287F5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Marcador de número de diapositiva 5">
            <a:extLst>
              <a:ext uri="{FF2B5EF4-FFF2-40B4-BE49-F238E27FC236}">
                <a16:creationId xmlns:a16="http://schemas.microsoft.com/office/drawing/2014/main" id="{E2634B69-AF7A-9040-FD3E-70FCCA37CA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844222-9D2F-4AD5-8895-FD8084360767}" type="slidenum">
              <a:rPr lang="en-US" smtClean="0"/>
              <a:t>‹Nº›</a:t>
            </a:fld>
            <a:endParaRPr lang="en-US"/>
          </a:p>
        </p:txBody>
      </p:sp>
    </p:spTree>
    <p:extLst>
      <p:ext uri="{BB962C8B-B14F-4D97-AF65-F5344CB8AC3E}">
        <p14:creationId xmlns:p14="http://schemas.microsoft.com/office/powerpoint/2010/main" val="189311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8975F5-9759-D9DD-E21A-5B7FE4D5467A}"/>
              </a:ext>
            </a:extLst>
          </p:cNvPr>
          <p:cNvSpPr>
            <a:spLocks noGrp="1"/>
          </p:cNvSpPr>
          <p:nvPr>
            <p:ph type="ctrTitle"/>
          </p:nvPr>
        </p:nvSpPr>
        <p:spPr/>
        <p:txBody>
          <a:bodyPr>
            <a:normAutofit fontScale="90000"/>
          </a:bodyPr>
          <a:lstStyle/>
          <a:p>
            <a:r>
              <a:rPr lang="es-CR" dirty="0"/>
              <a:t>XS-3010 Introducción a la demografía y bioestadística</a:t>
            </a:r>
            <a:br>
              <a:rPr lang="en-US" dirty="0"/>
            </a:br>
            <a:r>
              <a:rPr lang="en-US" dirty="0"/>
              <a:t>2025</a:t>
            </a:r>
          </a:p>
        </p:txBody>
      </p:sp>
      <p:sp>
        <p:nvSpPr>
          <p:cNvPr id="3" name="Subtítulo 2">
            <a:extLst>
              <a:ext uri="{FF2B5EF4-FFF2-40B4-BE49-F238E27FC236}">
                <a16:creationId xmlns:a16="http://schemas.microsoft.com/office/drawing/2014/main" id="{D645B192-1ED3-E270-42E8-2C7C1D9FDD4C}"/>
              </a:ext>
            </a:extLst>
          </p:cNvPr>
          <p:cNvSpPr>
            <a:spLocks noGrp="1"/>
          </p:cNvSpPr>
          <p:nvPr>
            <p:ph type="subTitle" idx="1"/>
          </p:nvPr>
        </p:nvSpPr>
        <p:spPr/>
        <p:txBody>
          <a:bodyPr>
            <a:normAutofit lnSpcReduction="10000"/>
          </a:bodyPr>
          <a:lstStyle/>
          <a:p>
            <a:r>
              <a:rPr lang="en-US" dirty="0" err="1"/>
              <a:t>Profesor</a:t>
            </a:r>
            <a:r>
              <a:rPr lang="en-US" dirty="0"/>
              <a:t> Gilbert </a:t>
            </a:r>
            <a:r>
              <a:rPr lang="en-US" dirty="0" err="1"/>
              <a:t>Brenes</a:t>
            </a:r>
            <a:r>
              <a:rPr lang="en-US" dirty="0"/>
              <a:t> Camacho, Grupo 01</a:t>
            </a:r>
          </a:p>
          <a:p>
            <a:endParaRPr lang="en-US" dirty="0"/>
          </a:p>
          <a:p>
            <a:endParaRPr lang="en-US" dirty="0"/>
          </a:p>
          <a:p>
            <a:r>
              <a:rPr lang="es-CR" dirty="0"/>
              <a:t>Tema 5. FECUNDIDAD Y REPRODUCCIÓN</a:t>
            </a:r>
            <a:endParaRPr lang="en-US" dirty="0"/>
          </a:p>
        </p:txBody>
      </p:sp>
    </p:spTree>
    <p:extLst>
      <p:ext uri="{BB962C8B-B14F-4D97-AF65-F5344CB8AC3E}">
        <p14:creationId xmlns:p14="http://schemas.microsoft.com/office/powerpoint/2010/main" val="3347622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E3B47C-32F1-1ECC-95EB-A077866F1A94}"/>
              </a:ext>
            </a:extLst>
          </p:cNvPr>
          <p:cNvSpPr>
            <a:spLocks noGrp="1"/>
          </p:cNvSpPr>
          <p:nvPr>
            <p:ph type="title"/>
          </p:nvPr>
        </p:nvSpPr>
        <p:spPr/>
        <p:txBody>
          <a:bodyPr/>
          <a:lstStyle/>
          <a:p>
            <a:r>
              <a:rPr lang="es-CR" dirty="0"/>
              <a:t>Guía</a:t>
            </a:r>
            <a:endParaRPr lang="en-US" dirty="0"/>
          </a:p>
        </p:txBody>
      </p:sp>
      <p:sp>
        <p:nvSpPr>
          <p:cNvPr id="3" name="Marcador de contenido 2">
            <a:extLst>
              <a:ext uri="{FF2B5EF4-FFF2-40B4-BE49-F238E27FC236}">
                <a16:creationId xmlns:a16="http://schemas.microsoft.com/office/drawing/2014/main" id="{CF7D0468-056F-7E17-F512-4EFD0D5D0ACD}"/>
              </a:ext>
            </a:extLst>
          </p:cNvPr>
          <p:cNvSpPr>
            <a:spLocks noGrp="1"/>
          </p:cNvSpPr>
          <p:nvPr>
            <p:ph idx="1"/>
          </p:nvPr>
        </p:nvSpPr>
        <p:spPr>
          <a:xfrm>
            <a:off x="838200" y="1466193"/>
            <a:ext cx="10515600" cy="5026682"/>
          </a:xfrm>
        </p:spPr>
        <p:txBody>
          <a:bodyPr>
            <a:normAutofit/>
          </a:bodyPr>
          <a:lstStyle/>
          <a:p>
            <a:r>
              <a:rPr lang="es-ES" dirty="0"/>
              <a:t>Naturaleza y factores de la fecundidad humana.</a:t>
            </a:r>
          </a:p>
          <a:p>
            <a:r>
              <a:rPr lang="es-ES" dirty="0"/>
              <a:t>Medidas de la fecundidad</a:t>
            </a:r>
          </a:p>
          <a:p>
            <a:r>
              <a:rPr lang="es-ES" dirty="0"/>
              <a:t>Fecundidad por edades: características y tendencias.</a:t>
            </a:r>
          </a:p>
          <a:p>
            <a:r>
              <a:rPr lang="es-ES" dirty="0"/>
              <a:t>Tasa intrínseca de crecimiento y el concepto de inercia de la población</a:t>
            </a:r>
          </a:p>
          <a:p>
            <a:r>
              <a:rPr lang="es-ES" dirty="0"/>
              <a:t>Reproducción en epidemiología: La tasa R</a:t>
            </a:r>
          </a:p>
          <a:p>
            <a:pPr lvl="1"/>
            <a:endParaRPr lang="es-CR" dirty="0"/>
          </a:p>
        </p:txBody>
      </p:sp>
    </p:spTree>
    <p:extLst>
      <p:ext uri="{BB962C8B-B14F-4D97-AF65-F5344CB8AC3E}">
        <p14:creationId xmlns:p14="http://schemas.microsoft.com/office/powerpoint/2010/main" val="2883932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0F746-29AE-1097-D16D-27F7E1537C6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79EF888-D33A-2737-EA61-9ECBDE469D0C}"/>
              </a:ext>
            </a:extLst>
          </p:cNvPr>
          <p:cNvSpPr>
            <a:spLocks noGrp="1"/>
          </p:cNvSpPr>
          <p:nvPr>
            <p:ph type="title"/>
          </p:nvPr>
        </p:nvSpPr>
        <p:spPr>
          <a:xfrm>
            <a:off x="838200" y="365125"/>
            <a:ext cx="10515600" cy="738461"/>
          </a:xfrm>
        </p:spPr>
        <p:txBody>
          <a:bodyPr/>
          <a:lstStyle/>
          <a:p>
            <a:r>
              <a:rPr lang="es-CR" dirty="0"/>
              <a:t>Conceptos</a:t>
            </a:r>
            <a:endParaRPr lang="en-US" dirty="0"/>
          </a:p>
        </p:txBody>
      </p:sp>
      <p:sp>
        <p:nvSpPr>
          <p:cNvPr id="3" name="Marcador de contenido 2">
            <a:extLst>
              <a:ext uri="{FF2B5EF4-FFF2-40B4-BE49-F238E27FC236}">
                <a16:creationId xmlns:a16="http://schemas.microsoft.com/office/drawing/2014/main" id="{E6DB1BE9-ED97-ACCA-103D-B9103B96DC99}"/>
              </a:ext>
            </a:extLst>
          </p:cNvPr>
          <p:cNvSpPr>
            <a:spLocks noGrp="1"/>
          </p:cNvSpPr>
          <p:nvPr>
            <p:ph idx="1"/>
          </p:nvPr>
        </p:nvSpPr>
        <p:spPr>
          <a:xfrm>
            <a:off x="838200" y="1355834"/>
            <a:ext cx="10515600" cy="5249917"/>
          </a:xfrm>
        </p:spPr>
        <p:txBody>
          <a:bodyPr>
            <a:normAutofit/>
          </a:bodyPr>
          <a:lstStyle/>
          <a:p>
            <a:r>
              <a:rPr lang="es-ES" dirty="0"/>
              <a:t>Fecundidad: “El número promedio de nacimientos por mujer (o por persona)”</a:t>
            </a:r>
          </a:p>
          <a:p>
            <a:pPr lvl="1"/>
            <a:r>
              <a:rPr lang="es-ES" dirty="0"/>
              <a:t>Otras definiciones: “la frecuencia de nacimientos pero restringida a grupos en edad de procrear)” (Gómez, 1984).  </a:t>
            </a:r>
          </a:p>
          <a:p>
            <a:pPr lvl="1"/>
            <a:r>
              <a:rPr lang="es-ES" dirty="0"/>
              <a:t>Vale mencionar que en inglés, el término fecundidad se traduce como </a:t>
            </a:r>
            <a:r>
              <a:rPr lang="es-ES" dirty="0" err="1"/>
              <a:t>fertility</a:t>
            </a:r>
            <a:r>
              <a:rPr lang="es-ES" dirty="0"/>
              <a:t> y en francés como </a:t>
            </a:r>
            <a:r>
              <a:rPr lang="es-ES" dirty="0" err="1"/>
              <a:t>fecondité</a:t>
            </a:r>
            <a:r>
              <a:rPr lang="es-ES" dirty="0"/>
              <a:t>. </a:t>
            </a:r>
          </a:p>
          <a:p>
            <a:endParaRPr lang="es-ES" dirty="0"/>
          </a:p>
          <a:p>
            <a:r>
              <a:rPr lang="es-ES" dirty="0"/>
              <a:t>Natalidad:   Indica la frecuencia de nacimientos en una población global durante un período de tiempo definido.  </a:t>
            </a:r>
          </a:p>
        </p:txBody>
      </p:sp>
    </p:spTree>
    <p:extLst>
      <p:ext uri="{BB962C8B-B14F-4D97-AF65-F5344CB8AC3E}">
        <p14:creationId xmlns:p14="http://schemas.microsoft.com/office/powerpoint/2010/main" val="19575732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1CBDF-1302-85F5-ABD7-ABC3F049C1B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02DC705-3AE8-4409-9B52-6E7E0C32908F}"/>
              </a:ext>
            </a:extLst>
          </p:cNvPr>
          <p:cNvSpPr>
            <a:spLocks noGrp="1"/>
          </p:cNvSpPr>
          <p:nvPr>
            <p:ph type="title"/>
          </p:nvPr>
        </p:nvSpPr>
        <p:spPr>
          <a:xfrm>
            <a:off x="838200" y="365125"/>
            <a:ext cx="10515600" cy="738461"/>
          </a:xfrm>
        </p:spPr>
        <p:txBody>
          <a:bodyPr/>
          <a:lstStyle/>
          <a:p>
            <a:r>
              <a:rPr lang="es-CR" dirty="0"/>
              <a:t>Conceptos</a:t>
            </a:r>
            <a:endParaRPr lang="en-US" dirty="0"/>
          </a:p>
        </p:txBody>
      </p:sp>
      <p:sp>
        <p:nvSpPr>
          <p:cNvPr id="3" name="Marcador de contenido 2">
            <a:extLst>
              <a:ext uri="{FF2B5EF4-FFF2-40B4-BE49-F238E27FC236}">
                <a16:creationId xmlns:a16="http://schemas.microsoft.com/office/drawing/2014/main" id="{A6693463-7CC7-9EDD-C3B0-A2A109293E9F}"/>
              </a:ext>
            </a:extLst>
          </p:cNvPr>
          <p:cNvSpPr>
            <a:spLocks noGrp="1"/>
          </p:cNvSpPr>
          <p:nvPr>
            <p:ph idx="1"/>
          </p:nvPr>
        </p:nvSpPr>
        <p:spPr>
          <a:xfrm>
            <a:off x="838200" y="1355834"/>
            <a:ext cx="10515600" cy="5249917"/>
          </a:xfrm>
        </p:spPr>
        <p:txBody>
          <a:bodyPr>
            <a:normAutofit fontScale="92500" lnSpcReduction="20000"/>
          </a:bodyPr>
          <a:lstStyle/>
          <a:p>
            <a:r>
              <a:rPr lang="es-ES" dirty="0"/>
              <a:t>Fertilidad:  La capacidad biológica efectiva de una mujer, hombre o pareja para procrear (producir un nacimiento).  La fecundidad se refiere entonces a una capacidad potencial, mientras que la fecundidad a los hechos.  </a:t>
            </a:r>
          </a:p>
          <a:p>
            <a:endParaRPr lang="es-ES" dirty="0"/>
          </a:p>
          <a:p>
            <a:r>
              <a:rPr lang="es-ES" dirty="0"/>
              <a:t>Infertilidad o esterilidad:  La incapacidad de una mujer, hombre o pareja para procrear.  Desde el punto de vista demográfico (no médico), la infertilidad puede ser involuntaria o voluntaria (por medio de métodos de planificación familiar).  </a:t>
            </a:r>
          </a:p>
          <a:p>
            <a:endParaRPr lang="es-ES" dirty="0"/>
          </a:p>
          <a:p>
            <a:r>
              <a:rPr lang="es-ES" dirty="0"/>
              <a:t>Período fértil </a:t>
            </a:r>
            <a:r>
              <a:rPr lang="es-ES" dirty="0" err="1"/>
              <a:t>ó</a:t>
            </a:r>
            <a:r>
              <a:rPr lang="es-ES" dirty="0"/>
              <a:t> edad reproductiva:  Es el período durante el cual una mujer puede quedar embarazada.  </a:t>
            </a:r>
          </a:p>
          <a:p>
            <a:pPr lvl="1"/>
            <a:r>
              <a:rPr lang="es-ES" dirty="0"/>
              <a:t>Biológicamente, el período fértil se da entre la menarquía (primera menstruación, que puede ocurrir alrededor de los 11 años de edad) y la menopausia (cesación natural de la menstruación, alrededor de la </a:t>
            </a:r>
            <a:r>
              <a:rPr lang="es-ES" dirty="0" err="1"/>
              <a:t>edd</a:t>
            </a:r>
            <a:r>
              <a:rPr lang="es-ES" dirty="0"/>
              <a:t> 50).  </a:t>
            </a:r>
          </a:p>
        </p:txBody>
      </p:sp>
    </p:spTree>
    <p:extLst>
      <p:ext uri="{BB962C8B-B14F-4D97-AF65-F5344CB8AC3E}">
        <p14:creationId xmlns:p14="http://schemas.microsoft.com/office/powerpoint/2010/main" val="18617729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DC838-823D-0602-4D5E-C15D1B2934B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657CEDA-4A80-901D-B2F4-A7EDF6621FFC}"/>
              </a:ext>
            </a:extLst>
          </p:cNvPr>
          <p:cNvSpPr>
            <a:spLocks noGrp="1"/>
          </p:cNvSpPr>
          <p:nvPr>
            <p:ph type="title"/>
          </p:nvPr>
        </p:nvSpPr>
        <p:spPr>
          <a:xfrm>
            <a:off x="838200" y="365125"/>
            <a:ext cx="10515600" cy="738461"/>
          </a:xfrm>
        </p:spPr>
        <p:txBody>
          <a:bodyPr/>
          <a:lstStyle/>
          <a:p>
            <a:r>
              <a:rPr lang="es-CR" dirty="0"/>
              <a:t>Conceptos</a:t>
            </a:r>
            <a:endParaRPr lang="en-US" dirty="0"/>
          </a:p>
        </p:txBody>
      </p:sp>
      <p:sp>
        <p:nvSpPr>
          <p:cNvPr id="3" name="Marcador de contenido 2">
            <a:extLst>
              <a:ext uri="{FF2B5EF4-FFF2-40B4-BE49-F238E27FC236}">
                <a16:creationId xmlns:a16="http://schemas.microsoft.com/office/drawing/2014/main" id="{ADBD49E2-869B-69E1-839B-61CDC77D7C85}"/>
              </a:ext>
            </a:extLst>
          </p:cNvPr>
          <p:cNvSpPr>
            <a:spLocks noGrp="1"/>
          </p:cNvSpPr>
          <p:nvPr>
            <p:ph idx="1"/>
          </p:nvPr>
        </p:nvSpPr>
        <p:spPr>
          <a:xfrm>
            <a:off x="838200" y="1355834"/>
            <a:ext cx="10515600" cy="5249917"/>
          </a:xfrm>
        </p:spPr>
        <p:txBody>
          <a:bodyPr>
            <a:normAutofit fontScale="92500" lnSpcReduction="10000"/>
          </a:bodyPr>
          <a:lstStyle/>
          <a:p>
            <a:r>
              <a:rPr lang="es-ES" dirty="0"/>
              <a:t>Fecundidad marital:  El número de nacimientos que una mujer o pareja tienen durante sus años de matrimonio.  </a:t>
            </a:r>
          </a:p>
          <a:p>
            <a:pPr lvl="1"/>
            <a:r>
              <a:rPr lang="es-ES" dirty="0"/>
              <a:t>En países en los que las uniones consensuales son comunes, se incluye dentro de este concepto a los nacimientos que se dan en este tipo de uniones.  </a:t>
            </a:r>
          </a:p>
          <a:p>
            <a:endParaRPr lang="es-ES" dirty="0"/>
          </a:p>
          <a:p>
            <a:r>
              <a:rPr lang="es-ES" dirty="0"/>
              <a:t>Fecundidad natural:  Se refiere al número promedio </a:t>
            </a:r>
            <a:r>
              <a:rPr lang="es-ES" dirty="0" err="1"/>
              <a:t>ó</a:t>
            </a:r>
            <a:r>
              <a:rPr lang="es-ES" dirty="0"/>
              <a:t> máximo de nacimientos que una mujer puede procrear en ausencia de elementos externos o internos que contribuyan a disminuir la fertilidad, o sea, en ausencia de uso de métodos de planificación familiar </a:t>
            </a:r>
          </a:p>
          <a:p>
            <a:pPr lvl="1"/>
            <a:r>
              <a:rPr lang="es-ES" dirty="0"/>
              <a:t>(</a:t>
            </a:r>
            <a:r>
              <a:rPr lang="es-ES" dirty="0" err="1"/>
              <a:t>Huteritas</a:t>
            </a:r>
            <a:r>
              <a:rPr lang="es-ES" dirty="0"/>
              <a:t>: promedio=9, máximo=15).  </a:t>
            </a:r>
          </a:p>
          <a:p>
            <a:endParaRPr lang="es-ES" dirty="0"/>
          </a:p>
          <a:p>
            <a:r>
              <a:rPr lang="es-ES" dirty="0"/>
              <a:t>Fecundidad controlada:  Número de nacimientos procreados cuando una mujer (o un hombre o una pareja) usa voluntariamente tecnologías o comportamientos para reducir el número potencial de nacimientos. </a:t>
            </a:r>
            <a:endParaRPr lang="es-CR" dirty="0"/>
          </a:p>
        </p:txBody>
      </p:sp>
    </p:spTree>
    <p:extLst>
      <p:ext uri="{BB962C8B-B14F-4D97-AF65-F5344CB8AC3E}">
        <p14:creationId xmlns:p14="http://schemas.microsoft.com/office/powerpoint/2010/main" val="3020647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BE64B-F9EC-6C03-2A96-C4EE0A492B5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9413120-C685-EAD2-2BA8-B6022F9A8E4A}"/>
              </a:ext>
            </a:extLst>
          </p:cNvPr>
          <p:cNvSpPr>
            <a:spLocks noGrp="1"/>
          </p:cNvSpPr>
          <p:nvPr>
            <p:ph type="title"/>
          </p:nvPr>
        </p:nvSpPr>
        <p:spPr>
          <a:xfrm>
            <a:off x="838200" y="365125"/>
            <a:ext cx="10515600" cy="738461"/>
          </a:xfrm>
        </p:spPr>
        <p:txBody>
          <a:bodyPr/>
          <a:lstStyle/>
          <a:p>
            <a:r>
              <a:rPr lang="es-CR" dirty="0"/>
              <a:t>Conceptos</a:t>
            </a:r>
            <a:endParaRPr lang="en-US" dirty="0"/>
          </a:p>
        </p:txBody>
      </p:sp>
      <p:sp>
        <p:nvSpPr>
          <p:cNvPr id="3" name="Marcador de contenido 2">
            <a:extLst>
              <a:ext uri="{FF2B5EF4-FFF2-40B4-BE49-F238E27FC236}">
                <a16:creationId xmlns:a16="http://schemas.microsoft.com/office/drawing/2014/main" id="{03DF87BB-7546-55E6-2FC1-BC8D355C0127}"/>
              </a:ext>
            </a:extLst>
          </p:cNvPr>
          <p:cNvSpPr>
            <a:spLocks noGrp="1"/>
          </p:cNvSpPr>
          <p:nvPr>
            <p:ph idx="1"/>
          </p:nvPr>
        </p:nvSpPr>
        <p:spPr>
          <a:xfrm>
            <a:off x="838200" y="1355834"/>
            <a:ext cx="10515600" cy="5249917"/>
          </a:xfrm>
        </p:spPr>
        <p:txBody>
          <a:bodyPr>
            <a:normAutofit/>
          </a:bodyPr>
          <a:lstStyle/>
          <a:p>
            <a:r>
              <a:rPr lang="es-ES" dirty="0" err="1"/>
              <a:t>Fecundabilidad</a:t>
            </a:r>
            <a:r>
              <a:rPr lang="es-ES" dirty="0"/>
              <a:t>:  La probabilidad de que una mujer sexualmente activa, que no está tratando de controlar su fecundidad, conciba un nacimiento durante su ciclo menstrual. </a:t>
            </a:r>
          </a:p>
          <a:p>
            <a:endParaRPr lang="es-ES" dirty="0"/>
          </a:p>
          <a:p>
            <a:r>
              <a:rPr lang="es-ES" dirty="0"/>
              <a:t>Nacido vivo: Un nacido vivo es un producto de la concepción que tenga algún signo de vida después de la expulsión o extracción completa del cuerpo de la madre. </a:t>
            </a:r>
            <a:endParaRPr lang="es-CR" dirty="0"/>
          </a:p>
        </p:txBody>
      </p:sp>
    </p:spTree>
    <p:extLst>
      <p:ext uri="{BB962C8B-B14F-4D97-AF65-F5344CB8AC3E}">
        <p14:creationId xmlns:p14="http://schemas.microsoft.com/office/powerpoint/2010/main" val="1501849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F33C2-F17D-6772-7CE0-2C54896FBD5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EFD2590-B6C4-D498-B0C3-4BBD7C56FAB5}"/>
              </a:ext>
            </a:extLst>
          </p:cNvPr>
          <p:cNvSpPr>
            <a:spLocks noGrp="1"/>
          </p:cNvSpPr>
          <p:nvPr>
            <p:ph type="title"/>
          </p:nvPr>
        </p:nvSpPr>
        <p:spPr>
          <a:xfrm>
            <a:off x="614855" y="365125"/>
            <a:ext cx="11020097" cy="1558268"/>
          </a:xfrm>
        </p:spPr>
        <p:txBody>
          <a:bodyPr>
            <a:normAutofit/>
          </a:bodyPr>
          <a:lstStyle/>
          <a:p>
            <a:r>
              <a:rPr lang="es-ES" dirty="0"/>
              <a:t>Determinantes próximos de la fecundidad </a:t>
            </a:r>
            <a:r>
              <a:rPr lang="es-ES" sz="3100" dirty="0"/>
              <a:t>(Tomado del curso del Prof. Edwin Chaves, en: http://ccp.ucr.ac.cr/cursos/demografia_03/):</a:t>
            </a:r>
            <a:endParaRPr lang="en-US" sz="3100" dirty="0"/>
          </a:p>
        </p:txBody>
      </p:sp>
      <p:sp>
        <p:nvSpPr>
          <p:cNvPr id="3" name="Marcador de contenido 2">
            <a:extLst>
              <a:ext uri="{FF2B5EF4-FFF2-40B4-BE49-F238E27FC236}">
                <a16:creationId xmlns:a16="http://schemas.microsoft.com/office/drawing/2014/main" id="{EB110FF7-1F82-B42D-71D6-028303E4D869}"/>
              </a:ext>
            </a:extLst>
          </p:cNvPr>
          <p:cNvSpPr>
            <a:spLocks noGrp="1"/>
          </p:cNvSpPr>
          <p:nvPr>
            <p:ph idx="1"/>
          </p:nvPr>
        </p:nvSpPr>
        <p:spPr>
          <a:xfrm>
            <a:off x="614855" y="2096814"/>
            <a:ext cx="10738945" cy="4508937"/>
          </a:xfrm>
        </p:spPr>
        <p:txBody>
          <a:bodyPr>
            <a:normAutofit lnSpcReduction="10000"/>
          </a:bodyPr>
          <a:lstStyle/>
          <a:p>
            <a:r>
              <a:rPr lang="es-ES" dirty="0"/>
              <a:t>Dos marcos más conocidos para explicar qué determina el nivel de fecundidad:</a:t>
            </a:r>
          </a:p>
          <a:p>
            <a:pPr lvl="1"/>
            <a:r>
              <a:rPr lang="es-ES" dirty="0"/>
              <a:t>Davis y Blake (1956) “</a:t>
            </a:r>
            <a:r>
              <a:rPr lang="es-ES" dirty="0" err="1"/>
              <a:t>Intermediate</a:t>
            </a:r>
            <a:r>
              <a:rPr lang="es-ES" dirty="0"/>
              <a:t> </a:t>
            </a:r>
            <a:r>
              <a:rPr lang="es-ES" dirty="0" err="1"/>
              <a:t>Fertility</a:t>
            </a:r>
            <a:r>
              <a:rPr lang="es-ES" dirty="0"/>
              <a:t> Variables” </a:t>
            </a:r>
          </a:p>
          <a:p>
            <a:pPr lvl="2"/>
            <a:r>
              <a:rPr lang="es-ES" sz="2400" dirty="0"/>
              <a:t>11 variables intermedias</a:t>
            </a:r>
          </a:p>
          <a:p>
            <a:pPr lvl="1"/>
            <a:r>
              <a:rPr lang="es-ES" dirty="0" err="1"/>
              <a:t>Bongaarts</a:t>
            </a:r>
            <a:r>
              <a:rPr lang="es-ES" dirty="0"/>
              <a:t> (1978) “</a:t>
            </a:r>
            <a:r>
              <a:rPr lang="es-ES" dirty="0" err="1"/>
              <a:t>Proximate</a:t>
            </a:r>
            <a:r>
              <a:rPr lang="es-ES" dirty="0"/>
              <a:t> </a:t>
            </a:r>
            <a:r>
              <a:rPr lang="es-ES" dirty="0" err="1"/>
              <a:t>Determinants</a:t>
            </a:r>
            <a:r>
              <a:rPr lang="es-ES" dirty="0"/>
              <a:t> </a:t>
            </a:r>
            <a:r>
              <a:rPr lang="es-ES" dirty="0" err="1"/>
              <a:t>of</a:t>
            </a:r>
            <a:r>
              <a:rPr lang="es-ES" dirty="0"/>
              <a:t> </a:t>
            </a:r>
            <a:r>
              <a:rPr lang="es-ES" dirty="0" err="1"/>
              <a:t>Fertility</a:t>
            </a:r>
            <a:r>
              <a:rPr lang="es-ES" dirty="0"/>
              <a:t>”.  </a:t>
            </a:r>
          </a:p>
          <a:p>
            <a:pPr lvl="2"/>
            <a:r>
              <a:rPr lang="es-ES" sz="2400" dirty="0"/>
              <a:t>4  factores que explicaban la mayor parte de la variabilidad de la fecundidad: </a:t>
            </a:r>
          </a:p>
          <a:p>
            <a:pPr lvl="3"/>
            <a:r>
              <a:rPr lang="es-ES" sz="2400" dirty="0"/>
              <a:t>la nupcialidad, </a:t>
            </a:r>
          </a:p>
          <a:p>
            <a:pPr lvl="3"/>
            <a:r>
              <a:rPr lang="es-ES" sz="2400" dirty="0"/>
              <a:t>el control de la natalidad (anticoncepción), </a:t>
            </a:r>
          </a:p>
          <a:p>
            <a:pPr lvl="3"/>
            <a:r>
              <a:rPr lang="es-ES" sz="2400" dirty="0"/>
              <a:t>aborto inducido, </a:t>
            </a:r>
          </a:p>
          <a:p>
            <a:pPr lvl="3"/>
            <a:r>
              <a:rPr lang="es-ES" sz="2400" dirty="0"/>
              <a:t>y duración de la amenorrea </a:t>
            </a:r>
            <a:r>
              <a:rPr lang="es-ES" sz="2400" dirty="0" err="1"/>
              <a:t>post-parto</a:t>
            </a:r>
            <a:r>
              <a:rPr lang="es-ES" sz="2400" dirty="0"/>
              <a:t> (como principal representante de </a:t>
            </a:r>
            <a:r>
              <a:rPr lang="es-ES" sz="2400" dirty="0" err="1"/>
              <a:t>infecundabilidad</a:t>
            </a:r>
            <a:r>
              <a:rPr lang="es-ES" sz="2400" dirty="0"/>
              <a:t>). </a:t>
            </a:r>
            <a:endParaRPr lang="es-CR" sz="2400" dirty="0"/>
          </a:p>
        </p:txBody>
      </p:sp>
    </p:spTree>
    <p:extLst>
      <p:ext uri="{BB962C8B-B14F-4D97-AF65-F5344CB8AC3E}">
        <p14:creationId xmlns:p14="http://schemas.microsoft.com/office/powerpoint/2010/main" val="58756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B9654-4A53-0706-FBB1-19E402F7622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E0A6207-DCB8-668F-DECE-42003880F39E}"/>
              </a:ext>
            </a:extLst>
          </p:cNvPr>
          <p:cNvSpPr>
            <a:spLocks noGrp="1"/>
          </p:cNvSpPr>
          <p:nvPr>
            <p:ph type="title"/>
          </p:nvPr>
        </p:nvSpPr>
        <p:spPr>
          <a:xfrm>
            <a:off x="614855" y="365125"/>
            <a:ext cx="11020097" cy="1195661"/>
          </a:xfrm>
        </p:spPr>
        <p:txBody>
          <a:bodyPr>
            <a:normAutofit/>
          </a:bodyPr>
          <a:lstStyle/>
          <a:p>
            <a:r>
              <a:rPr lang="es-ES" dirty="0"/>
              <a:t>Nupcialidad</a:t>
            </a:r>
            <a:endParaRPr lang="en-US" sz="3100" dirty="0"/>
          </a:p>
        </p:txBody>
      </p:sp>
      <p:sp>
        <p:nvSpPr>
          <p:cNvPr id="3" name="Marcador de contenido 2">
            <a:extLst>
              <a:ext uri="{FF2B5EF4-FFF2-40B4-BE49-F238E27FC236}">
                <a16:creationId xmlns:a16="http://schemas.microsoft.com/office/drawing/2014/main" id="{14463DC9-65F3-6AC5-9F28-F9E161B72DF4}"/>
              </a:ext>
            </a:extLst>
          </p:cNvPr>
          <p:cNvSpPr>
            <a:spLocks noGrp="1"/>
          </p:cNvSpPr>
          <p:nvPr>
            <p:ph idx="1"/>
          </p:nvPr>
        </p:nvSpPr>
        <p:spPr>
          <a:xfrm>
            <a:off x="614855" y="1749972"/>
            <a:ext cx="10738945" cy="4855779"/>
          </a:xfrm>
        </p:spPr>
        <p:txBody>
          <a:bodyPr>
            <a:normAutofit/>
          </a:bodyPr>
          <a:lstStyle/>
          <a:p>
            <a:r>
              <a:rPr lang="es-ES" dirty="0"/>
              <a:t>La </a:t>
            </a:r>
            <a:r>
              <a:rPr lang="es-ES" dirty="0" err="1"/>
              <a:t>nupcialidd</a:t>
            </a:r>
            <a:r>
              <a:rPr lang="es-ES" dirty="0"/>
              <a:t> se refiere a los patrones de formación de la familia a través de la unión de parejas.  La proporción de mujeres que está casadas se aproxima al concepto de exposición a la relación coital.  En poblaciones con fecundidad natural (ausencia de control de la natalidad), los patrones reproductivos están altamente influenciados por la formación de parejas.</a:t>
            </a:r>
            <a:endParaRPr lang="es-CR" sz="2400" dirty="0"/>
          </a:p>
        </p:txBody>
      </p:sp>
    </p:spTree>
    <p:extLst>
      <p:ext uri="{BB962C8B-B14F-4D97-AF65-F5344CB8AC3E}">
        <p14:creationId xmlns:p14="http://schemas.microsoft.com/office/powerpoint/2010/main" val="828354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20CC4-38E3-5BC5-D7E6-5E56B1C46CA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D8EC9CA-54E3-EC40-365E-FB56144F1DDF}"/>
              </a:ext>
            </a:extLst>
          </p:cNvPr>
          <p:cNvSpPr>
            <a:spLocks noGrp="1"/>
          </p:cNvSpPr>
          <p:nvPr>
            <p:ph type="title"/>
          </p:nvPr>
        </p:nvSpPr>
        <p:spPr>
          <a:xfrm>
            <a:off x="614855" y="365125"/>
            <a:ext cx="11020097" cy="1195661"/>
          </a:xfrm>
        </p:spPr>
        <p:txBody>
          <a:bodyPr>
            <a:normAutofit/>
          </a:bodyPr>
          <a:lstStyle/>
          <a:p>
            <a:r>
              <a:rPr lang="es-ES" dirty="0" err="1"/>
              <a:t>Anticoncepci</a:t>
            </a:r>
            <a:r>
              <a:rPr lang="es-CR" dirty="0" err="1"/>
              <a:t>ón</a:t>
            </a:r>
            <a:endParaRPr lang="en-US" sz="3100" dirty="0"/>
          </a:p>
        </p:txBody>
      </p:sp>
      <p:sp>
        <p:nvSpPr>
          <p:cNvPr id="3" name="Marcador de contenido 2">
            <a:extLst>
              <a:ext uri="{FF2B5EF4-FFF2-40B4-BE49-F238E27FC236}">
                <a16:creationId xmlns:a16="http://schemas.microsoft.com/office/drawing/2014/main" id="{5D50C0D1-64CF-A7F5-8CA5-3C5304842E92}"/>
              </a:ext>
            </a:extLst>
          </p:cNvPr>
          <p:cNvSpPr>
            <a:spLocks noGrp="1"/>
          </p:cNvSpPr>
          <p:nvPr>
            <p:ph idx="1"/>
          </p:nvPr>
        </p:nvSpPr>
        <p:spPr>
          <a:xfrm>
            <a:off x="614855" y="1749972"/>
            <a:ext cx="10738945" cy="4855779"/>
          </a:xfrm>
        </p:spPr>
        <p:txBody>
          <a:bodyPr>
            <a:normAutofit lnSpcReduction="10000"/>
          </a:bodyPr>
          <a:lstStyle/>
          <a:p>
            <a:r>
              <a:rPr lang="es-ES" dirty="0"/>
              <a:t>Varios estudios han mostrado que el descenso tan rápido que hubo de la fecundidad durante el siglo XX puede ser explicado por la popularización de los métodos de </a:t>
            </a:r>
            <a:r>
              <a:rPr lang="es-ES" dirty="0" err="1"/>
              <a:t>planficación</a:t>
            </a:r>
            <a:r>
              <a:rPr lang="es-ES" dirty="0"/>
              <a:t> familiar.  En el artículo seminal de </a:t>
            </a:r>
            <a:r>
              <a:rPr lang="es-ES" dirty="0" err="1"/>
              <a:t>Bongaarts</a:t>
            </a:r>
            <a:r>
              <a:rPr lang="es-ES" dirty="0"/>
              <a:t> (1978) se demuestra la importancia del uso de anticoncepción para explicar las diferencias entre países desde los setentas.  Los métodos de </a:t>
            </a:r>
            <a:r>
              <a:rPr lang="es-ES" dirty="0" err="1"/>
              <a:t>planficación</a:t>
            </a:r>
            <a:r>
              <a:rPr lang="es-ES" dirty="0"/>
              <a:t> familiar más frecuentemente usados son: </a:t>
            </a:r>
          </a:p>
          <a:p>
            <a:pPr lvl="1"/>
            <a:r>
              <a:rPr lang="es-ES" sz="2000" dirty="0"/>
              <a:t>Métodos hormonales: Inyecciones, </a:t>
            </a:r>
            <a:r>
              <a:rPr lang="es-ES" sz="2000" dirty="0" err="1"/>
              <a:t>anticoncepctivos</a:t>
            </a:r>
            <a:r>
              <a:rPr lang="es-ES" sz="2000" dirty="0"/>
              <a:t> orales (la píldora), y parches hormonales.  </a:t>
            </a:r>
          </a:p>
          <a:p>
            <a:pPr lvl="1"/>
            <a:r>
              <a:rPr lang="es-ES" sz="2000" dirty="0"/>
              <a:t>Métodos de barrera: condones, diafragmas, y Dispositivos </a:t>
            </a:r>
            <a:r>
              <a:rPr lang="es-ES" sz="2000" dirty="0" err="1"/>
              <a:t>Intrauternios</a:t>
            </a:r>
            <a:r>
              <a:rPr lang="es-ES" sz="2000" dirty="0"/>
              <a:t> (DIU). </a:t>
            </a:r>
          </a:p>
          <a:p>
            <a:pPr lvl="1"/>
            <a:r>
              <a:rPr lang="es-ES" sz="2000" dirty="0" err="1"/>
              <a:t>Esterlización</a:t>
            </a:r>
            <a:r>
              <a:rPr lang="es-ES" sz="2000" dirty="0"/>
              <a:t> voluntaria: </a:t>
            </a:r>
            <a:r>
              <a:rPr lang="es-ES" sz="2000" dirty="0" err="1"/>
              <a:t>Salpingectomías</a:t>
            </a:r>
            <a:r>
              <a:rPr lang="es-ES" sz="2000" dirty="0"/>
              <a:t> (esterilización femenina) y vasectomía (esterilización masculina). </a:t>
            </a:r>
          </a:p>
          <a:p>
            <a:pPr lvl="1"/>
            <a:r>
              <a:rPr lang="es-ES" sz="2000" dirty="0"/>
              <a:t>Métodos “</a:t>
            </a:r>
            <a:r>
              <a:rPr lang="es-ES" sz="2000" dirty="0" err="1"/>
              <a:t>naturals</a:t>
            </a:r>
            <a:r>
              <a:rPr lang="es-ES" sz="2000" dirty="0"/>
              <a:t>”: Abstinencia, retiro (“coitus interruptus”) y el método “Billings” (que es una variante del método del ritmo). </a:t>
            </a:r>
          </a:p>
          <a:p>
            <a:pPr lvl="1"/>
            <a:endParaRPr lang="es-CR" sz="2000" dirty="0"/>
          </a:p>
        </p:txBody>
      </p:sp>
    </p:spTree>
    <p:extLst>
      <p:ext uri="{BB962C8B-B14F-4D97-AF65-F5344CB8AC3E}">
        <p14:creationId xmlns:p14="http://schemas.microsoft.com/office/powerpoint/2010/main" val="11041102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4AA98-7426-9028-FFF4-815D9DFA03A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3FE841C-D208-E0DF-C300-E0C4A4653608}"/>
              </a:ext>
            </a:extLst>
          </p:cNvPr>
          <p:cNvSpPr>
            <a:spLocks noGrp="1"/>
          </p:cNvSpPr>
          <p:nvPr>
            <p:ph type="title"/>
          </p:nvPr>
        </p:nvSpPr>
        <p:spPr>
          <a:xfrm>
            <a:off x="614855" y="365125"/>
            <a:ext cx="11020097" cy="1195661"/>
          </a:xfrm>
        </p:spPr>
        <p:txBody>
          <a:bodyPr>
            <a:normAutofit/>
          </a:bodyPr>
          <a:lstStyle/>
          <a:p>
            <a:r>
              <a:rPr lang="es-ES" dirty="0" err="1"/>
              <a:t>Anticoncepci</a:t>
            </a:r>
            <a:r>
              <a:rPr lang="es-CR" dirty="0" err="1"/>
              <a:t>ón</a:t>
            </a:r>
            <a:endParaRPr lang="en-US" sz="3100" dirty="0"/>
          </a:p>
        </p:txBody>
      </p:sp>
      <p:sp>
        <p:nvSpPr>
          <p:cNvPr id="3" name="Marcador de contenido 2">
            <a:extLst>
              <a:ext uri="{FF2B5EF4-FFF2-40B4-BE49-F238E27FC236}">
                <a16:creationId xmlns:a16="http://schemas.microsoft.com/office/drawing/2014/main" id="{ADFC0377-09A5-8347-F54D-3C56C2C4FF2A}"/>
              </a:ext>
            </a:extLst>
          </p:cNvPr>
          <p:cNvSpPr>
            <a:spLocks noGrp="1"/>
          </p:cNvSpPr>
          <p:nvPr>
            <p:ph idx="1"/>
          </p:nvPr>
        </p:nvSpPr>
        <p:spPr>
          <a:xfrm>
            <a:off x="614855" y="1749972"/>
            <a:ext cx="10738945" cy="4855779"/>
          </a:xfrm>
        </p:spPr>
        <p:txBody>
          <a:bodyPr>
            <a:normAutofit/>
          </a:bodyPr>
          <a:lstStyle/>
          <a:p>
            <a:r>
              <a:rPr lang="es-ES" dirty="0"/>
              <a:t>En la utilización de los métodos anticonceptivos, existen fundamentalmente dos aspectos que motivan su utilización.: </a:t>
            </a:r>
          </a:p>
          <a:p>
            <a:pPr lvl="1"/>
            <a:r>
              <a:rPr lang="es-ES" dirty="0"/>
              <a:t>Espaciar los nacimientos:  </a:t>
            </a:r>
          </a:p>
          <a:p>
            <a:pPr lvl="1"/>
            <a:r>
              <a:rPr lang="es-ES" dirty="0"/>
              <a:t>Limitar el número de hijos:   </a:t>
            </a:r>
          </a:p>
          <a:p>
            <a:pPr lvl="2"/>
            <a:r>
              <a:rPr lang="es-ES" dirty="0"/>
              <a:t>El concepto de necesidades insatisfechas de anticoncepción plantea que hay mujeres o parejas que están listas y con deseos de controlar su fecundidad, pero tienen problemas de acceso a dichos métodos. </a:t>
            </a:r>
            <a:endParaRPr lang="es-CR" dirty="0"/>
          </a:p>
        </p:txBody>
      </p:sp>
    </p:spTree>
    <p:extLst>
      <p:ext uri="{BB962C8B-B14F-4D97-AF65-F5344CB8AC3E}">
        <p14:creationId xmlns:p14="http://schemas.microsoft.com/office/powerpoint/2010/main" val="35545503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2F26B-C110-B007-53D6-DC86AFB0694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AB69972-7389-E69D-3D37-1E8B5D6CC5E5}"/>
              </a:ext>
            </a:extLst>
          </p:cNvPr>
          <p:cNvSpPr>
            <a:spLocks noGrp="1"/>
          </p:cNvSpPr>
          <p:nvPr>
            <p:ph type="title"/>
          </p:nvPr>
        </p:nvSpPr>
        <p:spPr>
          <a:xfrm>
            <a:off x="614855" y="365125"/>
            <a:ext cx="11020097" cy="1195661"/>
          </a:xfrm>
        </p:spPr>
        <p:txBody>
          <a:bodyPr>
            <a:normAutofit/>
          </a:bodyPr>
          <a:lstStyle/>
          <a:p>
            <a:r>
              <a:rPr lang="es-ES" dirty="0"/>
              <a:t>Aborto inducido</a:t>
            </a:r>
            <a:endParaRPr lang="en-US" sz="3100" dirty="0"/>
          </a:p>
        </p:txBody>
      </p:sp>
      <p:sp>
        <p:nvSpPr>
          <p:cNvPr id="3" name="Marcador de contenido 2">
            <a:extLst>
              <a:ext uri="{FF2B5EF4-FFF2-40B4-BE49-F238E27FC236}">
                <a16:creationId xmlns:a16="http://schemas.microsoft.com/office/drawing/2014/main" id="{EF939C71-0952-701E-09A3-1E692895F71A}"/>
              </a:ext>
            </a:extLst>
          </p:cNvPr>
          <p:cNvSpPr>
            <a:spLocks noGrp="1"/>
          </p:cNvSpPr>
          <p:nvPr>
            <p:ph idx="1"/>
          </p:nvPr>
        </p:nvSpPr>
        <p:spPr>
          <a:xfrm>
            <a:off x="614855" y="1749972"/>
            <a:ext cx="10738945" cy="4855779"/>
          </a:xfrm>
        </p:spPr>
        <p:txBody>
          <a:bodyPr>
            <a:normAutofit/>
          </a:bodyPr>
          <a:lstStyle/>
          <a:p>
            <a:r>
              <a:rPr lang="es-ES" dirty="0"/>
              <a:t>El efecto del aborto inducido es difícil de analizar debido a las normas sociales y culturales que lo convierten en tema tabú.  </a:t>
            </a:r>
          </a:p>
          <a:p>
            <a:endParaRPr lang="es-ES" dirty="0"/>
          </a:p>
          <a:p>
            <a:r>
              <a:rPr lang="es-ES" dirty="0"/>
              <a:t>En varios países, especialmente del mundo en desarrollo, el aborto es legalmente tipificado como un delito que se castiga con prisión (Cook, Dickens and </a:t>
            </a:r>
            <a:r>
              <a:rPr lang="es-ES" dirty="0" err="1"/>
              <a:t>Bliss</a:t>
            </a:r>
            <a:r>
              <a:rPr lang="es-ES" dirty="0"/>
              <a:t>, 1999; Boland and </a:t>
            </a:r>
            <a:r>
              <a:rPr lang="es-ES" dirty="0" err="1"/>
              <a:t>Katzive</a:t>
            </a:r>
            <a:r>
              <a:rPr lang="es-ES" dirty="0"/>
              <a:t>, 2008).  </a:t>
            </a:r>
          </a:p>
          <a:p>
            <a:endParaRPr lang="es-ES" dirty="0"/>
          </a:p>
          <a:p>
            <a:r>
              <a:rPr lang="es-ES" dirty="0"/>
              <a:t>La prevalencia de aborto inducido se ha estimado por medio de métodos demográficos indirectos.  Sin embargo, estas cifras están sujetas a sesgos importantes e imprecisiones. </a:t>
            </a:r>
            <a:endParaRPr lang="es-CR" dirty="0"/>
          </a:p>
        </p:txBody>
      </p:sp>
    </p:spTree>
    <p:extLst>
      <p:ext uri="{BB962C8B-B14F-4D97-AF65-F5344CB8AC3E}">
        <p14:creationId xmlns:p14="http://schemas.microsoft.com/office/powerpoint/2010/main" val="221777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450CF-0E53-69C6-AEAD-49F66CB80FE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80B8A6E-B0FC-EF2F-F036-E23BE0D8E73B}"/>
              </a:ext>
            </a:extLst>
          </p:cNvPr>
          <p:cNvSpPr>
            <a:spLocks noGrp="1"/>
          </p:cNvSpPr>
          <p:nvPr>
            <p:ph type="title"/>
          </p:nvPr>
        </p:nvSpPr>
        <p:spPr>
          <a:xfrm>
            <a:off x="614855" y="365125"/>
            <a:ext cx="11020097" cy="1195661"/>
          </a:xfrm>
        </p:spPr>
        <p:txBody>
          <a:bodyPr>
            <a:normAutofit fontScale="90000"/>
          </a:bodyPr>
          <a:lstStyle/>
          <a:p>
            <a:r>
              <a:rPr lang="es-ES" dirty="0"/>
              <a:t>Amenorrea </a:t>
            </a:r>
            <a:r>
              <a:rPr lang="es-ES" dirty="0" err="1"/>
              <a:t>post-parto</a:t>
            </a:r>
            <a:r>
              <a:rPr lang="es-ES" dirty="0"/>
              <a:t> a través de la lactancia materna</a:t>
            </a:r>
            <a:endParaRPr lang="en-US" sz="3100" dirty="0"/>
          </a:p>
        </p:txBody>
      </p:sp>
      <p:sp>
        <p:nvSpPr>
          <p:cNvPr id="3" name="Marcador de contenido 2">
            <a:extLst>
              <a:ext uri="{FF2B5EF4-FFF2-40B4-BE49-F238E27FC236}">
                <a16:creationId xmlns:a16="http://schemas.microsoft.com/office/drawing/2014/main" id="{77764DFA-EEC9-AD4E-217C-FEF2C43FA5EF}"/>
              </a:ext>
            </a:extLst>
          </p:cNvPr>
          <p:cNvSpPr>
            <a:spLocks noGrp="1"/>
          </p:cNvSpPr>
          <p:nvPr>
            <p:ph idx="1"/>
          </p:nvPr>
        </p:nvSpPr>
        <p:spPr>
          <a:xfrm>
            <a:off x="614855" y="1749972"/>
            <a:ext cx="10738945" cy="4855779"/>
          </a:xfrm>
        </p:spPr>
        <p:txBody>
          <a:bodyPr>
            <a:normAutofit/>
          </a:bodyPr>
          <a:lstStyle/>
          <a:p>
            <a:r>
              <a:rPr lang="es-ES" dirty="0"/>
              <a:t>Después de un parto, una mujer tiene en promedio 1.5 meses durante los cuales los cambios hormonales evitan que vuelva a quedar embarazada; este período de 1.5 meses es típicamente el promedio de tiempo entre el parto y la primera menstruación después del parto.  </a:t>
            </a:r>
          </a:p>
          <a:p>
            <a:endParaRPr lang="es-ES" dirty="0"/>
          </a:p>
          <a:p>
            <a:r>
              <a:rPr lang="es-ES" dirty="0"/>
              <a:t>Sin embargo, si la mujer está amamantando, presenta cambios hormonales que puede inhibir la ovulación, disminuyendo la probabilidad de quedar embarazada (</a:t>
            </a:r>
            <a:r>
              <a:rPr lang="es-ES" dirty="0" err="1"/>
              <a:t>fecundabilidad</a:t>
            </a:r>
            <a:r>
              <a:rPr lang="es-ES" dirty="0"/>
              <a:t>). </a:t>
            </a:r>
            <a:endParaRPr lang="es-CR" dirty="0"/>
          </a:p>
        </p:txBody>
      </p:sp>
    </p:spTree>
    <p:extLst>
      <p:ext uri="{BB962C8B-B14F-4D97-AF65-F5344CB8AC3E}">
        <p14:creationId xmlns:p14="http://schemas.microsoft.com/office/powerpoint/2010/main" val="4601342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C8C86-0399-63B8-47B0-9F673A15CAB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CAC5F9F-F941-BFA8-477B-5E0B23BDDE11}"/>
              </a:ext>
            </a:extLst>
          </p:cNvPr>
          <p:cNvSpPr>
            <a:spLocks noGrp="1"/>
          </p:cNvSpPr>
          <p:nvPr>
            <p:ph type="title"/>
          </p:nvPr>
        </p:nvSpPr>
        <p:spPr/>
        <p:txBody>
          <a:bodyPr/>
          <a:lstStyle/>
          <a:p>
            <a:r>
              <a:rPr lang="es-CR" dirty="0"/>
              <a:t>Medidas de Fecundidad</a:t>
            </a:r>
            <a:endParaRPr lang="en-U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F346DE52-D6CF-C6ED-3A9F-EFD2077DA236}"/>
                  </a:ext>
                </a:extLst>
              </p:cNvPr>
              <p:cNvSpPr>
                <a:spLocks noGrp="1"/>
              </p:cNvSpPr>
              <p:nvPr>
                <p:ph idx="1"/>
              </p:nvPr>
            </p:nvSpPr>
            <p:spPr>
              <a:xfrm>
                <a:off x="838200" y="1825624"/>
                <a:ext cx="10515600" cy="4780127"/>
              </a:xfrm>
            </p:spPr>
            <p:txBody>
              <a:bodyPr>
                <a:normAutofit/>
              </a:bodyPr>
              <a:lstStyle/>
              <a:p>
                <a:r>
                  <a:rPr lang="es-CR" dirty="0"/>
                  <a:t>Tasa Bruta de Natalidad (TBN): </a:t>
                </a:r>
              </a:p>
              <a:p>
                <a:pPr lvl="1"/>
                <a14:m>
                  <m:oMath xmlns:m="http://schemas.openxmlformats.org/officeDocument/2006/math">
                    <m:r>
                      <a:rPr lang="es-CR" i="1">
                        <a:latin typeface="Cambria Math" panose="02040503050406030204" pitchFamily="18" charset="0"/>
                      </a:rPr>
                      <m:t>𝑇𝐵𝑁</m:t>
                    </m:r>
                    <m:r>
                      <a:rPr lang="es-CR" i="1">
                        <a:latin typeface="Cambria Math" panose="02040503050406030204" pitchFamily="18" charset="0"/>
                      </a:rPr>
                      <m:t>=</m:t>
                    </m:r>
                    <m:f>
                      <m:fPr>
                        <m:ctrlPr>
                          <a:rPr lang="es-CR" i="1">
                            <a:latin typeface="Cambria Math" panose="02040503050406030204" pitchFamily="18" charset="0"/>
                          </a:rPr>
                        </m:ctrlPr>
                      </m:fPr>
                      <m:num>
                        <m:r>
                          <a:rPr lang="es-CR" b="0" i="1" smtClean="0">
                            <a:latin typeface="Cambria Math" panose="02040503050406030204" pitchFamily="18" charset="0"/>
                          </a:rPr>
                          <m:t>𝑃𝑟𝑜𝑚𝑒𝑑𝑖𝑜</m:t>
                        </m:r>
                        <m:r>
                          <a:rPr lang="es-CR" b="0" i="1" smtClean="0">
                            <a:latin typeface="Cambria Math" panose="02040503050406030204" pitchFamily="18" charset="0"/>
                          </a:rPr>
                          <m:t> </m:t>
                        </m:r>
                        <m:r>
                          <a:rPr lang="es-CR" b="0" i="1" smtClean="0">
                            <a:latin typeface="Cambria Math" panose="02040503050406030204" pitchFamily="18" charset="0"/>
                          </a:rPr>
                          <m:t>𝑑𝑒</m:t>
                        </m:r>
                        <m:r>
                          <a:rPr lang="es-CR" b="0" i="1" smtClean="0">
                            <a:latin typeface="Cambria Math" panose="02040503050406030204" pitchFamily="18" charset="0"/>
                          </a:rPr>
                          <m:t> </m:t>
                        </m:r>
                        <m:r>
                          <a:rPr lang="es-CR" i="1">
                            <a:latin typeface="Cambria Math" panose="02040503050406030204" pitchFamily="18" charset="0"/>
                          </a:rPr>
                          <m:t>𝑁𝑎𝑐𝑖𝑚𝑖𝑒𝑛𝑡𝑜𝑠</m:t>
                        </m:r>
                        <m:r>
                          <a:rPr lang="es-CR" i="1">
                            <a:latin typeface="Cambria Math" panose="02040503050406030204" pitchFamily="18" charset="0"/>
                          </a:rPr>
                          <m:t> </m:t>
                        </m:r>
                        <m:r>
                          <a:rPr lang="es-CR" i="1">
                            <a:latin typeface="Cambria Math" panose="02040503050406030204" pitchFamily="18" charset="0"/>
                          </a:rPr>
                          <m:t>𝑑𝑒𝑙</m:t>
                        </m:r>
                        <m:r>
                          <a:rPr lang="es-CR" i="1">
                            <a:latin typeface="Cambria Math" panose="02040503050406030204" pitchFamily="18" charset="0"/>
                          </a:rPr>
                          <m:t> </m:t>
                        </m:r>
                        <m:r>
                          <a:rPr lang="es-CR" i="1">
                            <a:latin typeface="Cambria Math" panose="02040503050406030204" pitchFamily="18" charset="0"/>
                          </a:rPr>
                          <m:t>𝑝𝑒𝑟</m:t>
                        </m:r>
                        <m:r>
                          <a:rPr lang="es-CR" i="1">
                            <a:latin typeface="Cambria Math" panose="02040503050406030204" pitchFamily="18" charset="0"/>
                          </a:rPr>
                          <m:t>í</m:t>
                        </m:r>
                        <m:r>
                          <a:rPr lang="es-CR" i="1">
                            <a:latin typeface="Cambria Math" panose="02040503050406030204" pitchFamily="18" charset="0"/>
                          </a:rPr>
                          <m:t>𝑜𝑑𝑜</m:t>
                        </m:r>
                        <m:r>
                          <a:rPr lang="es-CR" i="1">
                            <a:latin typeface="Cambria Math" panose="02040503050406030204" pitchFamily="18" charset="0"/>
                          </a:rPr>
                          <m:t> </m:t>
                        </m:r>
                        <m:r>
                          <a:rPr lang="es-CR" i="1">
                            <a:latin typeface="Cambria Math" panose="02040503050406030204" pitchFamily="18" charset="0"/>
                          </a:rPr>
                          <m:t>𝑡</m:t>
                        </m:r>
                      </m:num>
                      <m:den>
                        <m:r>
                          <a:rPr lang="es-CR" i="1">
                            <a:latin typeface="Cambria Math" panose="02040503050406030204" pitchFamily="18" charset="0"/>
                          </a:rPr>
                          <m:t>𝑃𝑜𝑏𝑙𝑎𝑐𝑖</m:t>
                        </m:r>
                        <m:r>
                          <a:rPr lang="es-CR" i="1">
                            <a:latin typeface="Cambria Math" panose="02040503050406030204" pitchFamily="18" charset="0"/>
                          </a:rPr>
                          <m:t>ó</m:t>
                        </m:r>
                        <m:r>
                          <a:rPr lang="es-CR" i="1">
                            <a:latin typeface="Cambria Math" panose="02040503050406030204" pitchFamily="18" charset="0"/>
                          </a:rPr>
                          <m:t>𝑛</m:t>
                        </m:r>
                        <m:r>
                          <a:rPr lang="es-CR" i="1">
                            <a:latin typeface="Cambria Math" panose="02040503050406030204" pitchFamily="18" charset="0"/>
                          </a:rPr>
                          <m:t> </m:t>
                        </m:r>
                        <m:r>
                          <a:rPr lang="es-CR" i="1">
                            <a:latin typeface="Cambria Math" panose="02040503050406030204" pitchFamily="18" charset="0"/>
                          </a:rPr>
                          <m:t>𝑎</m:t>
                        </m:r>
                        <m:r>
                          <a:rPr lang="es-CR" i="1">
                            <a:latin typeface="Cambria Math" panose="02040503050406030204" pitchFamily="18" charset="0"/>
                          </a:rPr>
                          <m:t> </m:t>
                        </m:r>
                        <m:r>
                          <a:rPr lang="es-CR" i="1">
                            <a:latin typeface="Cambria Math" panose="02040503050406030204" pitchFamily="18" charset="0"/>
                          </a:rPr>
                          <m:t>𝑚𝑖𝑡𝑎𝑑</m:t>
                        </m:r>
                        <m:r>
                          <a:rPr lang="es-CR" i="1">
                            <a:latin typeface="Cambria Math" panose="02040503050406030204" pitchFamily="18" charset="0"/>
                          </a:rPr>
                          <m:t> </m:t>
                        </m:r>
                        <m:r>
                          <a:rPr lang="es-CR" i="1">
                            <a:latin typeface="Cambria Math" panose="02040503050406030204" pitchFamily="18" charset="0"/>
                          </a:rPr>
                          <m:t>𝑑𝑒𝑙</m:t>
                        </m:r>
                        <m:r>
                          <a:rPr lang="es-CR" i="1">
                            <a:latin typeface="Cambria Math" panose="02040503050406030204" pitchFamily="18" charset="0"/>
                          </a:rPr>
                          <m:t> </m:t>
                        </m:r>
                        <m:r>
                          <a:rPr lang="es-CR" i="1">
                            <a:latin typeface="Cambria Math" panose="02040503050406030204" pitchFamily="18" charset="0"/>
                          </a:rPr>
                          <m:t>𝑝𝑒𝑟</m:t>
                        </m:r>
                        <m:r>
                          <a:rPr lang="es-CR" i="1">
                            <a:latin typeface="Cambria Math" panose="02040503050406030204" pitchFamily="18" charset="0"/>
                          </a:rPr>
                          <m:t>í</m:t>
                        </m:r>
                        <m:r>
                          <a:rPr lang="es-CR" i="1">
                            <a:latin typeface="Cambria Math" panose="02040503050406030204" pitchFamily="18" charset="0"/>
                          </a:rPr>
                          <m:t>𝑜𝑑𝑜</m:t>
                        </m:r>
                        <m:r>
                          <a:rPr lang="es-CR" i="1">
                            <a:latin typeface="Cambria Math" panose="02040503050406030204" pitchFamily="18" charset="0"/>
                          </a:rPr>
                          <m:t> </m:t>
                        </m:r>
                        <m:r>
                          <a:rPr lang="es-CR" i="1">
                            <a:latin typeface="Cambria Math" panose="02040503050406030204" pitchFamily="18" charset="0"/>
                          </a:rPr>
                          <m:t>𝑡</m:t>
                        </m:r>
                      </m:den>
                    </m:f>
                    <m:r>
                      <a:rPr lang="es-CR" i="1">
                        <a:latin typeface="Cambria Math" panose="02040503050406030204" pitchFamily="18" charset="0"/>
                      </a:rPr>
                      <m:t>∗1000</m:t>
                    </m:r>
                  </m:oMath>
                </a14:m>
                <a:endParaRPr lang="es-CR" dirty="0"/>
              </a:p>
              <a:p>
                <a:endParaRPr lang="es-ES" dirty="0"/>
              </a:p>
              <a:p>
                <a:r>
                  <a:rPr lang="es-ES" dirty="0"/>
                  <a:t>Relación (</a:t>
                </a:r>
                <a:r>
                  <a:rPr lang="es-ES" dirty="0" err="1"/>
                  <a:t>ó</a:t>
                </a:r>
                <a:r>
                  <a:rPr lang="es-ES" dirty="0"/>
                  <a:t> Razón) Niño-Mujer RNM: </a:t>
                </a:r>
              </a:p>
              <a:p>
                <a:pPr lvl="1"/>
                <a14:m>
                  <m:oMath xmlns:m="http://schemas.openxmlformats.org/officeDocument/2006/math">
                    <m:r>
                      <a:rPr lang="en-US" i="1" smtClean="0">
                        <a:effectLst/>
                        <a:latin typeface="Cambria Math" panose="02040503050406030204" pitchFamily="18" charset="0"/>
                        <a:ea typeface="Calibri" panose="020F0502020204030204" pitchFamily="34" charset="0"/>
                        <a:cs typeface="Times New Roman" panose="02020603050405020304" pitchFamily="18" charset="0"/>
                      </a:rPr>
                      <m:t>𝑅𝑁𝑀</m:t>
                    </m:r>
                    <m:r>
                      <a:rPr lang="es-CR"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i="1">
                            <a:effectLst/>
                            <a:latin typeface="Cambria Math" panose="02040503050406030204" pitchFamily="18" charset="0"/>
                            <a:ea typeface="Calibri" panose="020F0502020204030204" pitchFamily="34" charset="0"/>
                            <a:cs typeface="Times New Roman" panose="02020603050405020304" pitchFamily="18" charset="0"/>
                          </a:rPr>
                        </m:ctrlPr>
                      </m:fPr>
                      <m:num>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𝑃𝑜𝑏𝑙𝑎𝑐𝑖</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ó</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𝑛</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𝑑𝑒</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 0 </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𝑎</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 4 </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𝑎</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ñ</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𝑜𝑠</m:t>
                        </m:r>
                      </m:num>
                      <m:den>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𝑀𝑢𝑗𝑒𝑟𝑒𝑠</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𝑒𝑛</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𝑒𝑑𝑎𝑑</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𝑓</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é</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𝑟𝑡𝑖𝑙</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 </m:t>
                        </m:r>
                        <m:d>
                          <m:dPr>
                            <m:ctrlPr>
                              <a:rPr lang="es-CR" b="0" i="1" smtClean="0">
                                <a:effectLst/>
                                <a:latin typeface="Cambria Math" panose="02040503050406030204" pitchFamily="18" charset="0"/>
                                <a:ea typeface="Calibri" panose="020F0502020204030204" pitchFamily="34" charset="0"/>
                                <a:cs typeface="Times New Roman" panose="02020603050405020304" pitchFamily="18" charset="0"/>
                              </a:rPr>
                            </m:ctrlPr>
                          </m:dPr>
                          <m:e>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𝑑𝑒</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 15 </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𝑎</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 49 </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𝑎</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ñ</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𝑜𝑠</m:t>
                            </m:r>
                          </m:e>
                        </m:d>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𝑎</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𝑚𝑖𝑡𝑎𝑑</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𝑑𝑒𝑙</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𝑝𝑒𝑟</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í</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𝑜𝑑𝑜</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𝑡</m:t>
                        </m:r>
                      </m:den>
                    </m:f>
                    <m:r>
                      <a:rPr lang="es-CR" i="1">
                        <a:effectLst/>
                        <a:latin typeface="Cambria Math" panose="02040503050406030204" pitchFamily="18" charset="0"/>
                        <a:ea typeface="Calibri" panose="020F0502020204030204" pitchFamily="34" charset="0"/>
                        <a:cs typeface="Times New Roman" panose="02020603050405020304" pitchFamily="18" charset="0"/>
                      </a:rPr>
                      <m:t>∗100</m:t>
                    </m:r>
                  </m:oMath>
                </a14:m>
                <a:r>
                  <a:rPr lang="es-CR"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lvl="1"/>
                <a:endParaRPr lang="es-CR" dirty="0"/>
              </a:p>
            </p:txBody>
          </p:sp>
        </mc:Choice>
        <mc:Fallback xmlns="">
          <p:sp>
            <p:nvSpPr>
              <p:cNvPr id="3" name="Marcador de contenido 2">
                <a:extLst>
                  <a:ext uri="{FF2B5EF4-FFF2-40B4-BE49-F238E27FC236}">
                    <a16:creationId xmlns:a16="http://schemas.microsoft.com/office/drawing/2014/main" id="{F346DE52-D6CF-C6ED-3A9F-EFD2077DA236}"/>
                  </a:ext>
                </a:extLst>
              </p:cNvPr>
              <p:cNvSpPr>
                <a:spLocks noGrp="1" noRot="1" noChangeAspect="1" noMove="1" noResize="1" noEditPoints="1" noAdjustHandles="1" noChangeArrowheads="1" noChangeShapeType="1" noTextEdit="1"/>
              </p:cNvSpPr>
              <p:nvPr>
                <p:ph idx="1"/>
              </p:nvPr>
            </p:nvSpPr>
            <p:spPr>
              <a:xfrm>
                <a:off x="838200" y="1825624"/>
                <a:ext cx="10515600" cy="4780127"/>
              </a:xfrm>
              <a:blipFill>
                <a:blip r:embed="rId2"/>
                <a:stretch>
                  <a:fillRect l="-1043" t="-2166"/>
                </a:stretch>
              </a:blipFill>
            </p:spPr>
            <p:txBody>
              <a:bodyPr/>
              <a:lstStyle/>
              <a:p>
                <a:r>
                  <a:rPr lang="en-US">
                    <a:noFill/>
                  </a:rPr>
                  <a:t> </a:t>
                </a:r>
              </a:p>
            </p:txBody>
          </p:sp>
        </mc:Fallback>
      </mc:AlternateContent>
    </p:spTree>
    <p:extLst>
      <p:ext uri="{BB962C8B-B14F-4D97-AF65-F5344CB8AC3E}">
        <p14:creationId xmlns:p14="http://schemas.microsoft.com/office/powerpoint/2010/main" val="17999212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6FB55-8F01-8911-1745-605C4DE053B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FFF9D3C-D10D-9BC0-49F2-D50348F8565F}"/>
              </a:ext>
            </a:extLst>
          </p:cNvPr>
          <p:cNvSpPr>
            <a:spLocks noGrp="1"/>
          </p:cNvSpPr>
          <p:nvPr>
            <p:ph type="title"/>
          </p:nvPr>
        </p:nvSpPr>
        <p:spPr/>
        <p:txBody>
          <a:bodyPr/>
          <a:lstStyle/>
          <a:p>
            <a:r>
              <a:rPr lang="es-CR" dirty="0"/>
              <a:t>Medidas de Fecundidad</a:t>
            </a:r>
            <a:endParaRPr lang="en-US" dirty="0"/>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9D4C375D-1D50-93B7-29BF-43B8BCD5542D}"/>
                  </a:ext>
                </a:extLst>
              </p:cNvPr>
              <p:cNvSpPr>
                <a:spLocks noGrp="1"/>
              </p:cNvSpPr>
              <p:nvPr>
                <p:ph idx="1"/>
              </p:nvPr>
            </p:nvSpPr>
            <p:spPr>
              <a:xfrm>
                <a:off x="838200" y="1825624"/>
                <a:ext cx="10515600" cy="4780127"/>
              </a:xfrm>
            </p:spPr>
            <p:txBody>
              <a:bodyPr>
                <a:normAutofit/>
              </a:bodyPr>
              <a:lstStyle/>
              <a:p>
                <a:r>
                  <a:rPr lang="es-ES" dirty="0"/>
                  <a:t>Tasa de Fecundidad General TFG:</a:t>
                </a:r>
              </a:p>
              <a:p>
                <a:pPr lvl="1"/>
                <a14:m>
                  <m:oMath xmlns:m="http://schemas.openxmlformats.org/officeDocument/2006/math">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𝑇𝐹𝐺</m:t>
                    </m:r>
                    <m:r>
                      <a:rPr lang="es-CR"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i="1">
                            <a:effectLst/>
                            <a:latin typeface="Cambria Math" panose="02040503050406030204" pitchFamily="18" charset="0"/>
                            <a:ea typeface="Calibri" panose="020F0502020204030204" pitchFamily="34" charset="0"/>
                            <a:cs typeface="Times New Roman" panose="02020603050405020304" pitchFamily="18" charset="0"/>
                          </a:rPr>
                        </m:ctrlPr>
                      </m:fPr>
                      <m:num>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𝑃𝑟𝑜𝑚𝑒𝑑𝑖𝑜</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𝑑𝑒</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s-CR" i="1">
                            <a:latin typeface="Cambria Math" panose="02040503050406030204" pitchFamily="18" charset="0"/>
                          </a:rPr>
                          <m:t>𝑁𝑎𝑐𝑖𝑚𝑖𝑒𝑛𝑡𝑜𝑠</m:t>
                        </m:r>
                        <m:r>
                          <a:rPr lang="es-CR" i="1">
                            <a:latin typeface="Cambria Math" panose="02040503050406030204" pitchFamily="18" charset="0"/>
                          </a:rPr>
                          <m:t> </m:t>
                        </m:r>
                        <m:r>
                          <a:rPr lang="es-CR" i="1">
                            <a:latin typeface="Cambria Math" panose="02040503050406030204" pitchFamily="18" charset="0"/>
                          </a:rPr>
                          <m:t>𝑑𝑒𝑙</m:t>
                        </m:r>
                        <m:r>
                          <a:rPr lang="es-CR" i="1">
                            <a:latin typeface="Cambria Math" panose="02040503050406030204" pitchFamily="18" charset="0"/>
                          </a:rPr>
                          <m:t> </m:t>
                        </m:r>
                        <m:r>
                          <a:rPr lang="es-CR" i="1">
                            <a:latin typeface="Cambria Math" panose="02040503050406030204" pitchFamily="18" charset="0"/>
                          </a:rPr>
                          <m:t>𝑝𝑒𝑟</m:t>
                        </m:r>
                        <m:r>
                          <a:rPr lang="es-CR" i="1">
                            <a:latin typeface="Cambria Math" panose="02040503050406030204" pitchFamily="18" charset="0"/>
                          </a:rPr>
                          <m:t>í</m:t>
                        </m:r>
                        <m:r>
                          <a:rPr lang="es-CR" i="1">
                            <a:latin typeface="Cambria Math" panose="02040503050406030204" pitchFamily="18" charset="0"/>
                          </a:rPr>
                          <m:t>𝑜𝑑𝑜</m:t>
                        </m:r>
                        <m:r>
                          <a:rPr lang="es-CR" i="1">
                            <a:latin typeface="Cambria Math" panose="02040503050406030204" pitchFamily="18" charset="0"/>
                          </a:rPr>
                          <m:t> </m:t>
                        </m:r>
                        <m:r>
                          <a:rPr lang="es-CR" i="1">
                            <a:latin typeface="Cambria Math" panose="02040503050406030204" pitchFamily="18" charset="0"/>
                          </a:rPr>
                          <m:t>𝑡</m:t>
                        </m:r>
                      </m:num>
                      <m:den>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𝑀𝑢𝑗𝑒𝑟𝑒𝑠</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𝑒𝑛</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𝑒𝑑𝑎𝑑</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𝑓</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é</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𝑟𝑡𝑖𝑙</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 </m:t>
                        </m:r>
                        <m:d>
                          <m:dPr>
                            <m:ctrlPr>
                              <a:rPr lang="es-CR" b="0" i="1" smtClean="0">
                                <a:effectLst/>
                                <a:latin typeface="Cambria Math" panose="02040503050406030204" pitchFamily="18" charset="0"/>
                                <a:ea typeface="Calibri" panose="020F0502020204030204" pitchFamily="34" charset="0"/>
                                <a:cs typeface="Times New Roman" panose="02020603050405020304" pitchFamily="18" charset="0"/>
                              </a:rPr>
                            </m:ctrlPr>
                          </m:dPr>
                          <m:e>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𝑑𝑒</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 15 </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𝑎</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 49 </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𝑎</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ñ</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𝑜𝑠</m:t>
                            </m:r>
                          </m:e>
                        </m:d>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𝑎</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𝑚𝑖𝑡𝑎𝑑</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𝑑𝑒𝑙</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𝑝𝑒𝑟</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í</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𝑜𝑑𝑜</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s-CR" b="0" i="1" smtClean="0">
                            <a:effectLst/>
                            <a:latin typeface="Cambria Math" panose="02040503050406030204" pitchFamily="18" charset="0"/>
                            <a:ea typeface="Calibri" panose="020F0502020204030204" pitchFamily="34" charset="0"/>
                            <a:cs typeface="Times New Roman" panose="02020603050405020304" pitchFamily="18" charset="0"/>
                          </a:rPr>
                          <m:t>𝑡</m:t>
                        </m:r>
                      </m:den>
                    </m:f>
                    <m:r>
                      <a:rPr lang="es-CR" i="1">
                        <a:effectLst/>
                        <a:latin typeface="Cambria Math" panose="02040503050406030204" pitchFamily="18" charset="0"/>
                        <a:ea typeface="Calibri" panose="020F0502020204030204" pitchFamily="34" charset="0"/>
                        <a:cs typeface="Times New Roman" panose="02020603050405020304" pitchFamily="18" charset="0"/>
                      </a:rPr>
                      <m:t>∗100</m:t>
                    </m:r>
                  </m:oMath>
                </a14:m>
                <a:endParaRPr lang="es-CR" dirty="0"/>
              </a:p>
              <a:p>
                <a:endParaRPr lang="es-CR" dirty="0"/>
              </a:p>
              <a:p>
                <a:r>
                  <a:rPr lang="es-CR" dirty="0"/>
                  <a:t>Tasas específicas de fecundidad</a:t>
                </a:r>
              </a:p>
              <a:p>
                <a:pPr lvl="1"/>
                <a14:m>
                  <m:oMath xmlns:m="http://schemas.openxmlformats.org/officeDocument/2006/math">
                    <m:sPre>
                      <m:sPrePr>
                        <m:ctrlPr>
                          <a:rPr lang="en-US" i="1">
                            <a:latin typeface="Cambria Math" panose="02040503050406030204" pitchFamily="18" charset="0"/>
                          </a:rPr>
                        </m:ctrlPr>
                      </m:sPrePr>
                      <m:sub>
                        <m:r>
                          <a:rPr lang="es-CR" i="1">
                            <a:latin typeface="Cambria Math" panose="02040503050406030204" pitchFamily="18" charset="0"/>
                          </a:rPr>
                          <m:t>𝑛</m:t>
                        </m:r>
                      </m:sub>
                      <m:sup/>
                      <m:e>
                        <m:sSubSup>
                          <m:sSubSupPr>
                            <m:ctrlPr>
                              <a:rPr lang="en-US" i="1">
                                <a:latin typeface="Cambria Math" panose="02040503050406030204" pitchFamily="18" charset="0"/>
                              </a:rPr>
                            </m:ctrlPr>
                          </m:sSubSupPr>
                          <m:e>
                            <m:r>
                              <a:rPr lang="es-CR" i="1">
                                <a:latin typeface="Cambria Math" panose="02040503050406030204" pitchFamily="18" charset="0"/>
                              </a:rPr>
                              <m:t>𝑓</m:t>
                            </m:r>
                          </m:e>
                          <m:sub>
                            <m:r>
                              <a:rPr lang="es-CR" i="1">
                                <a:latin typeface="Cambria Math" panose="02040503050406030204" pitchFamily="18" charset="0"/>
                              </a:rPr>
                              <m:t>𝑥</m:t>
                            </m:r>
                          </m:sub>
                          <m:sup/>
                        </m:sSubSup>
                      </m:e>
                    </m:sPre>
                    <m:r>
                      <a:rPr lang="es-CR" i="1">
                        <a:latin typeface="Cambria Math" panose="02040503050406030204" pitchFamily="18" charset="0"/>
                      </a:rPr>
                      <m:t>=</m:t>
                    </m:r>
                    <m:f>
                      <m:fPr>
                        <m:ctrlPr>
                          <a:rPr lang="es-CR" i="1">
                            <a:latin typeface="Cambria Math" panose="02040503050406030204" pitchFamily="18" charset="0"/>
                          </a:rPr>
                        </m:ctrlPr>
                      </m:fPr>
                      <m:num>
                        <m:r>
                          <a:rPr lang="es-CR" b="0" i="1" smtClean="0">
                            <a:latin typeface="Cambria Math" panose="02040503050406030204" pitchFamily="18" charset="0"/>
                          </a:rPr>
                          <m:t>𝑃𝑟𝑜𝑚𝑒𝑑𝑖𝑜</m:t>
                        </m:r>
                        <m:r>
                          <a:rPr lang="es-CR" b="0" i="1" smtClean="0">
                            <a:latin typeface="Cambria Math" panose="02040503050406030204" pitchFamily="18" charset="0"/>
                          </a:rPr>
                          <m:t> </m:t>
                        </m:r>
                        <m:r>
                          <a:rPr lang="es-CR" b="0" i="1" smtClean="0">
                            <a:latin typeface="Cambria Math" panose="02040503050406030204" pitchFamily="18" charset="0"/>
                          </a:rPr>
                          <m:t>𝑑𝑒</m:t>
                        </m:r>
                        <m:r>
                          <a:rPr lang="es-CR" b="0" i="1" smtClean="0">
                            <a:latin typeface="Cambria Math" panose="02040503050406030204" pitchFamily="18" charset="0"/>
                          </a:rPr>
                          <m:t> </m:t>
                        </m:r>
                        <m:r>
                          <a:rPr lang="es-CR" b="0" i="1" smtClean="0">
                            <a:latin typeface="Cambria Math" panose="02040503050406030204" pitchFamily="18" charset="0"/>
                          </a:rPr>
                          <m:t>𝑁𝑎𝑐𝑖𝑚𝑖𝑒𝑛𝑡𝑜𝑠</m:t>
                        </m:r>
                        <m:r>
                          <a:rPr lang="es-CR" b="0" i="1" smtClean="0">
                            <a:latin typeface="Cambria Math" panose="02040503050406030204" pitchFamily="18" charset="0"/>
                          </a:rPr>
                          <m:t> </m:t>
                        </m:r>
                        <m:r>
                          <a:rPr lang="es-CR" b="0" i="1" smtClean="0">
                            <a:latin typeface="Cambria Math" panose="02040503050406030204" pitchFamily="18" charset="0"/>
                          </a:rPr>
                          <m:t>𝑑𝑒</m:t>
                        </m:r>
                        <m:r>
                          <a:rPr lang="es-CR" b="0" i="1" smtClean="0">
                            <a:latin typeface="Cambria Math" panose="02040503050406030204" pitchFamily="18" charset="0"/>
                          </a:rPr>
                          <m:t> </m:t>
                        </m:r>
                        <m:r>
                          <a:rPr lang="es-CR" b="0" i="1" smtClean="0">
                            <a:latin typeface="Cambria Math" panose="02040503050406030204" pitchFamily="18" charset="0"/>
                          </a:rPr>
                          <m:t>𝑚𝑢𝑗𝑒𝑟𝑒𝑠</m:t>
                        </m:r>
                        <m:r>
                          <a:rPr lang="es-CR" b="0" i="1" smtClean="0">
                            <a:latin typeface="Cambria Math" panose="02040503050406030204" pitchFamily="18" charset="0"/>
                          </a:rPr>
                          <m:t> </m:t>
                        </m:r>
                        <m:r>
                          <a:rPr lang="es-CR" b="0" i="1" smtClean="0">
                            <a:latin typeface="Cambria Math" panose="02040503050406030204" pitchFamily="18" charset="0"/>
                          </a:rPr>
                          <m:t>𝑒𝑛𝑡𝑟𝑒</m:t>
                        </m:r>
                        <m:r>
                          <a:rPr lang="es-CR" b="0" i="1" smtClean="0">
                            <a:latin typeface="Cambria Math" panose="02040503050406030204" pitchFamily="18" charset="0"/>
                          </a:rPr>
                          <m:t> </m:t>
                        </m:r>
                        <m:r>
                          <a:rPr lang="es-CR" i="1">
                            <a:latin typeface="Cambria Math" panose="02040503050406030204" pitchFamily="18" charset="0"/>
                          </a:rPr>
                          <m:t>𝑙𝑎</m:t>
                        </m:r>
                        <m:r>
                          <a:rPr lang="es-CR" i="1">
                            <a:latin typeface="Cambria Math" panose="02040503050406030204" pitchFamily="18" charset="0"/>
                          </a:rPr>
                          <m:t> </m:t>
                        </m:r>
                        <m:r>
                          <a:rPr lang="es-CR" i="1">
                            <a:latin typeface="Cambria Math" panose="02040503050406030204" pitchFamily="18" charset="0"/>
                          </a:rPr>
                          <m:t>𝑒𝑑𝑎𝑑</m:t>
                        </m:r>
                        <m:r>
                          <a:rPr lang="es-CR" i="1">
                            <a:latin typeface="Cambria Math" panose="02040503050406030204" pitchFamily="18" charset="0"/>
                          </a:rPr>
                          <m:t> </m:t>
                        </m:r>
                        <m:r>
                          <a:rPr lang="es-CR" i="1">
                            <a:latin typeface="Cambria Math" panose="02040503050406030204" pitchFamily="18" charset="0"/>
                          </a:rPr>
                          <m:t>𝑥</m:t>
                        </m:r>
                        <m:r>
                          <a:rPr lang="es-CR" i="1">
                            <a:latin typeface="Cambria Math" panose="02040503050406030204" pitchFamily="18" charset="0"/>
                          </a:rPr>
                          <m:t> </m:t>
                        </m:r>
                        <m:r>
                          <a:rPr lang="es-CR" b="0" i="1" smtClean="0">
                            <a:latin typeface="Cambria Math" panose="02040503050406030204" pitchFamily="18" charset="0"/>
                          </a:rPr>
                          <m:t>𝑦</m:t>
                        </m:r>
                        <m:r>
                          <a:rPr lang="es-CR" b="0" i="1" smtClean="0">
                            <a:latin typeface="Cambria Math" panose="02040503050406030204" pitchFamily="18" charset="0"/>
                          </a:rPr>
                          <m:t> </m:t>
                        </m:r>
                        <m:r>
                          <a:rPr lang="es-CR" b="0" i="1" smtClean="0">
                            <a:latin typeface="Cambria Math" panose="02040503050406030204" pitchFamily="18" charset="0"/>
                          </a:rPr>
                          <m:t>𝑥</m:t>
                        </m:r>
                        <m:r>
                          <a:rPr lang="es-CR" b="0" i="1" smtClean="0">
                            <a:latin typeface="Cambria Math" panose="02040503050406030204" pitchFamily="18" charset="0"/>
                          </a:rPr>
                          <m:t>+</m:t>
                        </m:r>
                        <m:r>
                          <a:rPr lang="es-CR" b="0" i="1" smtClean="0">
                            <a:latin typeface="Cambria Math" panose="02040503050406030204" pitchFamily="18" charset="0"/>
                          </a:rPr>
                          <m:t>𝑛</m:t>
                        </m:r>
                        <m:r>
                          <a:rPr lang="es-CR" b="0" i="1" smtClean="0">
                            <a:latin typeface="Cambria Math" panose="02040503050406030204" pitchFamily="18" charset="0"/>
                          </a:rPr>
                          <m:t>−1 </m:t>
                        </m:r>
                        <m:r>
                          <a:rPr lang="es-CR" i="1">
                            <a:latin typeface="Cambria Math" panose="02040503050406030204" pitchFamily="18" charset="0"/>
                          </a:rPr>
                          <m:t>𝑒𝑛</m:t>
                        </m:r>
                        <m:r>
                          <a:rPr lang="es-CR" i="1">
                            <a:latin typeface="Cambria Math" panose="02040503050406030204" pitchFamily="18" charset="0"/>
                          </a:rPr>
                          <m:t> </m:t>
                        </m:r>
                        <m:r>
                          <a:rPr lang="es-CR" i="1">
                            <a:latin typeface="Cambria Math" panose="02040503050406030204" pitchFamily="18" charset="0"/>
                          </a:rPr>
                          <m:t>𝑒𝑙</m:t>
                        </m:r>
                        <m:r>
                          <a:rPr lang="es-CR" i="1">
                            <a:latin typeface="Cambria Math" panose="02040503050406030204" pitchFamily="18" charset="0"/>
                          </a:rPr>
                          <m:t> </m:t>
                        </m:r>
                        <m:r>
                          <a:rPr lang="es-CR" i="1">
                            <a:latin typeface="Cambria Math" panose="02040503050406030204" pitchFamily="18" charset="0"/>
                          </a:rPr>
                          <m:t>𝑝𝑒𝑟</m:t>
                        </m:r>
                        <m:r>
                          <a:rPr lang="es-CR" i="1">
                            <a:latin typeface="Cambria Math" panose="02040503050406030204" pitchFamily="18" charset="0"/>
                          </a:rPr>
                          <m:t>í</m:t>
                        </m:r>
                        <m:r>
                          <a:rPr lang="es-CR" i="1">
                            <a:latin typeface="Cambria Math" panose="02040503050406030204" pitchFamily="18" charset="0"/>
                          </a:rPr>
                          <m:t>𝑜𝑑𝑜</m:t>
                        </m:r>
                        <m:r>
                          <a:rPr lang="es-CR" i="1">
                            <a:latin typeface="Cambria Math" panose="02040503050406030204" pitchFamily="18" charset="0"/>
                          </a:rPr>
                          <m:t> </m:t>
                        </m:r>
                        <m:r>
                          <a:rPr lang="es-CR" i="1">
                            <a:latin typeface="Cambria Math" panose="02040503050406030204" pitchFamily="18" charset="0"/>
                          </a:rPr>
                          <m:t>𝑡</m:t>
                        </m:r>
                      </m:num>
                      <m:den>
                        <m:r>
                          <a:rPr lang="es-CR" i="1">
                            <a:latin typeface="Cambria Math" panose="02040503050406030204" pitchFamily="18" charset="0"/>
                          </a:rPr>
                          <m:t>𝑃𝑜𝑏𝑙𝑎𝑐𝑖</m:t>
                        </m:r>
                        <m:r>
                          <a:rPr lang="es-CR" i="1">
                            <a:latin typeface="Cambria Math" panose="02040503050406030204" pitchFamily="18" charset="0"/>
                          </a:rPr>
                          <m:t>ó</m:t>
                        </m:r>
                        <m:r>
                          <a:rPr lang="es-CR" i="1">
                            <a:latin typeface="Cambria Math" panose="02040503050406030204" pitchFamily="18" charset="0"/>
                          </a:rPr>
                          <m:t>𝑛</m:t>
                        </m:r>
                        <m:r>
                          <a:rPr lang="es-CR" i="1">
                            <a:latin typeface="Cambria Math" panose="02040503050406030204" pitchFamily="18" charset="0"/>
                          </a:rPr>
                          <m:t>  </m:t>
                        </m:r>
                        <m:r>
                          <a:rPr lang="es-CR" b="0" i="1" smtClean="0">
                            <a:latin typeface="Cambria Math" panose="02040503050406030204" pitchFamily="18" charset="0"/>
                          </a:rPr>
                          <m:t>𝑓𝑒𝑚𝑒𝑛𝑖𝑛𝑎</m:t>
                        </m:r>
                        <m:r>
                          <a:rPr lang="es-CR" b="0" i="1" smtClean="0">
                            <a:latin typeface="Cambria Math" panose="02040503050406030204" pitchFamily="18" charset="0"/>
                          </a:rPr>
                          <m:t> </m:t>
                        </m:r>
                        <m:r>
                          <a:rPr lang="es-CR" i="1">
                            <a:latin typeface="Cambria Math" panose="02040503050406030204" pitchFamily="18" charset="0"/>
                          </a:rPr>
                          <m:t>𝑎</m:t>
                        </m:r>
                        <m:r>
                          <a:rPr lang="es-CR" i="1">
                            <a:latin typeface="Cambria Math" panose="02040503050406030204" pitchFamily="18" charset="0"/>
                          </a:rPr>
                          <m:t> </m:t>
                        </m:r>
                        <m:r>
                          <a:rPr lang="es-CR" i="1">
                            <a:latin typeface="Cambria Math" panose="02040503050406030204" pitchFamily="18" charset="0"/>
                          </a:rPr>
                          <m:t>𝑙𝑎</m:t>
                        </m:r>
                        <m:r>
                          <a:rPr lang="es-CR" i="1">
                            <a:latin typeface="Cambria Math" panose="02040503050406030204" pitchFamily="18" charset="0"/>
                          </a:rPr>
                          <m:t> </m:t>
                        </m:r>
                        <m:r>
                          <a:rPr lang="es-CR" i="1">
                            <a:latin typeface="Cambria Math" panose="02040503050406030204" pitchFamily="18" charset="0"/>
                          </a:rPr>
                          <m:t>𝑒𝑑𝑎𝑑</m:t>
                        </m:r>
                        <m:r>
                          <a:rPr lang="es-CR" i="1">
                            <a:latin typeface="Cambria Math" panose="02040503050406030204" pitchFamily="18" charset="0"/>
                          </a:rPr>
                          <m:t> </m:t>
                        </m:r>
                        <m:r>
                          <a:rPr lang="es-CR" i="1">
                            <a:latin typeface="Cambria Math" panose="02040503050406030204" pitchFamily="18" charset="0"/>
                          </a:rPr>
                          <m:t>𝑥</m:t>
                        </m:r>
                        <m:r>
                          <a:rPr lang="es-CR" i="1">
                            <a:latin typeface="Cambria Math" panose="02040503050406030204" pitchFamily="18" charset="0"/>
                          </a:rPr>
                          <m:t> </m:t>
                        </m:r>
                        <m:r>
                          <a:rPr lang="es-CR" i="1">
                            <a:latin typeface="Cambria Math" panose="02040503050406030204" pitchFamily="18" charset="0"/>
                          </a:rPr>
                          <m:t>𝑎</m:t>
                        </m:r>
                        <m:r>
                          <a:rPr lang="es-CR" i="1">
                            <a:latin typeface="Cambria Math" panose="02040503050406030204" pitchFamily="18" charset="0"/>
                          </a:rPr>
                          <m:t> </m:t>
                        </m:r>
                        <m:r>
                          <a:rPr lang="es-CR" i="1">
                            <a:latin typeface="Cambria Math" panose="02040503050406030204" pitchFamily="18" charset="0"/>
                          </a:rPr>
                          <m:t>𝑚𝑖𝑡𝑎𝑑</m:t>
                        </m:r>
                        <m:r>
                          <a:rPr lang="es-CR" i="1">
                            <a:latin typeface="Cambria Math" panose="02040503050406030204" pitchFamily="18" charset="0"/>
                          </a:rPr>
                          <m:t> </m:t>
                        </m:r>
                        <m:r>
                          <a:rPr lang="es-CR" i="1">
                            <a:latin typeface="Cambria Math" panose="02040503050406030204" pitchFamily="18" charset="0"/>
                          </a:rPr>
                          <m:t>𝑑𝑒𝑙</m:t>
                        </m:r>
                        <m:r>
                          <a:rPr lang="es-CR" i="1">
                            <a:latin typeface="Cambria Math" panose="02040503050406030204" pitchFamily="18" charset="0"/>
                          </a:rPr>
                          <m:t> </m:t>
                        </m:r>
                        <m:r>
                          <a:rPr lang="es-CR" i="1">
                            <a:latin typeface="Cambria Math" panose="02040503050406030204" pitchFamily="18" charset="0"/>
                          </a:rPr>
                          <m:t>𝑝𝑒𝑟</m:t>
                        </m:r>
                        <m:r>
                          <a:rPr lang="es-CR" i="1">
                            <a:latin typeface="Cambria Math" panose="02040503050406030204" pitchFamily="18" charset="0"/>
                          </a:rPr>
                          <m:t>í</m:t>
                        </m:r>
                        <m:r>
                          <a:rPr lang="es-CR" i="1">
                            <a:latin typeface="Cambria Math" panose="02040503050406030204" pitchFamily="18" charset="0"/>
                          </a:rPr>
                          <m:t>𝑜𝑑𝑜</m:t>
                        </m:r>
                        <m:r>
                          <a:rPr lang="es-CR" i="1">
                            <a:latin typeface="Cambria Math" panose="02040503050406030204" pitchFamily="18" charset="0"/>
                          </a:rPr>
                          <m:t> </m:t>
                        </m:r>
                        <m:r>
                          <a:rPr lang="es-CR" i="1">
                            <a:latin typeface="Cambria Math" panose="02040503050406030204" pitchFamily="18" charset="0"/>
                          </a:rPr>
                          <m:t>𝑡</m:t>
                        </m:r>
                      </m:den>
                    </m:f>
                  </m:oMath>
                </a14:m>
                <a:endParaRPr lang="es-ES" dirty="0"/>
              </a:p>
            </p:txBody>
          </p:sp>
        </mc:Choice>
        <mc:Fallback>
          <p:sp>
            <p:nvSpPr>
              <p:cNvPr id="3" name="Marcador de contenido 2">
                <a:extLst>
                  <a:ext uri="{FF2B5EF4-FFF2-40B4-BE49-F238E27FC236}">
                    <a16:creationId xmlns:a16="http://schemas.microsoft.com/office/drawing/2014/main" id="{9D4C375D-1D50-93B7-29BF-43B8BCD5542D}"/>
                  </a:ext>
                </a:extLst>
              </p:cNvPr>
              <p:cNvSpPr>
                <a:spLocks noGrp="1" noRot="1" noChangeAspect="1" noMove="1" noResize="1" noEditPoints="1" noAdjustHandles="1" noChangeArrowheads="1" noChangeShapeType="1" noTextEdit="1"/>
              </p:cNvSpPr>
              <p:nvPr>
                <p:ph idx="1"/>
              </p:nvPr>
            </p:nvSpPr>
            <p:spPr>
              <a:xfrm>
                <a:off x="838200" y="1825624"/>
                <a:ext cx="10515600" cy="4780127"/>
              </a:xfrm>
              <a:blipFill>
                <a:blip r:embed="rId2"/>
                <a:stretch>
                  <a:fillRect l="-1043" t="-2166"/>
                </a:stretch>
              </a:blipFill>
            </p:spPr>
            <p:txBody>
              <a:bodyPr/>
              <a:lstStyle/>
              <a:p>
                <a:r>
                  <a:rPr lang="es-CR">
                    <a:noFill/>
                  </a:rPr>
                  <a:t> </a:t>
                </a:r>
              </a:p>
            </p:txBody>
          </p:sp>
        </mc:Fallback>
      </mc:AlternateContent>
    </p:spTree>
    <p:extLst>
      <p:ext uri="{BB962C8B-B14F-4D97-AF65-F5344CB8AC3E}">
        <p14:creationId xmlns:p14="http://schemas.microsoft.com/office/powerpoint/2010/main" val="41947976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17755-C799-0F4E-B3C0-07B4F5A5521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AF25512-7937-3C0B-AEE4-93DD0CFCFB83}"/>
              </a:ext>
            </a:extLst>
          </p:cNvPr>
          <p:cNvSpPr>
            <a:spLocks noGrp="1"/>
          </p:cNvSpPr>
          <p:nvPr>
            <p:ph type="title"/>
          </p:nvPr>
        </p:nvSpPr>
        <p:spPr/>
        <p:txBody>
          <a:bodyPr/>
          <a:lstStyle/>
          <a:p>
            <a:r>
              <a:rPr lang="es-CR" dirty="0"/>
              <a:t>Medidas de Fecundidad</a:t>
            </a:r>
            <a:endParaRPr lang="en-U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7DFE75E3-582E-4082-83D4-E5A959648CFA}"/>
                  </a:ext>
                </a:extLst>
              </p:cNvPr>
              <p:cNvSpPr>
                <a:spLocks noGrp="1"/>
              </p:cNvSpPr>
              <p:nvPr>
                <p:ph idx="1"/>
              </p:nvPr>
            </p:nvSpPr>
            <p:spPr>
              <a:xfrm>
                <a:off x="838200" y="1825624"/>
                <a:ext cx="10515600" cy="4780127"/>
              </a:xfrm>
            </p:spPr>
            <p:txBody>
              <a:bodyPr>
                <a:normAutofit fontScale="92500" lnSpcReduction="10000"/>
              </a:bodyPr>
              <a:lstStyle/>
              <a:p>
                <a:r>
                  <a:rPr lang="es-ES" dirty="0"/>
                  <a:t>Tasa Global de Fecundidad (TGF): </a:t>
                </a:r>
              </a:p>
              <a:p>
                <a:pPr lvl="1"/>
                <a14:m>
                  <m:oMath xmlns:m="http://schemas.openxmlformats.org/officeDocument/2006/math">
                    <m:sSub>
                      <m:sSubPr>
                        <m:ctrlPr>
                          <a:rPr lang="en-US" i="1">
                            <a:latin typeface="Cambria Math" panose="02040503050406030204" pitchFamily="18" charset="0"/>
                          </a:rPr>
                        </m:ctrlPr>
                      </m:sSubPr>
                      <m:e>
                        <m:r>
                          <a:rPr lang="es-CR" i="1">
                            <a:latin typeface="Cambria Math" panose="02040503050406030204" pitchFamily="18" charset="0"/>
                          </a:rPr>
                          <m:t>𝑇𝐺𝐹</m:t>
                        </m:r>
                      </m:e>
                      <m:sub>
                        <m:r>
                          <a:rPr lang="es-CR" i="1">
                            <a:latin typeface="Cambria Math" panose="02040503050406030204" pitchFamily="18" charset="0"/>
                          </a:rPr>
                          <m:t>𝑝𝑒𝑟</m:t>
                        </m:r>
                        <m:r>
                          <a:rPr lang="es-CR" i="1">
                            <a:latin typeface="Cambria Math" panose="02040503050406030204" pitchFamily="18" charset="0"/>
                          </a:rPr>
                          <m:t>í</m:t>
                        </m:r>
                        <m:r>
                          <a:rPr lang="es-CR" i="1">
                            <a:latin typeface="Cambria Math" panose="02040503050406030204" pitchFamily="18" charset="0"/>
                          </a:rPr>
                          <m:t>𝑜𝑑𝑜</m:t>
                        </m:r>
                      </m:sub>
                    </m:sSub>
                    <m:r>
                      <a:rPr lang="es-ES" i="1">
                        <a:latin typeface="Cambria Math" panose="02040503050406030204" pitchFamily="18" charset="0"/>
                      </a:rPr>
                      <m:t>=</m:t>
                    </m:r>
                    <m:r>
                      <a:rPr lang="es-CR" i="1">
                        <a:latin typeface="Cambria Math" panose="02040503050406030204" pitchFamily="18" charset="0"/>
                      </a:rPr>
                      <m:t>𝑛</m:t>
                    </m:r>
                    <m:r>
                      <a:rPr lang="es-ES" i="1">
                        <a:latin typeface="Cambria Math" panose="02040503050406030204" pitchFamily="18" charset="0"/>
                      </a:rPr>
                      <m:t>∗</m:t>
                    </m:r>
                    <m:nary>
                      <m:naryPr>
                        <m:chr m:val="∑"/>
                        <m:limLoc m:val="undOvr"/>
                        <m:ctrlPr>
                          <a:rPr lang="en-US" i="1">
                            <a:latin typeface="Cambria Math" panose="02040503050406030204" pitchFamily="18" charset="0"/>
                          </a:rPr>
                        </m:ctrlPr>
                      </m:naryPr>
                      <m:sub>
                        <m:r>
                          <a:rPr lang="en-US" b="0" i="1" smtClean="0">
                            <a:latin typeface="Cambria Math" panose="02040503050406030204" pitchFamily="18" charset="0"/>
                          </a:rPr>
                          <m:t>𝑥</m:t>
                        </m:r>
                        <m:r>
                          <a:rPr lang="es-ES" i="1">
                            <a:latin typeface="Cambria Math" panose="02040503050406030204" pitchFamily="18" charset="0"/>
                          </a:rPr>
                          <m:t>=15</m:t>
                        </m:r>
                      </m:sub>
                      <m:sup>
                        <m:r>
                          <a:rPr lang="es-ES" i="1" smtClean="0">
                            <a:latin typeface="Cambria Math" panose="02040503050406030204" pitchFamily="18" charset="0"/>
                            <a:ea typeface="Cambria Math" panose="02040503050406030204" pitchFamily="18" charset="0"/>
                          </a:rPr>
                          <m:t>𝜔</m:t>
                        </m:r>
                      </m:sup>
                      <m:e>
                        <m:sPre>
                          <m:sPrePr>
                            <m:ctrlPr>
                              <a:rPr lang="en-US" i="1">
                                <a:latin typeface="Cambria Math" panose="02040503050406030204" pitchFamily="18" charset="0"/>
                              </a:rPr>
                            </m:ctrlPr>
                          </m:sPrePr>
                          <m:sub>
                            <m:r>
                              <a:rPr lang="es-CR" i="1">
                                <a:latin typeface="Cambria Math" panose="02040503050406030204" pitchFamily="18" charset="0"/>
                              </a:rPr>
                              <m:t>𝑛</m:t>
                            </m:r>
                          </m:sub>
                          <m:sup/>
                          <m:e>
                            <m:sSubSup>
                              <m:sSubSupPr>
                                <m:ctrlPr>
                                  <a:rPr lang="en-US" i="1">
                                    <a:latin typeface="Cambria Math" panose="02040503050406030204" pitchFamily="18" charset="0"/>
                                  </a:rPr>
                                </m:ctrlPr>
                              </m:sSubSupPr>
                              <m:e>
                                <m:r>
                                  <a:rPr lang="es-CR" i="1">
                                    <a:latin typeface="Cambria Math" panose="02040503050406030204" pitchFamily="18" charset="0"/>
                                  </a:rPr>
                                  <m:t>𝑓</m:t>
                                </m:r>
                              </m:e>
                              <m:sub>
                                <m:r>
                                  <a:rPr lang="es-CR" i="1">
                                    <a:latin typeface="Cambria Math" panose="02040503050406030204" pitchFamily="18" charset="0"/>
                                  </a:rPr>
                                  <m:t>𝑥</m:t>
                                </m:r>
                              </m:sub>
                              <m:sup/>
                            </m:sSubSup>
                          </m:e>
                        </m:sPre>
                      </m:e>
                    </m:nary>
                  </m:oMath>
                </a14:m>
                <a:r>
                  <a:rPr lang="en-US" sz="2000" dirty="0"/>
                  <a:t>, para </a:t>
                </a:r>
                <a:r>
                  <a:rPr lang="en-US" sz="2000" dirty="0" err="1"/>
                  <a:t>todo</a:t>
                </a:r>
                <a:r>
                  <a:rPr lang="en-US" sz="2000" dirty="0"/>
                  <a:t> x</a:t>
                </a:r>
                <a:r>
                  <a:rPr lang="en-US" sz="2000" dirty="0">
                    <a:sym typeface="Symbol" panose="05050102010706020507" pitchFamily="18" charset="2"/>
                  </a:rPr>
                  <a:t> {15,15+1n,15+2*n, …}</a:t>
                </a:r>
                <a:endParaRPr lang="en-US" sz="2000" dirty="0"/>
              </a:p>
              <a:p>
                <a:pPr lvl="1"/>
                <a:r>
                  <a:rPr lang="es-ES" dirty="0"/>
                  <a:t>Es el indicador más frecuentemente utilizado.</a:t>
                </a:r>
              </a:p>
              <a:p>
                <a:pPr lvl="1"/>
                <a:r>
                  <a:rPr lang="es-ES" dirty="0"/>
                  <a:t>No es técnicamente una tasa, pero un valor esperado basado en una cohorte sintética.  </a:t>
                </a:r>
              </a:p>
              <a:p>
                <a:pPr lvl="1"/>
                <a:r>
                  <a:rPr lang="es-ES" dirty="0"/>
                  <a:t>Se interpreta como el número promedio de hijos que esperaría tener una mujer (o un hombre) al final de su vida reproductiva si se mantienen las tasas de fecundidad por edad observadas durante el período. </a:t>
                </a:r>
              </a:p>
              <a:p>
                <a:pPr lvl="1"/>
                <a:r>
                  <a:rPr lang="es-ES" dirty="0"/>
                  <a:t>Cuando se interpretan las </a:t>
                </a:r>
                <a:r>
                  <a:rPr lang="es-ES" dirty="0" err="1"/>
                  <a:t>TGFs</a:t>
                </a:r>
                <a:r>
                  <a:rPr lang="es-ES" dirty="0"/>
                  <a:t>, es común crear  dos grandes grupos de países o poblaciones:  las poblaciones con fecundidad por encima del reemplazo (TGF</a:t>
                </a:r>
                <a:r>
                  <a:rPr lang="en-US" dirty="0"/>
                  <a:t>&gt;2.1 </a:t>
                </a:r>
                <a:r>
                  <a:rPr lang="en-US" dirty="0" err="1"/>
                  <a:t>hijos</a:t>
                </a:r>
                <a:r>
                  <a:rPr lang="en-US" dirty="0"/>
                  <a:t> </a:t>
                </a:r>
                <a:r>
                  <a:rPr lang="en-US" dirty="0" err="1"/>
                  <a:t>por</a:t>
                </a:r>
                <a:r>
                  <a:rPr lang="en-US" dirty="0"/>
                  <a:t> </a:t>
                </a:r>
                <a:r>
                  <a:rPr lang="en-US" dirty="0" err="1"/>
                  <a:t>mujer</a:t>
                </a:r>
                <a:r>
                  <a:rPr lang="en-US" dirty="0"/>
                  <a:t>)</a:t>
                </a:r>
                <a:r>
                  <a:rPr lang="es-ES" dirty="0"/>
                  <a:t>, y poblaciones con fecundidad por debajo del reemplazo (TGF</a:t>
                </a:r>
                <a:r>
                  <a:rPr lang="es-ES" dirty="0">
                    <a:sym typeface="Symbol" panose="05050102010706020507" pitchFamily="18" charset="2"/>
                  </a:rPr>
                  <a:t>2.1)</a:t>
                </a:r>
                <a:r>
                  <a:rPr lang="es-ES" dirty="0"/>
                  <a:t>. </a:t>
                </a:r>
              </a:p>
              <a:p>
                <a:pPr lvl="2"/>
                <a:r>
                  <a:rPr lang="es-ES" dirty="0"/>
                  <a:t>El 2.1 implica que si una población mantiene este nivel de fecundidad durante un período largo de tiempo, la población mantendrá más o menos el mismo tamaño (en ausencia de migración y con cambios leves en la mortalidad).</a:t>
                </a:r>
                <a:endParaRPr lang="es-CR" dirty="0"/>
              </a:p>
            </p:txBody>
          </p:sp>
        </mc:Choice>
        <mc:Fallback xmlns="">
          <p:sp>
            <p:nvSpPr>
              <p:cNvPr id="3" name="Marcador de contenido 2">
                <a:extLst>
                  <a:ext uri="{FF2B5EF4-FFF2-40B4-BE49-F238E27FC236}">
                    <a16:creationId xmlns:a16="http://schemas.microsoft.com/office/drawing/2014/main" id="{7DFE75E3-582E-4082-83D4-E5A959648CFA}"/>
                  </a:ext>
                </a:extLst>
              </p:cNvPr>
              <p:cNvSpPr>
                <a:spLocks noGrp="1" noRot="1" noChangeAspect="1" noMove="1" noResize="1" noEditPoints="1" noAdjustHandles="1" noChangeArrowheads="1" noChangeShapeType="1" noTextEdit="1"/>
              </p:cNvSpPr>
              <p:nvPr>
                <p:ph idx="1"/>
              </p:nvPr>
            </p:nvSpPr>
            <p:spPr>
              <a:xfrm>
                <a:off x="838200" y="1825624"/>
                <a:ext cx="10515600" cy="4780127"/>
              </a:xfrm>
              <a:blipFill>
                <a:blip r:embed="rId2"/>
                <a:stretch>
                  <a:fillRect l="-928" t="-3949"/>
                </a:stretch>
              </a:blipFill>
            </p:spPr>
            <p:txBody>
              <a:bodyPr/>
              <a:lstStyle/>
              <a:p>
                <a:r>
                  <a:rPr lang="en-US">
                    <a:noFill/>
                  </a:rPr>
                  <a:t> </a:t>
                </a:r>
              </a:p>
            </p:txBody>
          </p:sp>
        </mc:Fallback>
      </mc:AlternateContent>
    </p:spTree>
    <p:extLst>
      <p:ext uri="{BB962C8B-B14F-4D97-AF65-F5344CB8AC3E}">
        <p14:creationId xmlns:p14="http://schemas.microsoft.com/office/powerpoint/2010/main" val="31269657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E9326-76CE-11C9-81A3-5159AE5227C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946C8C2-D367-8716-1CA9-B1AE77483BD1}"/>
              </a:ext>
            </a:extLst>
          </p:cNvPr>
          <p:cNvSpPr>
            <a:spLocks noGrp="1"/>
          </p:cNvSpPr>
          <p:nvPr>
            <p:ph type="title"/>
          </p:nvPr>
        </p:nvSpPr>
        <p:spPr/>
        <p:txBody>
          <a:bodyPr/>
          <a:lstStyle/>
          <a:p>
            <a:r>
              <a:rPr lang="es-CR" dirty="0"/>
              <a:t>Medidas de Fecundidad</a:t>
            </a:r>
            <a:endParaRPr lang="en-U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09270FC6-7F13-6A25-19B9-531D9AF7B0B5}"/>
                  </a:ext>
                </a:extLst>
              </p:cNvPr>
              <p:cNvSpPr>
                <a:spLocks noGrp="1"/>
              </p:cNvSpPr>
              <p:nvPr>
                <p:ph idx="1"/>
              </p:nvPr>
            </p:nvSpPr>
            <p:spPr>
              <a:xfrm>
                <a:off x="838200" y="1825624"/>
                <a:ext cx="10515600" cy="4780127"/>
              </a:xfrm>
            </p:spPr>
            <p:txBody>
              <a:bodyPr>
                <a:normAutofit/>
              </a:bodyPr>
              <a:lstStyle/>
              <a:p>
                <a:r>
                  <a:rPr lang="es-ES" dirty="0"/>
                  <a:t>Tasa Bruta de Reproducción (TBR) </a:t>
                </a:r>
                <a:endParaRPr lang="es-CR" dirty="0"/>
              </a:p>
              <a:p>
                <a:pPr lvl="1"/>
                <a14:m>
                  <m:oMath xmlns:m="http://schemas.openxmlformats.org/officeDocument/2006/math">
                    <m:sSub>
                      <m:sSubPr>
                        <m:ctrlPr>
                          <a:rPr lang="en-US" i="1">
                            <a:latin typeface="Cambria Math" panose="02040503050406030204" pitchFamily="18" charset="0"/>
                          </a:rPr>
                        </m:ctrlPr>
                      </m:sSubPr>
                      <m:e>
                        <m:r>
                          <a:rPr lang="es-CR" i="1">
                            <a:latin typeface="Cambria Math" panose="02040503050406030204" pitchFamily="18" charset="0"/>
                          </a:rPr>
                          <m:t>𝑇𝐵𝑅</m:t>
                        </m:r>
                      </m:e>
                      <m:sub>
                        <m:r>
                          <a:rPr lang="es-CR" i="1">
                            <a:latin typeface="Cambria Math" panose="02040503050406030204" pitchFamily="18" charset="0"/>
                          </a:rPr>
                          <m:t>𝑝𝑒𝑟</m:t>
                        </m:r>
                        <m:r>
                          <a:rPr lang="es-CR" i="1">
                            <a:latin typeface="Cambria Math" panose="02040503050406030204" pitchFamily="18" charset="0"/>
                          </a:rPr>
                          <m:t>í</m:t>
                        </m:r>
                        <m:r>
                          <a:rPr lang="es-CR" i="1">
                            <a:latin typeface="Cambria Math" panose="02040503050406030204" pitchFamily="18" charset="0"/>
                          </a:rPr>
                          <m:t>𝑜𝑑𝑜</m:t>
                        </m:r>
                      </m:sub>
                    </m:sSub>
                    <m:r>
                      <a:rPr lang="es-ES" i="1">
                        <a:latin typeface="Cambria Math" panose="02040503050406030204" pitchFamily="18" charset="0"/>
                      </a:rPr>
                      <m:t>=</m:t>
                    </m:r>
                    <m:r>
                      <a:rPr lang="es-CR" i="1">
                        <a:latin typeface="Cambria Math" panose="02040503050406030204" pitchFamily="18" charset="0"/>
                      </a:rPr>
                      <m:t>𝑛</m:t>
                    </m:r>
                    <m:r>
                      <a:rPr lang="es-ES" i="1">
                        <a:latin typeface="Cambria Math" panose="02040503050406030204" pitchFamily="18" charset="0"/>
                      </a:rPr>
                      <m:t>∗</m:t>
                    </m:r>
                    <m:nary>
                      <m:naryPr>
                        <m:chr m:val="∑"/>
                        <m:limLoc m:val="undOvr"/>
                        <m:ctrlPr>
                          <a:rPr lang="en-US" i="1">
                            <a:latin typeface="Cambria Math" panose="02040503050406030204" pitchFamily="18" charset="0"/>
                          </a:rPr>
                        </m:ctrlPr>
                      </m:naryPr>
                      <m:sub>
                        <m:r>
                          <a:rPr lang="es-CR" i="1">
                            <a:latin typeface="Cambria Math" panose="02040503050406030204" pitchFamily="18" charset="0"/>
                          </a:rPr>
                          <m:t>𝑖</m:t>
                        </m:r>
                        <m:r>
                          <a:rPr lang="es-ES" i="1">
                            <a:latin typeface="Cambria Math" panose="02040503050406030204" pitchFamily="18" charset="0"/>
                          </a:rPr>
                          <m:t>=15</m:t>
                        </m:r>
                      </m:sub>
                      <m:sup>
                        <m:r>
                          <a:rPr lang="es-ES" i="1">
                            <a:latin typeface="Cambria Math" panose="02040503050406030204" pitchFamily="18" charset="0"/>
                          </a:rPr>
                          <m:t>49</m:t>
                        </m:r>
                      </m:sup>
                      <m:e>
                        <m:sPre>
                          <m:sPrePr>
                            <m:ctrlPr>
                              <a:rPr lang="en-US" i="1">
                                <a:latin typeface="Cambria Math" panose="02040503050406030204" pitchFamily="18" charset="0"/>
                              </a:rPr>
                            </m:ctrlPr>
                          </m:sPrePr>
                          <m:sub>
                            <m:r>
                              <a:rPr lang="es-CR" i="1">
                                <a:latin typeface="Cambria Math" panose="02040503050406030204" pitchFamily="18" charset="0"/>
                              </a:rPr>
                              <m:t>𝑛</m:t>
                            </m:r>
                          </m:sub>
                          <m:sup/>
                          <m:e>
                            <m:sSubSup>
                              <m:sSubSupPr>
                                <m:ctrlPr>
                                  <a:rPr lang="en-US" i="1">
                                    <a:latin typeface="Cambria Math" panose="02040503050406030204" pitchFamily="18" charset="0"/>
                                  </a:rPr>
                                </m:ctrlPr>
                              </m:sSubSupPr>
                              <m:e>
                                <m:r>
                                  <a:rPr lang="es-CR" i="1">
                                    <a:latin typeface="Cambria Math" panose="02040503050406030204" pitchFamily="18" charset="0"/>
                                  </a:rPr>
                                  <m:t>𝑓</m:t>
                                </m:r>
                              </m:e>
                              <m:sub>
                                <m:r>
                                  <a:rPr lang="es-CR" i="1">
                                    <a:latin typeface="Cambria Math" panose="02040503050406030204" pitchFamily="18" charset="0"/>
                                  </a:rPr>
                                  <m:t>𝑥</m:t>
                                </m:r>
                              </m:sub>
                              <m:sup>
                                <m:r>
                                  <a:rPr lang="es-CR" i="1">
                                    <a:latin typeface="Cambria Math" panose="02040503050406030204" pitchFamily="18" charset="0"/>
                                  </a:rPr>
                                  <m:t>𝑓</m:t>
                                </m:r>
                              </m:sup>
                            </m:sSubSup>
                          </m:e>
                        </m:sPre>
                      </m:e>
                    </m:nary>
                  </m:oMath>
                </a14:m>
                <a:endParaRPr lang="en-US" dirty="0"/>
              </a:p>
              <a:p>
                <a:pPr lvl="1"/>
                <a:endParaRPr lang="es-ES" dirty="0"/>
              </a:p>
              <a:p>
                <a:pPr lvl="1"/>
                <a:r>
                  <a:rPr lang="es-ES" dirty="0"/>
                  <a:t>Donde </a:t>
                </a:r>
                <a:r>
                  <a:rPr lang="es-ES" baseline="-25000" dirty="0" err="1">
                    <a:effectLst/>
                    <a:ea typeface="Calibri" panose="020F0502020204030204" pitchFamily="34" charset="0"/>
                  </a:rPr>
                  <a:t>n</a:t>
                </a:r>
                <a:r>
                  <a:rPr lang="es-ES" dirty="0" err="1">
                    <a:effectLst/>
                    <a:ea typeface="Calibri" panose="020F0502020204030204" pitchFamily="34" charset="0"/>
                  </a:rPr>
                  <a:t>f</a:t>
                </a:r>
                <a:r>
                  <a:rPr lang="es-ES" baseline="-25000" dirty="0" err="1">
                    <a:effectLst/>
                    <a:ea typeface="Calibri" panose="020F0502020204030204" pitchFamily="34" charset="0"/>
                  </a:rPr>
                  <a:t>x</a:t>
                </a:r>
                <a:r>
                  <a:rPr lang="es-ES" baseline="30000" dirty="0" err="1">
                    <a:effectLst/>
                    <a:ea typeface="Calibri" panose="020F0502020204030204" pitchFamily="34" charset="0"/>
                  </a:rPr>
                  <a:t>f</a:t>
                </a:r>
                <a:r>
                  <a:rPr lang="es-ES" dirty="0">
                    <a:effectLst/>
                    <a:ea typeface="Calibri" panose="020F0502020204030204" pitchFamily="34" charset="0"/>
                  </a:rPr>
                  <a:t> es la tasa específica de fecundidad de nacimientos de mujeres por edad para las edades entre x y x+n-1. </a:t>
                </a:r>
              </a:p>
              <a:p>
                <a:pPr lvl="1"/>
                <a:endParaRPr lang="es-ES" dirty="0"/>
              </a:p>
              <a:p>
                <a:pPr lvl="1"/>
                <a:r>
                  <a:rPr lang="es-ES" dirty="0"/>
                  <a:t>Representa el número promedio de hijas que una mujer espera tener al final de su vida reproductiva si se mantienen constantes las tasas de fecundidad observadas en el período, suponiendo además que todas las mujeres sobreviven al final de su vida reproductiva</a:t>
                </a:r>
              </a:p>
            </p:txBody>
          </p:sp>
        </mc:Choice>
        <mc:Fallback xmlns="">
          <p:sp>
            <p:nvSpPr>
              <p:cNvPr id="3" name="Marcador de contenido 2">
                <a:extLst>
                  <a:ext uri="{FF2B5EF4-FFF2-40B4-BE49-F238E27FC236}">
                    <a16:creationId xmlns:a16="http://schemas.microsoft.com/office/drawing/2014/main" id="{09270FC6-7F13-6A25-19B9-531D9AF7B0B5}"/>
                  </a:ext>
                </a:extLst>
              </p:cNvPr>
              <p:cNvSpPr>
                <a:spLocks noGrp="1" noRot="1" noChangeAspect="1" noMove="1" noResize="1" noEditPoints="1" noAdjustHandles="1" noChangeArrowheads="1" noChangeShapeType="1" noTextEdit="1"/>
              </p:cNvSpPr>
              <p:nvPr>
                <p:ph idx="1"/>
              </p:nvPr>
            </p:nvSpPr>
            <p:spPr>
              <a:xfrm>
                <a:off x="838200" y="1825624"/>
                <a:ext cx="10515600" cy="4780127"/>
              </a:xfrm>
              <a:blipFill>
                <a:blip r:embed="rId2"/>
                <a:stretch>
                  <a:fillRect l="-1043" t="-2166" r="-986"/>
                </a:stretch>
              </a:blipFill>
            </p:spPr>
            <p:txBody>
              <a:bodyPr/>
              <a:lstStyle/>
              <a:p>
                <a:r>
                  <a:rPr lang="en-US">
                    <a:noFill/>
                  </a:rPr>
                  <a:t> </a:t>
                </a:r>
              </a:p>
            </p:txBody>
          </p:sp>
        </mc:Fallback>
      </mc:AlternateContent>
    </p:spTree>
    <p:extLst>
      <p:ext uri="{BB962C8B-B14F-4D97-AF65-F5344CB8AC3E}">
        <p14:creationId xmlns:p14="http://schemas.microsoft.com/office/powerpoint/2010/main" val="29270285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CBE80-549A-7AEC-648A-252912C23FC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2BA7B24-DAE5-CD2E-5BFB-20172D58B4AB}"/>
              </a:ext>
            </a:extLst>
          </p:cNvPr>
          <p:cNvSpPr>
            <a:spLocks noGrp="1"/>
          </p:cNvSpPr>
          <p:nvPr>
            <p:ph type="title"/>
          </p:nvPr>
        </p:nvSpPr>
        <p:spPr/>
        <p:txBody>
          <a:bodyPr/>
          <a:lstStyle/>
          <a:p>
            <a:r>
              <a:rPr lang="es-CR" dirty="0"/>
              <a:t>Medidas de Fecundidad</a:t>
            </a:r>
            <a:endParaRPr lang="en-U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C7F57157-D9F2-DB33-718F-B1DD8E413091}"/>
                  </a:ext>
                </a:extLst>
              </p:cNvPr>
              <p:cNvSpPr>
                <a:spLocks noGrp="1"/>
              </p:cNvSpPr>
              <p:nvPr>
                <p:ph idx="1"/>
              </p:nvPr>
            </p:nvSpPr>
            <p:spPr>
              <a:xfrm>
                <a:off x="838200" y="1825624"/>
                <a:ext cx="10515600" cy="4780127"/>
              </a:xfrm>
            </p:spPr>
            <p:txBody>
              <a:bodyPr>
                <a:normAutofit/>
              </a:bodyPr>
              <a:lstStyle/>
              <a:p>
                <a:r>
                  <a:rPr lang="es-ES" dirty="0"/>
                  <a:t>Tasa Bruta de </a:t>
                </a:r>
                <a:r>
                  <a:rPr lang="es-ES" dirty="0" err="1"/>
                  <a:t>Reproduccción</a:t>
                </a:r>
                <a:r>
                  <a:rPr lang="es-ES" dirty="0"/>
                  <a:t> (TBR) </a:t>
                </a:r>
              </a:p>
              <a:p>
                <a:pPr lvl="1"/>
                <a:r>
                  <a:rPr lang="es-ES" dirty="0"/>
                  <a:t>La diferencia entre la TBR y la TGF es que la TGF representa el número total de nacimientos, mientras que la TBR solo representa el número de nacimientos femeninos.  </a:t>
                </a:r>
              </a:p>
              <a:p>
                <a:pPr lvl="1"/>
                <a:endParaRPr lang="es-ES" dirty="0"/>
              </a:p>
              <a:p>
                <a:pPr lvl="1"/>
                <a:r>
                  <a:rPr lang="es-ES" dirty="0"/>
                  <a:t>Por consiguiente, una forma de aproximar el valor de la TGF es con la siguiente fórmula: </a:t>
                </a:r>
              </a:p>
              <a:p>
                <a:pPr lvl="1"/>
                <a14:m>
                  <m:oMath xmlns:m="http://schemas.openxmlformats.org/officeDocument/2006/math">
                    <m:r>
                      <a:rPr lang="en-US" sz="2000" i="1" smtClean="0">
                        <a:effectLst/>
                        <a:latin typeface="Cambria Math" panose="02040503050406030204" pitchFamily="18" charset="0"/>
                        <a:ea typeface="Calibri" panose="020F0502020204030204" pitchFamily="34" charset="0"/>
                        <a:cs typeface="Times New Roman" panose="02020603050405020304" pitchFamily="18" charset="0"/>
                      </a:rPr>
                      <m:t>𝑇𝐵𝑅</m:t>
                    </m:r>
                    <m:r>
                      <a:rPr lang="en-US" sz="2000" i="1" smtClean="0">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000" i="1">
                            <a:effectLst/>
                            <a:latin typeface="Cambria Math" panose="02040503050406030204" pitchFamily="18" charset="0"/>
                            <a:ea typeface="Calibri" panose="020F0502020204030204" pitchFamily="34" charset="0"/>
                            <a:cs typeface="Times New Roman" panose="02020603050405020304" pitchFamily="18" charset="0"/>
                          </a:rPr>
                          <m:t>𝑇𝐺𝐹</m:t>
                        </m:r>
                      </m:num>
                      <m:den>
                        <m:r>
                          <a:rPr lang="en-US" sz="2000" i="1">
                            <a:effectLst/>
                            <a:latin typeface="Cambria Math" panose="02040503050406030204" pitchFamily="18" charset="0"/>
                            <a:ea typeface="Calibri" panose="020F0502020204030204" pitchFamily="34" charset="0"/>
                            <a:cs typeface="Times New Roman" panose="02020603050405020304" pitchFamily="18" charset="0"/>
                          </a:rPr>
                          <m:t>1+</m:t>
                        </m:r>
                        <m:r>
                          <a:rPr lang="en-US" sz="2000" i="1">
                            <a:effectLst/>
                            <a:latin typeface="Cambria Math" panose="02040503050406030204" pitchFamily="18" charset="0"/>
                            <a:ea typeface="Calibri" panose="020F0502020204030204" pitchFamily="34" charset="0"/>
                            <a:cs typeface="Times New Roman" panose="02020603050405020304" pitchFamily="18" charset="0"/>
                          </a:rPr>
                          <m:t>𝑅𝑀𝑁</m:t>
                        </m:r>
                      </m:den>
                    </m:f>
                    <m:r>
                      <a:rPr lang="en-US" sz="20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000" i="1">
                            <a:effectLst/>
                            <a:latin typeface="Cambria Math" panose="02040503050406030204" pitchFamily="18" charset="0"/>
                            <a:ea typeface="Calibri" panose="020F0502020204030204" pitchFamily="34" charset="0"/>
                            <a:cs typeface="Times New Roman" panose="02020603050405020304" pitchFamily="18" charset="0"/>
                          </a:rPr>
                          <m:t>𝑇𝐺𝐹</m:t>
                        </m:r>
                      </m:num>
                      <m:den>
                        <m:r>
                          <a:rPr lang="en-US" sz="2000" i="1">
                            <a:effectLst/>
                            <a:latin typeface="Cambria Math" panose="02040503050406030204" pitchFamily="18" charset="0"/>
                            <a:ea typeface="Calibri" panose="020F0502020204030204" pitchFamily="34" charset="0"/>
                            <a:cs typeface="Times New Roman" panose="02020603050405020304" pitchFamily="18" charset="0"/>
                          </a:rPr>
                          <m:t>1+1.05</m:t>
                        </m:r>
                      </m:den>
                    </m:f>
                    <m:r>
                      <a:rPr lang="en-US" sz="20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000" i="1">
                            <a:effectLst/>
                            <a:latin typeface="Cambria Math" panose="02040503050406030204" pitchFamily="18" charset="0"/>
                            <a:ea typeface="Calibri" panose="020F0502020204030204" pitchFamily="34" charset="0"/>
                            <a:cs typeface="Times New Roman" panose="02020603050405020304" pitchFamily="18" charset="0"/>
                          </a:rPr>
                          <m:t>𝑇𝐺𝐹</m:t>
                        </m:r>
                      </m:num>
                      <m:den>
                        <m:r>
                          <a:rPr lang="en-US" sz="2000" i="1">
                            <a:effectLst/>
                            <a:latin typeface="Cambria Math" panose="02040503050406030204" pitchFamily="18" charset="0"/>
                            <a:ea typeface="Calibri" panose="020F0502020204030204" pitchFamily="34" charset="0"/>
                            <a:cs typeface="Times New Roman" panose="02020603050405020304" pitchFamily="18" charset="0"/>
                          </a:rPr>
                          <m:t>2.05</m:t>
                        </m:r>
                      </m:den>
                    </m:f>
                  </m:oMath>
                </a14:m>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lvl="1"/>
                <a:endParaRPr lang="en-US" dirty="0"/>
              </a:p>
            </p:txBody>
          </p:sp>
        </mc:Choice>
        <mc:Fallback xmlns="">
          <p:sp>
            <p:nvSpPr>
              <p:cNvPr id="3" name="Marcador de contenido 2">
                <a:extLst>
                  <a:ext uri="{FF2B5EF4-FFF2-40B4-BE49-F238E27FC236}">
                    <a16:creationId xmlns:a16="http://schemas.microsoft.com/office/drawing/2014/main" id="{C7F57157-D9F2-DB33-718F-B1DD8E413091}"/>
                  </a:ext>
                </a:extLst>
              </p:cNvPr>
              <p:cNvSpPr>
                <a:spLocks noGrp="1" noRot="1" noChangeAspect="1" noMove="1" noResize="1" noEditPoints="1" noAdjustHandles="1" noChangeArrowheads="1" noChangeShapeType="1" noTextEdit="1"/>
              </p:cNvSpPr>
              <p:nvPr>
                <p:ph idx="1"/>
              </p:nvPr>
            </p:nvSpPr>
            <p:spPr>
              <a:xfrm>
                <a:off x="838200" y="1825624"/>
                <a:ext cx="10515600" cy="4780127"/>
              </a:xfrm>
              <a:blipFill>
                <a:blip r:embed="rId2"/>
                <a:stretch>
                  <a:fillRect l="-1043" t="-2166"/>
                </a:stretch>
              </a:blipFill>
            </p:spPr>
            <p:txBody>
              <a:bodyPr/>
              <a:lstStyle/>
              <a:p>
                <a:r>
                  <a:rPr lang="en-US">
                    <a:noFill/>
                  </a:rPr>
                  <a:t> </a:t>
                </a:r>
              </a:p>
            </p:txBody>
          </p:sp>
        </mc:Fallback>
      </mc:AlternateContent>
    </p:spTree>
    <p:extLst>
      <p:ext uri="{BB962C8B-B14F-4D97-AF65-F5344CB8AC3E}">
        <p14:creationId xmlns:p14="http://schemas.microsoft.com/office/powerpoint/2010/main" val="25614397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467ED-E8D9-7ED9-DF6B-CFF72FC3834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27CC640-4CCC-53E3-9FBE-87504A7B3108}"/>
              </a:ext>
            </a:extLst>
          </p:cNvPr>
          <p:cNvSpPr>
            <a:spLocks noGrp="1"/>
          </p:cNvSpPr>
          <p:nvPr>
            <p:ph type="title"/>
          </p:nvPr>
        </p:nvSpPr>
        <p:spPr/>
        <p:txBody>
          <a:bodyPr/>
          <a:lstStyle/>
          <a:p>
            <a:r>
              <a:rPr lang="es-CR" dirty="0"/>
              <a:t>Medidas de Fecundidad</a:t>
            </a:r>
            <a:endParaRPr lang="en-U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1203EDE-E210-73CC-6AA0-F7342F3A137C}"/>
                  </a:ext>
                </a:extLst>
              </p:cNvPr>
              <p:cNvSpPr>
                <a:spLocks noGrp="1"/>
              </p:cNvSpPr>
              <p:nvPr>
                <p:ph idx="1"/>
              </p:nvPr>
            </p:nvSpPr>
            <p:spPr>
              <a:xfrm>
                <a:off x="838200" y="1825624"/>
                <a:ext cx="10515600" cy="4780127"/>
              </a:xfrm>
            </p:spPr>
            <p:txBody>
              <a:bodyPr>
                <a:normAutofit/>
              </a:bodyPr>
              <a:lstStyle/>
              <a:p>
                <a:r>
                  <a:rPr lang="es-ES" dirty="0"/>
                  <a:t>Tasa Neta de Reproducción (TNR) </a:t>
                </a:r>
                <a:endParaRPr lang="es-CR" dirty="0"/>
              </a:p>
              <a:p>
                <a:pPr lvl="1"/>
                <a14:m>
                  <m:oMath xmlns:m="http://schemas.openxmlformats.org/officeDocument/2006/math">
                    <m:sSub>
                      <m:sSubPr>
                        <m:ctrlPr>
                          <a:rPr lang="en-US" i="1">
                            <a:latin typeface="Cambria Math" panose="02040503050406030204" pitchFamily="18" charset="0"/>
                          </a:rPr>
                        </m:ctrlPr>
                      </m:sSubPr>
                      <m:e>
                        <m:r>
                          <a:rPr lang="es-CR" i="1">
                            <a:latin typeface="Cambria Math" panose="02040503050406030204" pitchFamily="18" charset="0"/>
                          </a:rPr>
                          <m:t>𝑇𝑁𝑅</m:t>
                        </m:r>
                      </m:e>
                      <m:sub>
                        <m:r>
                          <a:rPr lang="es-CR" i="1">
                            <a:latin typeface="Cambria Math" panose="02040503050406030204" pitchFamily="18" charset="0"/>
                          </a:rPr>
                          <m:t>𝑝𝑒𝑟</m:t>
                        </m:r>
                        <m:r>
                          <a:rPr lang="es-CR" i="1">
                            <a:latin typeface="Cambria Math" panose="02040503050406030204" pitchFamily="18" charset="0"/>
                          </a:rPr>
                          <m:t>í</m:t>
                        </m:r>
                        <m:r>
                          <a:rPr lang="es-CR" i="1">
                            <a:latin typeface="Cambria Math" panose="02040503050406030204" pitchFamily="18" charset="0"/>
                          </a:rPr>
                          <m:t>𝑜𝑑𝑜</m:t>
                        </m:r>
                      </m:sub>
                    </m:sSub>
                    <m:r>
                      <a:rPr lang="es-ES" i="1">
                        <a:latin typeface="Cambria Math" panose="02040503050406030204" pitchFamily="18" charset="0"/>
                      </a:rPr>
                      <m:t>=</m:t>
                    </m:r>
                    <m:r>
                      <a:rPr lang="es-CR" i="1">
                        <a:latin typeface="Cambria Math" panose="02040503050406030204" pitchFamily="18" charset="0"/>
                      </a:rPr>
                      <m:t>𝑛</m:t>
                    </m:r>
                    <m:r>
                      <a:rPr lang="es-ES" i="1">
                        <a:latin typeface="Cambria Math" panose="02040503050406030204" pitchFamily="18" charset="0"/>
                      </a:rPr>
                      <m:t>∗</m:t>
                    </m:r>
                    <m:nary>
                      <m:naryPr>
                        <m:chr m:val="∑"/>
                        <m:limLoc m:val="undOvr"/>
                        <m:ctrlPr>
                          <a:rPr lang="en-US" i="1">
                            <a:latin typeface="Cambria Math" panose="02040503050406030204" pitchFamily="18" charset="0"/>
                          </a:rPr>
                        </m:ctrlPr>
                      </m:naryPr>
                      <m:sub>
                        <m:r>
                          <a:rPr lang="es-CR" i="1">
                            <a:latin typeface="Cambria Math" panose="02040503050406030204" pitchFamily="18" charset="0"/>
                          </a:rPr>
                          <m:t>𝑖</m:t>
                        </m:r>
                        <m:r>
                          <a:rPr lang="es-ES" i="1">
                            <a:latin typeface="Cambria Math" panose="02040503050406030204" pitchFamily="18" charset="0"/>
                          </a:rPr>
                          <m:t>=15</m:t>
                        </m:r>
                      </m:sub>
                      <m:sup>
                        <m:r>
                          <a:rPr lang="es-ES" i="1">
                            <a:latin typeface="Cambria Math" panose="02040503050406030204" pitchFamily="18" charset="0"/>
                          </a:rPr>
                          <m:t>49</m:t>
                        </m:r>
                      </m:sup>
                      <m:e>
                        <m:d>
                          <m:dPr>
                            <m:ctrlPr>
                              <a:rPr lang="en-US" i="1">
                                <a:latin typeface="Cambria Math" panose="02040503050406030204" pitchFamily="18" charset="0"/>
                              </a:rPr>
                            </m:ctrlPr>
                          </m:dPr>
                          <m:e>
                            <m:f>
                              <m:fPr>
                                <m:ctrlPr>
                                  <a:rPr lang="en-US" i="1">
                                    <a:latin typeface="Cambria Math" panose="02040503050406030204" pitchFamily="18" charset="0"/>
                                  </a:rPr>
                                </m:ctrlPr>
                              </m:fPr>
                              <m:num>
                                <m:sPre>
                                  <m:sPrePr>
                                    <m:ctrlPr>
                                      <a:rPr lang="en-US" i="1">
                                        <a:latin typeface="Cambria Math" panose="02040503050406030204" pitchFamily="18" charset="0"/>
                                      </a:rPr>
                                    </m:ctrlPr>
                                  </m:sPrePr>
                                  <m:sub>
                                    <m:r>
                                      <a:rPr lang="es-CR" i="1">
                                        <a:latin typeface="Cambria Math" panose="02040503050406030204" pitchFamily="18" charset="0"/>
                                      </a:rPr>
                                      <m:t>𝑛</m:t>
                                    </m:r>
                                  </m:sub>
                                  <m:sup/>
                                  <m:e>
                                    <m:sSubSup>
                                      <m:sSubSupPr>
                                        <m:ctrlPr>
                                          <a:rPr lang="en-US" i="1">
                                            <a:latin typeface="Cambria Math" panose="02040503050406030204" pitchFamily="18" charset="0"/>
                                          </a:rPr>
                                        </m:ctrlPr>
                                      </m:sSubSupPr>
                                      <m:e>
                                        <m:r>
                                          <a:rPr lang="es-CR" i="1">
                                            <a:latin typeface="Cambria Math" panose="02040503050406030204" pitchFamily="18" charset="0"/>
                                          </a:rPr>
                                          <m:t>𝐿</m:t>
                                        </m:r>
                                      </m:e>
                                      <m:sub>
                                        <m:r>
                                          <a:rPr lang="es-CR" i="1">
                                            <a:latin typeface="Cambria Math" panose="02040503050406030204" pitchFamily="18" charset="0"/>
                                          </a:rPr>
                                          <m:t>𝑥</m:t>
                                        </m:r>
                                      </m:sub>
                                      <m:sup>
                                        <m:r>
                                          <a:rPr lang="es-CR" b="0" i="1" smtClean="0">
                                            <a:latin typeface="Cambria Math" panose="02040503050406030204" pitchFamily="18" charset="0"/>
                                          </a:rPr>
                                          <m:t>𝑓</m:t>
                                        </m:r>
                                      </m:sup>
                                    </m:sSubSup>
                                  </m:e>
                                </m:sPre>
                              </m:num>
                              <m:den>
                                <m:sSubSup>
                                  <m:sSubSupPr>
                                    <m:ctrlPr>
                                      <a:rPr lang="es-CR" i="1" smtClean="0">
                                        <a:latin typeface="Cambria Math" panose="02040503050406030204" pitchFamily="18" charset="0"/>
                                      </a:rPr>
                                    </m:ctrlPr>
                                  </m:sSubSupPr>
                                  <m:e>
                                    <m:r>
                                      <a:rPr lang="es-CR" b="0" i="1" smtClean="0">
                                        <a:latin typeface="Cambria Math" panose="02040503050406030204" pitchFamily="18" charset="0"/>
                                      </a:rPr>
                                      <m:t>𝑙</m:t>
                                    </m:r>
                                  </m:e>
                                  <m:sub>
                                    <m:r>
                                      <a:rPr lang="es-CR" b="0" i="1" smtClean="0">
                                        <a:latin typeface="Cambria Math" panose="02040503050406030204" pitchFamily="18" charset="0"/>
                                      </a:rPr>
                                      <m:t>0</m:t>
                                    </m:r>
                                  </m:sub>
                                  <m:sup>
                                    <m:r>
                                      <a:rPr lang="es-CR" b="0" i="1" smtClean="0">
                                        <a:latin typeface="Cambria Math" panose="02040503050406030204" pitchFamily="18" charset="0"/>
                                      </a:rPr>
                                      <m:t>𝑓</m:t>
                                    </m:r>
                                  </m:sup>
                                </m:sSubSup>
                              </m:den>
                            </m:f>
                            <m:sPre>
                              <m:sPrePr>
                                <m:ctrlPr>
                                  <a:rPr lang="en-US" i="1">
                                    <a:latin typeface="Cambria Math" panose="02040503050406030204" pitchFamily="18" charset="0"/>
                                  </a:rPr>
                                </m:ctrlPr>
                              </m:sPrePr>
                              <m:sub>
                                <m:r>
                                  <a:rPr lang="es-CR" i="1">
                                    <a:latin typeface="Cambria Math" panose="02040503050406030204" pitchFamily="18" charset="0"/>
                                  </a:rPr>
                                  <m:t>𝑛</m:t>
                                </m:r>
                              </m:sub>
                              <m:sup/>
                              <m:e>
                                <m:sSubSup>
                                  <m:sSubSupPr>
                                    <m:ctrlPr>
                                      <a:rPr lang="en-US" i="1">
                                        <a:latin typeface="Cambria Math" panose="02040503050406030204" pitchFamily="18" charset="0"/>
                                      </a:rPr>
                                    </m:ctrlPr>
                                  </m:sSubSupPr>
                                  <m:e>
                                    <m:r>
                                      <a:rPr lang="es-CR" i="1">
                                        <a:latin typeface="Cambria Math" panose="02040503050406030204" pitchFamily="18" charset="0"/>
                                      </a:rPr>
                                      <m:t>𝑓</m:t>
                                    </m:r>
                                  </m:e>
                                  <m:sub>
                                    <m:r>
                                      <a:rPr lang="es-CR" i="1">
                                        <a:latin typeface="Cambria Math" panose="02040503050406030204" pitchFamily="18" charset="0"/>
                                      </a:rPr>
                                      <m:t>𝑥</m:t>
                                    </m:r>
                                  </m:sub>
                                  <m:sup>
                                    <m:r>
                                      <a:rPr lang="es-CR" i="1">
                                        <a:latin typeface="Cambria Math" panose="02040503050406030204" pitchFamily="18" charset="0"/>
                                      </a:rPr>
                                      <m:t>𝑓</m:t>
                                    </m:r>
                                  </m:sup>
                                </m:sSubSup>
                              </m:e>
                            </m:sPre>
                          </m:e>
                        </m:d>
                      </m:e>
                    </m:nary>
                    <m:r>
                      <a:rPr lang="es-CR" i="1">
                        <a:latin typeface="Cambria Math" panose="02040503050406030204" pitchFamily="18" charset="0"/>
                      </a:rPr>
                      <m:t>=</m:t>
                    </m:r>
                    <m:f>
                      <m:fPr>
                        <m:ctrlPr>
                          <a:rPr lang="en-US" i="1">
                            <a:latin typeface="Cambria Math" panose="02040503050406030204" pitchFamily="18" charset="0"/>
                          </a:rPr>
                        </m:ctrlPr>
                      </m:fPr>
                      <m:num>
                        <m:r>
                          <a:rPr lang="es-CR" i="1">
                            <a:latin typeface="Cambria Math" panose="02040503050406030204" pitchFamily="18" charset="0"/>
                          </a:rPr>
                          <m:t>1</m:t>
                        </m:r>
                      </m:num>
                      <m:den>
                        <m:r>
                          <a:rPr lang="es-CR" i="1">
                            <a:latin typeface="Cambria Math" panose="02040503050406030204" pitchFamily="18" charset="0"/>
                          </a:rPr>
                          <m:t>1+</m:t>
                        </m:r>
                        <m:r>
                          <a:rPr lang="en-US" i="1">
                            <a:latin typeface="Cambria Math" panose="02040503050406030204" pitchFamily="18" charset="0"/>
                          </a:rPr>
                          <m:t>𝑅𝑀𝑁</m:t>
                        </m:r>
                      </m:den>
                    </m:f>
                    <m:d>
                      <m:dPr>
                        <m:begChr m:val="["/>
                        <m:endChr m:val="]"/>
                        <m:ctrlPr>
                          <a:rPr lang="en-US" i="1">
                            <a:latin typeface="Cambria Math" panose="02040503050406030204" pitchFamily="18" charset="0"/>
                          </a:rPr>
                        </m:ctrlPr>
                      </m:dPr>
                      <m:e>
                        <m:r>
                          <a:rPr lang="es-CR" i="1">
                            <a:latin typeface="Cambria Math" panose="02040503050406030204" pitchFamily="18" charset="0"/>
                          </a:rPr>
                          <m:t>𝑛</m:t>
                        </m:r>
                        <m:r>
                          <a:rPr lang="es-ES" i="1">
                            <a:latin typeface="Cambria Math" panose="02040503050406030204" pitchFamily="18" charset="0"/>
                          </a:rPr>
                          <m:t>∗</m:t>
                        </m:r>
                        <m:nary>
                          <m:naryPr>
                            <m:chr m:val="∑"/>
                            <m:limLoc m:val="undOvr"/>
                            <m:ctrlPr>
                              <a:rPr lang="en-US" i="1">
                                <a:latin typeface="Cambria Math" panose="02040503050406030204" pitchFamily="18" charset="0"/>
                              </a:rPr>
                            </m:ctrlPr>
                          </m:naryPr>
                          <m:sub>
                            <m:r>
                              <a:rPr lang="es-CR" i="1">
                                <a:latin typeface="Cambria Math" panose="02040503050406030204" pitchFamily="18" charset="0"/>
                              </a:rPr>
                              <m:t>𝑖</m:t>
                            </m:r>
                            <m:r>
                              <a:rPr lang="es-ES" i="1">
                                <a:latin typeface="Cambria Math" panose="02040503050406030204" pitchFamily="18" charset="0"/>
                              </a:rPr>
                              <m:t>=15</m:t>
                            </m:r>
                          </m:sub>
                          <m:sup>
                            <m:r>
                              <a:rPr lang="es-ES" i="1">
                                <a:latin typeface="Cambria Math" panose="02040503050406030204" pitchFamily="18" charset="0"/>
                              </a:rPr>
                              <m:t>49</m:t>
                            </m:r>
                          </m:sup>
                          <m:e>
                            <m:d>
                              <m:dPr>
                                <m:ctrlPr>
                                  <a:rPr lang="en-US" i="1">
                                    <a:latin typeface="Cambria Math" panose="02040503050406030204" pitchFamily="18" charset="0"/>
                                  </a:rPr>
                                </m:ctrlPr>
                              </m:dPr>
                              <m:e>
                                <m:f>
                                  <m:fPr>
                                    <m:ctrlPr>
                                      <a:rPr lang="en-US" i="1">
                                        <a:latin typeface="Cambria Math" panose="02040503050406030204" pitchFamily="18" charset="0"/>
                                      </a:rPr>
                                    </m:ctrlPr>
                                  </m:fPr>
                                  <m:num>
                                    <m:sPre>
                                      <m:sPrePr>
                                        <m:ctrlPr>
                                          <a:rPr lang="en-US" i="1">
                                            <a:latin typeface="Cambria Math" panose="02040503050406030204" pitchFamily="18" charset="0"/>
                                          </a:rPr>
                                        </m:ctrlPr>
                                      </m:sPrePr>
                                      <m:sub>
                                        <m:r>
                                          <a:rPr lang="es-CR" i="1">
                                            <a:latin typeface="Cambria Math" panose="02040503050406030204" pitchFamily="18" charset="0"/>
                                          </a:rPr>
                                          <m:t>𝑛</m:t>
                                        </m:r>
                                      </m:sub>
                                      <m:sup/>
                                      <m:e>
                                        <m:sSubSup>
                                          <m:sSubSupPr>
                                            <m:ctrlPr>
                                              <a:rPr lang="en-US" i="1">
                                                <a:latin typeface="Cambria Math" panose="02040503050406030204" pitchFamily="18" charset="0"/>
                                              </a:rPr>
                                            </m:ctrlPr>
                                          </m:sSubSupPr>
                                          <m:e>
                                            <m:r>
                                              <a:rPr lang="es-CR" b="0" i="1" smtClean="0">
                                                <a:latin typeface="Cambria Math" panose="02040503050406030204" pitchFamily="18" charset="0"/>
                                              </a:rPr>
                                              <m:t>𝐿</m:t>
                                            </m:r>
                                          </m:e>
                                          <m:sub>
                                            <m:r>
                                              <a:rPr lang="es-CR" i="1">
                                                <a:latin typeface="Cambria Math" panose="02040503050406030204" pitchFamily="18" charset="0"/>
                                              </a:rPr>
                                              <m:t>𝑥</m:t>
                                            </m:r>
                                          </m:sub>
                                          <m:sup>
                                            <m:r>
                                              <a:rPr lang="es-CR" b="0" i="1" smtClean="0">
                                                <a:latin typeface="Cambria Math" panose="02040503050406030204" pitchFamily="18" charset="0"/>
                                              </a:rPr>
                                              <m:t>𝑓</m:t>
                                            </m:r>
                                          </m:sup>
                                        </m:sSubSup>
                                      </m:e>
                                    </m:sPre>
                                  </m:num>
                                  <m:den>
                                    <m:sSubSup>
                                      <m:sSubSupPr>
                                        <m:ctrlPr>
                                          <a:rPr lang="es-CR" i="1">
                                            <a:latin typeface="Cambria Math" panose="02040503050406030204" pitchFamily="18" charset="0"/>
                                          </a:rPr>
                                        </m:ctrlPr>
                                      </m:sSubSupPr>
                                      <m:e>
                                        <m:r>
                                          <a:rPr lang="es-CR" i="1">
                                            <a:latin typeface="Cambria Math" panose="02040503050406030204" pitchFamily="18" charset="0"/>
                                          </a:rPr>
                                          <m:t>𝑙</m:t>
                                        </m:r>
                                      </m:e>
                                      <m:sub>
                                        <m:r>
                                          <a:rPr lang="es-CR" i="1">
                                            <a:latin typeface="Cambria Math" panose="02040503050406030204" pitchFamily="18" charset="0"/>
                                          </a:rPr>
                                          <m:t>0</m:t>
                                        </m:r>
                                      </m:sub>
                                      <m:sup>
                                        <m:r>
                                          <a:rPr lang="es-CR" i="1">
                                            <a:latin typeface="Cambria Math" panose="02040503050406030204" pitchFamily="18" charset="0"/>
                                          </a:rPr>
                                          <m:t>𝑓</m:t>
                                        </m:r>
                                      </m:sup>
                                    </m:sSubSup>
                                  </m:den>
                                </m:f>
                                <m:sPre>
                                  <m:sPrePr>
                                    <m:ctrlPr>
                                      <a:rPr lang="en-US" i="1">
                                        <a:latin typeface="Cambria Math" panose="02040503050406030204" pitchFamily="18" charset="0"/>
                                      </a:rPr>
                                    </m:ctrlPr>
                                  </m:sPrePr>
                                  <m:sub>
                                    <m:r>
                                      <a:rPr lang="es-CR" i="1">
                                        <a:latin typeface="Cambria Math" panose="02040503050406030204" pitchFamily="18" charset="0"/>
                                      </a:rPr>
                                      <m:t>𝑛</m:t>
                                    </m:r>
                                  </m:sub>
                                  <m:sup/>
                                  <m:e>
                                    <m:sSubSup>
                                      <m:sSubSupPr>
                                        <m:ctrlPr>
                                          <a:rPr lang="en-US" i="1">
                                            <a:latin typeface="Cambria Math" panose="02040503050406030204" pitchFamily="18" charset="0"/>
                                          </a:rPr>
                                        </m:ctrlPr>
                                      </m:sSubSupPr>
                                      <m:e>
                                        <m:r>
                                          <a:rPr lang="es-CR" i="1">
                                            <a:latin typeface="Cambria Math" panose="02040503050406030204" pitchFamily="18" charset="0"/>
                                          </a:rPr>
                                          <m:t>𝑓</m:t>
                                        </m:r>
                                      </m:e>
                                      <m:sub>
                                        <m:r>
                                          <a:rPr lang="es-CR" i="1">
                                            <a:latin typeface="Cambria Math" panose="02040503050406030204" pitchFamily="18" charset="0"/>
                                          </a:rPr>
                                          <m:t>𝑥</m:t>
                                        </m:r>
                                      </m:sub>
                                      <m:sup/>
                                    </m:sSubSup>
                                  </m:e>
                                </m:sPre>
                              </m:e>
                            </m:d>
                          </m:e>
                        </m:nary>
                      </m:e>
                    </m:d>
                  </m:oMath>
                </a14:m>
                <a:endParaRPr lang="en-US" dirty="0"/>
              </a:p>
              <a:p>
                <a:pPr lvl="2"/>
                <a:r>
                  <a:rPr lang="es-ES" dirty="0"/>
                  <a:t>Donde </a:t>
                </a:r>
                <a:r>
                  <a:rPr lang="es-ES" baseline="-25000" dirty="0" err="1">
                    <a:effectLst/>
                    <a:ea typeface="Calibri" panose="020F0502020204030204" pitchFamily="34" charset="0"/>
                  </a:rPr>
                  <a:t>n</a:t>
                </a:r>
                <a:r>
                  <a:rPr lang="es-ES" dirty="0" err="1">
                    <a:effectLst/>
                    <a:ea typeface="Calibri" panose="020F0502020204030204" pitchFamily="34" charset="0"/>
                  </a:rPr>
                  <a:t>f</a:t>
                </a:r>
                <a:r>
                  <a:rPr lang="es-ES" baseline="-25000" dirty="0" err="1">
                    <a:effectLst/>
                    <a:ea typeface="Calibri" panose="020F0502020204030204" pitchFamily="34" charset="0"/>
                  </a:rPr>
                  <a:t>x</a:t>
                </a:r>
                <a:r>
                  <a:rPr lang="es-ES" baseline="30000" dirty="0" err="1">
                    <a:effectLst/>
                    <a:ea typeface="Calibri" panose="020F0502020204030204" pitchFamily="34" charset="0"/>
                  </a:rPr>
                  <a:t>f</a:t>
                </a:r>
                <a:r>
                  <a:rPr lang="es-ES" dirty="0">
                    <a:effectLst/>
                    <a:ea typeface="Calibri" panose="020F0502020204030204" pitchFamily="34" charset="0"/>
                  </a:rPr>
                  <a:t> es la tasa específica de fecundidad de nacimientos por mujeres por edad para las edades entre x y x+n-1. </a:t>
                </a:r>
              </a:p>
              <a:p>
                <a:pPr lvl="2"/>
                <a:r>
                  <a:rPr lang="es-ES" dirty="0">
                    <a:ea typeface="Calibri" panose="020F0502020204030204" pitchFamily="34" charset="0"/>
                  </a:rPr>
                  <a:t>Y </a:t>
                </a:r>
                <a:r>
                  <a:rPr lang="es-ES" sz="1400" dirty="0" err="1">
                    <a:ea typeface="Calibri" panose="020F0502020204030204" pitchFamily="34" charset="0"/>
                  </a:rPr>
                  <a:t>n</a:t>
                </a:r>
                <a:r>
                  <a:rPr lang="es-ES" dirty="0" err="1">
                    <a:ea typeface="Calibri" panose="020F0502020204030204" pitchFamily="34" charset="0"/>
                  </a:rPr>
                  <a:t>L</a:t>
                </a:r>
                <a:r>
                  <a:rPr lang="es-ES" sz="1400" dirty="0" err="1">
                    <a:ea typeface="Calibri" panose="020F0502020204030204" pitchFamily="34" charset="0"/>
                  </a:rPr>
                  <a:t>x</a:t>
                </a:r>
                <a:r>
                  <a:rPr lang="es-ES" dirty="0">
                    <a:ea typeface="Calibri" panose="020F0502020204030204" pitchFamily="34" charset="0"/>
                  </a:rPr>
                  <a:t> y l0 se toman de las tablas de vida de las mujeres.</a:t>
                </a:r>
                <a:endParaRPr lang="es-ES" dirty="0">
                  <a:effectLst/>
                  <a:ea typeface="Calibri" panose="020F0502020204030204" pitchFamily="34" charset="0"/>
                </a:endParaRPr>
              </a:p>
              <a:p>
                <a:pPr lvl="1"/>
                <a:endParaRPr lang="es-ES" dirty="0"/>
              </a:p>
              <a:p>
                <a:pPr lvl="1"/>
                <a:r>
                  <a:rPr lang="es-ES" dirty="0"/>
                  <a:t>Representa el número esperado de hijas (nacimientos femeninos) que tendrá una mujer que sobreviva al final de su vida reproductiva, si se mantienen las tasas de fecundidad observadas durante el período.</a:t>
                </a:r>
              </a:p>
              <a:p>
                <a:pPr lvl="1"/>
                <a:r>
                  <a:rPr lang="es-ES" dirty="0"/>
                  <a:t>En países con baja mortalidad y donde se mantiene la RMN de 1.05, la TBR de reproducción es de un poco más de 1 (1.024) y la TNR es prácticamente igual a 1. </a:t>
                </a:r>
              </a:p>
            </p:txBody>
          </p:sp>
        </mc:Choice>
        <mc:Fallback xmlns="">
          <p:sp>
            <p:nvSpPr>
              <p:cNvPr id="3" name="Marcador de contenido 2">
                <a:extLst>
                  <a:ext uri="{FF2B5EF4-FFF2-40B4-BE49-F238E27FC236}">
                    <a16:creationId xmlns:a16="http://schemas.microsoft.com/office/drawing/2014/main" id="{61203EDE-E210-73CC-6AA0-F7342F3A137C}"/>
                  </a:ext>
                </a:extLst>
              </p:cNvPr>
              <p:cNvSpPr>
                <a:spLocks noGrp="1" noRot="1" noChangeAspect="1" noMove="1" noResize="1" noEditPoints="1" noAdjustHandles="1" noChangeArrowheads="1" noChangeShapeType="1" noTextEdit="1"/>
              </p:cNvSpPr>
              <p:nvPr>
                <p:ph idx="1"/>
              </p:nvPr>
            </p:nvSpPr>
            <p:spPr>
              <a:xfrm>
                <a:off x="838200" y="1825624"/>
                <a:ext cx="10515600" cy="4780127"/>
              </a:xfrm>
              <a:blipFill>
                <a:blip r:embed="rId2"/>
                <a:stretch>
                  <a:fillRect l="-1043" t="-2166" r="-348" b="-1656"/>
                </a:stretch>
              </a:blipFill>
            </p:spPr>
            <p:txBody>
              <a:bodyPr/>
              <a:lstStyle/>
              <a:p>
                <a:r>
                  <a:rPr lang="en-US">
                    <a:noFill/>
                  </a:rPr>
                  <a:t> </a:t>
                </a:r>
              </a:p>
            </p:txBody>
          </p:sp>
        </mc:Fallback>
      </mc:AlternateContent>
    </p:spTree>
    <p:extLst>
      <p:ext uri="{BB962C8B-B14F-4D97-AF65-F5344CB8AC3E}">
        <p14:creationId xmlns:p14="http://schemas.microsoft.com/office/powerpoint/2010/main" val="22960491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5D924-66A8-81C1-645B-DFFCD63A2E2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C554C47-DD6F-4C5A-4FB5-5E5851883345}"/>
              </a:ext>
            </a:extLst>
          </p:cNvPr>
          <p:cNvSpPr>
            <a:spLocks noGrp="1"/>
          </p:cNvSpPr>
          <p:nvPr>
            <p:ph type="title"/>
          </p:nvPr>
        </p:nvSpPr>
        <p:spPr>
          <a:xfrm>
            <a:off x="838200" y="365126"/>
            <a:ext cx="10515600" cy="959178"/>
          </a:xfrm>
        </p:spPr>
        <p:txBody>
          <a:bodyPr/>
          <a:lstStyle/>
          <a:p>
            <a:r>
              <a:rPr lang="es-CR" dirty="0"/>
              <a:t>Curvas de fecundidad</a:t>
            </a:r>
            <a:endParaRPr lang="en-US" dirty="0"/>
          </a:p>
        </p:txBody>
      </p:sp>
      <p:sp>
        <p:nvSpPr>
          <p:cNvPr id="3" name="Marcador de contenido 2">
            <a:extLst>
              <a:ext uri="{FF2B5EF4-FFF2-40B4-BE49-F238E27FC236}">
                <a16:creationId xmlns:a16="http://schemas.microsoft.com/office/drawing/2014/main" id="{C5F3E0EF-FA31-82D4-CD2F-5A51E6D661CD}"/>
              </a:ext>
            </a:extLst>
          </p:cNvPr>
          <p:cNvSpPr>
            <a:spLocks noGrp="1"/>
          </p:cNvSpPr>
          <p:nvPr>
            <p:ph idx="1"/>
          </p:nvPr>
        </p:nvSpPr>
        <p:spPr>
          <a:xfrm>
            <a:off x="838200" y="1324304"/>
            <a:ext cx="10515600" cy="5281447"/>
          </a:xfrm>
        </p:spPr>
        <p:txBody>
          <a:bodyPr>
            <a:normAutofit/>
          </a:bodyPr>
          <a:lstStyle/>
          <a:p>
            <a:r>
              <a:rPr lang="es-ES" dirty="0"/>
              <a:t>Para analizar fecundidad, se acostumbra también graficar las tasas específicas de fecundidad por edad (si son por grupos quinquenales de edad, se grafica la tasa en la edad media).  </a:t>
            </a:r>
          </a:p>
          <a:p>
            <a:r>
              <a:rPr lang="es-ES" dirty="0"/>
              <a:t>A partir del gráfico, se determina la forma de la curva.  </a:t>
            </a:r>
          </a:p>
          <a:p>
            <a:r>
              <a:rPr lang="es-ES" dirty="0"/>
              <a:t>Generalmente se definen tres curvas básicas que muestran el patrón de la fecundidad de una población:</a:t>
            </a:r>
          </a:p>
          <a:p>
            <a:pPr lvl="1"/>
            <a:r>
              <a:rPr lang="es-ES" dirty="0"/>
              <a:t>Cúspide temprana:   La máxima fecundidad se presenta en el grupo de edades 20-24 años.</a:t>
            </a:r>
          </a:p>
          <a:p>
            <a:pPr lvl="1"/>
            <a:r>
              <a:rPr lang="es-ES" dirty="0"/>
              <a:t>Cúspide dilatada:  La máxima fecundidad se presenta entre los dos grupos de edades 20-24 y 25-29. </a:t>
            </a:r>
          </a:p>
          <a:p>
            <a:pPr lvl="1"/>
            <a:r>
              <a:rPr lang="es-ES" dirty="0"/>
              <a:t>Cúspide tardía:  La máxima fecundidad se presenta en el grupo de edades 25-29 años. </a:t>
            </a:r>
          </a:p>
          <a:p>
            <a:pPr lvl="1"/>
            <a:endParaRPr lang="es-ES" dirty="0"/>
          </a:p>
        </p:txBody>
      </p:sp>
    </p:spTree>
    <p:extLst>
      <p:ext uri="{BB962C8B-B14F-4D97-AF65-F5344CB8AC3E}">
        <p14:creationId xmlns:p14="http://schemas.microsoft.com/office/powerpoint/2010/main" val="35229159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8AAB4-B1CD-422C-70F0-2DD91523364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DD855BD-89B6-5166-1F5B-3F9582E6E743}"/>
              </a:ext>
            </a:extLst>
          </p:cNvPr>
          <p:cNvSpPr>
            <a:spLocks noGrp="1"/>
          </p:cNvSpPr>
          <p:nvPr>
            <p:ph type="title"/>
          </p:nvPr>
        </p:nvSpPr>
        <p:spPr>
          <a:xfrm>
            <a:off x="838200" y="365126"/>
            <a:ext cx="10515600" cy="959178"/>
          </a:xfrm>
        </p:spPr>
        <p:txBody>
          <a:bodyPr/>
          <a:lstStyle/>
          <a:p>
            <a:r>
              <a:rPr lang="es-CR" dirty="0"/>
              <a:t>Curvas de fecundidad</a:t>
            </a:r>
            <a:endParaRPr lang="en-US" dirty="0"/>
          </a:p>
        </p:txBody>
      </p:sp>
      <p:sp>
        <p:nvSpPr>
          <p:cNvPr id="5" name="Marcador de contenido 4">
            <a:extLst>
              <a:ext uri="{FF2B5EF4-FFF2-40B4-BE49-F238E27FC236}">
                <a16:creationId xmlns:a16="http://schemas.microsoft.com/office/drawing/2014/main" id="{7DA4582D-08FC-EFBE-32FC-A401FD5F1988}"/>
              </a:ext>
            </a:extLst>
          </p:cNvPr>
          <p:cNvSpPr>
            <a:spLocks noGrp="1"/>
          </p:cNvSpPr>
          <p:nvPr>
            <p:ph idx="1"/>
          </p:nvPr>
        </p:nvSpPr>
        <p:spPr>
          <a:xfrm>
            <a:off x="838200" y="5722883"/>
            <a:ext cx="10515600" cy="454080"/>
          </a:xfrm>
        </p:spPr>
        <p:txBody>
          <a:bodyPr>
            <a:normAutofit/>
          </a:bodyPr>
          <a:lstStyle/>
          <a:p>
            <a:r>
              <a:rPr lang="pt-BR" sz="1800" dirty="0"/>
              <a:t>:  Chaves, </a:t>
            </a:r>
            <a:r>
              <a:rPr lang="pt-BR" sz="1800" dirty="0" err="1"/>
              <a:t>Ewin</a:t>
            </a:r>
            <a:r>
              <a:rPr lang="pt-BR" sz="1800" dirty="0"/>
              <a:t>: http://ccp.ucr.ac.cr/cursos/demografia_03/. </a:t>
            </a:r>
            <a:endParaRPr lang="en-US" sz="1800" dirty="0"/>
          </a:p>
        </p:txBody>
      </p:sp>
      <p:pic>
        <p:nvPicPr>
          <p:cNvPr id="6" name="Imagen 5">
            <a:extLst>
              <a:ext uri="{FF2B5EF4-FFF2-40B4-BE49-F238E27FC236}">
                <a16:creationId xmlns:a16="http://schemas.microsoft.com/office/drawing/2014/main" id="{6E763B41-7E5B-0C2F-63D1-837422A9886C}"/>
              </a:ext>
            </a:extLst>
          </p:cNvPr>
          <p:cNvPicPr>
            <a:picLocks noChangeAspect="1"/>
          </p:cNvPicPr>
          <p:nvPr/>
        </p:nvPicPr>
        <p:blipFill>
          <a:blip r:embed="rId2"/>
          <a:stretch>
            <a:fillRect/>
          </a:stretch>
        </p:blipFill>
        <p:spPr>
          <a:xfrm>
            <a:off x="3247697" y="1267158"/>
            <a:ext cx="5403934" cy="4101547"/>
          </a:xfrm>
          <a:prstGeom prst="rect">
            <a:avLst/>
          </a:prstGeom>
        </p:spPr>
      </p:pic>
    </p:spTree>
    <p:extLst>
      <p:ext uri="{BB962C8B-B14F-4D97-AF65-F5344CB8AC3E}">
        <p14:creationId xmlns:p14="http://schemas.microsoft.com/office/powerpoint/2010/main" val="25299592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EFB3D-7450-7B68-C4C4-90D0501D245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1078889-2873-D253-955C-0BEBAB57CBB8}"/>
              </a:ext>
            </a:extLst>
          </p:cNvPr>
          <p:cNvSpPr>
            <a:spLocks noGrp="1"/>
          </p:cNvSpPr>
          <p:nvPr>
            <p:ph type="title"/>
          </p:nvPr>
        </p:nvSpPr>
        <p:spPr>
          <a:xfrm>
            <a:off x="838200" y="365126"/>
            <a:ext cx="10515600" cy="959178"/>
          </a:xfrm>
        </p:spPr>
        <p:txBody>
          <a:bodyPr/>
          <a:lstStyle/>
          <a:p>
            <a:r>
              <a:rPr lang="es-CR" dirty="0"/>
              <a:t>Curvas de fecundidad</a:t>
            </a:r>
            <a:endParaRPr lang="en-US" dirty="0"/>
          </a:p>
        </p:txBody>
      </p:sp>
      <p:sp>
        <p:nvSpPr>
          <p:cNvPr id="5" name="Marcador de contenido 4">
            <a:extLst>
              <a:ext uri="{FF2B5EF4-FFF2-40B4-BE49-F238E27FC236}">
                <a16:creationId xmlns:a16="http://schemas.microsoft.com/office/drawing/2014/main" id="{2F1047DA-E778-AFA3-A3FB-C9FE76E7D5E6}"/>
              </a:ext>
            </a:extLst>
          </p:cNvPr>
          <p:cNvSpPr>
            <a:spLocks noGrp="1"/>
          </p:cNvSpPr>
          <p:nvPr>
            <p:ph idx="1"/>
          </p:nvPr>
        </p:nvSpPr>
        <p:spPr>
          <a:xfrm>
            <a:off x="691864" y="6265834"/>
            <a:ext cx="10515600" cy="454080"/>
          </a:xfrm>
        </p:spPr>
        <p:txBody>
          <a:bodyPr>
            <a:normAutofit/>
          </a:bodyPr>
          <a:lstStyle/>
          <a:p>
            <a:r>
              <a:rPr lang="pt-BR" sz="1800" dirty="0"/>
              <a:t>:  Chaves, </a:t>
            </a:r>
            <a:r>
              <a:rPr lang="pt-BR" sz="1800" dirty="0" err="1"/>
              <a:t>Ewin</a:t>
            </a:r>
            <a:r>
              <a:rPr lang="pt-BR" sz="1800" dirty="0"/>
              <a:t>: http://ccp.ucr.ac.cr/cursos/demografia_03/. </a:t>
            </a:r>
            <a:endParaRPr lang="en-US" sz="1800" dirty="0"/>
          </a:p>
        </p:txBody>
      </p:sp>
      <p:sp>
        <p:nvSpPr>
          <p:cNvPr id="3" name="Marcador de contenido 4">
            <a:extLst>
              <a:ext uri="{FF2B5EF4-FFF2-40B4-BE49-F238E27FC236}">
                <a16:creationId xmlns:a16="http://schemas.microsoft.com/office/drawing/2014/main" id="{26C65AA9-389B-CECD-F6F2-B89BA628707E}"/>
              </a:ext>
            </a:extLst>
          </p:cNvPr>
          <p:cNvSpPr txBox="1">
            <a:spLocks/>
          </p:cNvSpPr>
          <p:nvPr/>
        </p:nvSpPr>
        <p:spPr>
          <a:xfrm>
            <a:off x="691864" y="1242411"/>
            <a:ext cx="10515600" cy="73066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z="2400" dirty="0"/>
              <a:t>Las curvas también se pueden representar con la distribución relativa de las tasas (dividiendo cada tasa entre la TGF). </a:t>
            </a:r>
            <a:endParaRPr lang="en-US" sz="2400" dirty="0"/>
          </a:p>
        </p:txBody>
      </p:sp>
      <p:pic>
        <p:nvPicPr>
          <p:cNvPr id="4" name="Imagen 3">
            <a:extLst>
              <a:ext uri="{FF2B5EF4-FFF2-40B4-BE49-F238E27FC236}">
                <a16:creationId xmlns:a16="http://schemas.microsoft.com/office/drawing/2014/main" id="{B31AF239-FD18-5DB0-F579-26D5FBEE6BB0}"/>
              </a:ext>
            </a:extLst>
          </p:cNvPr>
          <p:cNvPicPr>
            <a:picLocks noChangeAspect="1"/>
          </p:cNvPicPr>
          <p:nvPr/>
        </p:nvPicPr>
        <p:blipFill>
          <a:blip r:embed="rId2"/>
          <a:stretch>
            <a:fillRect/>
          </a:stretch>
        </p:blipFill>
        <p:spPr>
          <a:xfrm>
            <a:off x="3342290" y="2059782"/>
            <a:ext cx="5565227" cy="3872057"/>
          </a:xfrm>
          <a:prstGeom prst="rect">
            <a:avLst/>
          </a:prstGeom>
        </p:spPr>
      </p:pic>
    </p:spTree>
    <p:extLst>
      <p:ext uri="{BB962C8B-B14F-4D97-AF65-F5344CB8AC3E}">
        <p14:creationId xmlns:p14="http://schemas.microsoft.com/office/powerpoint/2010/main" val="18293988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98592-46A4-B3FC-6D9A-B086FF1D6F3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FECC833-8B7C-0F51-C11B-661AA1976638}"/>
              </a:ext>
            </a:extLst>
          </p:cNvPr>
          <p:cNvSpPr>
            <a:spLocks noGrp="1"/>
          </p:cNvSpPr>
          <p:nvPr>
            <p:ph type="title"/>
          </p:nvPr>
        </p:nvSpPr>
        <p:spPr/>
        <p:txBody>
          <a:bodyPr/>
          <a:lstStyle/>
          <a:p>
            <a:r>
              <a:rPr lang="es-CR" dirty="0"/>
              <a:t>Medidas de Fecundidad</a:t>
            </a:r>
            <a:endParaRPr lang="en-US" dirty="0"/>
          </a:p>
        </p:txBody>
      </p:sp>
      <p:sp>
        <p:nvSpPr>
          <p:cNvPr id="3" name="Marcador de contenido 2">
            <a:extLst>
              <a:ext uri="{FF2B5EF4-FFF2-40B4-BE49-F238E27FC236}">
                <a16:creationId xmlns:a16="http://schemas.microsoft.com/office/drawing/2014/main" id="{BBDDB406-E3BC-EC66-4F71-DF351FFF3C67}"/>
              </a:ext>
            </a:extLst>
          </p:cNvPr>
          <p:cNvSpPr>
            <a:spLocks noGrp="1"/>
          </p:cNvSpPr>
          <p:nvPr>
            <p:ph idx="1"/>
          </p:nvPr>
        </p:nvSpPr>
        <p:spPr>
          <a:xfrm>
            <a:off x="838200" y="1825624"/>
            <a:ext cx="10515600" cy="4780127"/>
          </a:xfrm>
        </p:spPr>
        <p:txBody>
          <a:bodyPr>
            <a:normAutofit lnSpcReduction="10000"/>
          </a:bodyPr>
          <a:lstStyle/>
          <a:p>
            <a:r>
              <a:rPr lang="es-CR" dirty="0"/>
              <a:t>Número medio observado de hijos al final de la edad reproductiva (conocido también como </a:t>
            </a:r>
            <a:r>
              <a:rPr lang="es-CR" dirty="0" err="1"/>
              <a:t>Paridez</a:t>
            </a:r>
            <a:r>
              <a:rPr lang="es-CR" dirty="0"/>
              <a:t> Promedio a la edad x).</a:t>
            </a:r>
          </a:p>
          <a:p>
            <a:pPr lvl="1"/>
            <a:r>
              <a:rPr lang="es-ES" dirty="0"/>
              <a:t>En Censos y Encuestas en los que se pregunta a las mujeres cuántos hijos ha tenido, se puede calcular el número medio de hijos para las mujeres de 50 años, o entre 50 a 59 años.</a:t>
            </a:r>
          </a:p>
          <a:p>
            <a:pPr lvl="1"/>
            <a:r>
              <a:rPr lang="es-ES" dirty="0"/>
              <a:t>Esta cifra se puede interpretar como una Tasa Global de Fecundidad de cohorte.</a:t>
            </a:r>
          </a:p>
          <a:p>
            <a:r>
              <a:rPr lang="es-ES" dirty="0"/>
              <a:t>Con datos de encuestas, también se puede calcular una tasa global de fecundidad con las respuestas al número de hijos tenidos.</a:t>
            </a:r>
          </a:p>
          <a:p>
            <a:pPr lvl="1"/>
            <a:r>
              <a:rPr lang="es-ES" dirty="0"/>
              <a:t>En el numerador se suman el total de nacimientos.</a:t>
            </a:r>
          </a:p>
          <a:p>
            <a:pPr lvl="1"/>
            <a:r>
              <a:rPr lang="es-ES" dirty="0"/>
              <a:t>En el denominador se suma el total de años persona expuestos al riesgo de tener hijos.</a:t>
            </a:r>
          </a:p>
        </p:txBody>
      </p:sp>
    </p:spTree>
    <p:extLst>
      <p:ext uri="{BB962C8B-B14F-4D97-AF65-F5344CB8AC3E}">
        <p14:creationId xmlns:p14="http://schemas.microsoft.com/office/powerpoint/2010/main" val="28378787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8A3C8-BF27-9BC1-9271-EC83101A8FE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4420CCE-90D9-DC3D-D797-447EA60ACF14}"/>
              </a:ext>
            </a:extLst>
          </p:cNvPr>
          <p:cNvSpPr>
            <a:spLocks noGrp="1"/>
          </p:cNvSpPr>
          <p:nvPr>
            <p:ph type="title"/>
          </p:nvPr>
        </p:nvSpPr>
        <p:spPr/>
        <p:txBody>
          <a:bodyPr/>
          <a:lstStyle/>
          <a:p>
            <a:r>
              <a:rPr lang="es-CR" dirty="0"/>
              <a:t>Medidas de Fecundidad</a:t>
            </a:r>
            <a:endParaRPr lang="en-U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06CF0328-AD7E-6AD0-29FA-C8DC6C5A72BD}"/>
                  </a:ext>
                </a:extLst>
              </p:cNvPr>
              <p:cNvSpPr>
                <a:spLocks noGrp="1"/>
              </p:cNvSpPr>
              <p:nvPr>
                <p:ph idx="1"/>
              </p:nvPr>
            </p:nvSpPr>
            <p:spPr>
              <a:xfrm>
                <a:off x="838200" y="1825624"/>
                <a:ext cx="10515600" cy="4780127"/>
              </a:xfrm>
            </p:spPr>
            <p:txBody>
              <a:bodyPr>
                <a:normAutofit/>
              </a:bodyPr>
              <a:lstStyle/>
              <a:p>
                <a:r>
                  <a:rPr lang="es-ES" dirty="0"/>
                  <a:t>Edad media de la fecundidad </a:t>
                </a:r>
                <a:endParaRPr lang="es-CR" dirty="0"/>
              </a:p>
              <a:p>
                <a:pPr lvl="1"/>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s-CR" i="1">
                                <a:latin typeface="Cambria Math" panose="02040503050406030204" pitchFamily="18" charset="0"/>
                              </a:rPr>
                              <m:t>𝑀</m:t>
                            </m:r>
                          </m:e>
                        </m:acc>
                      </m:e>
                      <m:sub>
                        <m:r>
                          <a:rPr lang="es-CR" i="1">
                            <a:latin typeface="Cambria Math" panose="02040503050406030204" pitchFamily="18" charset="0"/>
                          </a:rPr>
                          <m:t>𝑝𝑒𝑟</m:t>
                        </m:r>
                        <m:r>
                          <a:rPr lang="es-CR" i="1">
                            <a:latin typeface="Cambria Math" panose="02040503050406030204" pitchFamily="18" charset="0"/>
                          </a:rPr>
                          <m:t>í</m:t>
                        </m:r>
                        <m:r>
                          <a:rPr lang="es-CR" i="1">
                            <a:latin typeface="Cambria Math" panose="02040503050406030204" pitchFamily="18" charset="0"/>
                          </a:rPr>
                          <m:t>𝑜𝑑𝑜</m:t>
                        </m:r>
                      </m:sub>
                    </m:sSub>
                    <m:r>
                      <a:rPr lang="es-ES" i="1">
                        <a:latin typeface="Cambria Math" panose="02040503050406030204" pitchFamily="18" charset="0"/>
                      </a:rPr>
                      <m:t>=</m:t>
                    </m:r>
                    <m:f>
                      <m:fPr>
                        <m:ctrlPr>
                          <a:rPr lang="en-US" i="1">
                            <a:latin typeface="Cambria Math" panose="02040503050406030204" pitchFamily="18" charset="0"/>
                          </a:rPr>
                        </m:ctrlPr>
                      </m:fPr>
                      <m:num>
                        <m:nary>
                          <m:naryPr>
                            <m:chr m:val="∑"/>
                            <m:limLoc m:val="undOvr"/>
                            <m:ctrlPr>
                              <a:rPr lang="en-US" i="1">
                                <a:latin typeface="Cambria Math" panose="02040503050406030204" pitchFamily="18" charset="0"/>
                              </a:rPr>
                            </m:ctrlPr>
                          </m:naryPr>
                          <m:sub>
                            <m:r>
                              <a:rPr lang="es-CR" i="1">
                                <a:latin typeface="Cambria Math" panose="02040503050406030204" pitchFamily="18" charset="0"/>
                              </a:rPr>
                              <m:t>𝑖</m:t>
                            </m:r>
                            <m:r>
                              <a:rPr lang="es-ES" i="1">
                                <a:latin typeface="Cambria Math" panose="02040503050406030204" pitchFamily="18" charset="0"/>
                              </a:rPr>
                              <m:t>=15</m:t>
                            </m:r>
                          </m:sub>
                          <m:sup>
                            <m:r>
                              <a:rPr lang="es-ES" i="1">
                                <a:latin typeface="Cambria Math" panose="02040503050406030204" pitchFamily="18" charset="0"/>
                              </a:rPr>
                              <m:t>49</m:t>
                            </m:r>
                          </m:sup>
                          <m:e>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s-CR" i="1">
                                        <a:latin typeface="Cambria Math" panose="02040503050406030204" pitchFamily="18" charset="0"/>
                                      </a:rPr>
                                      <m:t>𝑋</m:t>
                                    </m:r>
                                  </m:e>
                                </m:acc>
                                <m:r>
                                  <a:rPr lang="es-CR" i="1">
                                    <a:latin typeface="Cambria Math" panose="02040503050406030204" pitchFamily="18" charset="0"/>
                                  </a:rPr>
                                  <m:t>∗</m:t>
                                </m:r>
                                <m:sPre>
                                  <m:sPrePr>
                                    <m:ctrlPr>
                                      <a:rPr lang="en-US" i="1">
                                        <a:latin typeface="Cambria Math" panose="02040503050406030204" pitchFamily="18" charset="0"/>
                                      </a:rPr>
                                    </m:ctrlPr>
                                  </m:sPrePr>
                                  <m:sub>
                                    <m:r>
                                      <a:rPr lang="es-CR" i="1">
                                        <a:latin typeface="Cambria Math" panose="02040503050406030204" pitchFamily="18" charset="0"/>
                                      </a:rPr>
                                      <m:t>𝑛</m:t>
                                    </m:r>
                                  </m:sub>
                                  <m:sup/>
                                  <m:e>
                                    <m:sSubSup>
                                      <m:sSubSupPr>
                                        <m:ctrlPr>
                                          <a:rPr lang="en-US" i="1">
                                            <a:latin typeface="Cambria Math" panose="02040503050406030204" pitchFamily="18" charset="0"/>
                                          </a:rPr>
                                        </m:ctrlPr>
                                      </m:sSubSupPr>
                                      <m:e>
                                        <m:r>
                                          <a:rPr lang="es-CR" i="1">
                                            <a:latin typeface="Cambria Math" panose="02040503050406030204" pitchFamily="18" charset="0"/>
                                          </a:rPr>
                                          <m:t>𝑓</m:t>
                                        </m:r>
                                      </m:e>
                                      <m:sub>
                                        <m:r>
                                          <a:rPr lang="es-CR" i="1">
                                            <a:latin typeface="Cambria Math" panose="02040503050406030204" pitchFamily="18" charset="0"/>
                                          </a:rPr>
                                          <m:t>𝑥</m:t>
                                        </m:r>
                                      </m:sub>
                                      <m:sup/>
                                    </m:sSubSup>
                                  </m:e>
                                </m:sPre>
                              </m:e>
                            </m:d>
                          </m:e>
                        </m:nary>
                      </m:num>
                      <m:den>
                        <m:nary>
                          <m:naryPr>
                            <m:chr m:val="∑"/>
                            <m:limLoc m:val="undOvr"/>
                            <m:ctrlPr>
                              <a:rPr lang="en-US" i="1">
                                <a:latin typeface="Cambria Math" panose="02040503050406030204" pitchFamily="18" charset="0"/>
                              </a:rPr>
                            </m:ctrlPr>
                          </m:naryPr>
                          <m:sub>
                            <m:r>
                              <a:rPr lang="es-CR" i="1">
                                <a:latin typeface="Cambria Math" panose="02040503050406030204" pitchFamily="18" charset="0"/>
                              </a:rPr>
                              <m:t>𝑖</m:t>
                            </m:r>
                            <m:r>
                              <a:rPr lang="es-ES" i="1">
                                <a:latin typeface="Cambria Math" panose="02040503050406030204" pitchFamily="18" charset="0"/>
                              </a:rPr>
                              <m:t>=15</m:t>
                            </m:r>
                          </m:sub>
                          <m:sup>
                            <m:r>
                              <a:rPr lang="es-ES" i="1">
                                <a:latin typeface="Cambria Math" panose="02040503050406030204" pitchFamily="18" charset="0"/>
                              </a:rPr>
                              <m:t>49</m:t>
                            </m:r>
                          </m:sup>
                          <m:e>
                            <m:d>
                              <m:dPr>
                                <m:ctrlPr>
                                  <a:rPr lang="en-US" i="1">
                                    <a:latin typeface="Cambria Math" panose="02040503050406030204" pitchFamily="18" charset="0"/>
                                  </a:rPr>
                                </m:ctrlPr>
                              </m:dPr>
                              <m:e>
                                <m:sPre>
                                  <m:sPrePr>
                                    <m:ctrlPr>
                                      <a:rPr lang="en-US" i="1">
                                        <a:latin typeface="Cambria Math" panose="02040503050406030204" pitchFamily="18" charset="0"/>
                                      </a:rPr>
                                    </m:ctrlPr>
                                  </m:sPrePr>
                                  <m:sub>
                                    <m:r>
                                      <a:rPr lang="es-CR" i="1">
                                        <a:latin typeface="Cambria Math" panose="02040503050406030204" pitchFamily="18" charset="0"/>
                                      </a:rPr>
                                      <m:t>𝑛</m:t>
                                    </m:r>
                                  </m:sub>
                                  <m:sup/>
                                  <m:e>
                                    <m:sSubSup>
                                      <m:sSubSupPr>
                                        <m:ctrlPr>
                                          <a:rPr lang="en-US" i="1">
                                            <a:latin typeface="Cambria Math" panose="02040503050406030204" pitchFamily="18" charset="0"/>
                                          </a:rPr>
                                        </m:ctrlPr>
                                      </m:sSubSupPr>
                                      <m:e>
                                        <m:r>
                                          <a:rPr lang="es-CR" i="1">
                                            <a:latin typeface="Cambria Math" panose="02040503050406030204" pitchFamily="18" charset="0"/>
                                          </a:rPr>
                                          <m:t>𝑓</m:t>
                                        </m:r>
                                      </m:e>
                                      <m:sub>
                                        <m:r>
                                          <a:rPr lang="es-CR" i="1">
                                            <a:latin typeface="Cambria Math" panose="02040503050406030204" pitchFamily="18" charset="0"/>
                                          </a:rPr>
                                          <m:t>𝑥</m:t>
                                        </m:r>
                                      </m:sub>
                                      <m:sup/>
                                    </m:sSubSup>
                                  </m:e>
                                </m:sPre>
                              </m:e>
                            </m:d>
                          </m:e>
                        </m:nary>
                      </m:den>
                    </m:f>
                    <m:r>
                      <a:rPr lang="en-US" b="0" i="1" smtClean="0">
                        <a:latin typeface="Cambria Math" panose="02040503050406030204" pitchFamily="18" charset="0"/>
                      </a:rPr>
                      <m:t>=</m:t>
                    </m:r>
                    <m:f>
                      <m:fPr>
                        <m:ctrlPr>
                          <a:rPr lang="en-US" i="1">
                            <a:latin typeface="Cambria Math" panose="02040503050406030204" pitchFamily="18" charset="0"/>
                          </a:rPr>
                        </m:ctrlPr>
                      </m:fPr>
                      <m:num>
                        <m:nary>
                          <m:naryPr>
                            <m:chr m:val="∑"/>
                            <m:limLoc m:val="undOvr"/>
                            <m:ctrlPr>
                              <a:rPr lang="en-US" i="1">
                                <a:latin typeface="Cambria Math" panose="02040503050406030204" pitchFamily="18" charset="0"/>
                              </a:rPr>
                            </m:ctrlPr>
                          </m:naryPr>
                          <m:sub>
                            <m:r>
                              <a:rPr lang="es-CR" i="1">
                                <a:latin typeface="Cambria Math" panose="02040503050406030204" pitchFamily="18" charset="0"/>
                              </a:rPr>
                              <m:t>𝑖</m:t>
                            </m:r>
                            <m:r>
                              <a:rPr lang="es-ES" i="1">
                                <a:latin typeface="Cambria Math" panose="02040503050406030204" pitchFamily="18" charset="0"/>
                              </a:rPr>
                              <m:t>=15</m:t>
                            </m:r>
                          </m:sub>
                          <m:sup>
                            <m:r>
                              <a:rPr lang="es-ES" i="1">
                                <a:latin typeface="Cambria Math" panose="02040503050406030204" pitchFamily="18" charset="0"/>
                              </a:rPr>
                              <m:t>49</m:t>
                            </m:r>
                          </m:sup>
                          <m:e>
                            <m:d>
                              <m:dPr>
                                <m:ctrlPr>
                                  <a:rPr lang="en-US" i="1">
                                    <a:latin typeface="Cambria Math" panose="02040503050406030204" pitchFamily="18" charset="0"/>
                                  </a:rPr>
                                </m:ctrlPr>
                              </m:dPr>
                              <m:e>
                                <m:d>
                                  <m:dPr>
                                    <m:ctrlPr>
                                      <a:rPr lang="en-US" i="1" smtClean="0">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/2</m:t>
                                    </m:r>
                                  </m:e>
                                </m:d>
                                <m:r>
                                  <a:rPr lang="es-CR" i="1">
                                    <a:latin typeface="Cambria Math" panose="02040503050406030204" pitchFamily="18" charset="0"/>
                                  </a:rPr>
                                  <m:t>∗</m:t>
                                </m:r>
                                <m:sPre>
                                  <m:sPrePr>
                                    <m:ctrlPr>
                                      <a:rPr lang="en-US" i="1">
                                        <a:latin typeface="Cambria Math" panose="02040503050406030204" pitchFamily="18" charset="0"/>
                                      </a:rPr>
                                    </m:ctrlPr>
                                  </m:sPrePr>
                                  <m:sub>
                                    <m:r>
                                      <a:rPr lang="es-CR" i="1">
                                        <a:latin typeface="Cambria Math" panose="02040503050406030204" pitchFamily="18" charset="0"/>
                                      </a:rPr>
                                      <m:t>𝑛</m:t>
                                    </m:r>
                                  </m:sub>
                                  <m:sup/>
                                  <m:e>
                                    <m:sSubSup>
                                      <m:sSubSupPr>
                                        <m:ctrlPr>
                                          <a:rPr lang="en-US" i="1">
                                            <a:latin typeface="Cambria Math" panose="02040503050406030204" pitchFamily="18" charset="0"/>
                                          </a:rPr>
                                        </m:ctrlPr>
                                      </m:sSubSupPr>
                                      <m:e>
                                        <m:r>
                                          <a:rPr lang="es-CR" i="1">
                                            <a:latin typeface="Cambria Math" panose="02040503050406030204" pitchFamily="18" charset="0"/>
                                          </a:rPr>
                                          <m:t>𝑓</m:t>
                                        </m:r>
                                      </m:e>
                                      <m:sub>
                                        <m:r>
                                          <a:rPr lang="es-CR" i="1">
                                            <a:latin typeface="Cambria Math" panose="02040503050406030204" pitchFamily="18" charset="0"/>
                                          </a:rPr>
                                          <m:t>𝑥</m:t>
                                        </m:r>
                                      </m:sub>
                                      <m:sup/>
                                    </m:sSubSup>
                                  </m:e>
                                </m:sPre>
                              </m:e>
                            </m:d>
                          </m:e>
                        </m:nary>
                      </m:num>
                      <m:den>
                        <m:nary>
                          <m:naryPr>
                            <m:chr m:val="∑"/>
                            <m:limLoc m:val="undOvr"/>
                            <m:ctrlPr>
                              <a:rPr lang="en-US" i="1">
                                <a:latin typeface="Cambria Math" panose="02040503050406030204" pitchFamily="18" charset="0"/>
                              </a:rPr>
                            </m:ctrlPr>
                          </m:naryPr>
                          <m:sub>
                            <m:r>
                              <a:rPr lang="es-CR" i="1">
                                <a:latin typeface="Cambria Math" panose="02040503050406030204" pitchFamily="18" charset="0"/>
                              </a:rPr>
                              <m:t>𝑖</m:t>
                            </m:r>
                            <m:r>
                              <a:rPr lang="es-ES" i="1">
                                <a:latin typeface="Cambria Math" panose="02040503050406030204" pitchFamily="18" charset="0"/>
                              </a:rPr>
                              <m:t>=15</m:t>
                            </m:r>
                          </m:sub>
                          <m:sup>
                            <m:r>
                              <a:rPr lang="es-ES" i="1">
                                <a:latin typeface="Cambria Math" panose="02040503050406030204" pitchFamily="18" charset="0"/>
                              </a:rPr>
                              <m:t>49</m:t>
                            </m:r>
                          </m:sup>
                          <m:e>
                            <m:d>
                              <m:dPr>
                                <m:ctrlPr>
                                  <a:rPr lang="en-US" i="1">
                                    <a:latin typeface="Cambria Math" panose="02040503050406030204" pitchFamily="18" charset="0"/>
                                  </a:rPr>
                                </m:ctrlPr>
                              </m:dPr>
                              <m:e>
                                <m:sPre>
                                  <m:sPrePr>
                                    <m:ctrlPr>
                                      <a:rPr lang="en-US" i="1">
                                        <a:latin typeface="Cambria Math" panose="02040503050406030204" pitchFamily="18" charset="0"/>
                                      </a:rPr>
                                    </m:ctrlPr>
                                  </m:sPrePr>
                                  <m:sub>
                                    <m:r>
                                      <a:rPr lang="es-CR" i="1">
                                        <a:latin typeface="Cambria Math" panose="02040503050406030204" pitchFamily="18" charset="0"/>
                                      </a:rPr>
                                      <m:t>𝑛</m:t>
                                    </m:r>
                                  </m:sub>
                                  <m:sup/>
                                  <m:e>
                                    <m:sSubSup>
                                      <m:sSubSupPr>
                                        <m:ctrlPr>
                                          <a:rPr lang="en-US" i="1">
                                            <a:latin typeface="Cambria Math" panose="02040503050406030204" pitchFamily="18" charset="0"/>
                                          </a:rPr>
                                        </m:ctrlPr>
                                      </m:sSubSupPr>
                                      <m:e>
                                        <m:r>
                                          <a:rPr lang="es-CR" i="1">
                                            <a:latin typeface="Cambria Math" panose="02040503050406030204" pitchFamily="18" charset="0"/>
                                          </a:rPr>
                                          <m:t>𝑓</m:t>
                                        </m:r>
                                      </m:e>
                                      <m:sub>
                                        <m:r>
                                          <a:rPr lang="es-CR" i="1">
                                            <a:latin typeface="Cambria Math" panose="02040503050406030204" pitchFamily="18" charset="0"/>
                                          </a:rPr>
                                          <m:t>𝑥</m:t>
                                        </m:r>
                                      </m:sub>
                                      <m:sup/>
                                    </m:sSubSup>
                                  </m:e>
                                </m:sPre>
                              </m:e>
                            </m:d>
                          </m:e>
                        </m:nary>
                      </m:den>
                    </m:f>
                  </m:oMath>
                </a14:m>
                <a:endParaRPr lang="en-US" dirty="0"/>
              </a:p>
              <a:p>
                <a:pPr lvl="2"/>
                <a:r>
                  <a:rPr lang="es-ES" dirty="0"/>
                  <a:t>Donde </a:t>
                </a:r>
                <a14:m>
                  <m:oMath xmlns:m="http://schemas.openxmlformats.org/officeDocument/2006/math">
                    <m:acc>
                      <m:accPr>
                        <m:chr m:val="̅"/>
                        <m:ctrlPr>
                          <a:rPr lang="en-US" i="1" smtClean="0">
                            <a:latin typeface="Cambria Math" panose="02040503050406030204" pitchFamily="18" charset="0"/>
                          </a:rPr>
                        </m:ctrlPr>
                      </m:accPr>
                      <m:e>
                        <m:r>
                          <a:rPr lang="es-CR" i="1">
                            <a:latin typeface="Cambria Math" panose="02040503050406030204" pitchFamily="18" charset="0"/>
                          </a:rPr>
                          <m:t>𝑋</m:t>
                        </m:r>
                      </m:e>
                    </m:acc>
                  </m:oMath>
                </a14:m>
                <a:r>
                  <a:rPr lang="es-ES" dirty="0"/>
                  <a:t> es el punto medio de la clase de edades, que es equivalente </a:t>
                </a:r>
                <a:r>
                  <a:rPr lang="es-ES" dirty="0" err="1"/>
                  <a:t>tambi</a:t>
                </a:r>
                <a:r>
                  <a:rPr lang="es-CR" dirty="0" err="1"/>
                  <a:t>én</a:t>
                </a:r>
                <a:r>
                  <a:rPr lang="es-CR" dirty="0"/>
                  <a:t> a </a:t>
                </a:r>
                <a:r>
                  <a:rPr lang="es-CR" dirty="0" err="1"/>
                  <a:t>x+n</a:t>
                </a:r>
                <a:r>
                  <a:rPr lang="es-CR" dirty="0"/>
                  <a:t>/2.</a:t>
                </a:r>
              </a:p>
              <a:p>
                <a:pPr lvl="1"/>
                <a:endParaRPr lang="es-ES" dirty="0"/>
              </a:p>
              <a:p>
                <a:pPr lvl="1"/>
                <a:r>
                  <a:rPr lang="es-ES" dirty="0"/>
                  <a:t> La edad media de la fecundidad es un indicador del tiempo en el que se da la fecundidad. </a:t>
                </a:r>
              </a:p>
              <a:p>
                <a:pPr lvl="1"/>
                <a:endParaRPr lang="es-ES" dirty="0"/>
              </a:p>
              <a:p>
                <a:pPr lvl="1"/>
                <a:r>
                  <a:rPr lang="es-ES" dirty="0"/>
                  <a:t>Al ser un valor esperado, también se le puede calcular su variancia.</a:t>
                </a:r>
              </a:p>
            </p:txBody>
          </p:sp>
        </mc:Choice>
        <mc:Fallback xmlns="">
          <p:sp>
            <p:nvSpPr>
              <p:cNvPr id="3" name="Marcador de contenido 2">
                <a:extLst>
                  <a:ext uri="{FF2B5EF4-FFF2-40B4-BE49-F238E27FC236}">
                    <a16:creationId xmlns:a16="http://schemas.microsoft.com/office/drawing/2014/main" id="{06CF0328-AD7E-6AD0-29FA-C8DC6C5A72BD}"/>
                  </a:ext>
                </a:extLst>
              </p:cNvPr>
              <p:cNvSpPr>
                <a:spLocks noGrp="1" noRot="1" noChangeAspect="1" noMove="1" noResize="1" noEditPoints="1" noAdjustHandles="1" noChangeArrowheads="1" noChangeShapeType="1" noTextEdit="1"/>
              </p:cNvSpPr>
              <p:nvPr>
                <p:ph idx="1"/>
              </p:nvPr>
            </p:nvSpPr>
            <p:spPr>
              <a:xfrm>
                <a:off x="838200" y="1825624"/>
                <a:ext cx="10515600" cy="4780127"/>
              </a:xfrm>
              <a:blipFill>
                <a:blip r:embed="rId2"/>
                <a:stretch>
                  <a:fillRect l="-1043" t="-2166"/>
                </a:stretch>
              </a:blipFill>
            </p:spPr>
            <p:txBody>
              <a:bodyPr/>
              <a:lstStyle/>
              <a:p>
                <a:r>
                  <a:rPr lang="en-US">
                    <a:noFill/>
                  </a:rPr>
                  <a:t> </a:t>
                </a:r>
              </a:p>
            </p:txBody>
          </p:sp>
        </mc:Fallback>
      </mc:AlternateContent>
    </p:spTree>
    <p:extLst>
      <p:ext uri="{BB962C8B-B14F-4D97-AF65-F5344CB8AC3E}">
        <p14:creationId xmlns:p14="http://schemas.microsoft.com/office/powerpoint/2010/main" val="23714987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AB2CC-BCB0-CC8A-AAC7-8A3C4633440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221C13C-2C33-E173-8615-9AA2CBB055FF}"/>
              </a:ext>
            </a:extLst>
          </p:cNvPr>
          <p:cNvSpPr>
            <a:spLocks noGrp="1"/>
          </p:cNvSpPr>
          <p:nvPr>
            <p:ph type="title"/>
          </p:nvPr>
        </p:nvSpPr>
        <p:spPr/>
        <p:txBody>
          <a:bodyPr/>
          <a:lstStyle/>
          <a:p>
            <a:r>
              <a:rPr lang="es-CR" dirty="0"/>
              <a:t>Tasa intrínseca de crecimiento e inercia poblacional.</a:t>
            </a:r>
            <a:endParaRPr lang="en-U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A9B95510-CF0A-9E40-739C-9473058E9BB1}"/>
                  </a:ext>
                </a:extLst>
              </p:cNvPr>
              <p:cNvSpPr>
                <a:spLocks noGrp="1"/>
              </p:cNvSpPr>
              <p:nvPr>
                <p:ph idx="1"/>
              </p:nvPr>
            </p:nvSpPr>
            <p:spPr>
              <a:xfrm>
                <a:off x="838200" y="1891862"/>
                <a:ext cx="10515600" cy="4713889"/>
              </a:xfrm>
            </p:spPr>
            <p:txBody>
              <a:bodyPr>
                <a:normAutofit/>
              </a:bodyPr>
              <a:lstStyle/>
              <a:p>
                <a:pPr marL="0" marR="0"/>
                <a:r>
                  <a:rPr lang="es-CR" sz="2400" dirty="0"/>
                  <a:t>Si suponemos un modelo de crecimiento exponencial, sabemos que la fórmula de la tasa de crecimiento es:  </a:t>
                </a:r>
                <a14:m>
                  <m:oMath xmlns:m="http://schemas.openxmlformats.org/officeDocument/2006/math">
                    <m:sSub>
                      <m:sSubPr>
                        <m:ctrlPr>
                          <a:rPr lang="es-CR" sz="2400" i="1" smtClean="0">
                            <a:latin typeface="Cambria Math" panose="02040503050406030204" pitchFamily="18" charset="0"/>
                          </a:rPr>
                        </m:ctrlPr>
                      </m:sSubPr>
                      <m:e>
                        <m:r>
                          <a:rPr lang="es-CR" sz="2400" b="0" i="1" smtClean="0">
                            <a:latin typeface="Cambria Math" panose="02040503050406030204" pitchFamily="18" charset="0"/>
                          </a:rPr>
                          <m:t>𝑟</m:t>
                        </m:r>
                      </m:e>
                      <m:sub>
                        <m:r>
                          <a:rPr lang="es-CR" sz="2400" b="0" i="1" smtClean="0">
                            <a:latin typeface="Cambria Math" panose="02040503050406030204" pitchFamily="18" charset="0"/>
                          </a:rPr>
                          <m:t>𝑒</m:t>
                        </m:r>
                      </m:sub>
                    </m:sSub>
                    <m:r>
                      <a:rPr lang="es-CR" sz="2400" b="0" i="1" smtClean="0">
                        <a:latin typeface="Cambria Math" panose="02040503050406030204" pitchFamily="18" charset="0"/>
                      </a:rPr>
                      <m:t>=</m:t>
                    </m:r>
                    <m:f>
                      <m:fPr>
                        <m:ctrlPr>
                          <a:rPr lang="es-CR" sz="2400" b="0" i="1" smtClean="0">
                            <a:latin typeface="Cambria Math" panose="02040503050406030204" pitchFamily="18" charset="0"/>
                          </a:rPr>
                        </m:ctrlPr>
                      </m:fPr>
                      <m:num>
                        <m:r>
                          <a:rPr lang="es-CR" sz="2400" b="0" i="1" smtClean="0">
                            <a:latin typeface="Cambria Math" panose="02040503050406030204" pitchFamily="18" charset="0"/>
                          </a:rPr>
                          <m:t>1</m:t>
                        </m:r>
                      </m:num>
                      <m:den>
                        <m:r>
                          <a:rPr lang="es-CR" sz="2400" b="0" i="1" smtClean="0">
                            <a:latin typeface="Cambria Math" panose="02040503050406030204" pitchFamily="18" charset="0"/>
                          </a:rPr>
                          <m:t>𝑡</m:t>
                        </m:r>
                      </m:den>
                    </m:f>
                    <m:r>
                      <a:rPr lang="es-CR" sz="2400" b="0" i="1" smtClean="0">
                        <a:latin typeface="Cambria Math" panose="02040503050406030204" pitchFamily="18" charset="0"/>
                      </a:rPr>
                      <m:t>∗</m:t>
                    </m:r>
                    <m:r>
                      <a:rPr lang="es-CR" sz="2400" b="0" i="1" smtClean="0">
                        <a:latin typeface="Cambria Math" panose="02040503050406030204" pitchFamily="18" charset="0"/>
                      </a:rPr>
                      <m:t>𝑙𝑛</m:t>
                    </m:r>
                    <m:d>
                      <m:dPr>
                        <m:ctrlPr>
                          <a:rPr lang="es-CR" sz="2400" b="0" i="1" smtClean="0">
                            <a:latin typeface="Cambria Math" panose="02040503050406030204" pitchFamily="18" charset="0"/>
                          </a:rPr>
                        </m:ctrlPr>
                      </m:dPr>
                      <m:e>
                        <m:f>
                          <m:fPr>
                            <m:ctrlPr>
                              <a:rPr lang="es-CR" sz="2400" b="0" i="1" smtClean="0">
                                <a:latin typeface="Cambria Math" panose="02040503050406030204" pitchFamily="18" charset="0"/>
                              </a:rPr>
                            </m:ctrlPr>
                          </m:fPr>
                          <m:num>
                            <m:sSub>
                              <m:sSubPr>
                                <m:ctrlPr>
                                  <a:rPr lang="es-CR" sz="2400" b="0" i="1" smtClean="0">
                                    <a:latin typeface="Cambria Math" panose="02040503050406030204" pitchFamily="18" charset="0"/>
                                  </a:rPr>
                                </m:ctrlPr>
                              </m:sSubPr>
                              <m:e>
                                <m:r>
                                  <a:rPr lang="es-CR" sz="2400" b="0" i="1" smtClean="0">
                                    <a:latin typeface="Cambria Math" panose="02040503050406030204" pitchFamily="18" charset="0"/>
                                  </a:rPr>
                                  <m:t>𝑁</m:t>
                                </m:r>
                              </m:e>
                              <m:sub>
                                <m:r>
                                  <a:rPr lang="es-CR" sz="2400" b="0" i="1" smtClean="0">
                                    <a:latin typeface="Cambria Math" panose="02040503050406030204" pitchFamily="18" charset="0"/>
                                  </a:rPr>
                                  <m:t>1</m:t>
                                </m:r>
                              </m:sub>
                            </m:sSub>
                          </m:num>
                          <m:den>
                            <m:sSub>
                              <m:sSubPr>
                                <m:ctrlPr>
                                  <a:rPr lang="es-CR" sz="2400" b="0" i="1" smtClean="0">
                                    <a:latin typeface="Cambria Math" panose="02040503050406030204" pitchFamily="18" charset="0"/>
                                  </a:rPr>
                                </m:ctrlPr>
                              </m:sSubPr>
                              <m:e>
                                <m:r>
                                  <a:rPr lang="es-CR" sz="2400" b="0" i="1" smtClean="0">
                                    <a:latin typeface="Cambria Math" panose="02040503050406030204" pitchFamily="18" charset="0"/>
                                  </a:rPr>
                                  <m:t>𝑁</m:t>
                                </m:r>
                              </m:e>
                              <m:sub>
                                <m:r>
                                  <a:rPr lang="es-CR" sz="2400" b="0" i="1" smtClean="0">
                                    <a:latin typeface="Cambria Math" panose="02040503050406030204" pitchFamily="18" charset="0"/>
                                  </a:rPr>
                                  <m:t>0</m:t>
                                </m:r>
                              </m:sub>
                            </m:sSub>
                          </m:den>
                        </m:f>
                      </m:e>
                    </m:d>
                  </m:oMath>
                </a14:m>
                <a:r>
                  <a:rPr lang="es-CR" sz="2400" dirty="0"/>
                  <a:t>.</a:t>
                </a:r>
              </a:p>
              <a:p>
                <a:pPr marL="0" marR="0"/>
                <a:r>
                  <a:rPr lang="es-CR" sz="2400" dirty="0"/>
                  <a:t>Si denominamos N(M) al tamaño de la generación de las madres, y N(0) al tamaño de la generación de las hijas, entonces:  </a:t>
                </a:r>
                <a14:m>
                  <m:oMath xmlns:m="http://schemas.openxmlformats.org/officeDocument/2006/math">
                    <m:r>
                      <a:rPr lang="es-CR" sz="2400" b="0" i="1" smtClean="0">
                        <a:latin typeface="Cambria Math" panose="02040503050406030204" pitchFamily="18" charset="0"/>
                      </a:rPr>
                      <m:t>𝑇𝑁𝑅</m:t>
                    </m:r>
                    <m:r>
                      <a:rPr lang="es-CR" sz="2400" b="0" i="1" smtClean="0">
                        <a:latin typeface="Cambria Math" panose="02040503050406030204" pitchFamily="18" charset="0"/>
                        <a:ea typeface="Cambria Math" panose="02040503050406030204" pitchFamily="18" charset="0"/>
                      </a:rPr>
                      <m:t>≅</m:t>
                    </m:r>
                    <m:f>
                      <m:fPr>
                        <m:ctrlPr>
                          <a:rPr lang="es-CR" sz="2400" b="0" i="1" smtClean="0">
                            <a:latin typeface="Cambria Math" panose="02040503050406030204" pitchFamily="18" charset="0"/>
                            <a:ea typeface="Cambria Math" panose="02040503050406030204" pitchFamily="18" charset="0"/>
                          </a:rPr>
                        </m:ctrlPr>
                      </m:fPr>
                      <m:num>
                        <m:r>
                          <a:rPr lang="es-CR" sz="2400" b="0" i="1" smtClean="0">
                            <a:latin typeface="Cambria Math" panose="02040503050406030204" pitchFamily="18" charset="0"/>
                            <a:ea typeface="Cambria Math" panose="02040503050406030204" pitchFamily="18" charset="0"/>
                          </a:rPr>
                          <m:t>𝑁</m:t>
                        </m:r>
                        <m:r>
                          <a:rPr lang="es-CR" sz="2400" b="0" i="1" smtClean="0">
                            <a:latin typeface="Cambria Math" panose="02040503050406030204" pitchFamily="18" charset="0"/>
                            <a:ea typeface="Cambria Math" panose="02040503050406030204" pitchFamily="18" charset="0"/>
                          </a:rPr>
                          <m:t>(0)</m:t>
                        </m:r>
                      </m:num>
                      <m:den>
                        <m:r>
                          <a:rPr lang="es-CR" sz="2400" b="0" i="1" smtClean="0">
                            <a:latin typeface="Cambria Math" panose="02040503050406030204" pitchFamily="18" charset="0"/>
                            <a:ea typeface="Cambria Math" panose="02040503050406030204" pitchFamily="18" charset="0"/>
                          </a:rPr>
                          <m:t>𝑁</m:t>
                        </m:r>
                        <m:r>
                          <a:rPr lang="es-CR" sz="2400" b="0" i="1" smtClean="0">
                            <a:latin typeface="Cambria Math" panose="02040503050406030204" pitchFamily="18" charset="0"/>
                            <a:ea typeface="Cambria Math" panose="02040503050406030204" pitchFamily="18" charset="0"/>
                          </a:rPr>
                          <m:t>(</m:t>
                        </m:r>
                        <m:r>
                          <a:rPr lang="es-CR" sz="2400" b="0" i="1" smtClean="0">
                            <a:latin typeface="Cambria Math" panose="02040503050406030204" pitchFamily="18" charset="0"/>
                            <a:ea typeface="Cambria Math" panose="02040503050406030204" pitchFamily="18" charset="0"/>
                          </a:rPr>
                          <m:t>𝑀</m:t>
                        </m:r>
                        <m:r>
                          <a:rPr lang="es-CR" sz="2400" b="0" i="1" smtClean="0">
                            <a:latin typeface="Cambria Math" panose="02040503050406030204" pitchFamily="18" charset="0"/>
                            <a:ea typeface="Cambria Math" panose="02040503050406030204" pitchFamily="18" charset="0"/>
                          </a:rPr>
                          <m:t>)</m:t>
                        </m:r>
                      </m:den>
                    </m:f>
                  </m:oMath>
                </a14:m>
                <a:r>
                  <a:rPr lang="es-CR" sz="2400" dirty="0"/>
                  <a:t>, y planteamos que la TNR es una tasa de crecimiento y que M (edad media a la reproducción) es el tiempo en que una generación de mujeres se reproduce, entonces:</a:t>
                </a:r>
              </a:p>
              <a:p>
                <a:pPr marL="0" marR="0"/>
                <a:endParaRPr lang="es-CR" sz="2400" dirty="0"/>
              </a:p>
              <a:p>
                <a:pPr marL="0"/>
                <a14:m>
                  <m:oMath xmlns:m="http://schemas.openxmlformats.org/officeDocument/2006/math">
                    <m:r>
                      <a:rPr lang="es-CR" sz="2400" i="1" smtClean="0">
                        <a:latin typeface="Cambria Math" panose="02040503050406030204" pitchFamily="18" charset="0"/>
                      </a:rPr>
                      <m:t>𝑟</m:t>
                    </m:r>
                    <m:r>
                      <a:rPr lang="es-CR" sz="2400" b="0" i="1" smtClean="0">
                        <a:latin typeface="Cambria Math" panose="02040503050406030204" pitchFamily="18" charset="0"/>
                      </a:rPr>
                      <m:t>=</m:t>
                    </m:r>
                    <m:f>
                      <m:fPr>
                        <m:ctrlPr>
                          <a:rPr lang="es-CR" sz="2400" b="0" i="1" smtClean="0">
                            <a:latin typeface="Cambria Math" panose="02040503050406030204" pitchFamily="18" charset="0"/>
                          </a:rPr>
                        </m:ctrlPr>
                      </m:fPr>
                      <m:num>
                        <m:r>
                          <a:rPr lang="es-CR" sz="2400" b="0" i="1" smtClean="0">
                            <a:latin typeface="Cambria Math" panose="02040503050406030204" pitchFamily="18" charset="0"/>
                          </a:rPr>
                          <m:t>1</m:t>
                        </m:r>
                      </m:num>
                      <m:den>
                        <m:r>
                          <a:rPr lang="es-CR" sz="2400" b="0" i="1" smtClean="0">
                            <a:latin typeface="Cambria Math" panose="02040503050406030204" pitchFamily="18" charset="0"/>
                          </a:rPr>
                          <m:t>𝑀</m:t>
                        </m:r>
                      </m:den>
                    </m:f>
                    <m:r>
                      <a:rPr lang="es-CR" sz="2400" b="0" i="1" smtClean="0">
                        <a:latin typeface="Cambria Math" panose="02040503050406030204" pitchFamily="18" charset="0"/>
                      </a:rPr>
                      <m:t>∗</m:t>
                    </m:r>
                    <m:r>
                      <a:rPr lang="es-CR" sz="2400" b="0" i="1" smtClean="0">
                        <a:latin typeface="Cambria Math" panose="02040503050406030204" pitchFamily="18" charset="0"/>
                      </a:rPr>
                      <m:t>𝑙𝑛</m:t>
                    </m:r>
                    <m:d>
                      <m:dPr>
                        <m:ctrlPr>
                          <a:rPr lang="es-CR" sz="2400" b="0" i="1" smtClean="0">
                            <a:latin typeface="Cambria Math" panose="02040503050406030204" pitchFamily="18" charset="0"/>
                          </a:rPr>
                        </m:ctrlPr>
                      </m:dPr>
                      <m:e>
                        <m:r>
                          <a:rPr lang="es-CR" sz="2400" b="0" i="1" smtClean="0">
                            <a:latin typeface="Cambria Math" panose="02040503050406030204" pitchFamily="18" charset="0"/>
                          </a:rPr>
                          <m:t>𝑇𝑁𝑅</m:t>
                        </m:r>
                      </m:e>
                    </m:d>
                  </m:oMath>
                </a14:m>
                <a:r>
                  <a:rPr lang="es-CR" sz="2400" dirty="0"/>
                  <a:t>.</a:t>
                </a:r>
              </a:p>
              <a:p>
                <a:pPr marL="0" marR="0"/>
                <a:endParaRPr lang="es-CR" sz="2400" dirty="0"/>
              </a:p>
            </p:txBody>
          </p:sp>
        </mc:Choice>
        <mc:Fallback xmlns="">
          <p:sp>
            <p:nvSpPr>
              <p:cNvPr id="3" name="Marcador de contenido 2">
                <a:extLst>
                  <a:ext uri="{FF2B5EF4-FFF2-40B4-BE49-F238E27FC236}">
                    <a16:creationId xmlns:a16="http://schemas.microsoft.com/office/drawing/2014/main" id="{A9B95510-CF0A-9E40-739C-9473058E9BB1}"/>
                  </a:ext>
                </a:extLst>
              </p:cNvPr>
              <p:cNvSpPr>
                <a:spLocks noGrp="1" noRot="1" noChangeAspect="1" noMove="1" noResize="1" noEditPoints="1" noAdjustHandles="1" noChangeArrowheads="1" noChangeShapeType="1" noTextEdit="1"/>
              </p:cNvSpPr>
              <p:nvPr>
                <p:ph idx="1"/>
              </p:nvPr>
            </p:nvSpPr>
            <p:spPr>
              <a:xfrm>
                <a:off x="838200" y="1891862"/>
                <a:ext cx="10515600" cy="4713889"/>
              </a:xfrm>
              <a:blipFill>
                <a:blip r:embed="rId2"/>
                <a:stretch>
                  <a:fillRect l="-928" t="-1680" r="-464"/>
                </a:stretch>
              </a:blipFill>
            </p:spPr>
            <p:txBody>
              <a:bodyPr/>
              <a:lstStyle/>
              <a:p>
                <a:r>
                  <a:rPr lang="en-US">
                    <a:noFill/>
                  </a:rPr>
                  <a:t> </a:t>
                </a:r>
              </a:p>
            </p:txBody>
          </p:sp>
        </mc:Fallback>
      </mc:AlternateContent>
    </p:spTree>
    <p:extLst>
      <p:ext uri="{BB962C8B-B14F-4D97-AF65-F5344CB8AC3E}">
        <p14:creationId xmlns:p14="http://schemas.microsoft.com/office/powerpoint/2010/main" val="15142818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D89DD-2D68-02EE-2893-7F351E3BAFB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8CAFB7B-A071-C755-2553-BE290EAD212D}"/>
              </a:ext>
            </a:extLst>
          </p:cNvPr>
          <p:cNvSpPr>
            <a:spLocks noGrp="1"/>
          </p:cNvSpPr>
          <p:nvPr>
            <p:ph type="title"/>
          </p:nvPr>
        </p:nvSpPr>
        <p:spPr/>
        <p:txBody>
          <a:bodyPr/>
          <a:lstStyle/>
          <a:p>
            <a:r>
              <a:rPr lang="es-CR" dirty="0"/>
              <a:t>Tasa intrínseca de crecimiento e inercia poblacional.</a:t>
            </a:r>
            <a:endParaRPr lang="en-U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78F614A7-07DC-32EC-5F97-C86A1ADE2EBB}"/>
                  </a:ext>
                </a:extLst>
              </p:cNvPr>
              <p:cNvSpPr>
                <a:spLocks noGrp="1"/>
              </p:cNvSpPr>
              <p:nvPr>
                <p:ph idx="1"/>
              </p:nvPr>
            </p:nvSpPr>
            <p:spPr>
              <a:xfrm>
                <a:off x="838200" y="1891862"/>
                <a:ext cx="10515600" cy="4713889"/>
              </a:xfrm>
            </p:spPr>
            <p:txBody>
              <a:bodyPr>
                <a:normAutofit/>
              </a:bodyPr>
              <a:lstStyle/>
              <a:p>
                <a:pPr marL="0" marR="0"/>
                <a:r>
                  <a:rPr lang="es-CR" sz="2400" dirty="0"/>
                  <a:t>Suponga que la TNR es de 1.25 y la edad media a la reproducción es de 22 años, entonces:</a:t>
                </a:r>
              </a:p>
              <a:p>
                <a:pPr marL="457200" lvl="1"/>
                <a14:m>
                  <m:oMath xmlns:m="http://schemas.openxmlformats.org/officeDocument/2006/math">
                    <m:r>
                      <a:rPr lang="es-CR" sz="2000" i="1" smtClean="0">
                        <a:latin typeface="Cambria Math" panose="02040503050406030204" pitchFamily="18" charset="0"/>
                      </a:rPr>
                      <m:t>𝑟</m:t>
                    </m:r>
                    <m:r>
                      <a:rPr lang="es-CR" sz="2000" b="0" i="1" smtClean="0">
                        <a:latin typeface="Cambria Math" panose="02040503050406030204" pitchFamily="18" charset="0"/>
                      </a:rPr>
                      <m:t>=</m:t>
                    </m:r>
                    <m:f>
                      <m:fPr>
                        <m:ctrlPr>
                          <a:rPr lang="es-CR" sz="2000" b="0" i="1" smtClean="0">
                            <a:latin typeface="Cambria Math" panose="02040503050406030204" pitchFamily="18" charset="0"/>
                          </a:rPr>
                        </m:ctrlPr>
                      </m:fPr>
                      <m:num>
                        <m:r>
                          <a:rPr lang="es-CR" sz="2000" b="0" i="1" smtClean="0">
                            <a:latin typeface="Cambria Math" panose="02040503050406030204" pitchFamily="18" charset="0"/>
                          </a:rPr>
                          <m:t>1</m:t>
                        </m:r>
                      </m:num>
                      <m:den>
                        <m:r>
                          <a:rPr lang="es-CR" sz="2000" b="0" i="1" smtClean="0">
                            <a:latin typeface="Cambria Math" panose="02040503050406030204" pitchFamily="18" charset="0"/>
                          </a:rPr>
                          <m:t>𝑀</m:t>
                        </m:r>
                      </m:den>
                    </m:f>
                    <m:r>
                      <a:rPr lang="es-CR" sz="2000" b="0" i="1" smtClean="0">
                        <a:latin typeface="Cambria Math" panose="02040503050406030204" pitchFamily="18" charset="0"/>
                      </a:rPr>
                      <m:t>∗</m:t>
                    </m:r>
                    <m:r>
                      <a:rPr lang="es-CR" sz="2000" b="0" i="1" smtClean="0">
                        <a:latin typeface="Cambria Math" panose="02040503050406030204" pitchFamily="18" charset="0"/>
                      </a:rPr>
                      <m:t>𝑙𝑛</m:t>
                    </m:r>
                    <m:d>
                      <m:dPr>
                        <m:ctrlPr>
                          <a:rPr lang="es-CR" sz="2000" b="0" i="1" smtClean="0">
                            <a:latin typeface="Cambria Math" panose="02040503050406030204" pitchFamily="18" charset="0"/>
                          </a:rPr>
                        </m:ctrlPr>
                      </m:dPr>
                      <m:e>
                        <m:r>
                          <a:rPr lang="es-CR" sz="2000" b="0" i="1" smtClean="0">
                            <a:latin typeface="Cambria Math" panose="02040503050406030204" pitchFamily="18" charset="0"/>
                          </a:rPr>
                          <m:t>𝑇𝑁𝑅</m:t>
                        </m:r>
                      </m:e>
                    </m:d>
                    <m:r>
                      <a:rPr lang="es-CR" sz="2000" b="0" i="1" smtClean="0">
                        <a:latin typeface="Cambria Math" panose="02040503050406030204" pitchFamily="18" charset="0"/>
                      </a:rPr>
                      <m:t>=</m:t>
                    </m:r>
                    <m:f>
                      <m:fPr>
                        <m:ctrlPr>
                          <a:rPr lang="es-CR" sz="2000" i="1">
                            <a:latin typeface="Cambria Math" panose="02040503050406030204" pitchFamily="18" charset="0"/>
                          </a:rPr>
                        </m:ctrlPr>
                      </m:fPr>
                      <m:num>
                        <m:r>
                          <a:rPr lang="es-CR" sz="2000" i="1">
                            <a:latin typeface="Cambria Math" panose="02040503050406030204" pitchFamily="18" charset="0"/>
                          </a:rPr>
                          <m:t>1</m:t>
                        </m:r>
                      </m:num>
                      <m:den>
                        <m:r>
                          <a:rPr lang="es-CR" sz="2000" b="0" i="1" smtClean="0">
                            <a:latin typeface="Cambria Math" panose="02040503050406030204" pitchFamily="18" charset="0"/>
                          </a:rPr>
                          <m:t>22</m:t>
                        </m:r>
                      </m:den>
                    </m:f>
                    <m:r>
                      <a:rPr lang="es-CR" sz="2000" i="1">
                        <a:latin typeface="Cambria Math" panose="02040503050406030204" pitchFamily="18" charset="0"/>
                      </a:rPr>
                      <m:t>∗</m:t>
                    </m:r>
                    <m:r>
                      <a:rPr lang="es-CR" sz="2000" i="1">
                        <a:latin typeface="Cambria Math" panose="02040503050406030204" pitchFamily="18" charset="0"/>
                      </a:rPr>
                      <m:t>𝑙𝑛</m:t>
                    </m:r>
                    <m:d>
                      <m:dPr>
                        <m:ctrlPr>
                          <a:rPr lang="es-CR" sz="2000" i="1">
                            <a:latin typeface="Cambria Math" panose="02040503050406030204" pitchFamily="18" charset="0"/>
                          </a:rPr>
                        </m:ctrlPr>
                      </m:dPr>
                      <m:e>
                        <m:r>
                          <a:rPr lang="es-CR" sz="2000" b="0" i="1" smtClean="0">
                            <a:latin typeface="Cambria Math" panose="02040503050406030204" pitchFamily="18" charset="0"/>
                          </a:rPr>
                          <m:t>1.25</m:t>
                        </m:r>
                      </m:e>
                    </m:d>
                    <m:r>
                      <a:rPr lang="es-CR" sz="2000" b="0" i="1" smtClean="0">
                        <a:latin typeface="Cambria Math" panose="02040503050406030204" pitchFamily="18" charset="0"/>
                      </a:rPr>
                      <m:t>=0.0101</m:t>
                    </m:r>
                  </m:oMath>
                </a14:m>
                <a:endParaRPr lang="es-CR" sz="2000" b="0" dirty="0"/>
              </a:p>
              <a:p>
                <a:pPr marL="0"/>
                <a:endParaRPr lang="es-CR" sz="2400" dirty="0"/>
              </a:p>
              <a:p>
                <a:pPr marL="0"/>
                <a:r>
                  <a:rPr lang="es-CR" sz="2400" dirty="0"/>
                  <a:t>Esta cifra quiere decir que, si las tasas de fecundidad y mortalidad se mantienen constantes, la tasa de crecimiento de una población será de 0.0101, o sea de 1.01%</a:t>
                </a:r>
              </a:p>
              <a:p>
                <a:pPr marL="0" marR="0"/>
                <a:endParaRPr lang="es-CR" sz="2400" dirty="0"/>
              </a:p>
            </p:txBody>
          </p:sp>
        </mc:Choice>
        <mc:Fallback xmlns="">
          <p:sp>
            <p:nvSpPr>
              <p:cNvPr id="3" name="Marcador de contenido 2">
                <a:extLst>
                  <a:ext uri="{FF2B5EF4-FFF2-40B4-BE49-F238E27FC236}">
                    <a16:creationId xmlns:a16="http://schemas.microsoft.com/office/drawing/2014/main" id="{78F614A7-07DC-32EC-5F97-C86A1ADE2EBB}"/>
                  </a:ext>
                </a:extLst>
              </p:cNvPr>
              <p:cNvSpPr>
                <a:spLocks noGrp="1" noRot="1" noChangeAspect="1" noMove="1" noResize="1" noEditPoints="1" noAdjustHandles="1" noChangeArrowheads="1" noChangeShapeType="1" noTextEdit="1"/>
              </p:cNvSpPr>
              <p:nvPr>
                <p:ph idx="1"/>
              </p:nvPr>
            </p:nvSpPr>
            <p:spPr>
              <a:xfrm>
                <a:off x="838200" y="1891862"/>
                <a:ext cx="10515600" cy="4713889"/>
              </a:xfrm>
              <a:blipFill>
                <a:blip r:embed="rId2"/>
                <a:stretch>
                  <a:fillRect l="-928" t="-1680"/>
                </a:stretch>
              </a:blipFill>
            </p:spPr>
            <p:txBody>
              <a:bodyPr/>
              <a:lstStyle/>
              <a:p>
                <a:r>
                  <a:rPr lang="en-US">
                    <a:noFill/>
                  </a:rPr>
                  <a:t> </a:t>
                </a:r>
              </a:p>
            </p:txBody>
          </p:sp>
        </mc:Fallback>
      </mc:AlternateContent>
    </p:spTree>
    <p:extLst>
      <p:ext uri="{BB962C8B-B14F-4D97-AF65-F5344CB8AC3E}">
        <p14:creationId xmlns:p14="http://schemas.microsoft.com/office/powerpoint/2010/main" val="1047644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F8393-F1AB-5AF5-5996-BCE1154FBEC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83BBC34-C262-7E56-B99B-1A31BA20238B}"/>
              </a:ext>
            </a:extLst>
          </p:cNvPr>
          <p:cNvSpPr>
            <a:spLocks noGrp="1"/>
          </p:cNvSpPr>
          <p:nvPr>
            <p:ph type="title"/>
          </p:nvPr>
        </p:nvSpPr>
        <p:spPr/>
        <p:txBody>
          <a:bodyPr/>
          <a:lstStyle/>
          <a:p>
            <a:r>
              <a:rPr lang="es-CR" dirty="0"/>
              <a:t>Reproducción en epidemiología: La tasa R.</a:t>
            </a:r>
            <a:endParaRPr lang="en-US" dirty="0"/>
          </a:p>
        </p:txBody>
      </p:sp>
      <p:sp>
        <p:nvSpPr>
          <p:cNvPr id="3" name="Marcador de contenido 2">
            <a:extLst>
              <a:ext uri="{FF2B5EF4-FFF2-40B4-BE49-F238E27FC236}">
                <a16:creationId xmlns:a16="http://schemas.microsoft.com/office/drawing/2014/main" id="{7FD7F466-7042-3F02-7786-966C584A4B89}"/>
              </a:ext>
            </a:extLst>
          </p:cNvPr>
          <p:cNvSpPr>
            <a:spLocks noGrp="1"/>
          </p:cNvSpPr>
          <p:nvPr>
            <p:ph idx="1"/>
          </p:nvPr>
        </p:nvSpPr>
        <p:spPr>
          <a:xfrm>
            <a:off x="838200" y="1513490"/>
            <a:ext cx="10515600" cy="5092261"/>
          </a:xfrm>
        </p:spPr>
        <p:txBody>
          <a:bodyPr>
            <a:normAutofit/>
          </a:bodyPr>
          <a:lstStyle/>
          <a:p>
            <a:pPr marL="0" marR="0"/>
            <a:r>
              <a:rPr lang="es-CR" sz="2400" dirty="0"/>
              <a:t>Ver artículo de DL.</a:t>
            </a:r>
          </a:p>
        </p:txBody>
      </p:sp>
    </p:spTree>
    <p:extLst>
      <p:ext uri="{BB962C8B-B14F-4D97-AF65-F5344CB8AC3E}">
        <p14:creationId xmlns:p14="http://schemas.microsoft.com/office/powerpoint/2010/main" val="97828953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2455</TotalTime>
  <Words>2106</Words>
  <Application>Microsoft Office PowerPoint</Application>
  <PresentationFormat>Panorámica</PresentationFormat>
  <Paragraphs>149</Paragraphs>
  <Slides>26</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26</vt:i4>
      </vt:variant>
    </vt:vector>
  </HeadingPairs>
  <TitlesOfParts>
    <vt:vector size="34" baseType="lpstr">
      <vt:lpstr>Aptos</vt:lpstr>
      <vt:lpstr>Aptos Display</vt:lpstr>
      <vt:lpstr>Arial</vt:lpstr>
      <vt:lpstr>Calibri</vt:lpstr>
      <vt:lpstr>Cambria Math</vt:lpstr>
      <vt:lpstr>Symbol</vt:lpstr>
      <vt:lpstr>Times New Roman</vt:lpstr>
      <vt:lpstr>Tema de Office</vt:lpstr>
      <vt:lpstr>XS-3010 Introducción a la demografía y bioestadística 2025</vt:lpstr>
      <vt:lpstr>Guía</vt:lpstr>
      <vt:lpstr>Conceptos</vt:lpstr>
      <vt:lpstr>Conceptos</vt:lpstr>
      <vt:lpstr>Conceptos</vt:lpstr>
      <vt:lpstr>Conceptos</vt:lpstr>
      <vt:lpstr>Determinantes próximos de la fecundidad (Tomado del curso del Prof. Edwin Chaves, en: http://ccp.ucr.ac.cr/cursos/demografia_03/):</vt:lpstr>
      <vt:lpstr>Nupcialidad</vt:lpstr>
      <vt:lpstr>Anticoncepción</vt:lpstr>
      <vt:lpstr>Anticoncepción</vt:lpstr>
      <vt:lpstr>Aborto inducido</vt:lpstr>
      <vt:lpstr>Amenorrea post-parto a través de la lactancia materna</vt:lpstr>
      <vt:lpstr>Medidas de Fecundidad</vt:lpstr>
      <vt:lpstr>Medidas de Fecundidad</vt:lpstr>
      <vt:lpstr>Medidas de Fecundidad</vt:lpstr>
      <vt:lpstr>Medidas de Fecundidad</vt:lpstr>
      <vt:lpstr>Medidas de Fecundidad</vt:lpstr>
      <vt:lpstr>Medidas de Fecundidad</vt:lpstr>
      <vt:lpstr>Curvas de fecundidad</vt:lpstr>
      <vt:lpstr>Curvas de fecundidad</vt:lpstr>
      <vt:lpstr>Curvas de fecundidad</vt:lpstr>
      <vt:lpstr>Medidas de Fecundidad</vt:lpstr>
      <vt:lpstr>Medidas de Fecundidad</vt:lpstr>
      <vt:lpstr>Tasa intrínseca de crecimiento e inercia poblacional.</vt:lpstr>
      <vt:lpstr>Tasa intrínseca de crecimiento e inercia poblacional.</vt:lpstr>
      <vt:lpstr>Reproducción en epidemiología: La tasa 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Gilbert Brenes-Camacho</dc:creator>
  <cp:lastModifiedBy>ANDERSON DAVID MARTINEZ ABARCA</cp:lastModifiedBy>
  <cp:revision>57</cp:revision>
  <dcterms:created xsi:type="dcterms:W3CDTF">2025-01-10T18:14:17Z</dcterms:created>
  <dcterms:modified xsi:type="dcterms:W3CDTF">2026-04-17T17:38:27Z</dcterms:modified>
</cp:coreProperties>
</file>