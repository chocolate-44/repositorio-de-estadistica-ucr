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4" r:id="rId4"/>
    <p:sldId id="328" r:id="rId5"/>
    <p:sldId id="333" r:id="rId6"/>
    <p:sldId id="329" r:id="rId7"/>
    <p:sldId id="330" r:id="rId8"/>
    <p:sldId id="331" r:id="rId9"/>
    <p:sldId id="332"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4513" autoAdjust="0"/>
    <p:restoredTop sz="94660"/>
  </p:normalViewPr>
  <p:slideViewPr>
    <p:cSldViewPr snapToGrid="0" showGuides="1">
      <p:cViewPr varScale="1">
        <p:scale>
          <a:sx n="74" d="100"/>
          <a:sy n="74" d="100"/>
        </p:scale>
        <p:origin x="605" y="67"/>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04F9E0F-2E37-D02F-547A-10F255FF2CC4}"/>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n-US"/>
          </a:p>
        </p:txBody>
      </p:sp>
      <p:sp>
        <p:nvSpPr>
          <p:cNvPr id="3" name="Subtítulo 2">
            <a:extLst>
              <a:ext uri="{FF2B5EF4-FFF2-40B4-BE49-F238E27FC236}">
                <a16:creationId xmlns:a16="http://schemas.microsoft.com/office/drawing/2014/main" id="{2F671617-3171-C0BB-7B2D-FFAD6F3446D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US"/>
          </a:p>
        </p:txBody>
      </p:sp>
      <p:sp>
        <p:nvSpPr>
          <p:cNvPr id="4" name="Marcador de fecha 3">
            <a:extLst>
              <a:ext uri="{FF2B5EF4-FFF2-40B4-BE49-F238E27FC236}">
                <a16:creationId xmlns:a16="http://schemas.microsoft.com/office/drawing/2014/main" id="{E747B137-18FE-FB7D-8BF6-535881DF992F}"/>
              </a:ext>
            </a:extLst>
          </p:cNvPr>
          <p:cNvSpPr>
            <a:spLocks noGrp="1"/>
          </p:cNvSpPr>
          <p:nvPr>
            <p:ph type="dt" sz="half" idx="10"/>
          </p:nvPr>
        </p:nvSpPr>
        <p:spPr/>
        <p:txBody>
          <a:bodyPr/>
          <a:lstStyle/>
          <a:p>
            <a:fld id="{B981F3F1-497C-47B9-A18E-83DECA3909B3}" type="datetimeFigureOut">
              <a:rPr lang="en-US" smtClean="0"/>
              <a:t>3/6/2026</a:t>
            </a:fld>
            <a:endParaRPr lang="en-US"/>
          </a:p>
        </p:txBody>
      </p:sp>
      <p:sp>
        <p:nvSpPr>
          <p:cNvPr id="5" name="Marcador de pie de página 4">
            <a:extLst>
              <a:ext uri="{FF2B5EF4-FFF2-40B4-BE49-F238E27FC236}">
                <a16:creationId xmlns:a16="http://schemas.microsoft.com/office/drawing/2014/main" id="{C48E15A3-A9FB-E51A-6027-7A459C71260E}"/>
              </a:ext>
            </a:extLst>
          </p:cNvPr>
          <p:cNvSpPr>
            <a:spLocks noGrp="1"/>
          </p:cNvSpPr>
          <p:nvPr>
            <p:ph type="ftr" sz="quarter" idx="11"/>
          </p:nvPr>
        </p:nvSpPr>
        <p:spPr/>
        <p:txBody>
          <a:bodyPr/>
          <a:lstStyle/>
          <a:p>
            <a:endParaRPr lang="en-US"/>
          </a:p>
        </p:txBody>
      </p:sp>
      <p:sp>
        <p:nvSpPr>
          <p:cNvPr id="6" name="Marcador de número de diapositiva 5">
            <a:extLst>
              <a:ext uri="{FF2B5EF4-FFF2-40B4-BE49-F238E27FC236}">
                <a16:creationId xmlns:a16="http://schemas.microsoft.com/office/drawing/2014/main" id="{7DAEB6A8-87B8-0FE2-8510-B477863A1D51}"/>
              </a:ext>
            </a:extLst>
          </p:cNvPr>
          <p:cNvSpPr>
            <a:spLocks noGrp="1"/>
          </p:cNvSpPr>
          <p:nvPr>
            <p:ph type="sldNum" sz="quarter" idx="12"/>
          </p:nvPr>
        </p:nvSpPr>
        <p:spPr/>
        <p:txBody>
          <a:bodyPr/>
          <a:lstStyle/>
          <a:p>
            <a:fld id="{B8844222-9D2F-4AD5-8895-FD8084360767}" type="slidenum">
              <a:rPr lang="en-US" smtClean="0"/>
              <a:t>‹Nº›</a:t>
            </a:fld>
            <a:endParaRPr lang="en-US"/>
          </a:p>
        </p:txBody>
      </p:sp>
    </p:spTree>
    <p:extLst>
      <p:ext uri="{BB962C8B-B14F-4D97-AF65-F5344CB8AC3E}">
        <p14:creationId xmlns:p14="http://schemas.microsoft.com/office/powerpoint/2010/main" val="5685118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B14B53C-26E4-4134-73B5-99607FF8E6D6}"/>
              </a:ext>
            </a:extLst>
          </p:cNvPr>
          <p:cNvSpPr>
            <a:spLocks noGrp="1"/>
          </p:cNvSpPr>
          <p:nvPr>
            <p:ph type="title"/>
          </p:nvPr>
        </p:nvSpPr>
        <p:spPr/>
        <p:txBody>
          <a:bodyPr/>
          <a:lstStyle/>
          <a:p>
            <a:r>
              <a:rPr lang="es-ES"/>
              <a:t>Haga clic para modificar el estilo de título del patrón</a:t>
            </a:r>
            <a:endParaRPr lang="en-US"/>
          </a:p>
        </p:txBody>
      </p:sp>
      <p:sp>
        <p:nvSpPr>
          <p:cNvPr id="3" name="Marcador de contenido 2">
            <a:extLst>
              <a:ext uri="{FF2B5EF4-FFF2-40B4-BE49-F238E27FC236}">
                <a16:creationId xmlns:a16="http://schemas.microsoft.com/office/drawing/2014/main" id="{3D0AA165-019D-8D97-5339-692E5ECA01D2}"/>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Marcador de fecha 3">
            <a:extLst>
              <a:ext uri="{FF2B5EF4-FFF2-40B4-BE49-F238E27FC236}">
                <a16:creationId xmlns:a16="http://schemas.microsoft.com/office/drawing/2014/main" id="{D0A95A2F-9947-C6DB-7193-A2165E6B7508}"/>
              </a:ext>
            </a:extLst>
          </p:cNvPr>
          <p:cNvSpPr>
            <a:spLocks noGrp="1"/>
          </p:cNvSpPr>
          <p:nvPr>
            <p:ph type="dt" sz="half" idx="10"/>
          </p:nvPr>
        </p:nvSpPr>
        <p:spPr/>
        <p:txBody>
          <a:bodyPr/>
          <a:lstStyle/>
          <a:p>
            <a:fld id="{B981F3F1-497C-47B9-A18E-83DECA3909B3}" type="datetimeFigureOut">
              <a:rPr lang="en-US" smtClean="0"/>
              <a:t>3/6/2026</a:t>
            </a:fld>
            <a:endParaRPr lang="en-US"/>
          </a:p>
        </p:txBody>
      </p:sp>
      <p:sp>
        <p:nvSpPr>
          <p:cNvPr id="5" name="Marcador de pie de página 4">
            <a:extLst>
              <a:ext uri="{FF2B5EF4-FFF2-40B4-BE49-F238E27FC236}">
                <a16:creationId xmlns:a16="http://schemas.microsoft.com/office/drawing/2014/main" id="{7CD0C00C-8058-4459-BB83-F55E2DC1BACB}"/>
              </a:ext>
            </a:extLst>
          </p:cNvPr>
          <p:cNvSpPr>
            <a:spLocks noGrp="1"/>
          </p:cNvSpPr>
          <p:nvPr>
            <p:ph type="ftr" sz="quarter" idx="11"/>
          </p:nvPr>
        </p:nvSpPr>
        <p:spPr/>
        <p:txBody>
          <a:bodyPr/>
          <a:lstStyle/>
          <a:p>
            <a:endParaRPr lang="en-US"/>
          </a:p>
        </p:txBody>
      </p:sp>
      <p:sp>
        <p:nvSpPr>
          <p:cNvPr id="6" name="Marcador de número de diapositiva 5">
            <a:extLst>
              <a:ext uri="{FF2B5EF4-FFF2-40B4-BE49-F238E27FC236}">
                <a16:creationId xmlns:a16="http://schemas.microsoft.com/office/drawing/2014/main" id="{208232C3-9540-7A94-419A-AEFD82DCDE52}"/>
              </a:ext>
            </a:extLst>
          </p:cNvPr>
          <p:cNvSpPr>
            <a:spLocks noGrp="1"/>
          </p:cNvSpPr>
          <p:nvPr>
            <p:ph type="sldNum" sz="quarter" idx="12"/>
          </p:nvPr>
        </p:nvSpPr>
        <p:spPr/>
        <p:txBody>
          <a:bodyPr/>
          <a:lstStyle/>
          <a:p>
            <a:fld id="{B8844222-9D2F-4AD5-8895-FD8084360767}" type="slidenum">
              <a:rPr lang="en-US" smtClean="0"/>
              <a:t>‹Nº›</a:t>
            </a:fld>
            <a:endParaRPr lang="en-US"/>
          </a:p>
        </p:txBody>
      </p:sp>
    </p:spTree>
    <p:extLst>
      <p:ext uri="{BB962C8B-B14F-4D97-AF65-F5344CB8AC3E}">
        <p14:creationId xmlns:p14="http://schemas.microsoft.com/office/powerpoint/2010/main" val="36552592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2CBEECA-3AA7-4D32-7042-A8B54A6B37CE}"/>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n-US"/>
          </a:p>
        </p:txBody>
      </p:sp>
      <p:sp>
        <p:nvSpPr>
          <p:cNvPr id="3" name="Marcador de texto 2">
            <a:extLst>
              <a:ext uri="{FF2B5EF4-FFF2-40B4-BE49-F238E27FC236}">
                <a16:creationId xmlns:a16="http://schemas.microsoft.com/office/drawing/2014/main" id="{3A5696CA-D73C-A1A6-BA95-E0D7B423704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0A558304-32CA-3CA1-1FEA-B54A6997C5DC}"/>
              </a:ext>
            </a:extLst>
          </p:cNvPr>
          <p:cNvSpPr>
            <a:spLocks noGrp="1"/>
          </p:cNvSpPr>
          <p:nvPr>
            <p:ph type="dt" sz="half" idx="10"/>
          </p:nvPr>
        </p:nvSpPr>
        <p:spPr/>
        <p:txBody>
          <a:bodyPr/>
          <a:lstStyle/>
          <a:p>
            <a:fld id="{B981F3F1-497C-47B9-A18E-83DECA3909B3}" type="datetimeFigureOut">
              <a:rPr lang="en-US" smtClean="0"/>
              <a:t>3/6/2026</a:t>
            </a:fld>
            <a:endParaRPr lang="en-US"/>
          </a:p>
        </p:txBody>
      </p:sp>
      <p:sp>
        <p:nvSpPr>
          <p:cNvPr id="5" name="Marcador de pie de página 4">
            <a:extLst>
              <a:ext uri="{FF2B5EF4-FFF2-40B4-BE49-F238E27FC236}">
                <a16:creationId xmlns:a16="http://schemas.microsoft.com/office/drawing/2014/main" id="{F62470CC-025A-4FA6-3440-70494EFBF05F}"/>
              </a:ext>
            </a:extLst>
          </p:cNvPr>
          <p:cNvSpPr>
            <a:spLocks noGrp="1"/>
          </p:cNvSpPr>
          <p:nvPr>
            <p:ph type="ftr" sz="quarter" idx="11"/>
          </p:nvPr>
        </p:nvSpPr>
        <p:spPr/>
        <p:txBody>
          <a:bodyPr/>
          <a:lstStyle/>
          <a:p>
            <a:endParaRPr lang="en-US"/>
          </a:p>
        </p:txBody>
      </p:sp>
      <p:sp>
        <p:nvSpPr>
          <p:cNvPr id="6" name="Marcador de número de diapositiva 5">
            <a:extLst>
              <a:ext uri="{FF2B5EF4-FFF2-40B4-BE49-F238E27FC236}">
                <a16:creationId xmlns:a16="http://schemas.microsoft.com/office/drawing/2014/main" id="{F78631FF-C52A-37B0-1CB5-4C47A82549D9}"/>
              </a:ext>
            </a:extLst>
          </p:cNvPr>
          <p:cNvSpPr>
            <a:spLocks noGrp="1"/>
          </p:cNvSpPr>
          <p:nvPr>
            <p:ph type="sldNum" sz="quarter" idx="12"/>
          </p:nvPr>
        </p:nvSpPr>
        <p:spPr/>
        <p:txBody>
          <a:bodyPr/>
          <a:lstStyle/>
          <a:p>
            <a:fld id="{B8844222-9D2F-4AD5-8895-FD8084360767}" type="slidenum">
              <a:rPr lang="en-US" smtClean="0"/>
              <a:t>‹Nº›</a:t>
            </a:fld>
            <a:endParaRPr lang="en-US"/>
          </a:p>
        </p:txBody>
      </p:sp>
    </p:spTree>
    <p:extLst>
      <p:ext uri="{BB962C8B-B14F-4D97-AF65-F5344CB8AC3E}">
        <p14:creationId xmlns:p14="http://schemas.microsoft.com/office/powerpoint/2010/main" val="2191337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165B9E0-5F65-F95C-75A5-FFDFA572DD9F}"/>
              </a:ext>
            </a:extLst>
          </p:cNvPr>
          <p:cNvSpPr>
            <a:spLocks noGrp="1"/>
          </p:cNvSpPr>
          <p:nvPr>
            <p:ph type="title"/>
          </p:nvPr>
        </p:nvSpPr>
        <p:spPr/>
        <p:txBody>
          <a:bodyPr/>
          <a:lstStyle/>
          <a:p>
            <a:r>
              <a:rPr lang="es-ES"/>
              <a:t>Haga clic para modificar el estilo de título del patrón</a:t>
            </a:r>
            <a:endParaRPr lang="en-US"/>
          </a:p>
        </p:txBody>
      </p:sp>
      <p:sp>
        <p:nvSpPr>
          <p:cNvPr id="3" name="Marcador de contenido 2">
            <a:extLst>
              <a:ext uri="{FF2B5EF4-FFF2-40B4-BE49-F238E27FC236}">
                <a16:creationId xmlns:a16="http://schemas.microsoft.com/office/drawing/2014/main" id="{A8C07C85-FC85-A278-CBB6-F7BA37D38765}"/>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Marcador de contenido 3">
            <a:extLst>
              <a:ext uri="{FF2B5EF4-FFF2-40B4-BE49-F238E27FC236}">
                <a16:creationId xmlns:a16="http://schemas.microsoft.com/office/drawing/2014/main" id="{FDA9137E-6DA1-1130-C0F6-0EFAF25643D0}"/>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5" name="Marcador de fecha 4">
            <a:extLst>
              <a:ext uri="{FF2B5EF4-FFF2-40B4-BE49-F238E27FC236}">
                <a16:creationId xmlns:a16="http://schemas.microsoft.com/office/drawing/2014/main" id="{1E243844-8075-2FD4-1CCF-DE1ABECC07FA}"/>
              </a:ext>
            </a:extLst>
          </p:cNvPr>
          <p:cNvSpPr>
            <a:spLocks noGrp="1"/>
          </p:cNvSpPr>
          <p:nvPr>
            <p:ph type="dt" sz="half" idx="10"/>
          </p:nvPr>
        </p:nvSpPr>
        <p:spPr/>
        <p:txBody>
          <a:bodyPr/>
          <a:lstStyle/>
          <a:p>
            <a:fld id="{B981F3F1-497C-47B9-A18E-83DECA3909B3}" type="datetimeFigureOut">
              <a:rPr lang="en-US" smtClean="0"/>
              <a:t>3/6/2026</a:t>
            </a:fld>
            <a:endParaRPr lang="en-US"/>
          </a:p>
        </p:txBody>
      </p:sp>
      <p:sp>
        <p:nvSpPr>
          <p:cNvPr id="6" name="Marcador de pie de página 5">
            <a:extLst>
              <a:ext uri="{FF2B5EF4-FFF2-40B4-BE49-F238E27FC236}">
                <a16:creationId xmlns:a16="http://schemas.microsoft.com/office/drawing/2014/main" id="{8B5AC555-78FE-1B1B-7737-E79DCF371535}"/>
              </a:ext>
            </a:extLst>
          </p:cNvPr>
          <p:cNvSpPr>
            <a:spLocks noGrp="1"/>
          </p:cNvSpPr>
          <p:nvPr>
            <p:ph type="ftr" sz="quarter" idx="11"/>
          </p:nvPr>
        </p:nvSpPr>
        <p:spPr/>
        <p:txBody>
          <a:bodyPr/>
          <a:lstStyle/>
          <a:p>
            <a:endParaRPr lang="en-US"/>
          </a:p>
        </p:txBody>
      </p:sp>
      <p:sp>
        <p:nvSpPr>
          <p:cNvPr id="7" name="Marcador de número de diapositiva 6">
            <a:extLst>
              <a:ext uri="{FF2B5EF4-FFF2-40B4-BE49-F238E27FC236}">
                <a16:creationId xmlns:a16="http://schemas.microsoft.com/office/drawing/2014/main" id="{F13F9F5C-5DFD-32D8-7DB2-B044BEA4ABD7}"/>
              </a:ext>
            </a:extLst>
          </p:cNvPr>
          <p:cNvSpPr>
            <a:spLocks noGrp="1"/>
          </p:cNvSpPr>
          <p:nvPr>
            <p:ph type="sldNum" sz="quarter" idx="12"/>
          </p:nvPr>
        </p:nvSpPr>
        <p:spPr/>
        <p:txBody>
          <a:bodyPr/>
          <a:lstStyle/>
          <a:p>
            <a:fld id="{B8844222-9D2F-4AD5-8895-FD8084360767}" type="slidenum">
              <a:rPr lang="en-US" smtClean="0"/>
              <a:t>‹Nº›</a:t>
            </a:fld>
            <a:endParaRPr lang="en-US"/>
          </a:p>
        </p:txBody>
      </p:sp>
    </p:spTree>
    <p:extLst>
      <p:ext uri="{BB962C8B-B14F-4D97-AF65-F5344CB8AC3E}">
        <p14:creationId xmlns:p14="http://schemas.microsoft.com/office/powerpoint/2010/main" val="27082594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3E255C0-1415-85BE-1165-9C0C54F07781}"/>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n-US"/>
          </a:p>
        </p:txBody>
      </p:sp>
      <p:sp>
        <p:nvSpPr>
          <p:cNvPr id="3" name="Marcador de texto 2">
            <a:extLst>
              <a:ext uri="{FF2B5EF4-FFF2-40B4-BE49-F238E27FC236}">
                <a16:creationId xmlns:a16="http://schemas.microsoft.com/office/drawing/2014/main" id="{BB0A1395-0A9F-B80E-E211-F1ACA83250F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FFD740BA-BF8A-108D-EACE-225C192F9231}"/>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5" name="Marcador de texto 4">
            <a:extLst>
              <a:ext uri="{FF2B5EF4-FFF2-40B4-BE49-F238E27FC236}">
                <a16:creationId xmlns:a16="http://schemas.microsoft.com/office/drawing/2014/main" id="{63784550-95A2-77DC-D665-4337294435C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1B531739-FB3E-B2CC-A0DB-6D8ED7CF8A87}"/>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7" name="Marcador de fecha 6">
            <a:extLst>
              <a:ext uri="{FF2B5EF4-FFF2-40B4-BE49-F238E27FC236}">
                <a16:creationId xmlns:a16="http://schemas.microsoft.com/office/drawing/2014/main" id="{EE871342-3E4B-6DB6-2FF7-A0D5D2DEFED8}"/>
              </a:ext>
            </a:extLst>
          </p:cNvPr>
          <p:cNvSpPr>
            <a:spLocks noGrp="1"/>
          </p:cNvSpPr>
          <p:nvPr>
            <p:ph type="dt" sz="half" idx="10"/>
          </p:nvPr>
        </p:nvSpPr>
        <p:spPr/>
        <p:txBody>
          <a:bodyPr/>
          <a:lstStyle/>
          <a:p>
            <a:fld id="{B981F3F1-497C-47B9-A18E-83DECA3909B3}" type="datetimeFigureOut">
              <a:rPr lang="en-US" smtClean="0"/>
              <a:t>3/6/2026</a:t>
            </a:fld>
            <a:endParaRPr lang="en-US"/>
          </a:p>
        </p:txBody>
      </p:sp>
      <p:sp>
        <p:nvSpPr>
          <p:cNvPr id="8" name="Marcador de pie de página 7">
            <a:extLst>
              <a:ext uri="{FF2B5EF4-FFF2-40B4-BE49-F238E27FC236}">
                <a16:creationId xmlns:a16="http://schemas.microsoft.com/office/drawing/2014/main" id="{A35E8FDE-7414-CF64-FF6E-FEC0CC281343}"/>
              </a:ext>
            </a:extLst>
          </p:cNvPr>
          <p:cNvSpPr>
            <a:spLocks noGrp="1"/>
          </p:cNvSpPr>
          <p:nvPr>
            <p:ph type="ftr" sz="quarter" idx="11"/>
          </p:nvPr>
        </p:nvSpPr>
        <p:spPr/>
        <p:txBody>
          <a:bodyPr/>
          <a:lstStyle/>
          <a:p>
            <a:endParaRPr lang="en-US"/>
          </a:p>
        </p:txBody>
      </p:sp>
      <p:sp>
        <p:nvSpPr>
          <p:cNvPr id="9" name="Marcador de número de diapositiva 8">
            <a:extLst>
              <a:ext uri="{FF2B5EF4-FFF2-40B4-BE49-F238E27FC236}">
                <a16:creationId xmlns:a16="http://schemas.microsoft.com/office/drawing/2014/main" id="{4508BCD7-8715-678B-A4B2-84F06478DC70}"/>
              </a:ext>
            </a:extLst>
          </p:cNvPr>
          <p:cNvSpPr>
            <a:spLocks noGrp="1"/>
          </p:cNvSpPr>
          <p:nvPr>
            <p:ph type="sldNum" sz="quarter" idx="12"/>
          </p:nvPr>
        </p:nvSpPr>
        <p:spPr/>
        <p:txBody>
          <a:bodyPr/>
          <a:lstStyle/>
          <a:p>
            <a:fld id="{B8844222-9D2F-4AD5-8895-FD8084360767}" type="slidenum">
              <a:rPr lang="en-US" smtClean="0"/>
              <a:t>‹Nº›</a:t>
            </a:fld>
            <a:endParaRPr lang="en-US"/>
          </a:p>
        </p:txBody>
      </p:sp>
    </p:spTree>
    <p:extLst>
      <p:ext uri="{BB962C8B-B14F-4D97-AF65-F5344CB8AC3E}">
        <p14:creationId xmlns:p14="http://schemas.microsoft.com/office/powerpoint/2010/main" val="8271728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1BD7687-04E9-D6B1-A4FF-1A9CFCF2C80D}"/>
              </a:ext>
            </a:extLst>
          </p:cNvPr>
          <p:cNvSpPr>
            <a:spLocks noGrp="1"/>
          </p:cNvSpPr>
          <p:nvPr>
            <p:ph type="title"/>
          </p:nvPr>
        </p:nvSpPr>
        <p:spPr/>
        <p:txBody>
          <a:bodyPr/>
          <a:lstStyle/>
          <a:p>
            <a:r>
              <a:rPr lang="es-ES"/>
              <a:t>Haga clic para modificar el estilo de título del patrón</a:t>
            </a:r>
            <a:endParaRPr lang="en-US"/>
          </a:p>
        </p:txBody>
      </p:sp>
      <p:sp>
        <p:nvSpPr>
          <p:cNvPr id="3" name="Marcador de fecha 2">
            <a:extLst>
              <a:ext uri="{FF2B5EF4-FFF2-40B4-BE49-F238E27FC236}">
                <a16:creationId xmlns:a16="http://schemas.microsoft.com/office/drawing/2014/main" id="{89F5849E-DE97-5A76-F782-8354D71D5A58}"/>
              </a:ext>
            </a:extLst>
          </p:cNvPr>
          <p:cNvSpPr>
            <a:spLocks noGrp="1"/>
          </p:cNvSpPr>
          <p:nvPr>
            <p:ph type="dt" sz="half" idx="10"/>
          </p:nvPr>
        </p:nvSpPr>
        <p:spPr/>
        <p:txBody>
          <a:bodyPr/>
          <a:lstStyle/>
          <a:p>
            <a:fld id="{B981F3F1-497C-47B9-A18E-83DECA3909B3}" type="datetimeFigureOut">
              <a:rPr lang="en-US" smtClean="0"/>
              <a:t>3/6/2026</a:t>
            </a:fld>
            <a:endParaRPr lang="en-US"/>
          </a:p>
        </p:txBody>
      </p:sp>
      <p:sp>
        <p:nvSpPr>
          <p:cNvPr id="4" name="Marcador de pie de página 3">
            <a:extLst>
              <a:ext uri="{FF2B5EF4-FFF2-40B4-BE49-F238E27FC236}">
                <a16:creationId xmlns:a16="http://schemas.microsoft.com/office/drawing/2014/main" id="{280C7457-F67A-3A13-2724-40313EE3E676}"/>
              </a:ext>
            </a:extLst>
          </p:cNvPr>
          <p:cNvSpPr>
            <a:spLocks noGrp="1"/>
          </p:cNvSpPr>
          <p:nvPr>
            <p:ph type="ftr" sz="quarter" idx="11"/>
          </p:nvPr>
        </p:nvSpPr>
        <p:spPr/>
        <p:txBody>
          <a:bodyPr/>
          <a:lstStyle/>
          <a:p>
            <a:endParaRPr lang="en-US"/>
          </a:p>
        </p:txBody>
      </p:sp>
      <p:sp>
        <p:nvSpPr>
          <p:cNvPr id="5" name="Marcador de número de diapositiva 4">
            <a:extLst>
              <a:ext uri="{FF2B5EF4-FFF2-40B4-BE49-F238E27FC236}">
                <a16:creationId xmlns:a16="http://schemas.microsoft.com/office/drawing/2014/main" id="{C49BA60A-5909-F0B8-0EAE-8FAEA7530A76}"/>
              </a:ext>
            </a:extLst>
          </p:cNvPr>
          <p:cNvSpPr>
            <a:spLocks noGrp="1"/>
          </p:cNvSpPr>
          <p:nvPr>
            <p:ph type="sldNum" sz="quarter" idx="12"/>
          </p:nvPr>
        </p:nvSpPr>
        <p:spPr/>
        <p:txBody>
          <a:bodyPr/>
          <a:lstStyle/>
          <a:p>
            <a:fld id="{B8844222-9D2F-4AD5-8895-FD8084360767}" type="slidenum">
              <a:rPr lang="en-US" smtClean="0"/>
              <a:t>‹Nº›</a:t>
            </a:fld>
            <a:endParaRPr lang="en-US"/>
          </a:p>
        </p:txBody>
      </p:sp>
    </p:spTree>
    <p:extLst>
      <p:ext uri="{BB962C8B-B14F-4D97-AF65-F5344CB8AC3E}">
        <p14:creationId xmlns:p14="http://schemas.microsoft.com/office/powerpoint/2010/main" val="17259676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135915CA-E095-FAA6-F2FB-AD27D9CF409B}"/>
              </a:ext>
            </a:extLst>
          </p:cNvPr>
          <p:cNvSpPr>
            <a:spLocks noGrp="1"/>
          </p:cNvSpPr>
          <p:nvPr>
            <p:ph type="dt" sz="half" idx="10"/>
          </p:nvPr>
        </p:nvSpPr>
        <p:spPr/>
        <p:txBody>
          <a:bodyPr/>
          <a:lstStyle/>
          <a:p>
            <a:fld id="{B981F3F1-497C-47B9-A18E-83DECA3909B3}" type="datetimeFigureOut">
              <a:rPr lang="en-US" smtClean="0"/>
              <a:t>3/6/2026</a:t>
            </a:fld>
            <a:endParaRPr lang="en-US"/>
          </a:p>
        </p:txBody>
      </p:sp>
      <p:sp>
        <p:nvSpPr>
          <p:cNvPr id="3" name="Marcador de pie de página 2">
            <a:extLst>
              <a:ext uri="{FF2B5EF4-FFF2-40B4-BE49-F238E27FC236}">
                <a16:creationId xmlns:a16="http://schemas.microsoft.com/office/drawing/2014/main" id="{C83CBB2E-B003-4EBF-5D10-DD61FA6D2E1C}"/>
              </a:ext>
            </a:extLst>
          </p:cNvPr>
          <p:cNvSpPr>
            <a:spLocks noGrp="1"/>
          </p:cNvSpPr>
          <p:nvPr>
            <p:ph type="ftr" sz="quarter" idx="11"/>
          </p:nvPr>
        </p:nvSpPr>
        <p:spPr/>
        <p:txBody>
          <a:bodyPr/>
          <a:lstStyle/>
          <a:p>
            <a:endParaRPr lang="en-US"/>
          </a:p>
        </p:txBody>
      </p:sp>
      <p:sp>
        <p:nvSpPr>
          <p:cNvPr id="4" name="Marcador de número de diapositiva 3">
            <a:extLst>
              <a:ext uri="{FF2B5EF4-FFF2-40B4-BE49-F238E27FC236}">
                <a16:creationId xmlns:a16="http://schemas.microsoft.com/office/drawing/2014/main" id="{33DFD563-37EF-1088-2DAD-86E1CDA531B0}"/>
              </a:ext>
            </a:extLst>
          </p:cNvPr>
          <p:cNvSpPr>
            <a:spLocks noGrp="1"/>
          </p:cNvSpPr>
          <p:nvPr>
            <p:ph type="sldNum" sz="quarter" idx="12"/>
          </p:nvPr>
        </p:nvSpPr>
        <p:spPr/>
        <p:txBody>
          <a:bodyPr/>
          <a:lstStyle/>
          <a:p>
            <a:fld id="{B8844222-9D2F-4AD5-8895-FD8084360767}" type="slidenum">
              <a:rPr lang="en-US" smtClean="0"/>
              <a:t>‹Nº›</a:t>
            </a:fld>
            <a:endParaRPr lang="en-US"/>
          </a:p>
        </p:txBody>
      </p:sp>
    </p:spTree>
    <p:extLst>
      <p:ext uri="{BB962C8B-B14F-4D97-AF65-F5344CB8AC3E}">
        <p14:creationId xmlns:p14="http://schemas.microsoft.com/office/powerpoint/2010/main" val="30662189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A996882-6B5B-134A-1A76-8B29181B5B1C}"/>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n-US"/>
          </a:p>
        </p:txBody>
      </p:sp>
      <p:sp>
        <p:nvSpPr>
          <p:cNvPr id="3" name="Marcador de contenido 2">
            <a:extLst>
              <a:ext uri="{FF2B5EF4-FFF2-40B4-BE49-F238E27FC236}">
                <a16:creationId xmlns:a16="http://schemas.microsoft.com/office/drawing/2014/main" id="{FF057575-A3C6-3476-6CBD-2E57BA6BF91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Marcador de texto 3">
            <a:extLst>
              <a:ext uri="{FF2B5EF4-FFF2-40B4-BE49-F238E27FC236}">
                <a16:creationId xmlns:a16="http://schemas.microsoft.com/office/drawing/2014/main" id="{388DF928-6051-AFCD-7EF8-FFFC297FD51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7E598E56-7530-3052-762D-51C64A133480}"/>
              </a:ext>
            </a:extLst>
          </p:cNvPr>
          <p:cNvSpPr>
            <a:spLocks noGrp="1"/>
          </p:cNvSpPr>
          <p:nvPr>
            <p:ph type="dt" sz="half" idx="10"/>
          </p:nvPr>
        </p:nvSpPr>
        <p:spPr/>
        <p:txBody>
          <a:bodyPr/>
          <a:lstStyle/>
          <a:p>
            <a:fld id="{B981F3F1-497C-47B9-A18E-83DECA3909B3}" type="datetimeFigureOut">
              <a:rPr lang="en-US" smtClean="0"/>
              <a:t>3/6/2026</a:t>
            </a:fld>
            <a:endParaRPr lang="en-US"/>
          </a:p>
        </p:txBody>
      </p:sp>
      <p:sp>
        <p:nvSpPr>
          <p:cNvPr id="6" name="Marcador de pie de página 5">
            <a:extLst>
              <a:ext uri="{FF2B5EF4-FFF2-40B4-BE49-F238E27FC236}">
                <a16:creationId xmlns:a16="http://schemas.microsoft.com/office/drawing/2014/main" id="{68B0D834-54DF-9448-9C2A-E3F16D772E60}"/>
              </a:ext>
            </a:extLst>
          </p:cNvPr>
          <p:cNvSpPr>
            <a:spLocks noGrp="1"/>
          </p:cNvSpPr>
          <p:nvPr>
            <p:ph type="ftr" sz="quarter" idx="11"/>
          </p:nvPr>
        </p:nvSpPr>
        <p:spPr/>
        <p:txBody>
          <a:bodyPr/>
          <a:lstStyle/>
          <a:p>
            <a:endParaRPr lang="en-US"/>
          </a:p>
        </p:txBody>
      </p:sp>
      <p:sp>
        <p:nvSpPr>
          <p:cNvPr id="7" name="Marcador de número de diapositiva 6">
            <a:extLst>
              <a:ext uri="{FF2B5EF4-FFF2-40B4-BE49-F238E27FC236}">
                <a16:creationId xmlns:a16="http://schemas.microsoft.com/office/drawing/2014/main" id="{995B2950-AC42-85DE-D11F-EED4223FFACD}"/>
              </a:ext>
            </a:extLst>
          </p:cNvPr>
          <p:cNvSpPr>
            <a:spLocks noGrp="1"/>
          </p:cNvSpPr>
          <p:nvPr>
            <p:ph type="sldNum" sz="quarter" idx="12"/>
          </p:nvPr>
        </p:nvSpPr>
        <p:spPr/>
        <p:txBody>
          <a:bodyPr/>
          <a:lstStyle/>
          <a:p>
            <a:fld id="{B8844222-9D2F-4AD5-8895-FD8084360767}" type="slidenum">
              <a:rPr lang="en-US" smtClean="0"/>
              <a:t>‹Nº›</a:t>
            </a:fld>
            <a:endParaRPr lang="en-US"/>
          </a:p>
        </p:txBody>
      </p:sp>
    </p:spTree>
    <p:extLst>
      <p:ext uri="{BB962C8B-B14F-4D97-AF65-F5344CB8AC3E}">
        <p14:creationId xmlns:p14="http://schemas.microsoft.com/office/powerpoint/2010/main" val="6939136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93BEFF3-A2EC-EED8-FEA5-1DFF3828E728}"/>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n-US"/>
          </a:p>
        </p:txBody>
      </p:sp>
      <p:sp>
        <p:nvSpPr>
          <p:cNvPr id="3" name="Marcador de posición de imagen 2">
            <a:extLst>
              <a:ext uri="{FF2B5EF4-FFF2-40B4-BE49-F238E27FC236}">
                <a16:creationId xmlns:a16="http://schemas.microsoft.com/office/drawing/2014/main" id="{3566923D-B92D-3492-502B-2AC57CC19C8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Marcador de texto 3">
            <a:extLst>
              <a:ext uri="{FF2B5EF4-FFF2-40B4-BE49-F238E27FC236}">
                <a16:creationId xmlns:a16="http://schemas.microsoft.com/office/drawing/2014/main" id="{CAB5D60C-0915-EA6A-7D7B-93EDA3F78E6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BC856C2D-73B1-4F36-1491-9038AEE4DD71}"/>
              </a:ext>
            </a:extLst>
          </p:cNvPr>
          <p:cNvSpPr>
            <a:spLocks noGrp="1"/>
          </p:cNvSpPr>
          <p:nvPr>
            <p:ph type="dt" sz="half" idx="10"/>
          </p:nvPr>
        </p:nvSpPr>
        <p:spPr/>
        <p:txBody>
          <a:bodyPr/>
          <a:lstStyle/>
          <a:p>
            <a:fld id="{B981F3F1-497C-47B9-A18E-83DECA3909B3}" type="datetimeFigureOut">
              <a:rPr lang="en-US" smtClean="0"/>
              <a:t>3/6/2026</a:t>
            </a:fld>
            <a:endParaRPr lang="en-US"/>
          </a:p>
        </p:txBody>
      </p:sp>
      <p:sp>
        <p:nvSpPr>
          <p:cNvPr id="6" name="Marcador de pie de página 5">
            <a:extLst>
              <a:ext uri="{FF2B5EF4-FFF2-40B4-BE49-F238E27FC236}">
                <a16:creationId xmlns:a16="http://schemas.microsoft.com/office/drawing/2014/main" id="{DC9C87A3-772E-817F-E0BD-CEB52B825BE3}"/>
              </a:ext>
            </a:extLst>
          </p:cNvPr>
          <p:cNvSpPr>
            <a:spLocks noGrp="1"/>
          </p:cNvSpPr>
          <p:nvPr>
            <p:ph type="ftr" sz="quarter" idx="11"/>
          </p:nvPr>
        </p:nvSpPr>
        <p:spPr/>
        <p:txBody>
          <a:bodyPr/>
          <a:lstStyle/>
          <a:p>
            <a:endParaRPr lang="en-US"/>
          </a:p>
        </p:txBody>
      </p:sp>
      <p:sp>
        <p:nvSpPr>
          <p:cNvPr id="7" name="Marcador de número de diapositiva 6">
            <a:extLst>
              <a:ext uri="{FF2B5EF4-FFF2-40B4-BE49-F238E27FC236}">
                <a16:creationId xmlns:a16="http://schemas.microsoft.com/office/drawing/2014/main" id="{8BA8470E-36E1-7796-C269-F5FABC646D54}"/>
              </a:ext>
            </a:extLst>
          </p:cNvPr>
          <p:cNvSpPr>
            <a:spLocks noGrp="1"/>
          </p:cNvSpPr>
          <p:nvPr>
            <p:ph type="sldNum" sz="quarter" idx="12"/>
          </p:nvPr>
        </p:nvSpPr>
        <p:spPr/>
        <p:txBody>
          <a:bodyPr/>
          <a:lstStyle/>
          <a:p>
            <a:fld id="{B8844222-9D2F-4AD5-8895-FD8084360767}" type="slidenum">
              <a:rPr lang="en-US" smtClean="0"/>
              <a:t>‹Nº›</a:t>
            </a:fld>
            <a:endParaRPr lang="en-US"/>
          </a:p>
        </p:txBody>
      </p:sp>
    </p:spTree>
    <p:extLst>
      <p:ext uri="{BB962C8B-B14F-4D97-AF65-F5344CB8AC3E}">
        <p14:creationId xmlns:p14="http://schemas.microsoft.com/office/powerpoint/2010/main" val="6960195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B05BD62-80B5-73AC-247B-557D541BCBCC}"/>
              </a:ext>
            </a:extLst>
          </p:cNvPr>
          <p:cNvSpPr>
            <a:spLocks noGrp="1"/>
          </p:cNvSpPr>
          <p:nvPr>
            <p:ph type="title"/>
          </p:nvPr>
        </p:nvSpPr>
        <p:spPr/>
        <p:txBody>
          <a:bodyPr/>
          <a:lstStyle/>
          <a:p>
            <a:r>
              <a:rPr lang="es-ES"/>
              <a:t>Haga clic para modificar el estilo de título del patrón</a:t>
            </a:r>
            <a:endParaRPr lang="en-US"/>
          </a:p>
        </p:txBody>
      </p:sp>
      <p:sp>
        <p:nvSpPr>
          <p:cNvPr id="3" name="Marcador de texto vertical 2">
            <a:extLst>
              <a:ext uri="{FF2B5EF4-FFF2-40B4-BE49-F238E27FC236}">
                <a16:creationId xmlns:a16="http://schemas.microsoft.com/office/drawing/2014/main" id="{6356E60C-69ED-36D4-E379-D90AA993E819}"/>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Marcador de fecha 3">
            <a:extLst>
              <a:ext uri="{FF2B5EF4-FFF2-40B4-BE49-F238E27FC236}">
                <a16:creationId xmlns:a16="http://schemas.microsoft.com/office/drawing/2014/main" id="{128533B8-B990-570F-2FF9-F5CB4C8ACC9C}"/>
              </a:ext>
            </a:extLst>
          </p:cNvPr>
          <p:cNvSpPr>
            <a:spLocks noGrp="1"/>
          </p:cNvSpPr>
          <p:nvPr>
            <p:ph type="dt" sz="half" idx="10"/>
          </p:nvPr>
        </p:nvSpPr>
        <p:spPr/>
        <p:txBody>
          <a:bodyPr/>
          <a:lstStyle/>
          <a:p>
            <a:fld id="{B981F3F1-497C-47B9-A18E-83DECA3909B3}" type="datetimeFigureOut">
              <a:rPr lang="en-US" smtClean="0"/>
              <a:t>3/6/2026</a:t>
            </a:fld>
            <a:endParaRPr lang="en-US"/>
          </a:p>
        </p:txBody>
      </p:sp>
      <p:sp>
        <p:nvSpPr>
          <p:cNvPr id="5" name="Marcador de pie de página 4">
            <a:extLst>
              <a:ext uri="{FF2B5EF4-FFF2-40B4-BE49-F238E27FC236}">
                <a16:creationId xmlns:a16="http://schemas.microsoft.com/office/drawing/2014/main" id="{5A2D7539-EC26-3063-B6AA-BDDD30A4274D}"/>
              </a:ext>
            </a:extLst>
          </p:cNvPr>
          <p:cNvSpPr>
            <a:spLocks noGrp="1"/>
          </p:cNvSpPr>
          <p:nvPr>
            <p:ph type="ftr" sz="quarter" idx="11"/>
          </p:nvPr>
        </p:nvSpPr>
        <p:spPr/>
        <p:txBody>
          <a:bodyPr/>
          <a:lstStyle/>
          <a:p>
            <a:endParaRPr lang="en-US"/>
          </a:p>
        </p:txBody>
      </p:sp>
      <p:sp>
        <p:nvSpPr>
          <p:cNvPr id="6" name="Marcador de número de diapositiva 5">
            <a:extLst>
              <a:ext uri="{FF2B5EF4-FFF2-40B4-BE49-F238E27FC236}">
                <a16:creationId xmlns:a16="http://schemas.microsoft.com/office/drawing/2014/main" id="{C6213976-546D-B209-4AE5-55B62C103C11}"/>
              </a:ext>
            </a:extLst>
          </p:cNvPr>
          <p:cNvSpPr>
            <a:spLocks noGrp="1"/>
          </p:cNvSpPr>
          <p:nvPr>
            <p:ph type="sldNum" sz="quarter" idx="12"/>
          </p:nvPr>
        </p:nvSpPr>
        <p:spPr/>
        <p:txBody>
          <a:bodyPr/>
          <a:lstStyle/>
          <a:p>
            <a:fld id="{B8844222-9D2F-4AD5-8895-FD8084360767}" type="slidenum">
              <a:rPr lang="en-US" smtClean="0"/>
              <a:t>‹Nº›</a:t>
            </a:fld>
            <a:endParaRPr lang="en-US"/>
          </a:p>
        </p:txBody>
      </p:sp>
    </p:spTree>
    <p:extLst>
      <p:ext uri="{BB962C8B-B14F-4D97-AF65-F5344CB8AC3E}">
        <p14:creationId xmlns:p14="http://schemas.microsoft.com/office/powerpoint/2010/main" val="39843751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EC032FBA-D46B-9AD9-6A4A-CCC671639BF2}"/>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n-US"/>
          </a:p>
        </p:txBody>
      </p:sp>
      <p:sp>
        <p:nvSpPr>
          <p:cNvPr id="3" name="Marcador de texto vertical 2">
            <a:extLst>
              <a:ext uri="{FF2B5EF4-FFF2-40B4-BE49-F238E27FC236}">
                <a16:creationId xmlns:a16="http://schemas.microsoft.com/office/drawing/2014/main" id="{7E0765D1-3113-7EE5-5D68-7C2610512D23}"/>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Marcador de fecha 3">
            <a:extLst>
              <a:ext uri="{FF2B5EF4-FFF2-40B4-BE49-F238E27FC236}">
                <a16:creationId xmlns:a16="http://schemas.microsoft.com/office/drawing/2014/main" id="{19BF1DF9-8FBB-EF60-5CB8-B832135B2B50}"/>
              </a:ext>
            </a:extLst>
          </p:cNvPr>
          <p:cNvSpPr>
            <a:spLocks noGrp="1"/>
          </p:cNvSpPr>
          <p:nvPr>
            <p:ph type="dt" sz="half" idx="10"/>
          </p:nvPr>
        </p:nvSpPr>
        <p:spPr/>
        <p:txBody>
          <a:bodyPr/>
          <a:lstStyle/>
          <a:p>
            <a:fld id="{B981F3F1-497C-47B9-A18E-83DECA3909B3}" type="datetimeFigureOut">
              <a:rPr lang="en-US" smtClean="0"/>
              <a:t>3/6/2026</a:t>
            </a:fld>
            <a:endParaRPr lang="en-US"/>
          </a:p>
        </p:txBody>
      </p:sp>
      <p:sp>
        <p:nvSpPr>
          <p:cNvPr id="5" name="Marcador de pie de página 4">
            <a:extLst>
              <a:ext uri="{FF2B5EF4-FFF2-40B4-BE49-F238E27FC236}">
                <a16:creationId xmlns:a16="http://schemas.microsoft.com/office/drawing/2014/main" id="{C4117F01-7DF1-4C58-D99D-DDCD2750329C}"/>
              </a:ext>
            </a:extLst>
          </p:cNvPr>
          <p:cNvSpPr>
            <a:spLocks noGrp="1"/>
          </p:cNvSpPr>
          <p:nvPr>
            <p:ph type="ftr" sz="quarter" idx="11"/>
          </p:nvPr>
        </p:nvSpPr>
        <p:spPr/>
        <p:txBody>
          <a:bodyPr/>
          <a:lstStyle/>
          <a:p>
            <a:endParaRPr lang="en-US"/>
          </a:p>
        </p:txBody>
      </p:sp>
      <p:sp>
        <p:nvSpPr>
          <p:cNvPr id="6" name="Marcador de número de diapositiva 5">
            <a:extLst>
              <a:ext uri="{FF2B5EF4-FFF2-40B4-BE49-F238E27FC236}">
                <a16:creationId xmlns:a16="http://schemas.microsoft.com/office/drawing/2014/main" id="{84479F5B-A745-4D30-0645-6FD930FF9504}"/>
              </a:ext>
            </a:extLst>
          </p:cNvPr>
          <p:cNvSpPr>
            <a:spLocks noGrp="1"/>
          </p:cNvSpPr>
          <p:nvPr>
            <p:ph type="sldNum" sz="quarter" idx="12"/>
          </p:nvPr>
        </p:nvSpPr>
        <p:spPr/>
        <p:txBody>
          <a:bodyPr/>
          <a:lstStyle/>
          <a:p>
            <a:fld id="{B8844222-9D2F-4AD5-8895-FD8084360767}" type="slidenum">
              <a:rPr lang="en-US" smtClean="0"/>
              <a:t>‹Nº›</a:t>
            </a:fld>
            <a:endParaRPr lang="en-US"/>
          </a:p>
        </p:txBody>
      </p:sp>
    </p:spTree>
    <p:extLst>
      <p:ext uri="{BB962C8B-B14F-4D97-AF65-F5344CB8AC3E}">
        <p14:creationId xmlns:p14="http://schemas.microsoft.com/office/powerpoint/2010/main" val="33715068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CC587F12-B27F-FB1F-C6A6-F70AD31262B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n-US"/>
          </a:p>
        </p:txBody>
      </p:sp>
      <p:sp>
        <p:nvSpPr>
          <p:cNvPr id="3" name="Marcador de texto 2">
            <a:extLst>
              <a:ext uri="{FF2B5EF4-FFF2-40B4-BE49-F238E27FC236}">
                <a16:creationId xmlns:a16="http://schemas.microsoft.com/office/drawing/2014/main" id="{F80B90C4-B84F-C1FB-760E-72D4EA32F87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Marcador de fecha 3">
            <a:extLst>
              <a:ext uri="{FF2B5EF4-FFF2-40B4-BE49-F238E27FC236}">
                <a16:creationId xmlns:a16="http://schemas.microsoft.com/office/drawing/2014/main" id="{FF73809E-B4B5-A1E4-417D-0E7C532109E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981F3F1-497C-47B9-A18E-83DECA3909B3}" type="datetimeFigureOut">
              <a:rPr lang="en-US" smtClean="0"/>
              <a:t>3/6/2026</a:t>
            </a:fld>
            <a:endParaRPr lang="en-US"/>
          </a:p>
        </p:txBody>
      </p:sp>
      <p:sp>
        <p:nvSpPr>
          <p:cNvPr id="5" name="Marcador de pie de página 4">
            <a:extLst>
              <a:ext uri="{FF2B5EF4-FFF2-40B4-BE49-F238E27FC236}">
                <a16:creationId xmlns:a16="http://schemas.microsoft.com/office/drawing/2014/main" id="{D9296595-A99A-7B3C-D00D-B8BF2287F59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Marcador de número de diapositiva 5">
            <a:extLst>
              <a:ext uri="{FF2B5EF4-FFF2-40B4-BE49-F238E27FC236}">
                <a16:creationId xmlns:a16="http://schemas.microsoft.com/office/drawing/2014/main" id="{E2634B69-AF7A-9040-FD3E-70FCCA37CA8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8844222-9D2F-4AD5-8895-FD8084360767}" type="slidenum">
              <a:rPr lang="en-US" smtClean="0"/>
              <a:t>‹Nº›</a:t>
            </a:fld>
            <a:endParaRPr lang="en-US"/>
          </a:p>
        </p:txBody>
      </p:sp>
    </p:spTree>
    <p:extLst>
      <p:ext uri="{BB962C8B-B14F-4D97-AF65-F5344CB8AC3E}">
        <p14:creationId xmlns:p14="http://schemas.microsoft.com/office/powerpoint/2010/main" val="1893112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88975F5-9759-D9DD-E21A-5B7FE4D5467A}"/>
              </a:ext>
            </a:extLst>
          </p:cNvPr>
          <p:cNvSpPr>
            <a:spLocks noGrp="1"/>
          </p:cNvSpPr>
          <p:nvPr>
            <p:ph type="ctrTitle"/>
          </p:nvPr>
        </p:nvSpPr>
        <p:spPr/>
        <p:txBody>
          <a:bodyPr>
            <a:normAutofit fontScale="90000"/>
          </a:bodyPr>
          <a:lstStyle/>
          <a:p>
            <a:r>
              <a:rPr lang="es-CR" dirty="0"/>
              <a:t>XS-3010 Introducción a la demografía y bioestadística</a:t>
            </a:r>
            <a:br>
              <a:rPr lang="en-US" dirty="0"/>
            </a:br>
            <a:r>
              <a:rPr lang="en-US" dirty="0"/>
              <a:t>2025</a:t>
            </a:r>
          </a:p>
        </p:txBody>
      </p:sp>
      <p:sp>
        <p:nvSpPr>
          <p:cNvPr id="3" name="Subtítulo 2">
            <a:extLst>
              <a:ext uri="{FF2B5EF4-FFF2-40B4-BE49-F238E27FC236}">
                <a16:creationId xmlns:a16="http://schemas.microsoft.com/office/drawing/2014/main" id="{D645B192-1ED3-E270-42E8-2C7C1D9FDD4C}"/>
              </a:ext>
            </a:extLst>
          </p:cNvPr>
          <p:cNvSpPr>
            <a:spLocks noGrp="1"/>
          </p:cNvSpPr>
          <p:nvPr>
            <p:ph type="subTitle" idx="1"/>
          </p:nvPr>
        </p:nvSpPr>
        <p:spPr/>
        <p:txBody>
          <a:bodyPr>
            <a:normAutofit lnSpcReduction="10000"/>
          </a:bodyPr>
          <a:lstStyle/>
          <a:p>
            <a:r>
              <a:rPr lang="en-US" dirty="0" err="1"/>
              <a:t>Profesor</a:t>
            </a:r>
            <a:r>
              <a:rPr lang="en-US" dirty="0"/>
              <a:t> Gilbert </a:t>
            </a:r>
            <a:r>
              <a:rPr lang="en-US" dirty="0" err="1"/>
              <a:t>Brenes</a:t>
            </a:r>
            <a:r>
              <a:rPr lang="en-US" dirty="0"/>
              <a:t> Camacho, Grupo 01</a:t>
            </a:r>
          </a:p>
          <a:p>
            <a:endParaRPr lang="en-US" dirty="0"/>
          </a:p>
          <a:p>
            <a:endParaRPr lang="en-US" dirty="0"/>
          </a:p>
          <a:p>
            <a:r>
              <a:rPr lang="es-CR" dirty="0"/>
              <a:t>Tema 9. </a:t>
            </a:r>
            <a:r>
              <a:rPr lang="es-CR" dirty="0" err="1"/>
              <a:t>Intro</a:t>
            </a:r>
            <a:r>
              <a:rPr lang="es-CR" dirty="0"/>
              <a:t> al Análisis de Supervivencia.  Parte 1.</a:t>
            </a:r>
            <a:endParaRPr lang="en-US" dirty="0"/>
          </a:p>
        </p:txBody>
      </p:sp>
    </p:spTree>
    <p:extLst>
      <p:ext uri="{BB962C8B-B14F-4D97-AF65-F5344CB8AC3E}">
        <p14:creationId xmlns:p14="http://schemas.microsoft.com/office/powerpoint/2010/main" val="33476225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E3B47C-32F1-1ECC-95EB-A077866F1A94}"/>
              </a:ext>
            </a:extLst>
          </p:cNvPr>
          <p:cNvSpPr>
            <a:spLocks noGrp="1"/>
          </p:cNvSpPr>
          <p:nvPr>
            <p:ph type="title"/>
          </p:nvPr>
        </p:nvSpPr>
        <p:spPr/>
        <p:txBody>
          <a:bodyPr/>
          <a:lstStyle/>
          <a:p>
            <a:r>
              <a:rPr lang="es-CR" dirty="0"/>
              <a:t>Guía</a:t>
            </a:r>
            <a:endParaRPr lang="en-US" dirty="0"/>
          </a:p>
        </p:txBody>
      </p:sp>
      <p:sp>
        <p:nvSpPr>
          <p:cNvPr id="3" name="Marcador de contenido 2">
            <a:extLst>
              <a:ext uri="{FF2B5EF4-FFF2-40B4-BE49-F238E27FC236}">
                <a16:creationId xmlns:a16="http://schemas.microsoft.com/office/drawing/2014/main" id="{CF7D0468-056F-7E17-F512-4EFD0D5D0ACD}"/>
              </a:ext>
            </a:extLst>
          </p:cNvPr>
          <p:cNvSpPr>
            <a:spLocks noGrp="1"/>
          </p:cNvSpPr>
          <p:nvPr>
            <p:ph idx="1"/>
          </p:nvPr>
        </p:nvSpPr>
        <p:spPr>
          <a:xfrm>
            <a:off x="838200" y="1466193"/>
            <a:ext cx="10515600" cy="5026682"/>
          </a:xfrm>
        </p:spPr>
        <p:txBody>
          <a:bodyPr>
            <a:normAutofit/>
          </a:bodyPr>
          <a:lstStyle/>
          <a:p>
            <a:r>
              <a:rPr lang="es-CR" dirty="0"/>
              <a:t>Método de estimación de la regresión de Cox.</a:t>
            </a:r>
          </a:p>
          <a:p>
            <a:r>
              <a:rPr lang="es-CR" dirty="0"/>
              <a:t>Objetivos de la regresión de Cox.</a:t>
            </a:r>
          </a:p>
          <a:p>
            <a:r>
              <a:rPr lang="es-CR" dirty="0"/>
              <a:t>Evaluación del supuesto de proporcionalidad.</a:t>
            </a:r>
          </a:p>
          <a:p>
            <a:r>
              <a:rPr lang="es-CR" dirty="0"/>
              <a:t>Otros análisis de residuos.</a:t>
            </a:r>
          </a:p>
          <a:p>
            <a:endParaRPr lang="es-CR" dirty="0"/>
          </a:p>
        </p:txBody>
      </p:sp>
    </p:spTree>
    <p:extLst>
      <p:ext uri="{BB962C8B-B14F-4D97-AF65-F5344CB8AC3E}">
        <p14:creationId xmlns:p14="http://schemas.microsoft.com/office/powerpoint/2010/main" val="2883932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80F746-29AE-1097-D16D-27F7E1537C6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79EF888-D33A-2737-EA61-9ECBDE469D0C}"/>
              </a:ext>
            </a:extLst>
          </p:cNvPr>
          <p:cNvSpPr>
            <a:spLocks noGrp="1"/>
          </p:cNvSpPr>
          <p:nvPr>
            <p:ph type="title"/>
          </p:nvPr>
        </p:nvSpPr>
        <p:spPr>
          <a:xfrm>
            <a:off x="838200" y="365126"/>
            <a:ext cx="10515600" cy="831908"/>
          </a:xfrm>
        </p:spPr>
        <p:txBody>
          <a:bodyPr/>
          <a:lstStyle/>
          <a:p>
            <a:r>
              <a:rPr lang="es-CR" dirty="0"/>
              <a:t>Regresión de Cox</a:t>
            </a:r>
            <a:endParaRPr lang="en-US" dirty="0"/>
          </a:p>
        </p:txBody>
      </p:sp>
      <p:sp>
        <p:nvSpPr>
          <p:cNvPr id="3" name="Marcador de contenido 2">
            <a:extLst>
              <a:ext uri="{FF2B5EF4-FFF2-40B4-BE49-F238E27FC236}">
                <a16:creationId xmlns:a16="http://schemas.microsoft.com/office/drawing/2014/main" id="{E6DB1BE9-ED97-ACCA-103D-B9103B96DC99}"/>
              </a:ext>
            </a:extLst>
          </p:cNvPr>
          <p:cNvSpPr>
            <a:spLocks noGrp="1"/>
          </p:cNvSpPr>
          <p:nvPr>
            <p:ph idx="1"/>
          </p:nvPr>
        </p:nvSpPr>
        <p:spPr>
          <a:xfrm>
            <a:off x="838200" y="1463040"/>
            <a:ext cx="10515600" cy="5142711"/>
          </a:xfrm>
        </p:spPr>
        <p:txBody>
          <a:bodyPr>
            <a:normAutofit/>
          </a:bodyPr>
          <a:lstStyle/>
          <a:p>
            <a:r>
              <a:rPr lang="es-ES" dirty="0"/>
              <a:t>La especificación del modelo de regresión de Cox es la siguiente:</a:t>
            </a:r>
          </a:p>
          <a:p>
            <a:pPr marL="0" marR="0">
              <a:buNone/>
            </a:pPr>
            <a:r>
              <a:rPr lang="es-MX" sz="2400" dirty="0">
                <a:effectLst/>
                <a:ea typeface="Times New Roman" panose="02020603050405020304" pitchFamily="18" charset="0"/>
              </a:rPr>
              <a:t>h(t) = h</a:t>
            </a:r>
            <a:r>
              <a:rPr lang="es-MX" sz="2400" baseline="-25000" dirty="0">
                <a:effectLst/>
                <a:ea typeface="Times New Roman" panose="02020603050405020304" pitchFamily="18" charset="0"/>
              </a:rPr>
              <a:t>0</a:t>
            </a:r>
            <a:r>
              <a:rPr lang="es-MX" sz="2400" dirty="0">
                <a:effectLst/>
                <a:ea typeface="Times New Roman" panose="02020603050405020304" pitchFamily="18" charset="0"/>
              </a:rPr>
              <a:t>(t) * </a:t>
            </a:r>
            <a:r>
              <a:rPr lang="es-MX" sz="2400" dirty="0" err="1">
                <a:effectLst/>
                <a:ea typeface="Times New Roman" panose="02020603050405020304" pitchFamily="18" charset="0"/>
              </a:rPr>
              <a:t>exp</a:t>
            </a:r>
            <a:r>
              <a:rPr lang="es-MX" sz="2400" dirty="0">
                <a:effectLst/>
                <a:ea typeface="Times New Roman" panose="02020603050405020304" pitchFamily="18" charset="0"/>
              </a:rPr>
              <a:t>(</a:t>
            </a:r>
            <a:r>
              <a:rPr lang="es-MX" sz="2400" dirty="0">
                <a:effectLst/>
                <a:ea typeface="Times New Roman" panose="02020603050405020304" pitchFamily="18" charset="0"/>
                <a:sym typeface="Symbol" panose="05050102010706020507" pitchFamily="18" charset="2"/>
              </a:rPr>
              <a:t></a:t>
            </a:r>
            <a:r>
              <a:rPr lang="es-MX" sz="2400" dirty="0">
                <a:effectLst/>
                <a:ea typeface="Times New Roman" panose="02020603050405020304" pitchFamily="18" charset="0"/>
              </a:rPr>
              <a:t>’Z)</a:t>
            </a:r>
            <a:endParaRPr lang="en-US" sz="2400" dirty="0">
              <a:effectLst/>
              <a:ea typeface="Times New Roman" panose="02020603050405020304" pitchFamily="18" charset="0"/>
            </a:endParaRPr>
          </a:p>
          <a:p>
            <a:pPr marL="0" marR="0">
              <a:buNone/>
            </a:pPr>
            <a:r>
              <a:rPr lang="es-MX" sz="2400" dirty="0">
                <a:effectLst/>
                <a:ea typeface="Times New Roman" panose="02020603050405020304" pitchFamily="18" charset="0"/>
              </a:rPr>
              <a:t> </a:t>
            </a:r>
            <a:endParaRPr lang="en-US" sz="2400" dirty="0">
              <a:effectLst/>
              <a:ea typeface="Times New Roman" panose="02020603050405020304" pitchFamily="18" charset="0"/>
            </a:endParaRPr>
          </a:p>
          <a:p>
            <a:pPr marL="0" marR="0">
              <a:buNone/>
            </a:pPr>
            <a:r>
              <a:rPr lang="es-MX" sz="2400" dirty="0">
                <a:effectLst/>
                <a:ea typeface="Times New Roman" panose="02020603050405020304" pitchFamily="18" charset="0"/>
              </a:rPr>
              <a:t>donde:</a:t>
            </a:r>
            <a:endParaRPr lang="en-US" sz="2400" dirty="0">
              <a:effectLst/>
              <a:ea typeface="Times New Roman" panose="02020603050405020304" pitchFamily="18" charset="0"/>
            </a:endParaRPr>
          </a:p>
          <a:p>
            <a:pPr marL="0" marR="0">
              <a:buNone/>
            </a:pPr>
            <a:r>
              <a:rPr lang="es-MX" sz="2400" dirty="0">
                <a:effectLst/>
                <a:ea typeface="Times New Roman" panose="02020603050405020304" pitchFamily="18" charset="0"/>
              </a:rPr>
              <a:t>t:	Tiempo de ocurrencia del evento</a:t>
            </a:r>
            <a:endParaRPr lang="en-US" sz="2400" dirty="0">
              <a:effectLst/>
              <a:ea typeface="Times New Roman" panose="02020603050405020304" pitchFamily="18" charset="0"/>
            </a:endParaRPr>
          </a:p>
          <a:p>
            <a:pPr marL="0" marR="0">
              <a:buNone/>
            </a:pPr>
            <a:r>
              <a:rPr lang="es-MX" sz="2400" dirty="0">
                <a:effectLst/>
                <a:ea typeface="Times New Roman" panose="02020603050405020304" pitchFamily="18" charset="0"/>
              </a:rPr>
              <a:t>Z:	Matriz de covariables.</a:t>
            </a:r>
            <a:endParaRPr lang="en-US" sz="2400" dirty="0">
              <a:effectLst/>
              <a:ea typeface="Times New Roman" panose="02020603050405020304" pitchFamily="18" charset="0"/>
            </a:endParaRPr>
          </a:p>
          <a:p>
            <a:pPr marL="0" marR="0">
              <a:buNone/>
            </a:pPr>
            <a:r>
              <a:rPr lang="es-MX" sz="2400" dirty="0">
                <a:effectLst/>
                <a:ea typeface="Times New Roman" panose="02020603050405020304" pitchFamily="18" charset="0"/>
                <a:sym typeface="Symbol" panose="05050102010706020507" pitchFamily="18" charset="2"/>
              </a:rPr>
              <a:t></a:t>
            </a:r>
            <a:r>
              <a:rPr lang="es-MX" sz="2400" dirty="0">
                <a:effectLst/>
                <a:ea typeface="Times New Roman" panose="02020603050405020304" pitchFamily="18" charset="0"/>
              </a:rPr>
              <a:t>:	Vector de coeficientes de regresión.</a:t>
            </a:r>
            <a:endParaRPr lang="en-US" sz="2400" dirty="0">
              <a:effectLst/>
              <a:ea typeface="Times New Roman" panose="02020603050405020304" pitchFamily="18" charset="0"/>
            </a:endParaRPr>
          </a:p>
          <a:p>
            <a:pPr marL="0" marR="0">
              <a:buNone/>
            </a:pPr>
            <a:r>
              <a:rPr lang="es-MX" sz="2400" dirty="0">
                <a:effectLst/>
                <a:ea typeface="Times New Roman" panose="02020603050405020304" pitchFamily="18" charset="0"/>
              </a:rPr>
              <a:t> </a:t>
            </a:r>
            <a:endParaRPr lang="en-US" sz="2400" dirty="0">
              <a:effectLst/>
              <a:ea typeface="Times New Roman" panose="02020603050405020304" pitchFamily="18" charset="0"/>
            </a:endParaRPr>
          </a:p>
          <a:p>
            <a:pPr marL="0" marR="0"/>
            <a:r>
              <a:rPr lang="es-MX" sz="2400" dirty="0">
                <a:effectLst/>
                <a:ea typeface="Times New Roman" panose="02020603050405020304" pitchFamily="18" charset="0"/>
              </a:rPr>
              <a:t>En general, en modelos de sobrevivencia, se puede plantear la función de verosimilitud de la siguiente forma:</a:t>
            </a:r>
            <a:endParaRPr lang="en-US" sz="2400" dirty="0">
              <a:effectLst/>
              <a:ea typeface="Times New Roman" panose="02020603050405020304" pitchFamily="18" charset="0"/>
            </a:endParaRPr>
          </a:p>
          <a:p>
            <a:endParaRPr lang="es-ES" sz="2400" dirty="0"/>
          </a:p>
          <a:p>
            <a:pPr lvl="1"/>
            <a:endParaRPr lang="es-CR" dirty="0"/>
          </a:p>
        </p:txBody>
      </p:sp>
    </p:spTree>
    <p:extLst>
      <p:ext uri="{BB962C8B-B14F-4D97-AF65-F5344CB8AC3E}">
        <p14:creationId xmlns:p14="http://schemas.microsoft.com/office/powerpoint/2010/main" val="19575732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B0DC5D-AF7A-FCA5-5BE2-F89223B23E0B}"/>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899667A-DB8C-3317-9E5E-53C33ED6C9EE}"/>
              </a:ext>
            </a:extLst>
          </p:cNvPr>
          <p:cNvSpPr>
            <a:spLocks noGrp="1"/>
          </p:cNvSpPr>
          <p:nvPr>
            <p:ph type="title"/>
          </p:nvPr>
        </p:nvSpPr>
        <p:spPr>
          <a:xfrm>
            <a:off x="838200" y="365126"/>
            <a:ext cx="10515600" cy="449521"/>
          </a:xfrm>
        </p:spPr>
        <p:txBody>
          <a:bodyPr>
            <a:normAutofit fontScale="90000"/>
          </a:bodyPr>
          <a:lstStyle/>
          <a:p>
            <a:r>
              <a:rPr lang="es-CR" dirty="0"/>
              <a:t>Regresión de Cox</a:t>
            </a:r>
            <a:endParaRPr lang="en-US" dirty="0"/>
          </a:p>
        </p:txBody>
      </p:sp>
      <mc:AlternateContent xmlns:mc="http://schemas.openxmlformats.org/markup-compatibility/2006">
        <mc:Choice xmlns:a14="http://schemas.microsoft.com/office/drawing/2010/main" Requires="a14">
          <p:sp>
            <p:nvSpPr>
              <p:cNvPr id="3" name="Marcador de contenido 2">
                <a:extLst>
                  <a:ext uri="{FF2B5EF4-FFF2-40B4-BE49-F238E27FC236}">
                    <a16:creationId xmlns:a16="http://schemas.microsoft.com/office/drawing/2014/main" id="{36CC3ACF-E3A8-1058-6DBC-5D493778BCBB}"/>
                  </a:ext>
                </a:extLst>
              </p:cNvPr>
              <p:cNvSpPr>
                <a:spLocks noGrp="1"/>
              </p:cNvSpPr>
              <p:nvPr>
                <p:ph idx="1"/>
              </p:nvPr>
            </p:nvSpPr>
            <p:spPr>
              <a:xfrm>
                <a:off x="182880" y="1180408"/>
                <a:ext cx="11837324" cy="5425344"/>
              </a:xfrm>
            </p:spPr>
            <p:txBody>
              <a:bodyPr>
                <a:normAutofit/>
              </a:bodyPr>
              <a:lstStyle/>
              <a:p>
                <a:pPr marL="0" marR="0"/>
                <a:r>
                  <a:rPr lang="es-MX" dirty="0">
                    <a:effectLst/>
                    <a:ea typeface="Times New Roman" panose="02020603050405020304" pitchFamily="18" charset="0"/>
                  </a:rPr>
                  <a:t>En general, en modelos de sobrevivencia, se puede plantear la función de verosimilitud de la siguiente forma:</a:t>
                </a:r>
              </a:p>
              <a:p>
                <a:pPr marL="0" marR="0"/>
                <a:endParaRPr lang="es-MX" dirty="0">
                  <a:effectLst/>
                  <a:ea typeface="Times New Roman" panose="02020603050405020304" pitchFamily="18" charset="0"/>
                </a:endParaRPr>
              </a:p>
              <a:p>
                <a:pPr marL="0" marR="0"/>
                <a:endParaRPr lang="en-US" dirty="0">
                  <a:effectLst/>
                  <a:ea typeface="Times New Roman" panose="02020603050405020304" pitchFamily="18" charset="0"/>
                </a:endParaRPr>
              </a:p>
              <a:p>
                <a:pPr lvl="1"/>
                <a14:m>
                  <m:oMath xmlns:m="http://schemas.openxmlformats.org/officeDocument/2006/math">
                    <m:r>
                      <a:rPr lang="es-CR" b="0" i="1" smtClean="0">
                        <a:latin typeface="Cambria Math" panose="02040503050406030204" pitchFamily="18" charset="0"/>
                      </a:rPr>
                      <m:t>𝐿</m:t>
                    </m:r>
                    <m:r>
                      <a:rPr lang="es-CR" b="0" i="1" smtClean="0">
                        <a:latin typeface="Cambria Math" panose="02040503050406030204" pitchFamily="18" charset="0"/>
                      </a:rPr>
                      <m:t>=</m:t>
                    </m:r>
                    <m:nary>
                      <m:naryPr>
                        <m:chr m:val="∏"/>
                        <m:ctrlPr>
                          <a:rPr lang="es-CR" b="0" i="1" smtClean="0">
                            <a:latin typeface="Cambria Math" panose="02040503050406030204" pitchFamily="18" charset="0"/>
                          </a:rPr>
                        </m:ctrlPr>
                      </m:naryPr>
                      <m:sub>
                        <m:r>
                          <m:rPr>
                            <m:brk m:alnAt="23"/>
                          </m:rPr>
                          <a:rPr lang="es-CR" b="0" i="1" smtClean="0">
                            <a:latin typeface="Cambria Math" panose="02040503050406030204" pitchFamily="18" charset="0"/>
                          </a:rPr>
                          <m:t>𝑖</m:t>
                        </m:r>
                        <m:r>
                          <a:rPr lang="es-CR" b="0" i="1" smtClean="0">
                            <a:latin typeface="Cambria Math" panose="02040503050406030204" pitchFamily="18" charset="0"/>
                          </a:rPr>
                          <m:t>=</m:t>
                        </m:r>
                        <m:r>
                          <m:rPr>
                            <m:brk m:alnAt="23"/>
                          </m:rPr>
                          <a:rPr lang="es-CR" b="0" i="1" smtClean="0">
                            <a:latin typeface="Cambria Math" panose="02040503050406030204" pitchFamily="18" charset="0"/>
                          </a:rPr>
                          <m:t>1</m:t>
                        </m:r>
                      </m:sub>
                      <m:sup>
                        <m:r>
                          <a:rPr lang="es-CR" b="0" i="1" smtClean="0">
                            <a:latin typeface="Cambria Math" panose="02040503050406030204" pitchFamily="18" charset="0"/>
                          </a:rPr>
                          <m:t>𝑛</m:t>
                        </m:r>
                      </m:sup>
                      <m:e>
                        <m:sSup>
                          <m:sSupPr>
                            <m:ctrlPr>
                              <a:rPr lang="es-CR" b="0" i="1" smtClean="0">
                                <a:latin typeface="Cambria Math" panose="02040503050406030204" pitchFamily="18" charset="0"/>
                              </a:rPr>
                            </m:ctrlPr>
                          </m:sSupPr>
                          <m:e>
                            <m:d>
                              <m:dPr>
                                <m:begChr m:val="{"/>
                                <m:endChr m:val="}"/>
                                <m:ctrlPr>
                                  <a:rPr lang="es-CR" b="0" i="1" smtClean="0">
                                    <a:latin typeface="Cambria Math" panose="02040503050406030204" pitchFamily="18" charset="0"/>
                                  </a:rPr>
                                </m:ctrlPr>
                              </m:dPr>
                              <m:e>
                                <m:r>
                                  <a:rPr lang="es-CR" b="0" i="1" smtClean="0">
                                    <a:latin typeface="Cambria Math" panose="02040503050406030204" pitchFamily="18" charset="0"/>
                                  </a:rPr>
                                  <m:t>𝑓</m:t>
                                </m:r>
                                <m:d>
                                  <m:dPr>
                                    <m:ctrlPr>
                                      <a:rPr lang="es-CR" b="0" i="1" smtClean="0">
                                        <a:latin typeface="Cambria Math" panose="02040503050406030204" pitchFamily="18" charset="0"/>
                                      </a:rPr>
                                    </m:ctrlPr>
                                  </m:dPr>
                                  <m:e>
                                    <m:sSub>
                                      <m:sSubPr>
                                        <m:ctrlPr>
                                          <a:rPr lang="es-CR" b="0" i="1" smtClean="0">
                                            <a:latin typeface="Cambria Math" panose="02040503050406030204" pitchFamily="18" charset="0"/>
                                          </a:rPr>
                                        </m:ctrlPr>
                                      </m:sSubPr>
                                      <m:e>
                                        <m:r>
                                          <a:rPr lang="es-CR" b="0" i="1" smtClean="0">
                                            <a:latin typeface="Cambria Math" panose="02040503050406030204" pitchFamily="18" charset="0"/>
                                          </a:rPr>
                                          <m:t>𝑡</m:t>
                                        </m:r>
                                      </m:e>
                                      <m:sub>
                                        <m:r>
                                          <a:rPr lang="es-CR" b="0" i="1" smtClean="0">
                                            <a:latin typeface="Cambria Math" panose="02040503050406030204" pitchFamily="18" charset="0"/>
                                          </a:rPr>
                                          <m:t>𝑖</m:t>
                                        </m:r>
                                      </m:sub>
                                    </m:sSub>
                                  </m:e>
                                </m:d>
                              </m:e>
                            </m:d>
                          </m:e>
                          <m:sup>
                            <m:sSub>
                              <m:sSubPr>
                                <m:ctrlPr>
                                  <a:rPr lang="es-CR" b="0" i="1" smtClean="0">
                                    <a:latin typeface="Cambria Math" panose="02040503050406030204" pitchFamily="18" charset="0"/>
                                  </a:rPr>
                                </m:ctrlPr>
                              </m:sSubPr>
                              <m:e>
                                <m:r>
                                  <a:rPr lang="es-CR" b="0" i="1" smtClean="0">
                                    <a:latin typeface="Cambria Math" panose="02040503050406030204" pitchFamily="18" charset="0"/>
                                    <a:ea typeface="Cambria Math" panose="02040503050406030204" pitchFamily="18" charset="0"/>
                                  </a:rPr>
                                  <m:t>𝛿</m:t>
                                </m:r>
                              </m:e>
                              <m:sub>
                                <m:r>
                                  <a:rPr lang="es-CR" b="0" i="1" smtClean="0">
                                    <a:latin typeface="Cambria Math" panose="02040503050406030204" pitchFamily="18" charset="0"/>
                                  </a:rPr>
                                  <m:t>𝑖</m:t>
                                </m:r>
                              </m:sub>
                            </m:sSub>
                          </m:sup>
                        </m:sSup>
                        <m:r>
                          <a:rPr lang="es-CR" b="0" i="1" smtClean="0">
                            <a:latin typeface="Cambria Math" panose="02040503050406030204" pitchFamily="18" charset="0"/>
                          </a:rPr>
                          <m:t>∗</m:t>
                        </m:r>
                      </m:e>
                    </m:nary>
                    <m:sSup>
                      <m:sSupPr>
                        <m:ctrlPr>
                          <a:rPr lang="es-CR" b="0" i="1" smtClean="0">
                            <a:latin typeface="Cambria Math" panose="02040503050406030204" pitchFamily="18" charset="0"/>
                          </a:rPr>
                        </m:ctrlPr>
                      </m:sSupPr>
                      <m:e>
                        <m:d>
                          <m:dPr>
                            <m:begChr m:val="{"/>
                            <m:endChr m:val="}"/>
                            <m:ctrlPr>
                              <a:rPr lang="es-CR" i="1">
                                <a:latin typeface="Cambria Math" panose="02040503050406030204" pitchFamily="18" charset="0"/>
                              </a:rPr>
                            </m:ctrlPr>
                          </m:dPr>
                          <m:e>
                            <m:r>
                              <a:rPr lang="es-CR" i="1">
                                <a:latin typeface="Cambria Math" panose="02040503050406030204" pitchFamily="18" charset="0"/>
                              </a:rPr>
                              <m:t>𝑆</m:t>
                            </m:r>
                            <m:d>
                              <m:dPr>
                                <m:ctrlPr>
                                  <a:rPr lang="es-CR" i="1">
                                    <a:latin typeface="Cambria Math" panose="02040503050406030204" pitchFamily="18" charset="0"/>
                                  </a:rPr>
                                </m:ctrlPr>
                              </m:dPr>
                              <m:e>
                                <m:sSub>
                                  <m:sSubPr>
                                    <m:ctrlPr>
                                      <a:rPr lang="es-CR" i="1">
                                        <a:latin typeface="Cambria Math" panose="02040503050406030204" pitchFamily="18" charset="0"/>
                                      </a:rPr>
                                    </m:ctrlPr>
                                  </m:sSubPr>
                                  <m:e>
                                    <m:r>
                                      <a:rPr lang="es-CR" i="1">
                                        <a:latin typeface="Cambria Math" panose="02040503050406030204" pitchFamily="18" charset="0"/>
                                      </a:rPr>
                                      <m:t>𝑡</m:t>
                                    </m:r>
                                  </m:e>
                                  <m:sub>
                                    <m:r>
                                      <a:rPr lang="es-CR" i="1">
                                        <a:latin typeface="Cambria Math" panose="02040503050406030204" pitchFamily="18" charset="0"/>
                                      </a:rPr>
                                      <m:t>𝑖</m:t>
                                    </m:r>
                                  </m:sub>
                                </m:sSub>
                              </m:e>
                            </m:d>
                          </m:e>
                        </m:d>
                      </m:e>
                      <m:sup>
                        <m:r>
                          <a:rPr lang="es-CR" b="0" i="1" smtClean="0">
                            <a:latin typeface="Cambria Math" panose="02040503050406030204" pitchFamily="18" charset="0"/>
                          </a:rPr>
                          <m:t>1−</m:t>
                        </m:r>
                        <m:sSub>
                          <m:sSubPr>
                            <m:ctrlPr>
                              <a:rPr lang="es-CR" i="1">
                                <a:latin typeface="Cambria Math" panose="02040503050406030204" pitchFamily="18" charset="0"/>
                              </a:rPr>
                            </m:ctrlPr>
                          </m:sSubPr>
                          <m:e>
                            <m:r>
                              <a:rPr lang="es-CR" i="1">
                                <a:latin typeface="Cambria Math" panose="02040503050406030204" pitchFamily="18" charset="0"/>
                                <a:ea typeface="Cambria Math" panose="02040503050406030204" pitchFamily="18" charset="0"/>
                              </a:rPr>
                              <m:t>𝛿</m:t>
                            </m:r>
                          </m:e>
                          <m:sub>
                            <m:r>
                              <a:rPr lang="es-CR" i="1">
                                <a:latin typeface="Cambria Math" panose="02040503050406030204" pitchFamily="18" charset="0"/>
                              </a:rPr>
                              <m:t>𝑖</m:t>
                            </m:r>
                          </m:sub>
                        </m:sSub>
                      </m:sup>
                    </m:sSup>
                  </m:oMath>
                </a14:m>
                <a:endParaRPr lang="es-ES" dirty="0"/>
              </a:p>
              <a:p>
                <a:endParaRPr lang="es-CR" dirty="0"/>
              </a:p>
              <a:p>
                <a:endParaRPr lang="es-CR" dirty="0"/>
              </a:p>
            </p:txBody>
          </p:sp>
        </mc:Choice>
        <mc:Fallback>
          <p:sp>
            <p:nvSpPr>
              <p:cNvPr id="3" name="Marcador de contenido 2">
                <a:extLst>
                  <a:ext uri="{FF2B5EF4-FFF2-40B4-BE49-F238E27FC236}">
                    <a16:creationId xmlns:a16="http://schemas.microsoft.com/office/drawing/2014/main" id="{36CC3ACF-E3A8-1058-6DBC-5D493778BCBB}"/>
                  </a:ext>
                </a:extLst>
              </p:cNvPr>
              <p:cNvSpPr>
                <a:spLocks noGrp="1" noRot="1" noChangeAspect="1" noMove="1" noResize="1" noEditPoints="1" noAdjustHandles="1" noChangeArrowheads="1" noChangeShapeType="1" noTextEdit="1"/>
              </p:cNvSpPr>
              <p:nvPr>
                <p:ph idx="1"/>
              </p:nvPr>
            </p:nvSpPr>
            <p:spPr>
              <a:xfrm>
                <a:off x="182880" y="1180408"/>
                <a:ext cx="11837324" cy="5425344"/>
              </a:xfrm>
              <a:blipFill>
                <a:blip r:embed="rId2"/>
                <a:stretch>
                  <a:fillRect l="-1030" t="-2022"/>
                </a:stretch>
              </a:blipFill>
            </p:spPr>
            <p:txBody>
              <a:bodyPr/>
              <a:lstStyle/>
              <a:p>
                <a:r>
                  <a:rPr lang="es-CR">
                    <a:noFill/>
                  </a:rPr>
                  <a:t> </a:t>
                </a:r>
              </a:p>
            </p:txBody>
          </p:sp>
        </mc:Fallback>
      </mc:AlternateContent>
    </p:spTree>
    <p:extLst>
      <p:ext uri="{BB962C8B-B14F-4D97-AF65-F5344CB8AC3E}">
        <p14:creationId xmlns:p14="http://schemas.microsoft.com/office/powerpoint/2010/main" val="4812886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38CC14-E54F-4C15-6E2D-46E1C2CE112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5B422BA-1ACF-F722-851C-427A4D69E07A}"/>
              </a:ext>
            </a:extLst>
          </p:cNvPr>
          <p:cNvSpPr>
            <a:spLocks noGrp="1"/>
          </p:cNvSpPr>
          <p:nvPr>
            <p:ph type="title"/>
          </p:nvPr>
        </p:nvSpPr>
        <p:spPr>
          <a:xfrm>
            <a:off x="838200" y="365126"/>
            <a:ext cx="10515600" cy="449521"/>
          </a:xfrm>
        </p:spPr>
        <p:txBody>
          <a:bodyPr>
            <a:normAutofit fontScale="90000"/>
          </a:bodyPr>
          <a:lstStyle/>
          <a:p>
            <a:r>
              <a:rPr lang="es-CR" dirty="0"/>
              <a:t>Regresión de Cox</a:t>
            </a:r>
            <a:endParaRPr lang="en-US" dirty="0"/>
          </a:p>
        </p:txBody>
      </p:sp>
      <p:sp>
        <p:nvSpPr>
          <p:cNvPr id="3" name="Marcador de contenido 2">
            <a:extLst>
              <a:ext uri="{FF2B5EF4-FFF2-40B4-BE49-F238E27FC236}">
                <a16:creationId xmlns:a16="http://schemas.microsoft.com/office/drawing/2014/main" id="{47230439-E273-B82F-8F08-94C68C91B4A7}"/>
              </a:ext>
            </a:extLst>
          </p:cNvPr>
          <p:cNvSpPr>
            <a:spLocks noGrp="1"/>
          </p:cNvSpPr>
          <p:nvPr>
            <p:ph idx="1"/>
          </p:nvPr>
        </p:nvSpPr>
        <p:spPr>
          <a:xfrm>
            <a:off x="182880" y="1180408"/>
            <a:ext cx="11837324" cy="5425344"/>
          </a:xfrm>
        </p:spPr>
        <p:txBody>
          <a:bodyPr>
            <a:normAutofit/>
          </a:bodyPr>
          <a:lstStyle/>
          <a:p>
            <a:r>
              <a:rPr lang="es-CR" dirty="0"/>
              <a:t>Sin embargo, en la regresión de Cox no se usa la función de verosimilitud, sino una función de verosimilitud parcial.</a:t>
            </a:r>
          </a:p>
          <a:p>
            <a:endParaRPr lang="es-ES" dirty="0"/>
          </a:p>
          <a:p>
            <a:r>
              <a:rPr lang="es-ES" dirty="0"/>
              <a:t>Suponga ahora que Z(j) es el vector de covariables para el sujeto que experimentó el evento en el tiempo j-</a:t>
            </a:r>
            <a:r>
              <a:rPr lang="es-ES" dirty="0" err="1"/>
              <a:t>ésimo</a:t>
            </a:r>
            <a:r>
              <a:rPr lang="es-ES" dirty="0"/>
              <a:t> t(j).  La probabilidad de que el paciente experimente el evento en el tiempo t(j) dado que el paciente sigue expuesto al riesgo sería:</a:t>
            </a:r>
          </a:p>
          <a:p>
            <a:pPr lvl="8"/>
            <a:endParaRPr lang="es-ES" sz="2600" dirty="0"/>
          </a:p>
          <a:p>
            <a:pPr lvl="8"/>
            <a:r>
              <a:rPr lang="es-ES" sz="2600" dirty="0"/>
              <a:t>h(t(j) | Z(j)) = h</a:t>
            </a:r>
            <a:r>
              <a:rPr lang="es-ES" sz="2600" baseline="-25000" dirty="0"/>
              <a:t>0</a:t>
            </a:r>
            <a:r>
              <a:rPr lang="es-ES" sz="2600" dirty="0"/>
              <a:t>(t(j))  * </a:t>
            </a:r>
            <a:r>
              <a:rPr lang="es-ES" sz="2600" dirty="0" err="1"/>
              <a:t>exp</a:t>
            </a:r>
            <a:r>
              <a:rPr lang="es-ES" sz="2600" dirty="0"/>
              <a:t>(</a:t>
            </a:r>
            <a:r>
              <a:rPr lang="es-ES" sz="2600" dirty="0">
                <a:sym typeface="Symbol" panose="05050102010706020507" pitchFamily="18" charset="2"/>
              </a:rPr>
              <a:t></a:t>
            </a:r>
            <a:r>
              <a:rPr lang="es-ES" sz="2600" dirty="0"/>
              <a:t>’Z(j))</a:t>
            </a:r>
          </a:p>
          <a:p>
            <a:endParaRPr lang="es-CR" dirty="0"/>
          </a:p>
        </p:txBody>
      </p:sp>
    </p:spTree>
    <p:extLst>
      <p:ext uri="{BB962C8B-B14F-4D97-AF65-F5344CB8AC3E}">
        <p14:creationId xmlns:p14="http://schemas.microsoft.com/office/powerpoint/2010/main" val="8690145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0F082B-FC96-742F-6508-AB9CA7C49A7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85F1F04-D765-9B57-9691-8F21ED3D5257}"/>
              </a:ext>
            </a:extLst>
          </p:cNvPr>
          <p:cNvSpPr>
            <a:spLocks noGrp="1"/>
          </p:cNvSpPr>
          <p:nvPr>
            <p:ph type="title"/>
          </p:nvPr>
        </p:nvSpPr>
        <p:spPr>
          <a:xfrm>
            <a:off x="838200" y="365126"/>
            <a:ext cx="10515600" cy="449521"/>
          </a:xfrm>
        </p:spPr>
        <p:txBody>
          <a:bodyPr>
            <a:normAutofit fontScale="90000"/>
          </a:bodyPr>
          <a:lstStyle/>
          <a:p>
            <a:r>
              <a:rPr lang="es-CR" dirty="0"/>
              <a:t>Regresión de Cox</a:t>
            </a:r>
            <a:endParaRPr lang="en-US" dirty="0"/>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189C6F81-6A6D-9BFE-8E41-4C304E29EB6D}"/>
                  </a:ext>
                </a:extLst>
              </p:cNvPr>
              <p:cNvSpPr>
                <a:spLocks noGrp="1"/>
              </p:cNvSpPr>
              <p:nvPr>
                <p:ph idx="1"/>
              </p:nvPr>
            </p:nvSpPr>
            <p:spPr>
              <a:xfrm>
                <a:off x="182880" y="1180408"/>
                <a:ext cx="11837324" cy="5425344"/>
              </a:xfrm>
            </p:spPr>
            <p:txBody>
              <a:bodyPr>
                <a:normAutofit/>
              </a:bodyPr>
              <a:lstStyle/>
              <a:p>
                <a:pPr indent="-4572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r"/>
                  </a:tabLst>
                </a:pPr>
                <a:r>
                  <a:rPr lang="pt-BR" dirty="0">
                    <a:effectLst/>
                    <a:latin typeface="Aptos (cuerpo)"/>
                    <a:ea typeface="Times New Roman" panose="02020603050405020304" pitchFamily="18" charset="0"/>
                  </a:rPr>
                  <a:t>Sea </a:t>
                </a:r>
                <a:r>
                  <a:rPr lang="pt-BR" dirty="0" err="1">
                    <a:effectLst/>
                    <a:latin typeface="Aptos (cuerpo)"/>
                    <a:ea typeface="Times New Roman" panose="02020603050405020304" pitchFamily="18" charset="0"/>
                  </a:rPr>
                  <a:t>además</a:t>
                </a:r>
                <a:r>
                  <a:rPr lang="pt-BR" dirty="0">
                    <a:effectLst/>
                    <a:latin typeface="Aptos (cuerpo)"/>
                    <a:ea typeface="Times New Roman" panose="02020603050405020304" pitchFamily="18" charset="0"/>
                  </a:rPr>
                  <a:t> R</a:t>
                </a:r>
                <a:r>
                  <a:rPr lang="es-CR" dirty="0">
                    <a:effectLst/>
                    <a:latin typeface="Aptos (cuerpo)"/>
                    <a:ea typeface="Times New Roman" panose="02020603050405020304" pitchFamily="18" charset="0"/>
                  </a:rPr>
                  <a:t>[</a:t>
                </a:r>
                <a:r>
                  <a:rPr lang="pt-BR" dirty="0">
                    <a:effectLst/>
                    <a:latin typeface="Aptos (cuerpo)"/>
                    <a:ea typeface="Times New Roman" panose="02020603050405020304" pitchFamily="18" charset="0"/>
                  </a:rPr>
                  <a:t>t</a:t>
                </a:r>
                <a:r>
                  <a:rPr lang="pt-BR" baseline="-25000" dirty="0">
                    <a:effectLst/>
                    <a:latin typeface="Aptos (cuerpo)"/>
                    <a:ea typeface="Times New Roman" panose="02020603050405020304" pitchFamily="18" charset="0"/>
                  </a:rPr>
                  <a:t>(j)</a:t>
                </a:r>
                <a:r>
                  <a:rPr lang="pt-BR" dirty="0">
                    <a:effectLst/>
                    <a:latin typeface="Aptos (cuerpo)"/>
                    <a:ea typeface="Times New Roman" panose="02020603050405020304" pitchFamily="18" charset="0"/>
                  </a:rPr>
                  <a:t>] </a:t>
                </a:r>
                <a:r>
                  <a:rPr lang="pt-BR" dirty="0" err="1">
                    <a:effectLst/>
                    <a:latin typeface="Aptos (cuerpo)"/>
                    <a:ea typeface="Times New Roman" panose="02020603050405020304" pitchFamily="18" charset="0"/>
                  </a:rPr>
                  <a:t>el</a:t>
                </a:r>
                <a:r>
                  <a:rPr lang="pt-BR" dirty="0">
                    <a:effectLst/>
                    <a:latin typeface="Aptos (cuerpo)"/>
                    <a:ea typeface="Times New Roman" panose="02020603050405020304" pitchFamily="18" charset="0"/>
                  </a:rPr>
                  <a:t> conjunto de </a:t>
                </a:r>
                <a:r>
                  <a:rPr lang="pt-BR" dirty="0" err="1">
                    <a:effectLst/>
                    <a:latin typeface="Aptos (cuerpo)"/>
                    <a:ea typeface="Times New Roman" panose="02020603050405020304" pitchFamily="18" charset="0"/>
                  </a:rPr>
                  <a:t>sujetos</a:t>
                </a:r>
                <a:r>
                  <a:rPr lang="pt-BR" dirty="0">
                    <a:effectLst/>
                    <a:latin typeface="Aptos (cuerpo)"/>
                    <a:ea typeface="Times New Roman" panose="02020603050405020304" pitchFamily="18" charset="0"/>
                  </a:rPr>
                  <a:t> </a:t>
                </a:r>
                <a:r>
                  <a:rPr lang="pt-BR" dirty="0" err="1">
                    <a:effectLst/>
                    <a:latin typeface="Aptos (cuerpo)"/>
                    <a:ea typeface="Times New Roman" panose="02020603050405020304" pitchFamily="18" charset="0"/>
                  </a:rPr>
                  <a:t>expuestos</a:t>
                </a:r>
                <a:r>
                  <a:rPr lang="pt-BR" dirty="0">
                    <a:effectLst/>
                    <a:latin typeface="Aptos (cuerpo)"/>
                    <a:ea typeface="Times New Roman" panose="02020603050405020304" pitchFamily="18" charset="0"/>
                  </a:rPr>
                  <a:t> al </a:t>
                </a:r>
                <a:r>
                  <a:rPr lang="es-CR" dirty="0">
                    <a:effectLst/>
                    <a:latin typeface="Aptos (cuerpo)"/>
                    <a:ea typeface="Times New Roman" panose="02020603050405020304" pitchFamily="18" charset="0"/>
                  </a:rPr>
                  <a:t>riesgo, o sea, todos los tiempos m tales que </a:t>
                </a:r>
                <a:r>
                  <a:rPr lang="es-CR" dirty="0" err="1">
                    <a:effectLst/>
                    <a:latin typeface="Aptos (cuerpo)"/>
                    <a:ea typeface="Times New Roman" panose="02020603050405020304" pitchFamily="18" charset="0"/>
                  </a:rPr>
                  <a:t>t</a:t>
                </a:r>
                <a:r>
                  <a:rPr lang="es-CR" baseline="-25000" dirty="0" err="1">
                    <a:effectLst/>
                    <a:latin typeface="Aptos (cuerpo)"/>
                    <a:ea typeface="Times New Roman" panose="02020603050405020304" pitchFamily="18" charset="0"/>
                  </a:rPr>
                  <a:t>m</a:t>
                </a:r>
                <a:r>
                  <a:rPr lang="es-CR" dirty="0" err="1">
                    <a:effectLst/>
                    <a:latin typeface="Aptos (cuerpo)"/>
                    <a:ea typeface="Times New Roman" panose="02020603050405020304" pitchFamily="18" charset="0"/>
                    <a:sym typeface="Symbol" panose="05050102010706020507" pitchFamily="18" charset="2"/>
                  </a:rPr>
                  <a:t></a:t>
                </a:r>
                <a:r>
                  <a:rPr lang="es-CR" dirty="0" err="1">
                    <a:effectLst/>
                    <a:latin typeface="Aptos (cuerpo)"/>
                    <a:ea typeface="Times New Roman" panose="02020603050405020304" pitchFamily="18" charset="0"/>
                  </a:rPr>
                  <a:t>t</a:t>
                </a:r>
                <a:r>
                  <a:rPr lang="es-CR" baseline="-25000" dirty="0">
                    <a:effectLst/>
                    <a:latin typeface="Aptos (cuerpo)"/>
                    <a:ea typeface="Times New Roman" panose="02020603050405020304" pitchFamily="18" charset="0"/>
                  </a:rPr>
                  <a:t>(j)</a:t>
                </a:r>
                <a:r>
                  <a:rPr lang="es-CR" dirty="0">
                    <a:effectLst/>
                    <a:latin typeface="Aptos (cuerpo)"/>
                    <a:ea typeface="Times New Roman" panose="02020603050405020304" pitchFamily="18" charset="0"/>
                  </a:rPr>
                  <a:t>. Entonces, la probabilidad de que un evento ocurra en el momento t(j) entre todos los sujetos expuestos al riesgo sería:</a:t>
                </a:r>
                <a:endParaRPr lang="en-US" dirty="0">
                  <a:effectLst/>
                  <a:latin typeface="Aptos (cuerpo)"/>
                  <a:ea typeface="Times New Roman" panose="02020603050405020304" pitchFamily="18" charset="0"/>
                </a:endParaRPr>
              </a:p>
              <a:p>
                <a:pPr marL="0" marR="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r"/>
                  </a:tabLst>
                </a:pPr>
                <a:r>
                  <a:rPr lang="es-CR" dirty="0">
                    <a:effectLst/>
                    <a:latin typeface="Aptos (cuerpo)"/>
                    <a:ea typeface="Times New Roman" panose="02020603050405020304" pitchFamily="18" charset="0"/>
                  </a:rPr>
                  <a:t> </a:t>
                </a:r>
                <a:endParaRPr lang="en-US" dirty="0">
                  <a:effectLst/>
                  <a:latin typeface="Aptos (cuerpo)"/>
                  <a:ea typeface="Times New Roman" panose="02020603050405020304" pitchFamily="18" charset="0"/>
                </a:endParaRPr>
              </a:p>
              <a:p>
                <a:pPr marL="0" marR="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r"/>
                  </a:tabLst>
                </a:pPr>
                <a14:m>
                  <m:oMathPara xmlns:m="http://schemas.openxmlformats.org/officeDocument/2006/math">
                    <m:oMathParaPr>
                      <m:jc m:val="centerGroup"/>
                    </m:oMathParaPr>
                    <m:oMath xmlns:m="http://schemas.openxmlformats.org/officeDocument/2006/math">
                      <m:nary>
                        <m:naryPr>
                          <m:chr m:val="∑"/>
                          <m:limLoc m:val="undOvr"/>
                          <m:supHide m:val="on"/>
                          <m:ctrlPr>
                            <a:rPr lang="en-US" i="1">
                              <a:effectLst/>
                              <a:latin typeface="Cambria Math" panose="02040503050406030204" pitchFamily="18" charset="0"/>
                              <a:ea typeface="Times New Roman" panose="02020603050405020304" pitchFamily="18" charset="0"/>
                            </a:rPr>
                          </m:ctrlPr>
                        </m:naryPr>
                        <m:sub>
                          <m:r>
                            <a:rPr lang="es-CR" i="1">
                              <a:effectLst/>
                              <a:latin typeface="Cambria Math" panose="02040503050406030204" pitchFamily="18" charset="0"/>
                              <a:ea typeface="Times New Roman" panose="02020603050405020304" pitchFamily="18" charset="0"/>
                            </a:rPr>
                            <m:t>𝑚</m:t>
                          </m:r>
                          <m:r>
                            <a:rPr lang="es-CR" i="1">
                              <a:effectLst/>
                              <a:latin typeface="Cambria Math" panose="02040503050406030204" pitchFamily="18" charset="0"/>
                              <a:ea typeface="Times New Roman" panose="02020603050405020304" pitchFamily="18" charset="0"/>
                            </a:rPr>
                            <m:t>∈</m:t>
                          </m:r>
                          <m:r>
                            <a:rPr lang="es-CR" i="1">
                              <a:effectLst/>
                              <a:latin typeface="Cambria Math" panose="02040503050406030204" pitchFamily="18" charset="0"/>
                              <a:ea typeface="Times New Roman" panose="02020603050405020304" pitchFamily="18" charset="0"/>
                            </a:rPr>
                            <m:t>𝑅</m:t>
                          </m:r>
                          <m:d>
                            <m:dPr>
                              <m:begChr m:val="["/>
                              <m:endChr m:val="]"/>
                              <m:ctrlPr>
                                <a:rPr lang="en-US" i="1">
                                  <a:effectLst/>
                                  <a:latin typeface="Cambria Math" panose="02040503050406030204" pitchFamily="18" charset="0"/>
                                  <a:ea typeface="Times New Roman" panose="02020603050405020304" pitchFamily="18" charset="0"/>
                                </a:rPr>
                              </m:ctrlPr>
                            </m:dPr>
                            <m:e>
                              <m:sSub>
                                <m:sSubPr>
                                  <m:ctrlPr>
                                    <a:rPr lang="en-US" i="1">
                                      <a:effectLst/>
                                      <a:latin typeface="Cambria Math" panose="02040503050406030204" pitchFamily="18" charset="0"/>
                                      <a:ea typeface="Times New Roman" panose="02020603050405020304" pitchFamily="18" charset="0"/>
                                    </a:rPr>
                                  </m:ctrlPr>
                                </m:sSubPr>
                                <m:e>
                                  <m:r>
                                    <a:rPr lang="es-CR" i="1">
                                      <a:effectLst/>
                                      <a:latin typeface="Cambria Math" panose="02040503050406030204" pitchFamily="18" charset="0"/>
                                      <a:ea typeface="Times New Roman" panose="02020603050405020304" pitchFamily="18" charset="0"/>
                                    </a:rPr>
                                    <m:t>𝑡</m:t>
                                  </m:r>
                                </m:e>
                                <m:sub>
                                  <m:r>
                                    <a:rPr lang="es-CR" i="1">
                                      <a:effectLst/>
                                      <a:latin typeface="Cambria Math" panose="02040503050406030204" pitchFamily="18" charset="0"/>
                                      <a:ea typeface="Times New Roman" panose="02020603050405020304" pitchFamily="18" charset="0"/>
                                    </a:rPr>
                                    <m:t>(</m:t>
                                  </m:r>
                                  <m:r>
                                    <a:rPr lang="es-CR" i="1">
                                      <a:effectLst/>
                                      <a:latin typeface="Cambria Math" panose="02040503050406030204" pitchFamily="18" charset="0"/>
                                      <a:ea typeface="Times New Roman" panose="02020603050405020304" pitchFamily="18" charset="0"/>
                                    </a:rPr>
                                    <m:t>𝑗</m:t>
                                  </m:r>
                                  <m:r>
                                    <a:rPr lang="es-CR" i="1">
                                      <a:effectLst/>
                                      <a:latin typeface="Cambria Math" panose="02040503050406030204" pitchFamily="18" charset="0"/>
                                      <a:ea typeface="Times New Roman" panose="02020603050405020304" pitchFamily="18" charset="0"/>
                                    </a:rPr>
                                    <m:t>)</m:t>
                                  </m:r>
                                </m:sub>
                              </m:sSub>
                            </m:e>
                          </m:d>
                        </m:sub>
                        <m:sup/>
                        <m:e>
                          <m:r>
                            <a:rPr lang="es-CR" i="1">
                              <a:effectLst/>
                              <a:latin typeface="Cambria Math" panose="02040503050406030204" pitchFamily="18" charset="0"/>
                              <a:ea typeface="Times New Roman" panose="02020603050405020304" pitchFamily="18" charset="0"/>
                            </a:rPr>
                            <m:t>h</m:t>
                          </m:r>
                          <m:d>
                            <m:dPr>
                              <m:ctrlPr>
                                <a:rPr lang="en-US" i="1">
                                  <a:effectLst/>
                                  <a:latin typeface="Cambria Math" panose="02040503050406030204" pitchFamily="18" charset="0"/>
                                  <a:ea typeface="Times New Roman" panose="02020603050405020304" pitchFamily="18" charset="0"/>
                                </a:rPr>
                              </m:ctrlPr>
                            </m:dPr>
                            <m:e>
                              <m:sSub>
                                <m:sSubPr>
                                  <m:ctrlPr>
                                    <a:rPr lang="en-US" i="1">
                                      <a:effectLst/>
                                      <a:latin typeface="Cambria Math" panose="02040503050406030204" pitchFamily="18" charset="0"/>
                                      <a:ea typeface="Times New Roman" panose="02020603050405020304" pitchFamily="18" charset="0"/>
                                    </a:rPr>
                                  </m:ctrlPr>
                                </m:sSubPr>
                                <m:e>
                                  <m:r>
                                    <a:rPr lang="es-CR" i="1">
                                      <a:effectLst/>
                                      <a:latin typeface="Cambria Math" panose="02040503050406030204" pitchFamily="18" charset="0"/>
                                      <a:ea typeface="Times New Roman" panose="02020603050405020304" pitchFamily="18" charset="0"/>
                                    </a:rPr>
                                    <m:t>𝑡</m:t>
                                  </m:r>
                                </m:e>
                                <m:sub>
                                  <m:r>
                                    <a:rPr lang="es-CR" i="1">
                                      <a:effectLst/>
                                      <a:latin typeface="Cambria Math" panose="02040503050406030204" pitchFamily="18" charset="0"/>
                                      <a:ea typeface="Times New Roman" panose="02020603050405020304" pitchFamily="18" charset="0"/>
                                    </a:rPr>
                                    <m:t>(</m:t>
                                  </m:r>
                                  <m:r>
                                    <a:rPr lang="es-CR" i="1">
                                      <a:effectLst/>
                                      <a:latin typeface="Cambria Math" panose="02040503050406030204" pitchFamily="18" charset="0"/>
                                      <a:ea typeface="Times New Roman" panose="02020603050405020304" pitchFamily="18" charset="0"/>
                                    </a:rPr>
                                    <m:t>𝑗</m:t>
                                  </m:r>
                                  <m:r>
                                    <a:rPr lang="es-CR" i="1">
                                      <a:effectLst/>
                                      <a:latin typeface="Cambria Math" panose="02040503050406030204" pitchFamily="18" charset="0"/>
                                      <a:ea typeface="Times New Roman" panose="02020603050405020304" pitchFamily="18" charset="0"/>
                                    </a:rPr>
                                    <m:t>)</m:t>
                                  </m:r>
                                </m:sub>
                              </m:sSub>
                              <m:r>
                                <a:rPr lang="en-US" i="1">
                                  <a:effectLst/>
                                  <a:latin typeface="Cambria Math" panose="02040503050406030204" pitchFamily="18" charset="0"/>
                                  <a:ea typeface="Times New Roman" panose="02020603050405020304" pitchFamily="18" charset="0"/>
                                </a:rPr>
                                <m:t>|</m:t>
                              </m:r>
                              <m:sSub>
                                <m:sSubPr>
                                  <m:ctrlPr>
                                    <a:rPr lang="en-US" i="1">
                                      <a:effectLst/>
                                      <a:latin typeface="Cambria Math" panose="02040503050406030204" pitchFamily="18" charset="0"/>
                                      <a:ea typeface="Times New Roman" panose="02020603050405020304" pitchFamily="18" charset="0"/>
                                    </a:rPr>
                                  </m:ctrlPr>
                                </m:sSubPr>
                                <m:e>
                                  <m:r>
                                    <a:rPr lang="en-US" i="1">
                                      <a:effectLst/>
                                      <a:latin typeface="Cambria Math" panose="02040503050406030204" pitchFamily="18" charset="0"/>
                                      <a:ea typeface="Times New Roman" panose="02020603050405020304" pitchFamily="18" charset="0"/>
                                    </a:rPr>
                                    <m:t>𝑍</m:t>
                                  </m:r>
                                </m:e>
                                <m:sub>
                                  <m:r>
                                    <a:rPr lang="en-US" i="1">
                                      <a:effectLst/>
                                      <a:latin typeface="Cambria Math" panose="02040503050406030204" pitchFamily="18" charset="0"/>
                                      <a:ea typeface="Times New Roman" panose="02020603050405020304" pitchFamily="18" charset="0"/>
                                    </a:rPr>
                                    <m:t>𝑚</m:t>
                                  </m:r>
                                </m:sub>
                              </m:sSub>
                            </m:e>
                          </m:d>
                        </m:e>
                      </m:nary>
                      <m:r>
                        <a:rPr lang="es-CR" i="1">
                          <a:effectLst/>
                          <a:latin typeface="Cambria Math" panose="02040503050406030204" pitchFamily="18" charset="0"/>
                          <a:ea typeface="Times New Roman" panose="02020603050405020304" pitchFamily="18" charset="0"/>
                        </a:rPr>
                        <m:t>=</m:t>
                      </m:r>
                      <m:nary>
                        <m:naryPr>
                          <m:chr m:val="∑"/>
                          <m:limLoc m:val="undOvr"/>
                          <m:supHide m:val="on"/>
                          <m:ctrlPr>
                            <a:rPr lang="en-US" i="1">
                              <a:effectLst/>
                              <a:latin typeface="Cambria Math" panose="02040503050406030204" pitchFamily="18" charset="0"/>
                              <a:ea typeface="Times New Roman" panose="02020603050405020304" pitchFamily="18" charset="0"/>
                            </a:rPr>
                          </m:ctrlPr>
                        </m:naryPr>
                        <m:sub>
                          <m:r>
                            <a:rPr lang="es-CR" i="1">
                              <a:effectLst/>
                              <a:latin typeface="Cambria Math" panose="02040503050406030204" pitchFamily="18" charset="0"/>
                              <a:ea typeface="Times New Roman" panose="02020603050405020304" pitchFamily="18" charset="0"/>
                            </a:rPr>
                            <m:t>𝑚</m:t>
                          </m:r>
                          <m:r>
                            <a:rPr lang="es-CR" i="1">
                              <a:effectLst/>
                              <a:latin typeface="Cambria Math" panose="02040503050406030204" pitchFamily="18" charset="0"/>
                              <a:ea typeface="Times New Roman" panose="02020603050405020304" pitchFamily="18" charset="0"/>
                            </a:rPr>
                            <m:t>∈</m:t>
                          </m:r>
                          <m:r>
                            <a:rPr lang="es-CR" i="1">
                              <a:effectLst/>
                              <a:latin typeface="Cambria Math" panose="02040503050406030204" pitchFamily="18" charset="0"/>
                              <a:ea typeface="Times New Roman" panose="02020603050405020304" pitchFamily="18" charset="0"/>
                            </a:rPr>
                            <m:t>𝑅</m:t>
                          </m:r>
                          <m:d>
                            <m:dPr>
                              <m:begChr m:val="["/>
                              <m:endChr m:val="]"/>
                              <m:ctrlPr>
                                <a:rPr lang="en-US" i="1">
                                  <a:effectLst/>
                                  <a:latin typeface="Cambria Math" panose="02040503050406030204" pitchFamily="18" charset="0"/>
                                  <a:ea typeface="Times New Roman" panose="02020603050405020304" pitchFamily="18" charset="0"/>
                                </a:rPr>
                              </m:ctrlPr>
                            </m:dPr>
                            <m:e>
                              <m:sSub>
                                <m:sSubPr>
                                  <m:ctrlPr>
                                    <a:rPr lang="en-US" i="1">
                                      <a:effectLst/>
                                      <a:latin typeface="Cambria Math" panose="02040503050406030204" pitchFamily="18" charset="0"/>
                                      <a:ea typeface="Times New Roman" panose="02020603050405020304" pitchFamily="18" charset="0"/>
                                    </a:rPr>
                                  </m:ctrlPr>
                                </m:sSubPr>
                                <m:e>
                                  <m:r>
                                    <a:rPr lang="es-CR" i="1">
                                      <a:effectLst/>
                                      <a:latin typeface="Cambria Math" panose="02040503050406030204" pitchFamily="18" charset="0"/>
                                      <a:ea typeface="Times New Roman" panose="02020603050405020304" pitchFamily="18" charset="0"/>
                                    </a:rPr>
                                    <m:t>𝑡</m:t>
                                  </m:r>
                                </m:e>
                                <m:sub>
                                  <m:r>
                                    <a:rPr lang="es-CR" i="1">
                                      <a:effectLst/>
                                      <a:latin typeface="Cambria Math" panose="02040503050406030204" pitchFamily="18" charset="0"/>
                                      <a:ea typeface="Times New Roman" panose="02020603050405020304" pitchFamily="18" charset="0"/>
                                    </a:rPr>
                                    <m:t>(</m:t>
                                  </m:r>
                                  <m:r>
                                    <a:rPr lang="es-CR" i="1">
                                      <a:effectLst/>
                                      <a:latin typeface="Cambria Math" panose="02040503050406030204" pitchFamily="18" charset="0"/>
                                      <a:ea typeface="Times New Roman" panose="02020603050405020304" pitchFamily="18" charset="0"/>
                                    </a:rPr>
                                    <m:t>𝑗</m:t>
                                  </m:r>
                                  <m:r>
                                    <a:rPr lang="es-CR" i="1">
                                      <a:effectLst/>
                                      <a:latin typeface="Cambria Math" panose="02040503050406030204" pitchFamily="18" charset="0"/>
                                      <a:ea typeface="Times New Roman" panose="02020603050405020304" pitchFamily="18" charset="0"/>
                                    </a:rPr>
                                    <m:t>)</m:t>
                                  </m:r>
                                </m:sub>
                              </m:sSub>
                            </m:e>
                          </m:d>
                        </m:sub>
                        <m:sup/>
                        <m:e>
                          <m:sSub>
                            <m:sSubPr>
                              <m:ctrlPr>
                                <a:rPr lang="en-US" i="1">
                                  <a:effectLst/>
                                  <a:latin typeface="Cambria Math" panose="02040503050406030204" pitchFamily="18" charset="0"/>
                                  <a:ea typeface="Times New Roman" panose="02020603050405020304" pitchFamily="18" charset="0"/>
                                </a:rPr>
                              </m:ctrlPr>
                            </m:sSubPr>
                            <m:e>
                              <m:r>
                                <a:rPr lang="es-CR" i="1">
                                  <a:effectLst/>
                                  <a:latin typeface="Cambria Math" panose="02040503050406030204" pitchFamily="18" charset="0"/>
                                  <a:ea typeface="Times New Roman" panose="02020603050405020304" pitchFamily="18" charset="0"/>
                                </a:rPr>
                                <m:t>h</m:t>
                              </m:r>
                            </m:e>
                            <m:sub>
                              <m:r>
                                <a:rPr lang="es-CR" i="1">
                                  <a:effectLst/>
                                  <a:latin typeface="Cambria Math" panose="02040503050406030204" pitchFamily="18" charset="0"/>
                                  <a:ea typeface="Times New Roman" panose="02020603050405020304" pitchFamily="18" charset="0"/>
                                </a:rPr>
                                <m:t>0</m:t>
                              </m:r>
                            </m:sub>
                          </m:sSub>
                          <m:d>
                            <m:dPr>
                              <m:ctrlPr>
                                <a:rPr lang="en-US" i="1">
                                  <a:effectLst/>
                                  <a:latin typeface="Cambria Math" panose="02040503050406030204" pitchFamily="18" charset="0"/>
                                  <a:ea typeface="Times New Roman" panose="02020603050405020304" pitchFamily="18" charset="0"/>
                                </a:rPr>
                              </m:ctrlPr>
                            </m:dPr>
                            <m:e>
                              <m:sSub>
                                <m:sSubPr>
                                  <m:ctrlPr>
                                    <a:rPr lang="en-US" i="1">
                                      <a:effectLst/>
                                      <a:latin typeface="Cambria Math" panose="02040503050406030204" pitchFamily="18" charset="0"/>
                                      <a:ea typeface="Times New Roman" panose="02020603050405020304" pitchFamily="18" charset="0"/>
                                    </a:rPr>
                                  </m:ctrlPr>
                                </m:sSubPr>
                                <m:e>
                                  <m:r>
                                    <a:rPr lang="es-CR" i="1">
                                      <a:effectLst/>
                                      <a:latin typeface="Cambria Math" panose="02040503050406030204" pitchFamily="18" charset="0"/>
                                      <a:ea typeface="Times New Roman" panose="02020603050405020304" pitchFamily="18" charset="0"/>
                                    </a:rPr>
                                    <m:t>𝑡</m:t>
                                  </m:r>
                                </m:e>
                                <m:sub>
                                  <m:r>
                                    <a:rPr lang="es-CR" i="1">
                                      <a:effectLst/>
                                      <a:latin typeface="Cambria Math" panose="02040503050406030204" pitchFamily="18" charset="0"/>
                                      <a:ea typeface="Times New Roman" panose="02020603050405020304" pitchFamily="18" charset="0"/>
                                    </a:rPr>
                                    <m:t>(</m:t>
                                  </m:r>
                                  <m:r>
                                    <a:rPr lang="es-CR" i="1">
                                      <a:effectLst/>
                                      <a:latin typeface="Cambria Math" panose="02040503050406030204" pitchFamily="18" charset="0"/>
                                      <a:ea typeface="Times New Roman" panose="02020603050405020304" pitchFamily="18" charset="0"/>
                                    </a:rPr>
                                    <m:t>𝑗</m:t>
                                  </m:r>
                                  <m:r>
                                    <a:rPr lang="es-CR" i="1">
                                      <a:effectLst/>
                                      <a:latin typeface="Cambria Math" panose="02040503050406030204" pitchFamily="18" charset="0"/>
                                      <a:ea typeface="Times New Roman" panose="02020603050405020304" pitchFamily="18" charset="0"/>
                                    </a:rPr>
                                    <m:t>)</m:t>
                                  </m:r>
                                </m:sub>
                              </m:sSub>
                            </m:e>
                          </m:d>
                          <m:r>
                            <a:rPr lang="es-CR" i="1">
                              <a:effectLst/>
                              <a:latin typeface="Cambria Math" panose="02040503050406030204" pitchFamily="18" charset="0"/>
                              <a:ea typeface="Times New Roman" panose="02020603050405020304" pitchFamily="18" charset="0"/>
                            </a:rPr>
                            <m:t>∗</m:t>
                          </m:r>
                          <m:r>
                            <m:rPr>
                              <m:sty m:val="p"/>
                            </m:rPr>
                            <a:rPr lang="es-CR">
                              <a:effectLst/>
                              <a:latin typeface="Cambria Math" panose="02040503050406030204" pitchFamily="18" charset="0"/>
                              <a:ea typeface="Times New Roman" panose="02020603050405020304" pitchFamily="18" charset="0"/>
                            </a:rPr>
                            <m:t>exp</m:t>
                          </m:r>
                          <m:r>
                            <a:rPr lang="es-CR" i="1" smtClean="0">
                              <a:effectLst/>
                              <a:latin typeface="Cambria Math" panose="02040503050406030204" pitchFamily="18" charset="0"/>
                              <a:ea typeface="Times New Roman" panose="02020603050405020304" pitchFamily="18" charset="0"/>
                            </a:rPr>
                            <m:t> </m:t>
                          </m:r>
                          <m:r>
                            <a:rPr lang="es-CR" i="1">
                              <a:effectLst/>
                              <a:latin typeface="Cambria Math" panose="02040503050406030204" pitchFamily="18" charset="0"/>
                              <a:ea typeface="Times New Roman" panose="02020603050405020304" pitchFamily="18" charset="0"/>
                            </a:rPr>
                            <m:t>(</m:t>
                          </m:r>
                          <m:r>
                            <a:rPr lang="es-CR" i="1">
                              <a:effectLst/>
                              <a:latin typeface="Cambria Math" panose="02040503050406030204" pitchFamily="18" charset="0"/>
                              <a:ea typeface="Times New Roman" panose="02020603050405020304" pitchFamily="18" charset="0"/>
                            </a:rPr>
                            <m:t>𝛽</m:t>
                          </m:r>
                          <m:r>
                            <a:rPr lang="en-US" i="1">
                              <a:effectLst/>
                              <a:latin typeface="Cambria Math" panose="02040503050406030204" pitchFamily="18" charset="0"/>
                              <a:ea typeface="Times New Roman" panose="02020603050405020304" pitchFamily="18" charset="0"/>
                            </a:rPr>
                            <m:t>′</m:t>
                          </m:r>
                          <m:sSub>
                            <m:sSubPr>
                              <m:ctrlPr>
                                <a:rPr lang="en-US" i="1">
                                  <a:effectLst/>
                                  <a:latin typeface="Cambria Math" panose="02040503050406030204" pitchFamily="18" charset="0"/>
                                  <a:ea typeface="Times New Roman" panose="02020603050405020304" pitchFamily="18" charset="0"/>
                                </a:rPr>
                              </m:ctrlPr>
                            </m:sSubPr>
                            <m:e>
                              <m:r>
                                <a:rPr lang="es-CR" i="1">
                                  <a:effectLst/>
                                  <a:latin typeface="Cambria Math" panose="02040503050406030204" pitchFamily="18" charset="0"/>
                                  <a:ea typeface="Times New Roman" panose="02020603050405020304" pitchFamily="18" charset="0"/>
                                </a:rPr>
                                <m:t>𝑍</m:t>
                              </m:r>
                            </m:e>
                            <m:sub>
                              <m:r>
                                <a:rPr lang="es-CR" i="1">
                                  <a:effectLst/>
                                  <a:latin typeface="Cambria Math" panose="02040503050406030204" pitchFamily="18" charset="0"/>
                                  <a:ea typeface="Times New Roman" panose="02020603050405020304" pitchFamily="18" charset="0"/>
                                </a:rPr>
                                <m:t>𝑚</m:t>
                              </m:r>
                            </m:sub>
                          </m:sSub>
                          <m:r>
                            <a:rPr lang="es-CR" i="1">
                              <a:effectLst/>
                              <a:latin typeface="Cambria Math" panose="02040503050406030204" pitchFamily="18" charset="0"/>
                              <a:ea typeface="Times New Roman" panose="02020603050405020304" pitchFamily="18" charset="0"/>
                            </a:rPr>
                            <m:t>)</m:t>
                          </m:r>
                        </m:e>
                      </m:nary>
                    </m:oMath>
                  </m:oMathPara>
                </a14:m>
                <a:endParaRPr lang="en-US" dirty="0">
                  <a:effectLst/>
                  <a:latin typeface="Aptos (cuerpo)"/>
                  <a:ea typeface="Times New Roman" panose="02020603050405020304" pitchFamily="18" charset="0"/>
                </a:endParaRPr>
              </a:p>
              <a:p>
                <a:pPr marL="0" marR="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r"/>
                  </a:tabLst>
                </a:pPr>
                <a:r>
                  <a:rPr lang="es-CR" dirty="0">
                    <a:effectLst/>
                    <a:latin typeface="Aptos (cuerpo)"/>
                    <a:ea typeface="Times New Roman" panose="02020603050405020304" pitchFamily="18" charset="0"/>
                  </a:rPr>
                  <a:t> </a:t>
                </a:r>
                <a:endParaRPr lang="en-US" dirty="0">
                  <a:effectLst/>
                  <a:latin typeface="Aptos (cuerpo)"/>
                  <a:ea typeface="Times New Roman" panose="02020603050405020304" pitchFamily="18" charset="0"/>
                </a:endParaRPr>
              </a:p>
              <a:p>
                <a:pPr marL="0" marR="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r"/>
                  </a:tabLst>
                </a:pPr>
                <a:r>
                  <a:rPr lang="es-CR" dirty="0">
                    <a:effectLst/>
                    <a:latin typeface="Aptos (cuerpo)"/>
                    <a:ea typeface="Times New Roman" panose="02020603050405020304" pitchFamily="18" charset="0"/>
                  </a:rPr>
                  <a:t> </a:t>
                </a:r>
                <a:endParaRPr lang="en-US" dirty="0">
                  <a:effectLst/>
                  <a:latin typeface="Aptos (cuerpo)"/>
                  <a:ea typeface="Times New Roman" panose="02020603050405020304" pitchFamily="18" charset="0"/>
                </a:endParaRPr>
              </a:p>
              <a:p>
                <a:pPr marL="0" marR="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r"/>
                  </a:tabLst>
                </a:pPr>
                <a:r>
                  <a:rPr lang="es-CR" dirty="0">
                    <a:effectLst/>
                    <a:latin typeface="Aptos (cuerpo)"/>
                    <a:ea typeface="Times New Roman" panose="02020603050405020304" pitchFamily="18" charset="0"/>
                  </a:rPr>
                  <a:t>donde </a:t>
                </a:r>
                <a:r>
                  <a:rPr lang="es-CR" dirty="0" err="1">
                    <a:effectLst/>
                    <a:latin typeface="Aptos (cuerpo)"/>
                    <a:ea typeface="Times New Roman" panose="02020603050405020304" pitchFamily="18" charset="0"/>
                  </a:rPr>
                  <a:t>Z</a:t>
                </a:r>
                <a:r>
                  <a:rPr lang="es-CR" baseline="-25000" dirty="0" err="1">
                    <a:effectLst/>
                    <a:latin typeface="Aptos (cuerpo)"/>
                    <a:ea typeface="Times New Roman" panose="02020603050405020304" pitchFamily="18" charset="0"/>
                  </a:rPr>
                  <a:t>m</a:t>
                </a:r>
                <a:r>
                  <a:rPr lang="es-CR" dirty="0">
                    <a:effectLst/>
                    <a:latin typeface="Aptos (cuerpo)"/>
                    <a:ea typeface="Times New Roman" panose="02020603050405020304" pitchFamily="18" charset="0"/>
                  </a:rPr>
                  <a:t> es el valor de las covariables en los tiempos m.  </a:t>
                </a:r>
                <a:endParaRPr lang="en-US" dirty="0">
                  <a:effectLst/>
                  <a:latin typeface="Aptos (cuerpo)"/>
                  <a:ea typeface="Times New Roman" panose="02020603050405020304" pitchFamily="18" charset="0"/>
                </a:endParaRPr>
              </a:p>
              <a:p>
                <a:endParaRPr lang="es-CR" dirty="0"/>
              </a:p>
            </p:txBody>
          </p:sp>
        </mc:Choice>
        <mc:Fallback xmlns="">
          <p:sp>
            <p:nvSpPr>
              <p:cNvPr id="3" name="Marcador de contenido 2">
                <a:extLst>
                  <a:ext uri="{FF2B5EF4-FFF2-40B4-BE49-F238E27FC236}">
                    <a16:creationId xmlns:a16="http://schemas.microsoft.com/office/drawing/2014/main" id="{189C6F81-6A6D-9BFE-8E41-4C304E29EB6D}"/>
                  </a:ext>
                </a:extLst>
              </p:cNvPr>
              <p:cNvSpPr>
                <a:spLocks noGrp="1" noRot="1" noChangeAspect="1" noMove="1" noResize="1" noEditPoints="1" noAdjustHandles="1" noChangeArrowheads="1" noChangeShapeType="1" noTextEdit="1"/>
              </p:cNvSpPr>
              <p:nvPr>
                <p:ph idx="1"/>
              </p:nvPr>
            </p:nvSpPr>
            <p:spPr>
              <a:xfrm>
                <a:off x="182880" y="1180408"/>
                <a:ext cx="11837324" cy="5425344"/>
              </a:xfrm>
              <a:blipFill>
                <a:blip r:embed="rId2"/>
                <a:stretch>
                  <a:fillRect l="-927" t="-2022" r="-1493"/>
                </a:stretch>
              </a:blipFill>
            </p:spPr>
            <p:txBody>
              <a:bodyPr/>
              <a:lstStyle/>
              <a:p>
                <a:r>
                  <a:rPr lang="en-US">
                    <a:noFill/>
                  </a:rPr>
                  <a:t> </a:t>
                </a:r>
              </a:p>
            </p:txBody>
          </p:sp>
        </mc:Fallback>
      </mc:AlternateContent>
    </p:spTree>
    <p:extLst>
      <p:ext uri="{BB962C8B-B14F-4D97-AF65-F5344CB8AC3E}">
        <p14:creationId xmlns:p14="http://schemas.microsoft.com/office/powerpoint/2010/main" val="30826506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D854A5-BC3F-2BB7-F283-8137D6E04D2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3156E84-F8DD-12F5-DDAA-81DAC9F4D9AD}"/>
              </a:ext>
            </a:extLst>
          </p:cNvPr>
          <p:cNvSpPr>
            <a:spLocks noGrp="1"/>
          </p:cNvSpPr>
          <p:nvPr>
            <p:ph type="title"/>
          </p:nvPr>
        </p:nvSpPr>
        <p:spPr>
          <a:xfrm>
            <a:off x="838200" y="365126"/>
            <a:ext cx="10515600" cy="449521"/>
          </a:xfrm>
        </p:spPr>
        <p:txBody>
          <a:bodyPr>
            <a:normAutofit fontScale="90000"/>
          </a:bodyPr>
          <a:lstStyle/>
          <a:p>
            <a:r>
              <a:rPr lang="es-CR" dirty="0"/>
              <a:t>Regresión de Cox</a:t>
            </a:r>
            <a:endParaRPr lang="en-US" dirty="0"/>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151B9B8A-EC30-2ADB-9382-57F7CE0FDE0B}"/>
                  </a:ext>
                </a:extLst>
              </p:cNvPr>
              <p:cNvSpPr>
                <a:spLocks noGrp="1"/>
              </p:cNvSpPr>
              <p:nvPr>
                <p:ph idx="1"/>
              </p:nvPr>
            </p:nvSpPr>
            <p:spPr>
              <a:xfrm>
                <a:off x="182880" y="1180408"/>
                <a:ext cx="11837324" cy="5425344"/>
              </a:xfrm>
            </p:spPr>
            <p:txBody>
              <a:bodyPr>
                <a:normAutofit/>
              </a:bodyPr>
              <a:lstStyle/>
              <a:p>
                <a:pPr marL="57150" indent="-28575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r"/>
                  </a:tabLst>
                </a:pPr>
                <a:r>
                  <a:rPr lang="es-CR" dirty="0">
                    <a:effectLst/>
                    <a:latin typeface="Aptos (cuerpo)"/>
                    <a:ea typeface="Times New Roman" panose="02020603050405020304" pitchFamily="18" charset="0"/>
                  </a:rPr>
                  <a:t>Entonces, la probabilidad condicional de que un evento ocurra en el momento t</a:t>
                </a:r>
                <a:r>
                  <a:rPr lang="es-CR" baseline="-25000" dirty="0">
                    <a:effectLst/>
                    <a:latin typeface="Aptos (cuerpo)"/>
                    <a:ea typeface="Times New Roman" panose="02020603050405020304" pitchFamily="18" charset="0"/>
                  </a:rPr>
                  <a:t>(j)</a:t>
                </a:r>
                <a:r>
                  <a:rPr lang="es-CR" dirty="0">
                    <a:effectLst/>
                    <a:latin typeface="Aptos (cuerpo)"/>
                    <a:ea typeface="Times New Roman" panose="02020603050405020304" pitchFamily="18" charset="0"/>
                  </a:rPr>
                  <a:t> en un sujeto con vector de covariables Z</a:t>
                </a:r>
                <a:r>
                  <a:rPr lang="es-CR" baseline="-25000" dirty="0">
                    <a:effectLst/>
                    <a:latin typeface="Aptos (cuerpo)"/>
                    <a:ea typeface="Times New Roman" panose="02020603050405020304" pitchFamily="18" charset="0"/>
                  </a:rPr>
                  <a:t>(j)</a:t>
                </a:r>
                <a:r>
                  <a:rPr lang="es-CR" dirty="0">
                    <a:effectLst/>
                    <a:latin typeface="Aptos (cuerpo)"/>
                    <a:ea typeface="Times New Roman" panose="02020603050405020304" pitchFamily="18" charset="0"/>
                  </a:rPr>
                  <a:t> en ese momento t</a:t>
                </a:r>
                <a:r>
                  <a:rPr lang="es-CR" baseline="-25000" dirty="0">
                    <a:effectLst/>
                    <a:latin typeface="Aptos (cuerpo)"/>
                    <a:ea typeface="Times New Roman" panose="02020603050405020304" pitchFamily="18" charset="0"/>
                  </a:rPr>
                  <a:t>(j)</a:t>
                </a:r>
                <a:r>
                  <a:rPr lang="es-CR" dirty="0">
                    <a:effectLst/>
                    <a:latin typeface="Aptos (cuerpo)"/>
                    <a:ea typeface="Times New Roman" panose="02020603050405020304" pitchFamily="18" charset="0"/>
                  </a:rPr>
                  <a:t> sería: </a:t>
                </a:r>
                <a:endParaRPr lang="en-US" dirty="0">
                  <a:effectLst/>
                  <a:latin typeface="Aptos (cuerpo)"/>
                  <a:ea typeface="Times New Roman" panose="02020603050405020304" pitchFamily="18" charset="0"/>
                </a:endParaRPr>
              </a:p>
              <a:p>
                <a:pPr marL="0" marR="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r"/>
                  </a:tabLst>
                </a:pPr>
                <a:r>
                  <a:rPr lang="es-CR" dirty="0">
                    <a:effectLst/>
                    <a:latin typeface="Aptos (cuerpo)"/>
                    <a:ea typeface="Times New Roman" panose="02020603050405020304" pitchFamily="18" charset="0"/>
                  </a:rPr>
                  <a:t>  </a:t>
                </a:r>
                <a14:m>
                  <m:oMath xmlns:m="http://schemas.openxmlformats.org/officeDocument/2006/math">
                    <m:f>
                      <m:fPr>
                        <m:ctrlPr>
                          <a:rPr lang="en-US" sz="3200" i="1">
                            <a:effectLst/>
                            <a:latin typeface="Cambria Math" panose="02040503050406030204" pitchFamily="18" charset="0"/>
                            <a:ea typeface="Times New Roman" panose="02020603050405020304" pitchFamily="18" charset="0"/>
                          </a:rPr>
                        </m:ctrlPr>
                      </m:fPr>
                      <m:num>
                        <m:r>
                          <a:rPr lang="es-CR" sz="3200" i="1">
                            <a:effectLst/>
                            <a:latin typeface="Cambria Math" panose="02040503050406030204" pitchFamily="18" charset="0"/>
                            <a:ea typeface="Times New Roman" panose="02020603050405020304" pitchFamily="18" charset="0"/>
                          </a:rPr>
                          <m:t>h</m:t>
                        </m:r>
                        <m:d>
                          <m:dPr>
                            <m:ctrlPr>
                              <a:rPr lang="en-US" sz="3200" i="1">
                                <a:effectLst/>
                                <a:latin typeface="Cambria Math" panose="02040503050406030204" pitchFamily="18" charset="0"/>
                                <a:ea typeface="Times New Roman" panose="02020603050405020304" pitchFamily="18" charset="0"/>
                              </a:rPr>
                            </m:ctrlPr>
                          </m:dPr>
                          <m:e>
                            <m:sSub>
                              <m:sSubPr>
                                <m:ctrlPr>
                                  <a:rPr lang="en-US" sz="3200" i="1">
                                    <a:effectLst/>
                                    <a:latin typeface="Cambria Math" panose="02040503050406030204" pitchFamily="18" charset="0"/>
                                    <a:ea typeface="Times New Roman" panose="02020603050405020304" pitchFamily="18" charset="0"/>
                                  </a:rPr>
                                </m:ctrlPr>
                              </m:sSubPr>
                              <m:e>
                                <m:r>
                                  <a:rPr lang="es-CR" sz="3200" i="1">
                                    <a:effectLst/>
                                    <a:latin typeface="Cambria Math" panose="02040503050406030204" pitchFamily="18" charset="0"/>
                                    <a:ea typeface="Times New Roman" panose="02020603050405020304" pitchFamily="18" charset="0"/>
                                  </a:rPr>
                                  <m:t>𝑡</m:t>
                                </m:r>
                              </m:e>
                              <m:sub>
                                <m:r>
                                  <a:rPr lang="es-CR" sz="3200" i="1">
                                    <a:effectLst/>
                                    <a:latin typeface="Cambria Math" panose="02040503050406030204" pitchFamily="18" charset="0"/>
                                    <a:ea typeface="Times New Roman" panose="02020603050405020304" pitchFamily="18" charset="0"/>
                                  </a:rPr>
                                  <m:t>(</m:t>
                                </m:r>
                                <m:r>
                                  <a:rPr lang="es-CR" sz="3200" i="1">
                                    <a:effectLst/>
                                    <a:latin typeface="Cambria Math" panose="02040503050406030204" pitchFamily="18" charset="0"/>
                                    <a:ea typeface="Times New Roman" panose="02020603050405020304" pitchFamily="18" charset="0"/>
                                  </a:rPr>
                                  <m:t>𝑗</m:t>
                                </m:r>
                                <m:r>
                                  <a:rPr lang="es-CR" sz="3200" i="1">
                                    <a:effectLst/>
                                    <a:latin typeface="Cambria Math" panose="02040503050406030204" pitchFamily="18" charset="0"/>
                                    <a:ea typeface="Times New Roman" panose="02020603050405020304" pitchFamily="18" charset="0"/>
                                  </a:rPr>
                                  <m:t>)</m:t>
                                </m:r>
                              </m:sub>
                            </m:sSub>
                            <m:r>
                              <a:rPr lang="en-US" sz="3200" i="1">
                                <a:effectLst/>
                                <a:latin typeface="Cambria Math" panose="02040503050406030204" pitchFamily="18" charset="0"/>
                                <a:ea typeface="Times New Roman" panose="02020603050405020304" pitchFamily="18" charset="0"/>
                              </a:rPr>
                              <m:t>|</m:t>
                            </m:r>
                            <m:sSub>
                              <m:sSubPr>
                                <m:ctrlPr>
                                  <a:rPr lang="en-US" sz="3200" i="1">
                                    <a:effectLst/>
                                    <a:latin typeface="Cambria Math" panose="02040503050406030204" pitchFamily="18" charset="0"/>
                                    <a:ea typeface="Times New Roman" panose="02020603050405020304" pitchFamily="18" charset="0"/>
                                  </a:rPr>
                                </m:ctrlPr>
                              </m:sSubPr>
                              <m:e>
                                <m:r>
                                  <a:rPr lang="en-US" sz="3200" i="1">
                                    <a:effectLst/>
                                    <a:latin typeface="Cambria Math" panose="02040503050406030204" pitchFamily="18" charset="0"/>
                                    <a:ea typeface="Times New Roman" panose="02020603050405020304" pitchFamily="18" charset="0"/>
                                  </a:rPr>
                                  <m:t>𝑍</m:t>
                                </m:r>
                              </m:e>
                              <m:sub>
                                <m:r>
                                  <a:rPr lang="en-US" sz="3200" i="1">
                                    <a:effectLst/>
                                    <a:latin typeface="Cambria Math" panose="02040503050406030204" pitchFamily="18" charset="0"/>
                                    <a:ea typeface="Times New Roman" panose="02020603050405020304" pitchFamily="18" charset="0"/>
                                  </a:rPr>
                                  <m:t>(</m:t>
                                </m:r>
                                <m:r>
                                  <a:rPr lang="en-US" sz="3200" i="1">
                                    <a:effectLst/>
                                    <a:latin typeface="Cambria Math" panose="02040503050406030204" pitchFamily="18" charset="0"/>
                                    <a:ea typeface="Times New Roman" panose="02020603050405020304" pitchFamily="18" charset="0"/>
                                  </a:rPr>
                                  <m:t>𝑗</m:t>
                                </m:r>
                                <m:r>
                                  <a:rPr lang="en-US" sz="3200" i="1">
                                    <a:effectLst/>
                                    <a:latin typeface="Cambria Math" panose="02040503050406030204" pitchFamily="18" charset="0"/>
                                    <a:ea typeface="Times New Roman" panose="02020603050405020304" pitchFamily="18" charset="0"/>
                                  </a:rPr>
                                  <m:t>)</m:t>
                                </m:r>
                              </m:sub>
                            </m:sSub>
                          </m:e>
                        </m:d>
                      </m:num>
                      <m:den>
                        <m:nary>
                          <m:naryPr>
                            <m:chr m:val="∑"/>
                            <m:limLoc m:val="undOvr"/>
                            <m:supHide m:val="on"/>
                            <m:ctrlPr>
                              <a:rPr lang="en-US" sz="3200" i="1">
                                <a:effectLst/>
                                <a:latin typeface="Cambria Math" panose="02040503050406030204" pitchFamily="18" charset="0"/>
                                <a:ea typeface="Times New Roman" panose="02020603050405020304" pitchFamily="18" charset="0"/>
                              </a:rPr>
                            </m:ctrlPr>
                          </m:naryPr>
                          <m:sub>
                            <m:r>
                              <a:rPr lang="es-CR" sz="3200" i="1">
                                <a:effectLst/>
                                <a:latin typeface="Cambria Math" panose="02040503050406030204" pitchFamily="18" charset="0"/>
                                <a:ea typeface="Times New Roman" panose="02020603050405020304" pitchFamily="18" charset="0"/>
                              </a:rPr>
                              <m:t>𝑚</m:t>
                            </m:r>
                            <m:r>
                              <a:rPr lang="es-CR" sz="3200" i="1">
                                <a:effectLst/>
                                <a:latin typeface="Cambria Math" panose="02040503050406030204" pitchFamily="18" charset="0"/>
                                <a:ea typeface="Times New Roman" panose="02020603050405020304" pitchFamily="18" charset="0"/>
                              </a:rPr>
                              <m:t>∈</m:t>
                            </m:r>
                            <m:r>
                              <a:rPr lang="es-CR" sz="3200" i="1">
                                <a:effectLst/>
                                <a:latin typeface="Cambria Math" panose="02040503050406030204" pitchFamily="18" charset="0"/>
                                <a:ea typeface="Times New Roman" panose="02020603050405020304" pitchFamily="18" charset="0"/>
                              </a:rPr>
                              <m:t>𝑅</m:t>
                            </m:r>
                            <m:d>
                              <m:dPr>
                                <m:begChr m:val="["/>
                                <m:endChr m:val="]"/>
                                <m:ctrlPr>
                                  <a:rPr lang="en-US" sz="3200" i="1">
                                    <a:effectLst/>
                                    <a:latin typeface="Cambria Math" panose="02040503050406030204" pitchFamily="18" charset="0"/>
                                    <a:ea typeface="Times New Roman" panose="02020603050405020304" pitchFamily="18" charset="0"/>
                                  </a:rPr>
                                </m:ctrlPr>
                              </m:dPr>
                              <m:e>
                                <m:sSub>
                                  <m:sSubPr>
                                    <m:ctrlPr>
                                      <a:rPr lang="en-US" sz="3200" i="1">
                                        <a:effectLst/>
                                        <a:latin typeface="Cambria Math" panose="02040503050406030204" pitchFamily="18" charset="0"/>
                                        <a:ea typeface="Times New Roman" panose="02020603050405020304" pitchFamily="18" charset="0"/>
                                      </a:rPr>
                                    </m:ctrlPr>
                                  </m:sSubPr>
                                  <m:e>
                                    <m:r>
                                      <a:rPr lang="es-CR" sz="3200" i="1">
                                        <a:effectLst/>
                                        <a:latin typeface="Cambria Math" panose="02040503050406030204" pitchFamily="18" charset="0"/>
                                        <a:ea typeface="Times New Roman" panose="02020603050405020304" pitchFamily="18" charset="0"/>
                                      </a:rPr>
                                      <m:t>𝑡</m:t>
                                    </m:r>
                                  </m:e>
                                  <m:sub>
                                    <m:r>
                                      <a:rPr lang="es-CR" sz="3200" i="1">
                                        <a:effectLst/>
                                        <a:latin typeface="Cambria Math" panose="02040503050406030204" pitchFamily="18" charset="0"/>
                                        <a:ea typeface="Times New Roman" panose="02020603050405020304" pitchFamily="18" charset="0"/>
                                      </a:rPr>
                                      <m:t>(</m:t>
                                    </m:r>
                                    <m:r>
                                      <a:rPr lang="es-CR" sz="3200" i="1">
                                        <a:effectLst/>
                                        <a:latin typeface="Cambria Math" panose="02040503050406030204" pitchFamily="18" charset="0"/>
                                        <a:ea typeface="Times New Roman" panose="02020603050405020304" pitchFamily="18" charset="0"/>
                                      </a:rPr>
                                      <m:t>𝑗</m:t>
                                    </m:r>
                                    <m:r>
                                      <a:rPr lang="es-CR" sz="3200" i="1">
                                        <a:effectLst/>
                                        <a:latin typeface="Cambria Math" panose="02040503050406030204" pitchFamily="18" charset="0"/>
                                        <a:ea typeface="Times New Roman" panose="02020603050405020304" pitchFamily="18" charset="0"/>
                                      </a:rPr>
                                      <m:t>)</m:t>
                                    </m:r>
                                  </m:sub>
                                </m:sSub>
                              </m:e>
                            </m:d>
                          </m:sub>
                          <m:sup/>
                          <m:e>
                            <m:r>
                              <a:rPr lang="es-CR" sz="3200" i="1">
                                <a:effectLst/>
                                <a:latin typeface="Cambria Math" panose="02040503050406030204" pitchFamily="18" charset="0"/>
                                <a:ea typeface="Times New Roman" panose="02020603050405020304" pitchFamily="18" charset="0"/>
                              </a:rPr>
                              <m:t>h</m:t>
                            </m:r>
                            <m:d>
                              <m:dPr>
                                <m:ctrlPr>
                                  <a:rPr lang="en-US" sz="3200" i="1">
                                    <a:effectLst/>
                                    <a:latin typeface="Cambria Math" panose="02040503050406030204" pitchFamily="18" charset="0"/>
                                    <a:ea typeface="Times New Roman" panose="02020603050405020304" pitchFamily="18" charset="0"/>
                                  </a:rPr>
                                </m:ctrlPr>
                              </m:dPr>
                              <m:e>
                                <m:sSub>
                                  <m:sSubPr>
                                    <m:ctrlPr>
                                      <a:rPr lang="en-US" sz="3200" i="1">
                                        <a:effectLst/>
                                        <a:latin typeface="Cambria Math" panose="02040503050406030204" pitchFamily="18" charset="0"/>
                                        <a:ea typeface="Times New Roman" panose="02020603050405020304" pitchFamily="18" charset="0"/>
                                      </a:rPr>
                                    </m:ctrlPr>
                                  </m:sSubPr>
                                  <m:e>
                                    <m:r>
                                      <a:rPr lang="es-CR" sz="3200" i="1">
                                        <a:effectLst/>
                                        <a:latin typeface="Cambria Math" panose="02040503050406030204" pitchFamily="18" charset="0"/>
                                        <a:ea typeface="Times New Roman" panose="02020603050405020304" pitchFamily="18" charset="0"/>
                                      </a:rPr>
                                      <m:t>𝑡</m:t>
                                    </m:r>
                                  </m:e>
                                  <m:sub>
                                    <m:r>
                                      <a:rPr lang="es-CR" sz="3200" i="1">
                                        <a:effectLst/>
                                        <a:latin typeface="Cambria Math" panose="02040503050406030204" pitchFamily="18" charset="0"/>
                                        <a:ea typeface="Times New Roman" panose="02020603050405020304" pitchFamily="18" charset="0"/>
                                      </a:rPr>
                                      <m:t>(</m:t>
                                    </m:r>
                                    <m:r>
                                      <a:rPr lang="es-CR" sz="3200" i="1">
                                        <a:effectLst/>
                                        <a:latin typeface="Cambria Math" panose="02040503050406030204" pitchFamily="18" charset="0"/>
                                        <a:ea typeface="Times New Roman" panose="02020603050405020304" pitchFamily="18" charset="0"/>
                                      </a:rPr>
                                      <m:t>𝑗</m:t>
                                    </m:r>
                                    <m:r>
                                      <a:rPr lang="es-CR" sz="3200" i="1">
                                        <a:effectLst/>
                                        <a:latin typeface="Cambria Math" panose="02040503050406030204" pitchFamily="18" charset="0"/>
                                        <a:ea typeface="Times New Roman" panose="02020603050405020304" pitchFamily="18" charset="0"/>
                                      </a:rPr>
                                      <m:t>)</m:t>
                                    </m:r>
                                  </m:sub>
                                </m:sSub>
                                <m:r>
                                  <a:rPr lang="en-US" sz="3200" i="1">
                                    <a:effectLst/>
                                    <a:latin typeface="Cambria Math" panose="02040503050406030204" pitchFamily="18" charset="0"/>
                                    <a:ea typeface="Times New Roman" panose="02020603050405020304" pitchFamily="18" charset="0"/>
                                  </a:rPr>
                                  <m:t>|</m:t>
                                </m:r>
                                <m:sSub>
                                  <m:sSubPr>
                                    <m:ctrlPr>
                                      <a:rPr lang="en-US" sz="3200" i="1">
                                        <a:effectLst/>
                                        <a:latin typeface="Cambria Math" panose="02040503050406030204" pitchFamily="18" charset="0"/>
                                        <a:ea typeface="Times New Roman" panose="02020603050405020304" pitchFamily="18" charset="0"/>
                                      </a:rPr>
                                    </m:ctrlPr>
                                  </m:sSubPr>
                                  <m:e>
                                    <m:r>
                                      <a:rPr lang="en-US" sz="3200" i="1">
                                        <a:effectLst/>
                                        <a:latin typeface="Cambria Math" panose="02040503050406030204" pitchFamily="18" charset="0"/>
                                        <a:ea typeface="Times New Roman" panose="02020603050405020304" pitchFamily="18" charset="0"/>
                                      </a:rPr>
                                      <m:t>𝑍</m:t>
                                    </m:r>
                                  </m:e>
                                  <m:sub>
                                    <m:r>
                                      <a:rPr lang="en-US" sz="3200" i="1">
                                        <a:effectLst/>
                                        <a:latin typeface="Cambria Math" panose="02040503050406030204" pitchFamily="18" charset="0"/>
                                        <a:ea typeface="Times New Roman" panose="02020603050405020304" pitchFamily="18" charset="0"/>
                                      </a:rPr>
                                      <m:t>𝑚</m:t>
                                    </m:r>
                                  </m:sub>
                                </m:sSub>
                              </m:e>
                            </m:d>
                          </m:e>
                        </m:nary>
                      </m:den>
                    </m:f>
                    <m:r>
                      <a:rPr lang="es-CR" sz="3200" i="1">
                        <a:effectLst/>
                        <a:latin typeface="Cambria Math" panose="02040503050406030204" pitchFamily="18" charset="0"/>
                        <a:ea typeface="Times New Roman" panose="02020603050405020304" pitchFamily="18" charset="0"/>
                      </a:rPr>
                      <m:t>=</m:t>
                    </m:r>
                    <m:f>
                      <m:fPr>
                        <m:ctrlPr>
                          <a:rPr lang="en-US" sz="3200" i="1">
                            <a:effectLst/>
                            <a:latin typeface="Cambria Math" panose="02040503050406030204" pitchFamily="18" charset="0"/>
                            <a:ea typeface="Times New Roman" panose="02020603050405020304" pitchFamily="18" charset="0"/>
                          </a:rPr>
                        </m:ctrlPr>
                      </m:fPr>
                      <m:num>
                        <m:sSub>
                          <m:sSubPr>
                            <m:ctrlPr>
                              <a:rPr lang="en-US" sz="3200" i="1">
                                <a:effectLst/>
                                <a:latin typeface="Cambria Math" panose="02040503050406030204" pitchFamily="18" charset="0"/>
                                <a:ea typeface="Times New Roman" panose="02020603050405020304" pitchFamily="18" charset="0"/>
                              </a:rPr>
                            </m:ctrlPr>
                          </m:sSubPr>
                          <m:e>
                            <m:r>
                              <a:rPr lang="es-CR" sz="3200" i="1">
                                <a:effectLst/>
                                <a:latin typeface="Cambria Math" panose="02040503050406030204" pitchFamily="18" charset="0"/>
                                <a:ea typeface="Times New Roman" panose="02020603050405020304" pitchFamily="18" charset="0"/>
                              </a:rPr>
                              <m:t>h</m:t>
                            </m:r>
                          </m:e>
                          <m:sub>
                            <m:r>
                              <a:rPr lang="es-CR" sz="3200" i="1">
                                <a:effectLst/>
                                <a:latin typeface="Cambria Math" panose="02040503050406030204" pitchFamily="18" charset="0"/>
                                <a:ea typeface="Times New Roman" panose="02020603050405020304" pitchFamily="18" charset="0"/>
                              </a:rPr>
                              <m:t>0</m:t>
                            </m:r>
                          </m:sub>
                        </m:sSub>
                        <m:d>
                          <m:dPr>
                            <m:ctrlPr>
                              <a:rPr lang="en-US" sz="3200" i="1">
                                <a:effectLst/>
                                <a:latin typeface="Cambria Math" panose="02040503050406030204" pitchFamily="18" charset="0"/>
                                <a:ea typeface="Times New Roman" panose="02020603050405020304" pitchFamily="18" charset="0"/>
                              </a:rPr>
                            </m:ctrlPr>
                          </m:dPr>
                          <m:e>
                            <m:sSub>
                              <m:sSubPr>
                                <m:ctrlPr>
                                  <a:rPr lang="en-US" sz="3200" i="1">
                                    <a:effectLst/>
                                    <a:latin typeface="Cambria Math" panose="02040503050406030204" pitchFamily="18" charset="0"/>
                                    <a:ea typeface="Times New Roman" panose="02020603050405020304" pitchFamily="18" charset="0"/>
                                  </a:rPr>
                                </m:ctrlPr>
                              </m:sSubPr>
                              <m:e>
                                <m:r>
                                  <a:rPr lang="es-CR" sz="3200" i="1">
                                    <a:effectLst/>
                                    <a:latin typeface="Cambria Math" panose="02040503050406030204" pitchFamily="18" charset="0"/>
                                    <a:ea typeface="Times New Roman" panose="02020603050405020304" pitchFamily="18" charset="0"/>
                                  </a:rPr>
                                  <m:t>𝑡</m:t>
                                </m:r>
                              </m:e>
                              <m:sub>
                                <m:r>
                                  <a:rPr lang="es-CR" sz="3200" i="1">
                                    <a:effectLst/>
                                    <a:latin typeface="Cambria Math" panose="02040503050406030204" pitchFamily="18" charset="0"/>
                                    <a:ea typeface="Times New Roman" panose="02020603050405020304" pitchFamily="18" charset="0"/>
                                  </a:rPr>
                                  <m:t>(</m:t>
                                </m:r>
                                <m:r>
                                  <a:rPr lang="es-CR" sz="3200" i="1">
                                    <a:effectLst/>
                                    <a:latin typeface="Cambria Math" panose="02040503050406030204" pitchFamily="18" charset="0"/>
                                    <a:ea typeface="Times New Roman" panose="02020603050405020304" pitchFamily="18" charset="0"/>
                                  </a:rPr>
                                  <m:t>𝑗</m:t>
                                </m:r>
                                <m:r>
                                  <a:rPr lang="es-CR" sz="3200" i="1">
                                    <a:effectLst/>
                                    <a:latin typeface="Cambria Math" panose="02040503050406030204" pitchFamily="18" charset="0"/>
                                    <a:ea typeface="Times New Roman" panose="02020603050405020304" pitchFamily="18" charset="0"/>
                                  </a:rPr>
                                  <m:t>)</m:t>
                                </m:r>
                              </m:sub>
                            </m:sSub>
                          </m:e>
                        </m:d>
                        <m:r>
                          <a:rPr lang="es-CR" sz="3200" i="1">
                            <a:effectLst/>
                            <a:latin typeface="Cambria Math" panose="02040503050406030204" pitchFamily="18" charset="0"/>
                            <a:ea typeface="Times New Roman" panose="02020603050405020304" pitchFamily="18" charset="0"/>
                          </a:rPr>
                          <m:t>∗</m:t>
                        </m:r>
                        <m:r>
                          <m:rPr>
                            <m:sty m:val="p"/>
                          </m:rPr>
                          <a:rPr lang="es-CR" sz="3200">
                            <a:effectLst/>
                            <a:latin typeface="Cambria Math" panose="02040503050406030204" pitchFamily="18" charset="0"/>
                            <a:ea typeface="Times New Roman" panose="02020603050405020304" pitchFamily="18" charset="0"/>
                          </a:rPr>
                          <m:t>exp</m:t>
                        </m:r>
                        <m:r>
                          <a:rPr lang="es-CR" sz="3200" i="1">
                            <a:effectLst/>
                            <a:latin typeface="Cambria Math" panose="02040503050406030204" pitchFamily="18" charset="0"/>
                            <a:ea typeface="Times New Roman" panose="02020603050405020304" pitchFamily="18" charset="0"/>
                          </a:rPr>
                          <m:t>(</m:t>
                        </m:r>
                        <m:r>
                          <a:rPr lang="es-CR" sz="3200" i="1">
                            <a:effectLst/>
                            <a:latin typeface="Cambria Math" panose="02040503050406030204" pitchFamily="18" charset="0"/>
                            <a:ea typeface="Times New Roman" panose="02020603050405020304" pitchFamily="18" charset="0"/>
                          </a:rPr>
                          <m:t>𝛽</m:t>
                        </m:r>
                        <m:r>
                          <a:rPr lang="es-CR" sz="3200" i="1">
                            <a:effectLst/>
                            <a:latin typeface="Cambria Math" panose="02040503050406030204" pitchFamily="18" charset="0"/>
                            <a:ea typeface="Times New Roman" panose="02020603050405020304" pitchFamily="18" charset="0"/>
                          </a:rPr>
                          <m:t>′</m:t>
                        </m:r>
                        <m:sSub>
                          <m:sSubPr>
                            <m:ctrlPr>
                              <a:rPr lang="en-US" sz="3200" i="1">
                                <a:effectLst/>
                                <a:latin typeface="Cambria Math" panose="02040503050406030204" pitchFamily="18" charset="0"/>
                                <a:ea typeface="Times New Roman" panose="02020603050405020304" pitchFamily="18" charset="0"/>
                              </a:rPr>
                            </m:ctrlPr>
                          </m:sSubPr>
                          <m:e>
                            <m:r>
                              <a:rPr lang="es-CR" sz="3200" i="1">
                                <a:effectLst/>
                                <a:latin typeface="Cambria Math" panose="02040503050406030204" pitchFamily="18" charset="0"/>
                                <a:ea typeface="Times New Roman" panose="02020603050405020304" pitchFamily="18" charset="0"/>
                              </a:rPr>
                              <m:t>𝑍</m:t>
                            </m:r>
                          </m:e>
                          <m:sub>
                            <m:r>
                              <a:rPr lang="es-CR" sz="3200" i="1">
                                <a:effectLst/>
                                <a:latin typeface="Cambria Math" panose="02040503050406030204" pitchFamily="18" charset="0"/>
                                <a:ea typeface="Times New Roman" panose="02020603050405020304" pitchFamily="18" charset="0"/>
                              </a:rPr>
                              <m:t>(</m:t>
                            </m:r>
                            <m:r>
                              <a:rPr lang="es-CR" sz="3200" i="1">
                                <a:effectLst/>
                                <a:latin typeface="Cambria Math" panose="02040503050406030204" pitchFamily="18" charset="0"/>
                                <a:ea typeface="Times New Roman" panose="02020603050405020304" pitchFamily="18" charset="0"/>
                              </a:rPr>
                              <m:t>𝑗</m:t>
                            </m:r>
                            <m:r>
                              <a:rPr lang="es-CR" sz="3200" i="1">
                                <a:effectLst/>
                                <a:latin typeface="Cambria Math" panose="02040503050406030204" pitchFamily="18" charset="0"/>
                                <a:ea typeface="Times New Roman" panose="02020603050405020304" pitchFamily="18" charset="0"/>
                              </a:rPr>
                              <m:t>)</m:t>
                            </m:r>
                          </m:sub>
                        </m:sSub>
                        <m:r>
                          <a:rPr lang="es-CR" sz="3200" i="1">
                            <a:effectLst/>
                            <a:latin typeface="Cambria Math" panose="02040503050406030204" pitchFamily="18" charset="0"/>
                            <a:ea typeface="Times New Roman" panose="02020603050405020304" pitchFamily="18" charset="0"/>
                          </a:rPr>
                          <m:t>)</m:t>
                        </m:r>
                      </m:num>
                      <m:den>
                        <m:sSub>
                          <m:sSubPr>
                            <m:ctrlPr>
                              <a:rPr lang="en-US" sz="3200" i="1">
                                <a:effectLst/>
                                <a:latin typeface="Cambria Math" panose="02040503050406030204" pitchFamily="18" charset="0"/>
                                <a:ea typeface="Times New Roman" panose="02020603050405020304" pitchFamily="18" charset="0"/>
                              </a:rPr>
                            </m:ctrlPr>
                          </m:sSubPr>
                          <m:e>
                            <m:r>
                              <a:rPr lang="es-CR" sz="3200" i="1">
                                <a:effectLst/>
                                <a:latin typeface="Cambria Math" panose="02040503050406030204" pitchFamily="18" charset="0"/>
                                <a:ea typeface="Times New Roman" panose="02020603050405020304" pitchFamily="18" charset="0"/>
                              </a:rPr>
                              <m:t>h</m:t>
                            </m:r>
                          </m:e>
                          <m:sub>
                            <m:r>
                              <a:rPr lang="es-CR" sz="3200" i="1">
                                <a:effectLst/>
                                <a:latin typeface="Cambria Math" panose="02040503050406030204" pitchFamily="18" charset="0"/>
                                <a:ea typeface="Times New Roman" panose="02020603050405020304" pitchFamily="18" charset="0"/>
                              </a:rPr>
                              <m:t>0</m:t>
                            </m:r>
                          </m:sub>
                        </m:sSub>
                        <m:d>
                          <m:dPr>
                            <m:ctrlPr>
                              <a:rPr lang="en-US" sz="3200" i="1">
                                <a:effectLst/>
                                <a:latin typeface="Cambria Math" panose="02040503050406030204" pitchFamily="18" charset="0"/>
                                <a:ea typeface="Times New Roman" panose="02020603050405020304" pitchFamily="18" charset="0"/>
                              </a:rPr>
                            </m:ctrlPr>
                          </m:dPr>
                          <m:e>
                            <m:sSub>
                              <m:sSubPr>
                                <m:ctrlPr>
                                  <a:rPr lang="en-US" sz="3200" i="1">
                                    <a:effectLst/>
                                    <a:latin typeface="Cambria Math" panose="02040503050406030204" pitchFamily="18" charset="0"/>
                                    <a:ea typeface="Times New Roman" panose="02020603050405020304" pitchFamily="18" charset="0"/>
                                  </a:rPr>
                                </m:ctrlPr>
                              </m:sSubPr>
                              <m:e>
                                <m:r>
                                  <a:rPr lang="es-CR" sz="3200" i="1">
                                    <a:effectLst/>
                                    <a:latin typeface="Cambria Math" panose="02040503050406030204" pitchFamily="18" charset="0"/>
                                    <a:ea typeface="Times New Roman" panose="02020603050405020304" pitchFamily="18" charset="0"/>
                                  </a:rPr>
                                  <m:t>𝑡</m:t>
                                </m:r>
                              </m:e>
                              <m:sub>
                                <m:r>
                                  <a:rPr lang="es-CR" sz="3200" i="1">
                                    <a:effectLst/>
                                    <a:latin typeface="Cambria Math" panose="02040503050406030204" pitchFamily="18" charset="0"/>
                                    <a:ea typeface="Times New Roman" panose="02020603050405020304" pitchFamily="18" charset="0"/>
                                  </a:rPr>
                                  <m:t>(</m:t>
                                </m:r>
                                <m:r>
                                  <a:rPr lang="es-CR" sz="3200" i="1">
                                    <a:effectLst/>
                                    <a:latin typeface="Cambria Math" panose="02040503050406030204" pitchFamily="18" charset="0"/>
                                    <a:ea typeface="Times New Roman" panose="02020603050405020304" pitchFamily="18" charset="0"/>
                                  </a:rPr>
                                  <m:t>𝑗</m:t>
                                </m:r>
                                <m:r>
                                  <a:rPr lang="es-CR" sz="3200" i="1">
                                    <a:effectLst/>
                                    <a:latin typeface="Cambria Math" panose="02040503050406030204" pitchFamily="18" charset="0"/>
                                    <a:ea typeface="Times New Roman" panose="02020603050405020304" pitchFamily="18" charset="0"/>
                                  </a:rPr>
                                  <m:t>)</m:t>
                                </m:r>
                              </m:sub>
                            </m:sSub>
                          </m:e>
                        </m:d>
                        <m:r>
                          <a:rPr lang="es-CR" sz="3200" i="1">
                            <a:effectLst/>
                            <a:latin typeface="Cambria Math" panose="02040503050406030204" pitchFamily="18" charset="0"/>
                            <a:ea typeface="Times New Roman" panose="02020603050405020304" pitchFamily="18" charset="0"/>
                          </a:rPr>
                          <m:t>∗</m:t>
                        </m:r>
                        <m:d>
                          <m:dPr>
                            <m:begChr m:val="["/>
                            <m:endChr m:val="]"/>
                            <m:ctrlPr>
                              <a:rPr lang="en-US" sz="3200" i="1">
                                <a:effectLst/>
                                <a:latin typeface="Cambria Math" panose="02040503050406030204" pitchFamily="18" charset="0"/>
                                <a:ea typeface="Times New Roman" panose="02020603050405020304" pitchFamily="18" charset="0"/>
                              </a:rPr>
                            </m:ctrlPr>
                          </m:dPr>
                          <m:e>
                            <m:nary>
                              <m:naryPr>
                                <m:chr m:val="∑"/>
                                <m:limLoc m:val="undOvr"/>
                                <m:supHide m:val="on"/>
                                <m:ctrlPr>
                                  <a:rPr lang="en-US" sz="3200" i="1">
                                    <a:effectLst/>
                                    <a:latin typeface="Cambria Math" panose="02040503050406030204" pitchFamily="18" charset="0"/>
                                    <a:ea typeface="Times New Roman" panose="02020603050405020304" pitchFamily="18" charset="0"/>
                                  </a:rPr>
                                </m:ctrlPr>
                              </m:naryPr>
                              <m:sub>
                                <m:r>
                                  <a:rPr lang="es-CR" sz="3200" i="1">
                                    <a:effectLst/>
                                    <a:latin typeface="Cambria Math" panose="02040503050406030204" pitchFamily="18" charset="0"/>
                                    <a:ea typeface="Times New Roman" panose="02020603050405020304" pitchFamily="18" charset="0"/>
                                  </a:rPr>
                                  <m:t>𝑚</m:t>
                                </m:r>
                                <m:r>
                                  <a:rPr lang="es-CR" sz="3200" i="1">
                                    <a:effectLst/>
                                    <a:latin typeface="Cambria Math" panose="02040503050406030204" pitchFamily="18" charset="0"/>
                                    <a:ea typeface="Times New Roman" panose="02020603050405020304" pitchFamily="18" charset="0"/>
                                  </a:rPr>
                                  <m:t>∈</m:t>
                                </m:r>
                                <m:r>
                                  <a:rPr lang="es-CR" sz="3200" i="1">
                                    <a:effectLst/>
                                    <a:latin typeface="Cambria Math" panose="02040503050406030204" pitchFamily="18" charset="0"/>
                                    <a:ea typeface="Times New Roman" panose="02020603050405020304" pitchFamily="18" charset="0"/>
                                  </a:rPr>
                                  <m:t>𝑅</m:t>
                                </m:r>
                                <m:d>
                                  <m:dPr>
                                    <m:begChr m:val="["/>
                                    <m:endChr m:val="]"/>
                                    <m:ctrlPr>
                                      <a:rPr lang="en-US" sz="3200" i="1">
                                        <a:effectLst/>
                                        <a:latin typeface="Cambria Math" panose="02040503050406030204" pitchFamily="18" charset="0"/>
                                        <a:ea typeface="Times New Roman" panose="02020603050405020304" pitchFamily="18" charset="0"/>
                                      </a:rPr>
                                    </m:ctrlPr>
                                  </m:dPr>
                                  <m:e>
                                    <m:sSub>
                                      <m:sSubPr>
                                        <m:ctrlPr>
                                          <a:rPr lang="en-US" sz="3200" i="1">
                                            <a:effectLst/>
                                            <a:latin typeface="Cambria Math" panose="02040503050406030204" pitchFamily="18" charset="0"/>
                                            <a:ea typeface="Times New Roman" panose="02020603050405020304" pitchFamily="18" charset="0"/>
                                          </a:rPr>
                                        </m:ctrlPr>
                                      </m:sSubPr>
                                      <m:e>
                                        <m:r>
                                          <a:rPr lang="es-CR" sz="3200" i="1">
                                            <a:effectLst/>
                                            <a:latin typeface="Cambria Math" panose="02040503050406030204" pitchFamily="18" charset="0"/>
                                            <a:ea typeface="Times New Roman" panose="02020603050405020304" pitchFamily="18" charset="0"/>
                                          </a:rPr>
                                          <m:t>𝑡</m:t>
                                        </m:r>
                                      </m:e>
                                      <m:sub>
                                        <m:r>
                                          <a:rPr lang="es-CR" sz="3200" i="1">
                                            <a:effectLst/>
                                            <a:latin typeface="Cambria Math" panose="02040503050406030204" pitchFamily="18" charset="0"/>
                                            <a:ea typeface="Times New Roman" panose="02020603050405020304" pitchFamily="18" charset="0"/>
                                          </a:rPr>
                                          <m:t>(</m:t>
                                        </m:r>
                                        <m:r>
                                          <a:rPr lang="es-CR" sz="3200" i="1">
                                            <a:effectLst/>
                                            <a:latin typeface="Cambria Math" panose="02040503050406030204" pitchFamily="18" charset="0"/>
                                            <a:ea typeface="Times New Roman" panose="02020603050405020304" pitchFamily="18" charset="0"/>
                                          </a:rPr>
                                          <m:t>𝑗</m:t>
                                        </m:r>
                                        <m:r>
                                          <a:rPr lang="es-CR" sz="3200" i="1">
                                            <a:effectLst/>
                                            <a:latin typeface="Cambria Math" panose="02040503050406030204" pitchFamily="18" charset="0"/>
                                            <a:ea typeface="Times New Roman" panose="02020603050405020304" pitchFamily="18" charset="0"/>
                                          </a:rPr>
                                          <m:t>)</m:t>
                                        </m:r>
                                      </m:sub>
                                    </m:sSub>
                                  </m:e>
                                </m:d>
                              </m:sub>
                              <m:sup/>
                              <m:e>
                                <m:r>
                                  <m:rPr>
                                    <m:sty m:val="p"/>
                                  </m:rPr>
                                  <a:rPr lang="es-CR" sz="3200">
                                    <a:effectLst/>
                                    <a:latin typeface="Cambria Math" panose="02040503050406030204" pitchFamily="18" charset="0"/>
                                    <a:ea typeface="Times New Roman" panose="02020603050405020304" pitchFamily="18" charset="0"/>
                                  </a:rPr>
                                  <m:t>exp</m:t>
                                </m:r>
                                <m:r>
                                  <a:rPr lang="es-CR" sz="3200" i="1">
                                    <a:effectLst/>
                                    <a:latin typeface="Cambria Math" panose="02040503050406030204" pitchFamily="18" charset="0"/>
                                    <a:ea typeface="Times New Roman" panose="02020603050405020304" pitchFamily="18" charset="0"/>
                                  </a:rPr>
                                  <m:t>(</m:t>
                                </m:r>
                                <m:r>
                                  <a:rPr lang="es-CR" sz="3200" i="1">
                                    <a:effectLst/>
                                    <a:latin typeface="Cambria Math" panose="02040503050406030204" pitchFamily="18" charset="0"/>
                                    <a:ea typeface="Times New Roman" panose="02020603050405020304" pitchFamily="18" charset="0"/>
                                  </a:rPr>
                                  <m:t>𝛽</m:t>
                                </m:r>
                                <m:r>
                                  <a:rPr lang="es-CR" sz="3200" i="1">
                                    <a:effectLst/>
                                    <a:latin typeface="Cambria Math" panose="02040503050406030204" pitchFamily="18" charset="0"/>
                                    <a:ea typeface="Times New Roman" panose="02020603050405020304" pitchFamily="18" charset="0"/>
                                  </a:rPr>
                                  <m:t>′</m:t>
                                </m:r>
                                <m:sSub>
                                  <m:sSubPr>
                                    <m:ctrlPr>
                                      <a:rPr lang="en-US" sz="3200" i="1">
                                        <a:effectLst/>
                                        <a:latin typeface="Cambria Math" panose="02040503050406030204" pitchFamily="18" charset="0"/>
                                        <a:ea typeface="Times New Roman" panose="02020603050405020304" pitchFamily="18" charset="0"/>
                                      </a:rPr>
                                    </m:ctrlPr>
                                  </m:sSubPr>
                                  <m:e>
                                    <m:r>
                                      <a:rPr lang="es-CR" sz="3200" i="1">
                                        <a:effectLst/>
                                        <a:latin typeface="Cambria Math" panose="02040503050406030204" pitchFamily="18" charset="0"/>
                                        <a:ea typeface="Times New Roman" panose="02020603050405020304" pitchFamily="18" charset="0"/>
                                      </a:rPr>
                                      <m:t>𝑍</m:t>
                                    </m:r>
                                  </m:e>
                                  <m:sub>
                                    <m:r>
                                      <a:rPr lang="es-CR" sz="3200" i="1">
                                        <a:effectLst/>
                                        <a:latin typeface="Cambria Math" panose="02040503050406030204" pitchFamily="18" charset="0"/>
                                        <a:ea typeface="Times New Roman" panose="02020603050405020304" pitchFamily="18" charset="0"/>
                                      </a:rPr>
                                      <m:t>𝑚</m:t>
                                    </m:r>
                                  </m:sub>
                                </m:sSub>
                                <m:r>
                                  <a:rPr lang="es-CR" sz="3200" i="1">
                                    <a:effectLst/>
                                    <a:latin typeface="Cambria Math" panose="02040503050406030204" pitchFamily="18" charset="0"/>
                                    <a:ea typeface="Times New Roman" panose="02020603050405020304" pitchFamily="18" charset="0"/>
                                  </a:rPr>
                                  <m:t>)</m:t>
                                </m:r>
                              </m:e>
                            </m:nary>
                          </m:e>
                        </m:d>
                      </m:den>
                    </m:f>
                  </m:oMath>
                </a14:m>
                <a:endParaRPr lang="en-US" sz="3200" dirty="0">
                  <a:effectLst/>
                  <a:latin typeface="Aptos (cuerpo)"/>
                  <a:ea typeface="Times New Roman" panose="02020603050405020304" pitchFamily="18" charset="0"/>
                </a:endParaRPr>
              </a:p>
              <a:p>
                <a:pPr marL="0" marR="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r"/>
                  </a:tabLst>
                </a:pPr>
                <a:endParaRPr lang="en-US" dirty="0">
                  <a:latin typeface="Aptos (cuerpo)"/>
                  <a:ea typeface="Times New Roman" panose="02020603050405020304" pitchFamily="18" charset="0"/>
                </a:endParaRPr>
              </a:p>
              <a:p>
                <a:pPr marL="0" marR="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r"/>
                  </a:tabLst>
                </a:pPr>
                <a:r>
                  <a:rPr lang="es-CR" dirty="0">
                    <a:effectLst/>
                    <a:latin typeface="Aptos (cuerpo)"/>
                    <a:ea typeface="Times New Roman" panose="02020603050405020304" pitchFamily="18" charset="0"/>
                  </a:rPr>
                  <a:t> </a:t>
                </a:r>
                <a14:m>
                  <m:oMath xmlns:m="http://schemas.openxmlformats.org/officeDocument/2006/math">
                    <m:f>
                      <m:fPr>
                        <m:ctrlPr>
                          <a:rPr lang="en-US" sz="3200" i="1">
                            <a:effectLst/>
                            <a:latin typeface="Cambria Math" panose="02040503050406030204" pitchFamily="18" charset="0"/>
                            <a:ea typeface="Times New Roman" panose="02020603050405020304" pitchFamily="18" charset="0"/>
                          </a:rPr>
                        </m:ctrlPr>
                      </m:fPr>
                      <m:num>
                        <m:r>
                          <a:rPr lang="es-CR" sz="3200" i="1">
                            <a:effectLst/>
                            <a:latin typeface="Cambria Math" panose="02040503050406030204" pitchFamily="18" charset="0"/>
                            <a:ea typeface="Times New Roman" panose="02020603050405020304" pitchFamily="18" charset="0"/>
                          </a:rPr>
                          <m:t>h</m:t>
                        </m:r>
                        <m:d>
                          <m:dPr>
                            <m:ctrlPr>
                              <a:rPr lang="en-US" sz="3200" i="1">
                                <a:effectLst/>
                                <a:latin typeface="Cambria Math" panose="02040503050406030204" pitchFamily="18" charset="0"/>
                                <a:ea typeface="Times New Roman" panose="02020603050405020304" pitchFamily="18" charset="0"/>
                              </a:rPr>
                            </m:ctrlPr>
                          </m:dPr>
                          <m:e>
                            <m:sSub>
                              <m:sSubPr>
                                <m:ctrlPr>
                                  <a:rPr lang="en-US" sz="3200" i="1">
                                    <a:effectLst/>
                                    <a:latin typeface="Cambria Math" panose="02040503050406030204" pitchFamily="18" charset="0"/>
                                    <a:ea typeface="Times New Roman" panose="02020603050405020304" pitchFamily="18" charset="0"/>
                                  </a:rPr>
                                </m:ctrlPr>
                              </m:sSubPr>
                              <m:e>
                                <m:r>
                                  <a:rPr lang="es-CR" sz="3200" i="1">
                                    <a:effectLst/>
                                    <a:latin typeface="Cambria Math" panose="02040503050406030204" pitchFamily="18" charset="0"/>
                                    <a:ea typeface="Times New Roman" panose="02020603050405020304" pitchFamily="18" charset="0"/>
                                  </a:rPr>
                                  <m:t>𝑡</m:t>
                                </m:r>
                              </m:e>
                              <m:sub>
                                <m:r>
                                  <a:rPr lang="es-CR" sz="3200" i="1">
                                    <a:effectLst/>
                                    <a:latin typeface="Cambria Math" panose="02040503050406030204" pitchFamily="18" charset="0"/>
                                    <a:ea typeface="Times New Roman" panose="02020603050405020304" pitchFamily="18" charset="0"/>
                                  </a:rPr>
                                  <m:t>(</m:t>
                                </m:r>
                                <m:r>
                                  <a:rPr lang="es-CR" sz="3200" i="1">
                                    <a:effectLst/>
                                    <a:latin typeface="Cambria Math" panose="02040503050406030204" pitchFamily="18" charset="0"/>
                                    <a:ea typeface="Times New Roman" panose="02020603050405020304" pitchFamily="18" charset="0"/>
                                  </a:rPr>
                                  <m:t>𝑗</m:t>
                                </m:r>
                                <m:r>
                                  <a:rPr lang="es-CR" sz="3200" i="1">
                                    <a:effectLst/>
                                    <a:latin typeface="Cambria Math" panose="02040503050406030204" pitchFamily="18" charset="0"/>
                                    <a:ea typeface="Times New Roman" panose="02020603050405020304" pitchFamily="18" charset="0"/>
                                  </a:rPr>
                                  <m:t>)</m:t>
                                </m:r>
                              </m:sub>
                            </m:sSub>
                            <m:r>
                              <a:rPr lang="en-US" sz="3200" i="1">
                                <a:effectLst/>
                                <a:latin typeface="Cambria Math" panose="02040503050406030204" pitchFamily="18" charset="0"/>
                                <a:ea typeface="Times New Roman" panose="02020603050405020304" pitchFamily="18" charset="0"/>
                              </a:rPr>
                              <m:t>|</m:t>
                            </m:r>
                            <m:sSub>
                              <m:sSubPr>
                                <m:ctrlPr>
                                  <a:rPr lang="en-US" sz="3200" i="1">
                                    <a:effectLst/>
                                    <a:latin typeface="Cambria Math" panose="02040503050406030204" pitchFamily="18" charset="0"/>
                                    <a:ea typeface="Times New Roman" panose="02020603050405020304" pitchFamily="18" charset="0"/>
                                  </a:rPr>
                                </m:ctrlPr>
                              </m:sSubPr>
                              <m:e>
                                <m:r>
                                  <a:rPr lang="en-US" sz="3200" i="1">
                                    <a:effectLst/>
                                    <a:latin typeface="Cambria Math" panose="02040503050406030204" pitchFamily="18" charset="0"/>
                                    <a:ea typeface="Times New Roman" panose="02020603050405020304" pitchFamily="18" charset="0"/>
                                  </a:rPr>
                                  <m:t>𝑍</m:t>
                                </m:r>
                              </m:e>
                              <m:sub>
                                <m:r>
                                  <a:rPr lang="en-US" sz="3200" i="1">
                                    <a:effectLst/>
                                    <a:latin typeface="Cambria Math" panose="02040503050406030204" pitchFamily="18" charset="0"/>
                                    <a:ea typeface="Times New Roman" panose="02020603050405020304" pitchFamily="18" charset="0"/>
                                  </a:rPr>
                                  <m:t>(</m:t>
                                </m:r>
                                <m:r>
                                  <a:rPr lang="en-US" sz="3200" i="1">
                                    <a:effectLst/>
                                    <a:latin typeface="Cambria Math" panose="02040503050406030204" pitchFamily="18" charset="0"/>
                                    <a:ea typeface="Times New Roman" panose="02020603050405020304" pitchFamily="18" charset="0"/>
                                  </a:rPr>
                                  <m:t>𝑗</m:t>
                                </m:r>
                                <m:r>
                                  <a:rPr lang="en-US" sz="3200" i="1">
                                    <a:effectLst/>
                                    <a:latin typeface="Cambria Math" panose="02040503050406030204" pitchFamily="18" charset="0"/>
                                    <a:ea typeface="Times New Roman" panose="02020603050405020304" pitchFamily="18" charset="0"/>
                                  </a:rPr>
                                  <m:t>)</m:t>
                                </m:r>
                              </m:sub>
                            </m:sSub>
                          </m:e>
                        </m:d>
                      </m:num>
                      <m:den>
                        <m:nary>
                          <m:naryPr>
                            <m:chr m:val="∑"/>
                            <m:limLoc m:val="undOvr"/>
                            <m:supHide m:val="on"/>
                            <m:ctrlPr>
                              <a:rPr lang="en-US" sz="3200" i="1">
                                <a:effectLst/>
                                <a:latin typeface="Cambria Math" panose="02040503050406030204" pitchFamily="18" charset="0"/>
                                <a:ea typeface="Times New Roman" panose="02020603050405020304" pitchFamily="18" charset="0"/>
                              </a:rPr>
                            </m:ctrlPr>
                          </m:naryPr>
                          <m:sub>
                            <m:r>
                              <a:rPr lang="es-CR" sz="3200" i="1">
                                <a:effectLst/>
                                <a:latin typeface="Cambria Math" panose="02040503050406030204" pitchFamily="18" charset="0"/>
                                <a:ea typeface="Times New Roman" panose="02020603050405020304" pitchFamily="18" charset="0"/>
                              </a:rPr>
                              <m:t>𝑚</m:t>
                            </m:r>
                            <m:r>
                              <a:rPr lang="es-CR" sz="3200" i="1">
                                <a:effectLst/>
                                <a:latin typeface="Cambria Math" panose="02040503050406030204" pitchFamily="18" charset="0"/>
                                <a:ea typeface="Times New Roman" panose="02020603050405020304" pitchFamily="18" charset="0"/>
                              </a:rPr>
                              <m:t>∈</m:t>
                            </m:r>
                            <m:r>
                              <a:rPr lang="es-CR" sz="3200" i="1">
                                <a:effectLst/>
                                <a:latin typeface="Cambria Math" panose="02040503050406030204" pitchFamily="18" charset="0"/>
                                <a:ea typeface="Times New Roman" panose="02020603050405020304" pitchFamily="18" charset="0"/>
                              </a:rPr>
                              <m:t>𝑅</m:t>
                            </m:r>
                            <m:d>
                              <m:dPr>
                                <m:begChr m:val="["/>
                                <m:endChr m:val="]"/>
                                <m:ctrlPr>
                                  <a:rPr lang="en-US" sz="3200" i="1">
                                    <a:effectLst/>
                                    <a:latin typeface="Cambria Math" panose="02040503050406030204" pitchFamily="18" charset="0"/>
                                    <a:ea typeface="Times New Roman" panose="02020603050405020304" pitchFamily="18" charset="0"/>
                                  </a:rPr>
                                </m:ctrlPr>
                              </m:dPr>
                              <m:e>
                                <m:sSub>
                                  <m:sSubPr>
                                    <m:ctrlPr>
                                      <a:rPr lang="en-US" sz="3200" i="1">
                                        <a:effectLst/>
                                        <a:latin typeface="Cambria Math" panose="02040503050406030204" pitchFamily="18" charset="0"/>
                                        <a:ea typeface="Times New Roman" panose="02020603050405020304" pitchFamily="18" charset="0"/>
                                      </a:rPr>
                                    </m:ctrlPr>
                                  </m:sSubPr>
                                  <m:e>
                                    <m:r>
                                      <a:rPr lang="es-CR" sz="3200" i="1">
                                        <a:effectLst/>
                                        <a:latin typeface="Cambria Math" panose="02040503050406030204" pitchFamily="18" charset="0"/>
                                        <a:ea typeface="Times New Roman" panose="02020603050405020304" pitchFamily="18" charset="0"/>
                                      </a:rPr>
                                      <m:t>𝑡</m:t>
                                    </m:r>
                                  </m:e>
                                  <m:sub>
                                    <m:r>
                                      <a:rPr lang="es-CR" sz="3200" i="1">
                                        <a:effectLst/>
                                        <a:latin typeface="Cambria Math" panose="02040503050406030204" pitchFamily="18" charset="0"/>
                                        <a:ea typeface="Times New Roman" panose="02020603050405020304" pitchFamily="18" charset="0"/>
                                      </a:rPr>
                                      <m:t>(</m:t>
                                    </m:r>
                                    <m:r>
                                      <a:rPr lang="es-CR" sz="3200" i="1">
                                        <a:effectLst/>
                                        <a:latin typeface="Cambria Math" panose="02040503050406030204" pitchFamily="18" charset="0"/>
                                        <a:ea typeface="Times New Roman" panose="02020603050405020304" pitchFamily="18" charset="0"/>
                                      </a:rPr>
                                      <m:t>𝑗</m:t>
                                    </m:r>
                                    <m:r>
                                      <a:rPr lang="es-CR" sz="3200" i="1">
                                        <a:effectLst/>
                                        <a:latin typeface="Cambria Math" panose="02040503050406030204" pitchFamily="18" charset="0"/>
                                        <a:ea typeface="Times New Roman" panose="02020603050405020304" pitchFamily="18" charset="0"/>
                                      </a:rPr>
                                      <m:t>)</m:t>
                                    </m:r>
                                  </m:sub>
                                </m:sSub>
                              </m:e>
                            </m:d>
                          </m:sub>
                          <m:sup/>
                          <m:e>
                            <m:r>
                              <a:rPr lang="es-CR" sz="3200" i="1">
                                <a:effectLst/>
                                <a:latin typeface="Cambria Math" panose="02040503050406030204" pitchFamily="18" charset="0"/>
                                <a:ea typeface="Times New Roman" panose="02020603050405020304" pitchFamily="18" charset="0"/>
                              </a:rPr>
                              <m:t>h</m:t>
                            </m:r>
                            <m:d>
                              <m:dPr>
                                <m:ctrlPr>
                                  <a:rPr lang="en-US" sz="3200" i="1">
                                    <a:effectLst/>
                                    <a:latin typeface="Cambria Math" panose="02040503050406030204" pitchFamily="18" charset="0"/>
                                    <a:ea typeface="Times New Roman" panose="02020603050405020304" pitchFamily="18" charset="0"/>
                                  </a:rPr>
                                </m:ctrlPr>
                              </m:dPr>
                              <m:e>
                                <m:sSub>
                                  <m:sSubPr>
                                    <m:ctrlPr>
                                      <a:rPr lang="en-US" sz="3200" i="1">
                                        <a:effectLst/>
                                        <a:latin typeface="Cambria Math" panose="02040503050406030204" pitchFamily="18" charset="0"/>
                                        <a:ea typeface="Times New Roman" panose="02020603050405020304" pitchFamily="18" charset="0"/>
                                      </a:rPr>
                                    </m:ctrlPr>
                                  </m:sSubPr>
                                  <m:e>
                                    <m:r>
                                      <a:rPr lang="es-CR" sz="3200" i="1">
                                        <a:effectLst/>
                                        <a:latin typeface="Cambria Math" panose="02040503050406030204" pitchFamily="18" charset="0"/>
                                        <a:ea typeface="Times New Roman" panose="02020603050405020304" pitchFamily="18" charset="0"/>
                                      </a:rPr>
                                      <m:t>𝑡</m:t>
                                    </m:r>
                                  </m:e>
                                  <m:sub>
                                    <m:r>
                                      <a:rPr lang="es-CR" sz="3200" i="1">
                                        <a:effectLst/>
                                        <a:latin typeface="Cambria Math" panose="02040503050406030204" pitchFamily="18" charset="0"/>
                                        <a:ea typeface="Times New Roman" panose="02020603050405020304" pitchFamily="18" charset="0"/>
                                      </a:rPr>
                                      <m:t>(</m:t>
                                    </m:r>
                                    <m:r>
                                      <a:rPr lang="es-CR" sz="3200" i="1">
                                        <a:effectLst/>
                                        <a:latin typeface="Cambria Math" panose="02040503050406030204" pitchFamily="18" charset="0"/>
                                        <a:ea typeface="Times New Roman" panose="02020603050405020304" pitchFamily="18" charset="0"/>
                                      </a:rPr>
                                      <m:t>𝑗</m:t>
                                    </m:r>
                                    <m:r>
                                      <a:rPr lang="es-CR" sz="3200" i="1">
                                        <a:effectLst/>
                                        <a:latin typeface="Cambria Math" panose="02040503050406030204" pitchFamily="18" charset="0"/>
                                        <a:ea typeface="Times New Roman" panose="02020603050405020304" pitchFamily="18" charset="0"/>
                                      </a:rPr>
                                      <m:t>)</m:t>
                                    </m:r>
                                  </m:sub>
                                </m:sSub>
                                <m:r>
                                  <a:rPr lang="en-US" sz="3200" i="1">
                                    <a:effectLst/>
                                    <a:latin typeface="Cambria Math" panose="02040503050406030204" pitchFamily="18" charset="0"/>
                                    <a:ea typeface="Times New Roman" panose="02020603050405020304" pitchFamily="18" charset="0"/>
                                  </a:rPr>
                                  <m:t>|</m:t>
                                </m:r>
                                <m:sSub>
                                  <m:sSubPr>
                                    <m:ctrlPr>
                                      <a:rPr lang="en-US" sz="3200" i="1">
                                        <a:effectLst/>
                                        <a:latin typeface="Cambria Math" panose="02040503050406030204" pitchFamily="18" charset="0"/>
                                        <a:ea typeface="Times New Roman" panose="02020603050405020304" pitchFamily="18" charset="0"/>
                                      </a:rPr>
                                    </m:ctrlPr>
                                  </m:sSubPr>
                                  <m:e>
                                    <m:r>
                                      <a:rPr lang="en-US" sz="3200" i="1">
                                        <a:effectLst/>
                                        <a:latin typeface="Cambria Math" panose="02040503050406030204" pitchFamily="18" charset="0"/>
                                        <a:ea typeface="Times New Roman" panose="02020603050405020304" pitchFamily="18" charset="0"/>
                                      </a:rPr>
                                      <m:t>𝑍</m:t>
                                    </m:r>
                                  </m:e>
                                  <m:sub>
                                    <m:r>
                                      <a:rPr lang="en-US" sz="3200" i="1">
                                        <a:effectLst/>
                                        <a:latin typeface="Cambria Math" panose="02040503050406030204" pitchFamily="18" charset="0"/>
                                        <a:ea typeface="Times New Roman" panose="02020603050405020304" pitchFamily="18" charset="0"/>
                                      </a:rPr>
                                      <m:t>𝑚</m:t>
                                    </m:r>
                                  </m:sub>
                                </m:sSub>
                              </m:e>
                            </m:d>
                          </m:e>
                        </m:nary>
                      </m:den>
                    </m:f>
                    <m:r>
                      <a:rPr lang="es-CR" sz="3200" i="1">
                        <a:effectLst/>
                        <a:latin typeface="Cambria Math" panose="02040503050406030204" pitchFamily="18" charset="0"/>
                        <a:ea typeface="Times New Roman" panose="02020603050405020304" pitchFamily="18" charset="0"/>
                      </a:rPr>
                      <m:t>=</m:t>
                    </m:r>
                    <m:f>
                      <m:fPr>
                        <m:ctrlPr>
                          <a:rPr lang="en-US" sz="3200" i="1">
                            <a:effectLst/>
                            <a:latin typeface="Cambria Math" panose="02040503050406030204" pitchFamily="18" charset="0"/>
                            <a:ea typeface="Times New Roman" panose="02020603050405020304" pitchFamily="18" charset="0"/>
                          </a:rPr>
                        </m:ctrlPr>
                      </m:fPr>
                      <m:num>
                        <m:r>
                          <m:rPr>
                            <m:sty m:val="p"/>
                          </m:rPr>
                          <a:rPr lang="es-CR" sz="3200">
                            <a:effectLst/>
                            <a:latin typeface="Cambria Math" panose="02040503050406030204" pitchFamily="18" charset="0"/>
                            <a:ea typeface="Times New Roman" panose="02020603050405020304" pitchFamily="18" charset="0"/>
                          </a:rPr>
                          <m:t>exp</m:t>
                        </m:r>
                        <m:r>
                          <a:rPr lang="es-CR" sz="3200" i="1">
                            <a:effectLst/>
                            <a:latin typeface="Cambria Math" panose="02040503050406030204" pitchFamily="18" charset="0"/>
                            <a:ea typeface="Times New Roman" panose="02020603050405020304" pitchFamily="18" charset="0"/>
                          </a:rPr>
                          <m:t>(</m:t>
                        </m:r>
                        <m:r>
                          <a:rPr lang="es-CR" sz="3200" i="1">
                            <a:effectLst/>
                            <a:latin typeface="Cambria Math" panose="02040503050406030204" pitchFamily="18" charset="0"/>
                            <a:ea typeface="Times New Roman" panose="02020603050405020304" pitchFamily="18" charset="0"/>
                          </a:rPr>
                          <m:t>𝛽</m:t>
                        </m:r>
                        <m:r>
                          <a:rPr lang="es-CR" sz="3200" i="1">
                            <a:effectLst/>
                            <a:latin typeface="Cambria Math" panose="02040503050406030204" pitchFamily="18" charset="0"/>
                            <a:ea typeface="Times New Roman" panose="02020603050405020304" pitchFamily="18" charset="0"/>
                          </a:rPr>
                          <m:t>′</m:t>
                        </m:r>
                        <m:sSub>
                          <m:sSubPr>
                            <m:ctrlPr>
                              <a:rPr lang="en-US" sz="3200" i="1">
                                <a:effectLst/>
                                <a:latin typeface="Cambria Math" panose="02040503050406030204" pitchFamily="18" charset="0"/>
                                <a:ea typeface="Times New Roman" panose="02020603050405020304" pitchFamily="18" charset="0"/>
                              </a:rPr>
                            </m:ctrlPr>
                          </m:sSubPr>
                          <m:e>
                            <m:r>
                              <a:rPr lang="es-CR" sz="3200" i="1">
                                <a:effectLst/>
                                <a:latin typeface="Cambria Math" panose="02040503050406030204" pitchFamily="18" charset="0"/>
                                <a:ea typeface="Times New Roman" panose="02020603050405020304" pitchFamily="18" charset="0"/>
                              </a:rPr>
                              <m:t>𝑍</m:t>
                            </m:r>
                          </m:e>
                          <m:sub>
                            <m:r>
                              <a:rPr lang="es-CR" sz="3200" i="1">
                                <a:effectLst/>
                                <a:latin typeface="Cambria Math" panose="02040503050406030204" pitchFamily="18" charset="0"/>
                                <a:ea typeface="Times New Roman" panose="02020603050405020304" pitchFamily="18" charset="0"/>
                              </a:rPr>
                              <m:t>(</m:t>
                            </m:r>
                            <m:r>
                              <a:rPr lang="es-CR" sz="3200" i="1">
                                <a:effectLst/>
                                <a:latin typeface="Cambria Math" panose="02040503050406030204" pitchFamily="18" charset="0"/>
                                <a:ea typeface="Times New Roman" panose="02020603050405020304" pitchFamily="18" charset="0"/>
                              </a:rPr>
                              <m:t>𝑗</m:t>
                            </m:r>
                            <m:r>
                              <a:rPr lang="es-CR" sz="3200" i="1">
                                <a:effectLst/>
                                <a:latin typeface="Cambria Math" panose="02040503050406030204" pitchFamily="18" charset="0"/>
                                <a:ea typeface="Times New Roman" panose="02020603050405020304" pitchFamily="18" charset="0"/>
                              </a:rPr>
                              <m:t>)</m:t>
                            </m:r>
                          </m:sub>
                        </m:sSub>
                        <m:r>
                          <a:rPr lang="es-CR" sz="3200" i="1">
                            <a:effectLst/>
                            <a:latin typeface="Cambria Math" panose="02040503050406030204" pitchFamily="18" charset="0"/>
                            <a:ea typeface="Times New Roman" panose="02020603050405020304" pitchFamily="18" charset="0"/>
                          </a:rPr>
                          <m:t>)</m:t>
                        </m:r>
                      </m:num>
                      <m:den>
                        <m:d>
                          <m:dPr>
                            <m:begChr m:val="["/>
                            <m:endChr m:val="]"/>
                            <m:ctrlPr>
                              <a:rPr lang="en-US" sz="3200" i="1">
                                <a:effectLst/>
                                <a:latin typeface="Cambria Math" panose="02040503050406030204" pitchFamily="18" charset="0"/>
                                <a:ea typeface="Times New Roman" panose="02020603050405020304" pitchFamily="18" charset="0"/>
                              </a:rPr>
                            </m:ctrlPr>
                          </m:dPr>
                          <m:e>
                            <m:nary>
                              <m:naryPr>
                                <m:chr m:val="∑"/>
                                <m:limLoc m:val="undOvr"/>
                                <m:supHide m:val="on"/>
                                <m:ctrlPr>
                                  <a:rPr lang="en-US" sz="3200" i="1">
                                    <a:effectLst/>
                                    <a:latin typeface="Cambria Math" panose="02040503050406030204" pitchFamily="18" charset="0"/>
                                    <a:ea typeface="Times New Roman" panose="02020603050405020304" pitchFamily="18" charset="0"/>
                                  </a:rPr>
                                </m:ctrlPr>
                              </m:naryPr>
                              <m:sub>
                                <m:r>
                                  <a:rPr lang="es-CR" sz="3200" i="1">
                                    <a:effectLst/>
                                    <a:latin typeface="Cambria Math" panose="02040503050406030204" pitchFamily="18" charset="0"/>
                                    <a:ea typeface="Times New Roman" panose="02020603050405020304" pitchFamily="18" charset="0"/>
                                  </a:rPr>
                                  <m:t>𝑚</m:t>
                                </m:r>
                                <m:r>
                                  <a:rPr lang="es-CR" sz="3200" i="1">
                                    <a:effectLst/>
                                    <a:latin typeface="Cambria Math" panose="02040503050406030204" pitchFamily="18" charset="0"/>
                                    <a:ea typeface="Times New Roman" panose="02020603050405020304" pitchFamily="18" charset="0"/>
                                  </a:rPr>
                                  <m:t>∈</m:t>
                                </m:r>
                                <m:r>
                                  <a:rPr lang="es-CR" sz="3200" i="1">
                                    <a:effectLst/>
                                    <a:latin typeface="Cambria Math" panose="02040503050406030204" pitchFamily="18" charset="0"/>
                                    <a:ea typeface="Times New Roman" panose="02020603050405020304" pitchFamily="18" charset="0"/>
                                  </a:rPr>
                                  <m:t>𝑅</m:t>
                                </m:r>
                                <m:d>
                                  <m:dPr>
                                    <m:begChr m:val="["/>
                                    <m:endChr m:val="]"/>
                                    <m:ctrlPr>
                                      <a:rPr lang="en-US" sz="3200" i="1">
                                        <a:effectLst/>
                                        <a:latin typeface="Cambria Math" panose="02040503050406030204" pitchFamily="18" charset="0"/>
                                        <a:ea typeface="Times New Roman" panose="02020603050405020304" pitchFamily="18" charset="0"/>
                                      </a:rPr>
                                    </m:ctrlPr>
                                  </m:dPr>
                                  <m:e>
                                    <m:sSub>
                                      <m:sSubPr>
                                        <m:ctrlPr>
                                          <a:rPr lang="en-US" sz="3200" i="1">
                                            <a:effectLst/>
                                            <a:latin typeface="Cambria Math" panose="02040503050406030204" pitchFamily="18" charset="0"/>
                                            <a:ea typeface="Times New Roman" panose="02020603050405020304" pitchFamily="18" charset="0"/>
                                          </a:rPr>
                                        </m:ctrlPr>
                                      </m:sSubPr>
                                      <m:e>
                                        <m:r>
                                          <a:rPr lang="es-CR" sz="3200" i="1">
                                            <a:effectLst/>
                                            <a:latin typeface="Cambria Math" panose="02040503050406030204" pitchFamily="18" charset="0"/>
                                            <a:ea typeface="Times New Roman" panose="02020603050405020304" pitchFamily="18" charset="0"/>
                                          </a:rPr>
                                          <m:t>𝑡</m:t>
                                        </m:r>
                                      </m:e>
                                      <m:sub>
                                        <m:r>
                                          <a:rPr lang="es-CR" sz="3200" i="1">
                                            <a:effectLst/>
                                            <a:latin typeface="Cambria Math" panose="02040503050406030204" pitchFamily="18" charset="0"/>
                                            <a:ea typeface="Times New Roman" panose="02020603050405020304" pitchFamily="18" charset="0"/>
                                          </a:rPr>
                                          <m:t>(</m:t>
                                        </m:r>
                                        <m:r>
                                          <a:rPr lang="es-CR" sz="3200" i="1">
                                            <a:effectLst/>
                                            <a:latin typeface="Cambria Math" panose="02040503050406030204" pitchFamily="18" charset="0"/>
                                            <a:ea typeface="Times New Roman" panose="02020603050405020304" pitchFamily="18" charset="0"/>
                                          </a:rPr>
                                          <m:t>𝑗</m:t>
                                        </m:r>
                                        <m:r>
                                          <a:rPr lang="es-CR" sz="3200" i="1">
                                            <a:effectLst/>
                                            <a:latin typeface="Cambria Math" panose="02040503050406030204" pitchFamily="18" charset="0"/>
                                            <a:ea typeface="Times New Roman" panose="02020603050405020304" pitchFamily="18" charset="0"/>
                                          </a:rPr>
                                          <m:t>)</m:t>
                                        </m:r>
                                      </m:sub>
                                    </m:sSub>
                                  </m:e>
                                </m:d>
                              </m:sub>
                              <m:sup/>
                              <m:e>
                                <m:r>
                                  <m:rPr>
                                    <m:sty m:val="p"/>
                                  </m:rPr>
                                  <a:rPr lang="es-CR" sz="3200">
                                    <a:effectLst/>
                                    <a:latin typeface="Cambria Math" panose="02040503050406030204" pitchFamily="18" charset="0"/>
                                    <a:ea typeface="Times New Roman" panose="02020603050405020304" pitchFamily="18" charset="0"/>
                                  </a:rPr>
                                  <m:t>exp</m:t>
                                </m:r>
                                <m:r>
                                  <a:rPr lang="es-CR" sz="3200" i="1">
                                    <a:effectLst/>
                                    <a:latin typeface="Cambria Math" panose="02040503050406030204" pitchFamily="18" charset="0"/>
                                    <a:ea typeface="Times New Roman" panose="02020603050405020304" pitchFamily="18" charset="0"/>
                                  </a:rPr>
                                  <m:t>(</m:t>
                                </m:r>
                                <m:r>
                                  <a:rPr lang="es-CR" sz="3200" i="1">
                                    <a:effectLst/>
                                    <a:latin typeface="Cambria Math" panose="02040503050406030204" pitchFamily="18" charset="0"/>
                                    <a:ea typeface="Times New Roman" panose="02020603050405020304" pitchFamily="18" charset="0"/>
                                  </a:rPr>
                                  <m:t>𝛽</m:t>
                                </m:r>
                                <m:r>
                                  <a:rPr lang="es-CR" sz="3200" i="1">
                                    <a:effectLst/>
                                    <a:latin typeface="Cambria Math" panose="02040503050406030204" pitchFamily="18" charset="0"/>
                                    <a:ea typeface="Times New Roman" panose="02020603050405020304" pitchFamily="18" charset="0"/>
                                  </a:rPr>
                                  <m:t>′</m:t>
                                </m:r>
                                <m:sSub>
                                  <m:sSubPr>
                                    <m:ctrlPr>
                                      <a:rPr lang="en-US" sz="3200" i="1">
                                        <a:effectLst/>
                                        <a:latin typeface="Cambria Math" panose="02040503050406030204" pitchFamily="18" charset="0"/>
                                        <a:ea typeface="Times New Roman" panose="02020603050405020304" pitchFamily="18" charset="0"/>
                                      </a:rPr>
                                    </m:ctrlPr>
                                  </m:sSubPr>
                                  <m:e>
                                    <m:r>
                                      <a:rPr lang="es-CR" sz="3200" i="1">
                                        <a:effectLst/>
                                        <a:latin typeface="Cambria Math" panose="02040503050406030204" pitchFamily="18" charset="0"/>
                                        <a:ea typeface="Times New Roman" panose="02020603050405020304" pitchFamily="18" charset="0"/>
                                      </a:rPr>
                                      <m:t>𝑍</m:t>
                                    </m:r>
                                  </m:e>
                                  <m:sub>
                                    <m:r>
                                      <a:rPr lang="es-CR" sz="3200" i="1">
                                        <a:effectLst/>
                                        <a:latin typeface="Cambria Math" panose="02040503050406030204" pitchFamily="18" charset="0"/>
                                        <a:ea typeface="Times New Roman" panose="02020603050405020304" pitchFamily="18" charset="0"/>
                                      </a:rPr>
                                      <m:t>𝑚</m:t>
                                    </m:r>
                                  </m:sub>
                                </m:sSub>
                                <m:r>
                                  <a:rPr lang="es-CR" sz="3200" i="1">
                                    <a:effectLst/>
                                    <a:latin typeface="Cambria Math" panose="02040503050406030204" pitchFamily="18" charset="0"/>
                                    <a:ea typeface="Times New Roman" panose="02020603050405020304" pitchFamily="18" charset="0"/>
                                  </a:rPr>
                                  <m:t>)</m:t>
                                </m:r>
                              </m:e>
                            </m:nary>
                          </m:e>
                        </m:d>
                      </m:den>
                    </m:f>
                  </m:oMath>
                </a14:m>
                <a:endParaRPr lang="en-US" sz="3200" dirty="0">
                  <a:effectLst/>
                  <a:latin typeface="Aptos (cuerpo)"/>
                  <a:ea typeface="Times New Roman" panose="02020603050405020304" pitchFamily="18" charset="0"/>
                </a:endParaRPr>
              </a:p>
              <a:p>
                <a:endParaRPr lang="es-CR" dirty="0"/>
              </a:p>
            </p:txBody>
          </p:sp>
        </mc:Choice>
        <mc:Fallback xmlns="">
          <p:sp>
            <p:nvSpPr>
              <p:cNvPr id="3" name="Marcador de contenido 2">
                <a:extLst>
                  <a:ext uri="{FF2B5EF4-FFF2-40B4-BE49-F238E27FC236}">
                    <a16:creationId xmlns:a16="http://schemas.microsoft.com/office/drawing/2014/main" id="{151B9B8A-EC30-2ADB-9382-57F7CE0FDE0B}"/>
                  </a:ext>
                </a:extLst>
              </p:cNvPr>
              <p:cNvSpPr>
                <a:spLocks noGrp="1" noRot="1" noChangeAspect="1" noMove="1" noResize="1" noEditPoints="1" noAdjustHandles="1" noChangeArrowheads="1" noChangeShapeType="1" noTextEdit="1"/>
              </p:cNvSpPr>
              <p:nvPr>
                <p:ph idx="1"/>
              </p:nvPr>
            </p:nvSpPr>
            <p:spPr>
              <a:xfrm>
                <a:off x="182880" y="1180408"/>
                <a:ext cx="11837324" cy="5425344"/>
              </a:xfrm>
              <a:blipFill>
                <a:blip r:embed="rId2"/>
                <a:stretch>
                  <a:fillRect l="-927" t="-2022"/>
                </a:stretch>
              </a:blipFill>
            </p:spPr>
            <p:txBody>
              <a:bodyPr/>
              <a:lstStyle/>
              <a:p>
                <a:r>
                  <a:rPr lang="en-US">
                    <a:noFill/>
                  </a:rPr>
                  <a:t> </a:t>
                </a:r>
              </a:p>
            </p:txBody>
          </p:sp>
        </mc:Fallback>
      </mc:AlternateContent>
    </p:spTree>
    <p:extLst>
      <p:ext uri="{BB962C8B-B14F-4D97-AF65-F5344CB8AC3E}">
        <p14:creationId xmlns:p14="http://schemas.microsoft.com/office/powerpoint/2010/main" val="5564524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6DBA98-7E16-DB40-F4E7-FD70265A813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ED338F41-0606-A3F3-0CE4-11E7BE1C5E5E}"/>
              </a:ext>
            </a:extLst>
          </p:cNvPr>
          <p:cNvSpPr>
            <a:spLocks noGrp="1"/>
          </p:cNvSpPr>
          <p:nvPr>
            <p:ph type="title"/>
          </p:nvPr>
        </p:nvSpPr>
        <p:spPr>
          <a:xfrm>
            <a:off x="838200" y="365126"/>
            <a:ext cx="10515600" cy="449521"/>
          </a:xfrm>
        </p:spPr>
        <p:txBody>
          <a:bodyPr>
            <a:normAutofit fontScale="90000"/>
          </a:bodyPr>
          <a:lstStyle/>
          <a:p>
            <a:r>
              <a:rPr lang="es-CR" dirty="0"/>
              <a:t>Regresión de Cox</a:t>
            </a:r>
            <a:endParaRPr lang="en-US" dirty="0"/>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0DF854CA-8207-4CE4-AD50-9AC8A99758AC}"/>
                  </a:ext>
                </a:extLst>
              </p:cNvPr>
              <p:cNvSpPr>
                <a:spLocks noGrp="1"/>
              </p:cNvSpPr>
              <p:nvPr>
                <p:ph idx="1"/>
              </p:nvPr>
            </p:nvSpPr>
            <p:spPr>
              <a:xfrm>
                <a:off x="182880" y="1180408"/>
                <a:ext cx="11837324" cy="5425344"/>
              </a:xfrm>
            </p:spPr>
            <p:txBody>
              <a:bodyPr>
                <a:normAutofit/>
              </a:bodyPr>
              <a:lstStyle/>
              <a:p>
                <a:pPr marL="57150" indent="-28575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r"/>
                  </a:tabLst>
                </a:pPr>
                <a:r>
                  <a:rPr lang="es-CR" dirty="0">
                    <a:effectLst/>
                    <a:latin typeface="Aptos (cuerpo)"/>
                    <a:ea typeface="Times New Roman" panose="02020603050405020304" pitchFamily="18" charset="0"/>
                  </a:rPr>
                  <a:t>Por lo que se llega a la siguiente función de verosimilitud parcial: </a:t>
                </a:r>
              </a:p>
              <a:p>
                <a:pPr marL="57150" indent="-28575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r"/>
                  </a:tabLst>
                </a:pPr>
                <a:endParaRPr lang="es-CR" dirty="0">
                  <a:latin typeface="Aptos (cuerpo)"/>
                  <a:ea typeface="Times New Roman" panose="02020603050405020304" pitchFamily="18" charset="0"/>
                </a:endParaRPr>
              </a:p>
              <a:p>
                <a:pPr marL="514350" lvl="1" indent="-28575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r"/>
                  </a:tabLst>
                </a:pPr>
                <a14:m>
                  <m:oMath xmlns:m="http://schemas.openxmlformats.org/officeDocument/2006/math">
                    <m:r>
                      <a:rPr lang="es-CR" sz="2800" i="1">
                        <a:latin typeface="Cambria Math" panose="02040503050406030204" pitchFamily="18" charset="0"/>
                        <a:ea typeface="Times New Roman" panose="02020603050405020304" pitchFamily="18" charset="0"/>
                      </a:rPr>
                      <m:t>𝐿</m:t>
                    </m:r>
                    <m:r>
                      <a:rPr lang="es-CR" sz="2800" i="1">
                        <a:latin typeface="Cambria Math" panose="02040503050406030204" pitchFamily="18" charset="0"/>
                        <a:ea typeface="Times New Roman" panose="02020603050405020304" pitchFamily="18" charset="0"/>
                      </a:rPr>
                      <m:t>=</m:t>
                    </m:r>
                    <m:nary>
                      <m:naryPr>
                        <m:chr m:val="∏"/>
                        <m:limLoc m:val="undOvr"/>
                        <m:ctrlPr>
                          <a:rPr lang="en-US" sz="2800" i="1">
                            <a:latin typeface="Cambria Math" panose="02040503050406030204" pitchFamily="18" charset="0"/>
                            <a:ea typeface="Times New Roman" panose="02020603050405020304" pitchFamily="18" charset="0"/>
                          </a:rPr>
                        </m:ctrlPr>
                      </m:naryPr>
                      <m:sub>
                        <m:r>
                          <a:rPr lang="es-CR" sz="2800" i="1">
                            <a:latin typeface="Cambria Math" panose="02040503050406030204" pitchFamily="18" charset="0"/>
                            <a:ea typeface="Times New Roman" panose="02020603050405020304" pitchFamily="18" charset="0"/>
                          </a:rPr>
                          <m:t>𝑗</m:t>
                        </m:r>
                        <m:r>
                          <a:rPr lang="es-CR" sz="2800" i="1">
                            <a:latin typeface="Cambria Math" panose="02040503050406030204" pitchFamily="18" charset="0"/>
                            <a:ea typeface="Times New Roman" panose="02020603050405020304" pitchFamily="18" charset="0"/>
                          </a:rPr>
                          <m:t>=1</m:t>
                        </m:r>
                      </m:sub>
                      <m:sup>
                        <m:r>
                          <a:rPr lang="es-CR" sz="2800" i="1">
                            <a:latin typeface="Cambria Math" panose="02040503050406030204" pitchFamily="18" charset="0"/>
                            <a:ea typeface="Times New Roman" panose="02020603050405020304" pitchFamily="18" charset="0"/>
                          </a:rPr>
                          <m:t>𝐷</m:t>
                        </m:r>
                      </m:sup>
                      <m:e>
                        <m:d>
                          <m:dPr>
                            <m:begChr m:val="{"/>
                            <m:endChr m:val="}"/>
                            <m:ctrlPr>
                              <a:rPr lang="en-US" sz="2800" i="1">
                                <a:latin typeface="Cambria Math" panose="02040503050406030204" pitchFamily="18" charset="0"/>
                                <a:ea typeface="Times New Roman" panose="02020603050405020304" pitchFamily="18" charset="0"/>
                              </a:rPr>
                            </m:ctrlPr>
                          </m:dPr>
                          <m:e>
                            <m:f>
                              <m:fPr>
                                <m:ctrlPr>
                                  <a:rPr lang="en-US" sz="2800" i="1">
                                    <a:latin typeface="Cambria Math" panose="02040503050406030204" pitchFamily="18" charset="0"/>
                                    <a:ea typeface="Times New Roman" panose="02020603050405020304" pitchFamily="18" charset="0"/>
                                  </a:rPr>
                                </m:ctrlPr>
                              </m:fPr>
                              <m:num>
                                <m:r>
                                  <m:rPr>
                                    <m:sty m:val="p"/>
                                  </m:rPr>
                                  <a:rPr lang="es-CR" sz="2800">
                                    <a:latin typeface="Cambria Math" panose="02040503050406030204" pitchFamily="18" charset="0"/>
                                    <a:ea typeface="Times New Roman" panose="02020603050405020304" pitchFamily="18" charset="0"/>
                                  </a:rPr>
                                  <m:t>exp</m:t>
                                </m:r>
                                <m:r>
                                  <a:rPr lang="es-CR" sz="2800">
                                    <a:latin typeface="Cambria Math" panose="02040503050406030204" pitchFamily="18" charset="0"/>
                                    <a:ea typeface="Times New Roman" panose="02020603050405020304" pitchFamily="18" charset="0"/>
                                  </a:rPr>
                                  <m:t>⁡</m:t>
                                </m:r>
                                <m:r>
                                  <a:rPr lang="es-CR" sz="2800" i="1">
                                    <a:latin typeface="Cambria Math" panose="02040503050406030204" pitchFamily="18" charset="0"/>
                                    <a:ea typeface="Times New Roman" panose="02020603050405020304" pitchFamily="18" charset="0"/>
                                  </a:rPr>
                                  <m:t>(</m:t>
                                </m:r>
                                <m:r>
                                  <a:rPr lang="es-CR" sz="2800" i="1">
                                    <a:latin typeface="Cambria Math" panose="02040503050406030204" pitchFamily="18" charset="0"/>
                                    <a:ea typeface="Times New Roman" panose="02020603050405020304" pitchFamily="18" charset="0"/>
                                  </a:rPr>
                                  <m:t>𝛽</m:t>
                                </m:r>
                                <m:r>
                                  <a:rPr lang="es-CR" sz="2800" i="1">
                                    <a:latin typeface="Cambria Math" panose="02040503050406030204" pitchFamily="18" charset="0"/>
                                    <a:ea typeface="Times New Roman" panose="02020603050405020304" pitchFamily="18" charset="0"/>
                                  </a:rPr>
                                  <m:t>′</m:t>
                                </m:r>
                                <m:sSub>
                                  <m:sSubPr>
                                    <m:ctrlPr>
                                      <a:rPr lang="en-US" sz="2800" i="1">
                                        <a:latin typeface="Cambria Math" panose="02040503050406030204" pitchFamily="18" charset="0"/>
                                        <a:ea typeface="Times New Roman" panose="02020603050405020304" pitchFamily="18" charset="0"/>
                                      </a:rPr>
                                    </m:ctrlPr>
                                  </m:sSubPr>
                                  <m:e>
                                    <m:r>
                                      <a:rPr lang="es-CR" sz="2800" i="1">
                                        <a:latin typeface="Cambria Math" panose="02040503050406030204" pitchFamily="18" charset="0"/>
                                        <a:ea typeface="Times New Roman" panose="02020603050405020304" pitchFamily="18" charset="0"/>
                                      </a:rPr>
                                      <m:t>𝑍</m:t>
                                    </m:r>
                                  </m:e>
                                  <m:sub>
                                    <m:r>
                                      <a:rPr lang="es-CR" sz="2800" i="1">
                                        <a:latin typeface="Cambria Math" panose="02040503050406030204" pitchFamily="18" charset="0"/>
                                        <a:ea typeface="Times New Roman" panose="02020603050405020304" pitchFamily="18" charset="0"/>
                                      </a:rPr>
                                      <m:t>(</m:t>
                                    </m:r>
                                    <m:r>
                                      <a:rPr lang="es-CR" sz="2800" i="1">
                                        <a:latin typeface="Cambria Math" panose="02040503050406030204" pitchFamily="18" charset="0"/>
                                        <a:ea typeface="Times New Roman" panose="02020603050405020304" pitchFamily="18" charset="0"/>
                                      </a:rPr>
                                      <m:t>𝑗</m:t>
                                    </m:r>
                                    <m:r>
                                      <a:rPr lang="es-CR" sz="2800" i="1">
                                        <a:latin typeface="Cambria Math" panose="02040503050406030204" pitchFamily="18" charset="0"/>
                                        <a:ea typeface="Times New Roman" panose="02020603050405020304" pitchFamily="18" charset="0"/>
                                      </a:rPr>
                                      <m:t>)</m:t>
                                    </m:r>
                                  </m:sub>
                                </m:sSub>
                                <m:r>
                                  <a:rPr lang="es-CR" sz="2800" i="1">
                                    <a:latin typeface="Cambria Math" panose="02040503050406030204" pitchFamily="18" charset="0"/>
                                    <a:ea typeface="Times New Roman" panose="02020603050405020304" pitchFamily="18" charset="0"/>
                                  </a:rPr>
                                  <m:t>)</m:t>
                                </m:r>
                              </m:num>
                              <m:den>
                                <m:d>
                                  <m:dPr>
                                    <m:begChr m:val="["/>
                                    <m:endChr m:val="]"/>
                                    <m:ctrlPr>
                                      <a:rPr lang="en-US" sz="2800" i="1">
                                        <a:latin typeface="Cambria Math" panose="02040503050406030204" pitchFamily="18" charset="0"/>
                                        <a:ea typeface="Times New Roman" panose="02020603050405020304" pitchFamily="18" charset="0"/>
                                      </a:rPr>
                                    </m:ctrlPr>
                                  </m:dPr>
                                  <m:e>
                                    <m:nary>
                                      <m:naryPr>
                                        <m:chr m:val="∑"/>
                                        <m:limLoc m:val="undOvr"/>
                                        <m:supHide m:val="on"/>
                                        <m:ctrlPr>
                                          <a:rPr lang="en-US" sz="2800" i="1">
                                            <a:latin typeface="Cambria Math" panose="02040503050406030204" pitchFamily="18" charset="0"/>
                                            <a:ea typeface="Times New Roman" panose="02020603050405020304" pitchFamily="18" charset="0"/>
                                          </a:rPr>
                                        </m:ctrlPr>
                                      </m:naryPr>
                                      <m:sub>
                                        <m:r>
                                          <a:rPr lang="es-CR" sz="2800" i="1">
                                            <a:latin typeface="Cambria Math" panose="02040503050406030204" pitchFamily="18" charset="0"/>
                                            <a:ea typeface="Times New Roman" panose="02020603050405020304" pitchFamily="18" charset="0"/>
                                          </a:rPr>
                                          <m:t>𝑚</m:t>
                                        </m:r>
                                        <m:r>
                                          <a:rPr lang="es-CR" sz="2800" i="1">
                                            <a:latin typeface="Cambria Math" panose="02040503050406030204" pitchFamily="18" charset="0"/>
                                            <a:ea typeface="Times New Roman" panose="02020603050405020304" pitchFamily="18" charset="0"/>
                                          </a:rPr>
                                          <m:t>∈</m:t>
                                        </m:r>
                                        <m:r>
                                          <a:rPr lang="es-CR" sz="2800" i="1">
                                            <a:latin typeface="Cambria Math" panose="02040503050406030204" pitchFamily="18" charset="0"/>
                                            <a:ea typeface="Times New Roman" panose="02020603050405020304" pitchFamily="18" charset="0"/>
                                          </a:rPr>
                                          <m:t>𝑅</m:t>
                                        </m:r>
                                        <m:d>
                                          <m:dPr>
                                            <m:begChr m:val="["/>
                                            <m:endChr m:val="]"/>
                                            <m:ctrlPr>
                                              <a:rPr lang="en-US" sz="2800" i="1">
                                                <a:latin typeface="Cambria Math" panose="02040503050406030204" pitchFamily="18" charset="0"/>
                                                <a:ea typeface="Times New Roman" panose="02020603050405020304" pitchFamily="18" charset="0"/>
                                              </a:rPr>
                                            </m:ctrlPr>
                                          </m:dPr>
                                          <m:e>
                                            <m:sSub>
                                              <m:sSubPr>
                                                <m:ctrlPr>
                                                  <a:rPr lang="en-US" sz="2800" i="1">
                                                    <a:latin typeface="Cambria Math" panose="02040503050406030204" pitchFamily="18" charset="0"/>
                                                    <a:ea typeface="Times New Roman" panose="02020603050405020304" pitchFamily="18" charset="0"/>
                                                  </a:rPr>
                                                </m:ctrlPr>
                                              </m:sSubPr>
                                              <m:e>
                                                <m:r>
                                                  <a:rPr lang="es-CR" sz="2800" i="1">
                                                    <a:latin typeface="Cambria Math" panose="02040503050406030204" pitchFamily="18" charset="0"/>
                                                    <a:ea typeface="Times New Roman" panose="02020603050405020304" pitchFamily="18" charset="0"/>
                                                  </a:rPr>
                                                  <m:t>𝑡</m:t>
                                                </m:r>
                                              </m:e>
                                              <m:sub>
                                                <m:r>
                                                  <a:rPr lang="es-CR" sz="2800" i="1">
                                                    <a:latin typeface="Cambria Math" panose="02040503050406030204" pitchFamily="18" charset="0"/>
                                                    <a:ea typeface="Times New Roman" panose="02020603050405020304" pitchFamily="18" charset="0"/>
                                                  </a:rPr>
                                                  <m:t>(</m:t>
                                                </m:r>
                                                <m:r>
                                                  <a:rPr lang="es-CR" sz="2800" i="1">
                                                    <a:latin typeface="Cambria Math" panose="02040503050406030204" pitchFamily="18" charset="0"/>
                                                    <a:ea typeface="Times New Roman" panose="02020603050405020304" pitchFamily="18" charset="0"/>
                                                  </a:rPr>
                                                  <m:t>𝑗</m:t>
                                                </m:r>
                                                <m:r>
                                                  <a:rPr lang="es-CR" sz="2800" i="1">
                                                    <a:latin typeface="Cambria Math" panose="02040503050406030204" pitchFamily="18" charset="0"/>
                                                    <a:ea typeface="Times New Roman" panose="02020603050405020304" pitchFamily="18" charset="0"/>
                                                  </a:rPr>
                                                  <m:t>)</m:t>
                                                </m:r>
                                              </m:sub>
                                            </m:sSub>
                                          </m:e>
                                        </m:d>
                                      </m:sub>
                                      <m:sup/>
                                      <m:e>
                                        <m:r>
                                          <m:rPr>
                                            <m:sty m:val="p"/>
                                          </m:rPr>
                                          <a:rPr lang="es-CR" sz="2800">
                                            <a:latin typeface="Cambria Math" panose="02040503050406030204" pitchFamily="18" charset="0"/>
                                            <a:ea typeface="Times New Roman" panose="02020603050405020304" pitchFamily="18" charset="0"/>
                                          </a:rPr>
                                          <m:t>exp</m:t>
                                        </m:r>
                                        <m:r>
                                          <a:rPr lang="es-CR" sz="2800">
                                            <a:latin typeface="Cambria Math" panose="02040503050406030204" pitchFamily="18" charset="0"/>
                                            <a:ea typeface="Times New Roman" panose="02020603050405020304" pitchFamily="18" charset="0"/>
                                          </a:rPr>
                                          <m:t>⁡</m:t>
                                        </m:r>
                                        <m:r>
                                          <a:rPr lang="es-CR" sz="2800" i="1">
                                            <a:latin typeface="Cambria Math" panose="02040503050406030204" pitchFamily="18" charset="0"/>
                                            <a:ea typeface="Times New Roman" panose="02020603050405020304" pitchFamily="18" charset="0"/>
                                          </a:rPr>
                                          <m:t>(</m:t>
                                        </m:r>
                                        <m:r>
                                          <a:rPr lang="es-CR" sz="2800" i="1">
                                            <a:latin typeface="Cambria Math" panose="02040503050406030204" pitchFamily="18" charset="0"/>
                                            <a:ea typeface="Times New Roman" panose="02020603050405020304" pitchFamily="18" charset="0"/>
                                          </a:rPr>
                                          <m:t>𝛽</m:t>
                                        </m:r>
                                        <m:r>
                                          <a:rPr lang="es-CR" sz="2800" i="1">
                                            <a:latin typeface="Cambria Math" panose="02040503050406030204" pitchFamily="18" charset="0"/>
                                            <a:ea typeface="Times New Roman" panose="02020603050405020304" pitchFamily="18" charset="0"/>
                                          </a:rPr>
                                          <m:t>′</m:t>
                                        </m:r>
                                        <m:sSub>
                                          <m:sSubPr>
                                            <m:ctrlPr>
                                              <a:rPr lang="en-US" sz="2800" i="1">
                                                <a:latin typeface="Cambria Math" panose="02040503050406030204" pitchFamily="18" charset="0"/>
                                                <a:ea typeface="Times New Roman" panose="02020603050405020304" pitchFamily="18" charset="0"/>
                                              </a:rPr>
                                            </m:ctrlPr>
                                          </m:sSubPr>
                                          <m:e>
                                            <m:r>
                                              <a:rPr lang="es-CR" sz="2800" i="1">
                                                <a:latin typeface="Cambria Math" panose="02040503050406030204" pitchFamily="18" charset="0"/>
                                                <a:ea typeface="Times New Roman" panose="02020603050405020304" pitchFamily="18" charset="0"/>
                                              </a:rPr>
                                              <m:t>𝑍</m:t>
                                            </m:r>
                                          </m:e>
                                          <m:sub>
                                            <m:r>
                                              <a:rPr lang="es-CR" sz="2800" i="1">
                                                <a:latin typeface="Cambria Math" panose="02040503050406030204" pitchFamily="18" charset="0"/>
                                                <a:ea typeface="Times New Roman" panose="02020603050405020304" pitchFamily="18" charset="0"/>
                                              </a:rPr>
                                              <m:t>𝑚</m:t>
                                            </m:r>
                                          </m:sub>
                                        </m:sSub>
                                        <m:r>
                                          <a:rPr lang="es-CR" sz="2800" i="1">
                                            <a:latin typeface="Cambria Math" panose="02040503050406030204" pitchFamily="18" charset="0"/>
                                            <a:ea typeface="Times New Roman" panose="02020603050405020304" pitchFamily="18" charset="0"/>
                                          </a:rPr>
                                          <m:t>)</m:t>
                                        </m:r>
                                      </m:e>
                                    </m:nary>
                                  </m:e>
                                </m:d>
                              </m:den>
                            </m:f>
                          </m:e>
                        </m:d>
                      </m:e>
                    </m:nary>
                  </m:oMath>
                </a14:m>
                <a:endParaRPr lang="es-CR" sz="2800" dirty="0">
                  <a:effectLst/>
                  <a:latin typeface="Aptos (cuerpo)"/>
                  <a:ea typeface="Times New Roman" panose="02020603050405020304" pitchFamily="18" charset="0"/>
                </a:endParaRPr>
              </a:p>
              <a:p>
                <a:pPr marL="57150" indent="-28575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r"/>
                  </a:tabLst>
                </a:pPr>
                <a:endParaRPr lang="es-CR" dirty="0">
                  <a:latin typeface="Aptos (cuerpo)"/>
                  <a:ea typeface="Times New Roman" panose="02020603050405020304" pitchFamily="18" charset="0"/>
                </a:endParaRPr>
              </a:p>
              <a:p>
                <a:pPr marL="57150" indent="-28575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r"/>
                  </a:tabLst>
                </a:pPr>
                <a:r>
                  <a:rPr lang="es-CR" dirty="0">
                    <a:effectLst/>
                    <a:latin typeface="Aptos (cuerpo)"/>
                    <a:ea typeface="Times New Roman" panose="02020603050405020304" pitchFamily="18" charset="0"/>
                  </a:rPr>
                  <a:t>Nótese que la función no están en función del </a:t>
                </a:r>
                <a:r>
                  <a:rPr lang="es-CR" dirty="0" err="1">
                    <a:effectLst/>
                    <a:latin typeface="Aptos (cuerpo)"/>
                    <a:ea typeface="Times New Roman" panose="02020603050405020304" pitchFamily="18" charset="0"/>
                  </a:rPr>
                  <a:t>hazard</a:t>
                </a:r>
                <a:r>
                  <a:rPr lang="es-CR" dirty="0">
                    <a:effectLst/>
                    <a:latin typeface="Aptos (cuerpo)"/>
                    <a:ea typeface="Times New Roman" panose="02020603050405020304" pitchFamily="18" charset="0"/>
                  </a:rPr>
                  <a:t> de línea base.</a:t>
                </a:r>
                <a:endParaRPr lang="en-US" dirty="0">
                  <a:effectLst/>
                  <a:latin typeface="Aptos (cuerpo)"/>
                  <a:ea typeface="Times New Roman" panose="02020603050405020304" pitchFamily="18" charset="0"/>
                </a:endParaRPr>
              </a:p>
              <a:p>
                <a:pPr marL="0" marR="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r"/>
                  </a:tabLst>
                </a:pPr>
                <a:r>
                  <a:rPr lang="es-CR" dirty="0">
                    <a:effectLst/>
                    <a:latin typeface="Aptos (cuerpo)"/>
                    <a:ea typeface="Times New Roman" panose="02020603050405020304" pitchFamily="18" charset="0"/>
                  </a:rPr>
                  <a:t>  </a:t>
                </a:r>
              </a:p>
              <a:p>
                <a:pPr marL="0" marR="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r"/>
                  </a:tabLst>
                </a:pPr>
                <a:endParaRPr lang="es-CR" sz="3200" dirty="0">
                  <a:latin typeface="Aptos (cuerpo)"/>
                  <a:ea typeface="Times New Roman" panose="02020603050405020304" pitchFamily="18" charset="0"/>
                </a:endParaRPr>
              </a:p>
              <a:p>
                <a:pPr marL="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r"/>
                  </a:tabLst>
                </a:pPr>
                <a:endParaRPr lang="en-US" sz="2600" dirty="0">
                  <a:effectLst/>
                  <a:latin typeface="Times New Roman" panose="02020603050405020304" pitchFamily="18" charset="0"/>
                  <a:ea typeface="Times New Roman" panose="02020603050405020304" pitchFamily="18" charset="0"/>
                </a:endParaRPr>
              </a:p>
              <a:p>
                <a:pPr marL="0" marR="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r"/>
                  </a:tabLst>
                </a:pPr>
                <a:endParaRPr lang="en-US" sz="3200" dirty="0">
                  <a:effectLst/>
                  <a:latin typeface="Aptos (cuerpo)"/>
                  <a:ea typeface="Times New Roman" panose="02020603050405020304" pitchFamily="18" charset="0"/>
                </a:endParaRPr>
              </a:p>
              <a:p>
                <a:endParaRPr lang="es-CR" dirty="0"/>
              </a:p>
            </p:txBody>
          </p:sp>
        </mc:Choice>
        <mc:Fallback xmlns="">
          <p:sp>
            <p:nvSpPr>
              <p:cNvPr id="3" name="Marcador de contenido 2">
                <a:extLst>
                  <a:ext uri="{FF2B5EF4-FFF2-40B4-BE49-F238E27FC236}">
                    <a16:creationId xmlns:a16="http://schemas.microsoft.com/office/drawing/2014/main" id="{0DF854CA-8207-4CE4-AD50-9AC8A99758AC}"/>
                  </a:ext>
                </a:extLst>
              </p:cNvPr>
              <p:cNvSpPr>
                <a:spLocks noGrp="1" noRot="1" noChangeAspect="1" noMove="1" noResize="1" noEditPoints="1" noAdjustHandles="1" noChangeArrowheads="1" noChangeShapeType="1" noTextEdit="1"/>
              </p:cNvSpPr>
              <p:nvPr>
                <p:ph idx="1"/>
              </p:nvPr>
            </p:nvSpPr>
            <p:spPr>
              <a:xfrm>
                <a:off x="182880" y="1180408"/>
                <a:ext cx="11837324" cy="5425344"/>
              </a:xfrm>
              <a:blipFill>
                <a:blip r:embed="rId2"/>
                <a:stretch>
                  <a:fillRect l="-927" t="-2022"/>
                </a:stretch>
              </a:blipFill>
            </p:spPr>
            <p:txBody>
              <a:bodyPr/>
              <a:lstStyle/>
              <a:p>
                <a:r>
                  <a:rPr lang="en-US">
                    <a:noFill/>
                  </a:rPr>
                  <a:t> </a:t>
                </a:r>
              </a:p>
            </p:txBody>
          </p:sp>
        </mc:Fallback>
      </mc:AlternateContent>
    </p:spTree>
    <p:extLst>
      <p:ext uri="{BB962C8B-B14F-4D97-AF65-F5344CB8AC3E}">
        <p14:creationId xmlns:p14="http://schemas.microsoft.com/office/powerpoint/2010/main" val="7328816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A2AD94-8D91-87B1-817D-896E3185C7EB}"/>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A9E87A71-24C0-0DD9-3F45-24AD5C2AE084}"/>
              </a:ext>
            </a:extLst>
          </p:cNvPr>
          <p:cNvSpPr>
            <a:spLocks noGrp="1"/>
          </p:cNvSpPr>
          <p:nvPr>
            <p:ph type="title"/>
          </p:nvPr>
        </p:nvSpPr>
        <p:spPr>
          <a:xfrm>
            <a:off x="838200" y="365126"/>
            <a:ext cx="10515600" cy="449521"/>
          </a:xfrm>
        </p:spPr>
        <p:txBody>
          <a:bodyPr>
            <a:normAutofit fontScale="90000"/>
          </a:bodyPr>
          <a:lstStyle/>
          <a:p>
            <a:r>
              <a:rPr lang="es-CR" dirty="0"/>
              <a:t>Supuestos del modelo de regresión de Cox</a:t>
            </a:r>
            <a:endParaRPr lang="en-US" dirty="0"/>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CACF44BD-3630-FDC1-3165-29BEA0678EF2}"/>
                  </a:ext>
                </a:extLst>
              </p:cNvPr>
              <p:cNvSpPr>
                <a:spLocks noGrp="1"/>
              </p:cNvSpPr>
              <p:nvPr>
                <p:ph idx="1"/>
              </p:nvPr>
            </p:nvSpPr>
            <p:spPr>
              <a:xfrm>
                <a:off x="182880" y="1030778"/>
                <a:ext cx="11837324" cy="5574974"/>
              </a:xfrm>
            </p:spPr>
            <p:txBody>
              <a:bodyPr>
                <a:normAutofit lnSpcReduction="10000"/>
              </a:bodyPr>
              <a:lstStyle/>
              <a:p>
                <a:pPr marL="342900" marR="0" lvl="0" indent="-342900">
                  <a:buFont typeface="+mj-lt"/>
                  <a:buAutoNum type="alphaLcParen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r"/>
                  </a:tabLst>
                </a:pPr>
                <a:r>
                  <a:rPr lang="es-CR" sz="2600" dirty="0">
                    <a:effectLst/>
                    <a:ea typeface="Times New Roman" panose="02020603050405020304" pitchFamily="18" charset="0"/>
                  </a:rPr>
                  <a:t>Riesgos proporcionales: Los </a:t>
                </a:r>
                <a:r>
                  <a:rPr lang="es-CR" sz="2600" dirty="0" err="1">
                    <a:effectLst/>
                    <a:ea typeface="Times New Roman" panose="02020603050405020304" pitchFamily="18" charset="0"/>
                  </a:rPr>
                  <a:t>hazards</a:t>
                </a:r>
                <a:r>
                  <a:rPr lang="es-CR" sz="2600" dirty="0">
                    <a:effectLst/>
                    <a:ea typeface="Times New Roman" panose="02020603050405020304" pitchFamily="18" charset="0"/>
                  </a:rPr>
                  <a:t> del grupo definido por Z(j)=z son k veces los </a:t>
                </a:r>
                <a:r>
                  <a:rPr lang="es-CR" sz="2600" dirty="0" err="1">
                    <a:effectLst/>
                    <a:ea typeface="Times New Roman" panose="02020603050405020304" pitchFamily="18" charset="0"/>
                  </a:rPr>
                  <a:t>hazards</a:t>
                </a:r>
                <a:r>
                  <a:rPr lang="es-CR" sz="2600" dirty="0">
                    <a:effectLst/>
                    <a:ea typeface="Times New Roman" panose="02020603050405020304" pitchFamily="18" charset="0"/>
                  </a:rPr>
                  <a:t> del grupo representado por la línea de base a través de todo el tiempo de observación, en donde el valor k es igual a </a:t>
                </a:r>
                <a:r>
                  <a:rPr lang="es-CR" sz="2600" dirty="0" err="1">
                    <a:effectLst/>
                    <a:ea typeface="Times New Roman" panose="02020603050405020304" pitchFamily="18" charset="0"/>
                  </a:rPr>
                  <a:t>exp</a:t>
                </a:r>
                <a:r>
                  <a:rPr lang="es-CR" sz="2600" dirty="0">
                    <a:effectLst/>
                    <a:ea typeface="Times New Roman" panose="02020603050405020304" pitchFamily="18" charset="0"/>
                  </a:rPr>
                  <a:t>(</a:t>
                </a:r>
                <a:r>
                  <a:rPr lang="es-CR" sz="2600" dirty="0">
                    <a:effectLst/>
                    <a:ea typeface="Times New Roman" panose="02020603050405020304" pitchFamily="18" charset="0"/>
                    <a:sym typeface="Symbol" panose="05050102010706020507" pitchFamily="18" charset="2"/>
                  </a:rPr>
                  <a:t></a:t>
                </a:r>
                <a:r>
                  <a:rPr lang="es-CR" sz="2600" dirty="0">
                    <a:effectLst/>
                    <a:ea typeface="Times New Roman" panose="02020603050405020304" pitchFamily="18" charset="0"/>
                  </a:rPr>
                  <a:t>*z).</a:t>
                </a:r>
              </a:p>
              <a:p>
                <a:pPr marL="342900" marR="0" lvl="0" indent="-342900">
                  <a:buFont typeface="+mj-lt"/>
                  <a:buAutoNum type="alphaLcParen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r"/>
                  </a:tabLst>
                </a:pPr>
                <a:endParaRPr lang="en-US" sz="2600" dirty="0">
                  <a:effectLst/>
                  <a:ea typeface="Times New Roman" panose="02020603050405020304" pitchFamily="18" charset="0"/>
                </a:endParaRPr>
              </a:p>
              <a:p>
                <a:pPr marL="342900" marR="0" lvl="0" indent="-342900">
                  <a:buFont typeface="+mj-lt"/>
                  <a:buAutoNum type="alphaLcParen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r"/>
                  </a:tabLst>
                </a:pPr>
                <a:r>
                  <a:rPr lang="es-CR" sz="2600" dirty="0">
                    <a:effectLst/>
                    <a:ea typeface="Times New Roman" panose="02020603050405020304" pitchFamily="18" charset="0"/>
                  </a:rPr>
                  <a:t>El modelo descrito anteriormente supone que no hay empates.  Sin embargo, se pueden hacer correcciones si se dan empates.  En el libro, se explican diferentes formas de plantear la verosimilitud parcial suponiendo que hay empates.</a:t>
                </a:r>
              </a:p>
              <a:p>
                <a:pPr marL="342900" marR="0" lvl="0" indent="-342900">
                  <a:buFont typeface="+mj-lt"/>
                  <a:buAutoNum type="alphaLcParen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r"/>
                  </a:tabLst>
                </a:pPr>
                <a:endParaRPr lang="en-US" sz="2600" dirty="0">
                  <a:effectLst/>
                  <a:ea typeface="Times New Roman" panose="02020603050405020304" pitchFamily="18" charset="0"/>
                </a:endParaRPr>
              </a:p>
              <a:p>
                <a:pPr marL="342900" marR="0" lvl="0" indent="-342900">
                  <a:buFont typeface="+mj-lt"/>
                  <a:buAutoNum type="alphaLcParen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r"/>
                  </a:tabLst>
                </a:pPr>
                <a:r>
                  <a:rPr lang="es-CR" sz="2600" dirty="0">
                    <a:effectLst/>
                    <a:ea typeface="Times New Roman" panose="02020603050405020304" pitchFamily="18" charset="0"/>
                  </a:rPr>
                  <a:t>El estimador </a:t>
                </a:r>
                <a14:m>
                  <m:oMath xmlns:m="http://schemas.openxmlformats.org/officeDocument/2006/math">
                    <m:acc>
                      <m:accPr>
                        <m:chr m:val="̂"/>
                        <m:ctrlPr>
                          <a:rPr lang="es-CR" sz="2600" i="1" smtClean="0">
                            <a:effectLst/>
                            <a:latin typeface="Cambria Math" panose="02040503050406030204" pitchFamily="18" charset="0"/>
                          </a:rPr>
                        </m:ctrlPr>
                      </m:accPr>
                      <m:e>
                        <m:r>
                          <a:rPr lang="es-CR" sz="2600" i="1" smtClean="0">
                            <a:effectLst/>
                            <a:latin typeface="Cambria Math" panose="02040503050406030204" pitchFamily="18" charset="0"/>
                            <a:ea typeface="Cambria Math" panose="02040503050406030204" pitchFamily="18" charset="0"/>
                          </a:rPr>
                          <m:t>𝛽</m:t>
                        </m:r>
                      </m:e>
                    </m:acc>
                  </m:oMath>
                </a14:m>
                <a:r>
                  <a:rPr lang="es-CR" sz="2600" dirty="0">
                    <a:effectLst/>
                    <a:ea typeface="Times New Roman" panose="02020603050405020304" pitchFamily="18" charset="0"/>
                  </a:rPr>
                  <a:t> de </a:t>
                </a:r>
                <a:r>
                  <a:rPr lang="en-US" sz="2600" dirty="0">
                    <a:effectLst/>
                    <a:ea typeface="Times New Roman" panose="02020603050405020304" pitchFamily="18" charset="0"/>
                    <a:sym typeface="Symbol" panose="05050102010706020507" pitchFamily="18" charset="2"/>
                  </a:rPr>
                  <a:t></a:t>
                </a:r>
                <a:r>
                  <a:rPr lang="es-CR" sz="2600" dirty="0">
                    <a:effectLst/>
                    <a:ea typeface="Times New Roman" panose="02020603050405020304" pitchFamily="18" charset="0"/>
                  </a:rPr>
                  <a:t> es un estimador máximo verosímil, pero en donde se maximiza la función de verosimilitud parcial.  Dada esta condición, este estimador tiene propiedades distribucionales asintóticas.  En otras palabras, para usar la distribución z como distribución muestral de </a:t>
                </a:r>
                <a14:m>
                  <m:oMath xmlns:m="http://schemas.openxmlformats.org/officeDocument/2006/math">
                    <m:acc>
                      <m:accPr>
                        <m:chr m:val="̂"/>
                        <m:ctrlPr>
                          <a:rPr lang="es-CR" sz="2600" i="1">
                            <a:latin typeface="Cambria Math" panose="02040503050406030204" pitchFamily="18" charset="0"/>
                          </a:rPr>
                        </m:ctrlPr>
                      </m:accPr>
                      <m:e>
                        <m:r>
                          <a:rPr lang="es-CR" sz="2600" i="1">
                            <a:latin typeface="Cambria Math" panose="02040503050406030204" pitchFamily="18" charset="0"/>
                            <a:ea typeface="Cambria Math" panose="02040503050406030204" pitchFamily="18" charset="0"/>
                          </a:rPr>
                          <m:t>𝛽</m:t>
                        </m:r>
                      </m:e>
                    </m:acc>
                  </m:oMath>
                </a14:m>
                <a:r>
                  <a:rPr lang="es-CR" sz="2600" dirty="0">
                    <a:ea typeface="Times New Roman" panose="02020603050405020304" pitchFamily="18" charset="0"/>
                  </a:rPr>
                  <a:t> </a:t>
                </a:r>
                <a:r>
                  <a:rPr lang="es-CR" sz="2600" dirty="0">
                    <a:effectLst/>
                    <a:ea typeface="Times New Roman" panose="02020603050405020304" pitchFamily="18" charset="0"/>
                  </a:rPr>
                  <a:t>, se tiene que suponer que se tienen muestras grandes.</a:t>
                </a:r>
                <a:endParaRPr lang="en-US" sz="2600" dirty="0">
                  <a:effectLst/>
                  <a:ea typeface="Times New Roman" panose="02020603050405020304" pitchFamily="18" charset="0"/>
                </a:endParaRPr>
              </a:p>
              <a:p>
                <a:pPr marL="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r"/>
                  </a:tabLst>
                </a:pPr>
                <a:endParaRPr lang="en-US" sz="2600" dirty="0">
                  <a:effectLst/>
                  <a:ea typeface="Times New Roman" panose="02020603050405020304" pitchFamily="18" charset="0"/>
                </a:endParaRPr>
              </a:p>
              <a:p>
                <a:pPr marL="0" marR="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r"/>
                  </a:tabLst>
                </a:pPr>
                <a:endParaRPr lang="en-US" sz="3200" dirty="0">
                  <a:effectLst/>
                  <a:latin typeface="Aptos (cuerpo)"/>
                  <a:ea typeface="Times New Roman" panose="02020603050405020304" pitchFamily="18" charset="0"/>
                </a:endParaRPr>
              </a:p>
              <a:p>
                <a:endParaRPr lang="es-CR" dirty="0"/>
              </a:p>
            </p:txBody>
          </p:sp>
        </mc:Choice>
        <mc:Fallback xmlns="">
          <p:sp>
            <p:nvSpPr>
              <p:cNvPr id="3" name="Marcador de contenido 2">
                <a:extLst>
                  <a:ext uri="{FF2B5EF4-FFF2-40B4-BE49-F238E27FC236}">
                    <a16:creationId xmlns:a16="http://schemas.microsoft.com/office/drawing/2014/main" id="{CACF44BD-3630-FDC1-3165-29BEA0678EF2}"/>
                  </a:ext>
                </a:extLst>
              </p:cNvPr>
              <p:cNvSpPr>
                <a:spLocks noGrp="1" noRot="1" noChangeAspect="1" noMove="1" noResize="1" noEditPoints="1" noAdjustHandles="1" noChangeArrowheads="1" noChangeShapeType="1" noTextEdit="1"/>
              </p:cNvSpPr>
              <p:nvPr>
                <p:ph idx="1"/>
              </p:nvPr>
            </p:nvSpPr>
            <p:spPr>
              <a:xfrm>
                <a:off x="182880" y="1030778"/>
                <a:ext cx="11837324" cy="5574974"/>
              </a:xfrm>
              <a:blipFill>
                <a:blip r:embed="rId2"/>
                <a:stretch>
                  <a:fillRect l="-927" t="-2295"/>
                </a:stretch>
              </a:blipFill>
            </p:spPr>
            <p:txBody>
              <a:bodyPr/>
              <a:lstStyle/>
              <a:p>
                <a:r>
                  <a:rPr lang="en-US">
                    <a:noFill/>
                  </a:rPr>
                  <a:t> </a:t>
                </a:r>
              </a:p>
            </p:txBody>
          </p:sp>
        </mc:Fallback>
      </mc:AlternateContent>
    </p:spTree>
    <p:extLst>
      <p:ext uri="{BB962C8B-B14F-4D97-AF65-F5344CB8AC3E}">
        <p14:creationId xmlns:p14="http://schemas.microsoft.com/office/powerpoint/2010/main" val="130470460"/>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2277</TotalTime>
  <Words>581</Words>
  <Application>Microsoft Office PowerPoint</Application>
  <PresentationFormat>Panorámica</PresentationFormat>
  <Paragraphs>59</Paragraphs>
  <Slides>9</Slides>
  <Notes>0</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9</vt:i4>
      </vt:variant>
    </vt:vector>
  </HeadingPairs>
  <TitlesOfParts>
    <vt:vector size="17" baseType="lpstr">
      <vt:lpstr>Aptos</vt:lpstr>
      <vt:lpstr>Aptos (cuerpo)</vt:lpstr>
      <vt:lpstr>Aptos Display</vt:lpstr>
      <vt:lpstr>Arial</vt:lpstr>
      <vt:lpstr>Cambria Math</vt:lpstr>
      <vt:lpstr>Symbol</vt:lpstr>
      <vt:lpstr>Times New Roman</vt:lpstr>
      <vt:lpstr>Tema de Office</vt:lpstr>
      <vt:lpstr>XS-3010 Introducción a la demografía y bioestadística 2025</vt:lpstr>
      <vt:lpstr>Guía</vt:lpstr>
      <vt:lpstr>Regresión de Cox</vt:lpstr>
      <vt:lpstr>Regresión de Cox</vt:lpstr>
      <vt:lpstr>Regresión de Cox</vt:lpstr>
      <vt:lpstr>Regresión de Cox</vt:lpstr>
      <vt:lpstr>Regresión de Cox</vt:lpstr>
      <vt:lpstr>Regresión de Cox</vt:lpstr>
      <vt:lpstr>Supuestos del modelo de regresión de Cox</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Gilbert Brenes-Camacho</dc:creator>
  <cp:lastModifiedBy>Gilbert Brenes</cp:lastModifiedBy>
  <cp:revision>57</cp:revision>
  <dcterms:created xsi:type="dcterms:W3CDTF">2025-01-10T18:14:17Z</dcterms:created>
  <dcterms:modified xsi:type="dcterms:W3CDTF">2026-03-06T15:39:33Z</dcterms:modified>
</cp:coreProperties>
</file>