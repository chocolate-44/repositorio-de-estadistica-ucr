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65" r:id="rId6"/>
    <p:sldId id="266" r:id="rId7"/>
    <p:sldId id="267" r:id="rId8"/>
    <p:sldId id="260" r:id="rId9"/>
    <p:sldId id="259" r:id="rId10"/>
    <p:sldId id="261" r:id="rId11"/>
    <p:sldId id="268" r:id="rId12"/>
    <p:sldId id="262" r:id="rId13"/>
    <p:sldId id="263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F9E0F-2E37-D02F-547A-10F255FF2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671617-3171-C0BB-7B2D-FFAD6F344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47B137-18FE-FB7D-8BF6-535881DF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8E15A3-A9FB-E51A-6027-7A459C712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AEB6A8-87B8-0FE2-8510-B477863A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11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4B53C-26E4-4134-73B5-99607FF8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0AA165-019D-8D97-5339-692E5ECA0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A95A2F-9947-C6DB-7193-A2165E6B7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D0C00C-8058-4459-BB83-F55E2DC1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8232C3-9540-7A94-419A-AEFD82DC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5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BEECA-3AA7-4D32-7042-A8B54A6B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5696CA-D73C-A1A6-BA95-E0D7B4237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58304-32CA-3CA1-1FEA-B54A6997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2470CC-025A-4FA6-3440-70494EFBF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8631FF-C52A-37B0-1CB5-4C47A825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5B9E0-5F65-F95C-75A5-FFDFA572D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C07C85-FC85-A278-CBB6-F7BA37D38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A9137E-6DA1-1130-C0F6-0EFAF2564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243844-8075-2FD4-1CCF-DE1ABECC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5AC555-78FE-1B1B-7737-E79DCF37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3F9F5C-5DFD-32D8-7DB2-B044BEA4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59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255C0-1415-85BE-1165-9C0C54F07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0A1395-0A9F-B80E-E211-F1ACA8325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D740BA-BF8A-108D-EACE-225C192F9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784550-95A2-77DC-D665-433729443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531739-FB3E-B2CC-A0DB-6D8ED7CF8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871342-3E4B-6DB6-2FF7-A0D5D2DE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35E8FDE-7414-CF64-FF6E-FEC0CC28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08BCD7-8715-678B-A4B2-84F06478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7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D7687-04E9-D6B1-A4FF-1A9CFCF2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F5849E-DE97-5A76-F782-8354D71D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0C7457-F67A-3A13-2724-40313EE3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9BA60A-5909-F0B8-0EAE-8FAEA7530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6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5915CA-E095-FAA6-F2FB-AD27D9CF4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3CBB2E-B003-4EBF-5D10-DD61FA6D2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DFD563-37EF-1088-2DAD-86E1CDA5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18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96882-6B5B-134A-1A76-8B29181B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057575-A3C6-3476-6CBD-2E57BA6BF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8DF928-6051-AFCD-7EF8-FFFC297FD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598E56-7530-3052-762D-51C64A133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B0D834-54DF-9448-9C2A-E3F16D772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5B2950-AC42-85DE-D11F-EED4223F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1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BEFF3-A2EC-EED8-FEA5-1DFF3828E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566923D-B92D-3492-502B-2AC57CC19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B5D60C-0915-EA6A-7D7B-93EDA3F78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856C2D-73B1-4F36-1491-9038AEE4D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9C87A3-772E-817F-E0BD-CEB52B825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A8470E-36E1-7796-C269-F5FABC64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19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5BD62-80B5-73AC-247B-557D541B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56E60C-69ED-36D4-E379-D90AA993E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533B8-B990-570F-2FF9-F5CB4C8A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2D7539-EC26-3063-B6AA-BDDD30A4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213976-546D-B209-4AE5-55B62C10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7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032FBA-D46B-9AD9-6A4A-CCC671639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0765D1-3113-7EE5-5D68-7C2610512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BF1DF9-8FBB-EF60-5CB8-B832135B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117F01-7DF1-4C58-D99D-DDCD2750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479F5B-A745-4D30-0645-6FD930FF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0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C587F12-B27F-FB1F-C6A6-F70AD3126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0B90C4-B84F-C1FB-760E-72D4EA32F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73809E-B4B5-A1E4-417D-0E7C53210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1F3F1-497C-47B9-A18E-83DECA3909B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296595-A99A-7B3C-D00D-B8BF2287F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634B69-AF7A-9040-FD3E-70FCCA37C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975F5-9759-D9DD-E21A-5B7FE4D546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R" dirty="0"/>
              <a:t>XS-3010 Introducción a la demografía y bioestadística</a:t>
            </a:r>
            <a:br>
              <a:rPr lang="en-US" dirty="0"/>
            </a:br>
            <a:r>
              <a:rPr lang="en-US" dirty="0"/>
              <a:t>2025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45B192-1ED3-E270-42E8-2C7C1D9FDD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Profesor</a:t>
            </a:r>
            <a:r>
              <a:rPr lang="en-US" dirty="0"/>
              <a:t> Gilbert </a:t>
            </a:r>
            <a:r>
              <a:rPr lang="en-US" dirty="0" err="1"/>
              <a:t>Brenes</a:t>
            </a:r>
            <a:r>
              <a:rPr lang="en-US" dirty="0"/>
              <a:t> Camacho, Grupo 01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COMPOSICI</a:t>
            </a:r>
            <a:r>
              <a:rPr lang="es-CR" dirty="0"/>
              <a:t>ÓN DE LA POBLACIÓN.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622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3B47C-32F1-1ECC-95EB-A077866F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Guía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7D0468-056F-7E17-F512-4EFD0D5D0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5026682"/>
          </a:xfrm>
        </p:spPr>
        <p:txBody>
          <a:bodyPr>
            <a:normAutofit/>
          </a:bodyPr>
          <a:lstStyle/>
          <a:p>
            <a:r>
              <a:rPr lang="es-CR" dirty="0"/>
              <a:t>Variables demográficas para desagregar la población</a:t>
            </a:r>
          </a:p>
          <a:p>
            <a:r>
              <a:rPr lang="es-CR" dirty="0"/>
              <a:t>Composición por sexo y edad</a:t>
            </a:r>
          </a:p>
          <a:p>
            <a:pPr lvl="1"/>
            <a:r>
              <a:rPr lang="es-CR" dirty="0"/>
              <a:t>Razón de masculinidad</a:t>
            </a:r>
          </a:p>
          <a:p>
            <a:pPr lvl="1"/>
            <a:r>
              <a:rPr lang="es-CR" dirty="0"/>
              <a:t>Pirámides de población</a:t>
            </a:r>
          </a:p>
          <a:p>
            <a:pPr lvl="1"/>
            <a:r>
              <a:rPr lang="es-CR" dirty="0"/>
              <a:t>Subgrupos especiales.</a:t>
            </a:r>
          </a:p>
          <a:p>
            <a:pPr lvl="1"/>
            <a:r>
              <a:rPr lang="es-CR" dirty="0"/>
              <a:t>Razones de dependencia.</a:t>
            </a:r>
          </a:p>
          <a:p>
            <a:pPr lvl="1"/>
            <a:r>
              <a:rPr lang="es-CR" dirty="0"/>
              <a:t>Edades promedio y edad mediana</a:t>
            </a:r>
          </a:p>
          <a:p>
            <a:r>
              <a:rPr lang="es-CR" dirty="0"/>
              <a:t>Calidad de la información sobre composición por sexo y edad</a:t>
            </a:r>
          </a:p>
          <a:p>
            <a:pPr lvl="1"/>
            <a:r>
              <a:rPr lang="es-CR" dirty="0"/>
              <a:t>Fuentes de datos y sus errores</a:t>
            </a:r>
          </a:p>
          <a:p>
            <a:pPr lvl="1"/>
            <a:r>
              <a:rPr lang="es-CR" dirty="0"/>
              <a:t>Índice de </a:t>
            </a:r>
            <a:r>
              <a:rPr lang="es-CR" dirty="0" err="1"/>
              <a:t>Whipple</a:t>
            </a:r>
            <a:r>
              <a:rPr lang="es-CR" dirty="0"/>
              <a:t>: Cálculo y supuestos.</a:t>
            </a:r>
          </a:p>
          <a:p>
            <a:r>
              <a:rPr lang="es-CR" dirty="0"/>
              <a:t>Discusión sobre envejecimiento poblacional</a:t>
            </a:r>
          </a:p>
        </p:txBody>
      </p:sp>
    </p:spTree>
    <p:extLst>
      <p:ext uri="{BB962C8B-B14F-4D97-AF65-F5344CB8AC3E}">
        <p14:creationId xmlns:p14="http://schemas.microsoft.com/office/powerpoint/2010/main" val="28839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F746-29AE-1097-D16D-27F7E1537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F888-D33A-2737-EA61-9ECBDE46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Variables de desagregación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DB1BE9-ED97-ACCA-103D-B9103B96D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R" dirty="0"/>
              <a:t>Principales variables: sexo y edad</a:t>
            </a:r>
          </a:p>
          <a:p>
            <a:r>
              <a:rPr lang="es-CR" dirty="0"/>
              <a:t>Otras variables relacionadas:</a:t>
            </a:r>
          </a:p>
          <a:p>
            <a:pPr lvl="1"/>
            <a:r>
              <a:rPr lang="es-CR" dirty="0"/>
              <a:t>Estado conyugal</a:t>
            </a:r>
          </a:p>
          <a:p>
            <a:pPr lvl="1"/>
            <a:r>
              <a:rPr lang="es-CR" dirty="0"/>
              <a:t>Lugar de residencia</a:t>
            </a:r>
          </a:p>
          <a:p>
            <a:pPr lvl="1"/>
            <a:r>
              <a:rPr lang="es-CR" dirty="0"/>
              <a:t>Lugar de nacimiento vs nacionalidad: Definición de migrante</a:t>
            </a:r>
          </a:p>
          <a:p>
            <a:pPr lvl="1"/>
            <a:r>
              <a:rPr lang="es-CR" dirty="0"/>
              <a:t>Actividad económica: Activos vs Inactivos, Ocupados vs Desocupados.</a:t>
            </a:r>
          </a:p>
          <a:p>
            <a:pPr lvl="1"/>
            <a:r>
              <a:rPr lang="es-CR" dirty="0"/>
              <a:t>Descomposición por otras variables según la unidad de análisis:</a:t>
            </a:r>
          </a:p>
          <a:p>
            <a:pPr lvl="2"/>
            <a:r>
              <a:rPr lang="es-CR" dirty="0"/>
              <a:t>Persona</a:t>
            </a:r>
          </a:p>
          <a:p>
            <a:pPr lvl="2"/>
            <a:r>
              <a:rPr lang="es-CR" dirty="0"/>
              <a:t>Hogar</a:t>
            </a:r>
          </a:p>
          <a:p>
            <a:pPr lvl="2"/>
            <a:r>
              <a:rPr lang="es-CR" dirty="0"/>
              <a:t>Vivienda</a:t>
            </a:r>
          </a:p>
        </p:txBody>
      </p:sp>
    </p:spTree>
    <p:extLst>
      <p:ext uri="{BB962C8B-B14F-4D97-AF65-F5344CB8AC3E}">
        <p14:creationId xmlns:p14="http://schemas.microsoft.com/office/powerpoint/2010/main" val="1957573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D4E6E-FA53-3D72-C1BC-04F36CAEF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Estructura de población por sexo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8A1A153-C4B7-1A1F-BDA0-35A0370D8B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Definición “biológica” vs “social”: Ventajas y desventajas analíticas.</a:t>
                </a:r>
              </a:p>
              <a:p>
                <a:r>
                  <a:rPr lang="es-ES" dirty="0"/>
                  <a:t>Razón de Masculinidad o Razón de Sexos: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𝑅𝑎𝑧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ó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𝑑𝑒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𝑀𝑎𝑠𝑐𝑢𝑙𝑖𝑛𝑖𝑑𝑎𝑑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𝑀𝑎𝑠𝑐</m:t>
                            </m:r>
                          </m:sub>
                        </m:s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𝐹𝑒𝑚</m:t>
                            </m:r>
                          </m:sub>
                        </m:sSub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∗100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 err="1"/>
                  <a:t>Interpretación</a:t>
                </a:r>
                <a:r>
                  <a:rPr lang="en-US" dirty="0"/>
                  <a:t>: </a:t>
                </a:r>
                <a:r>
                  <a:rPr lang="en-US" dirty="0" err="1"/>
                  <a:t>Cantidad</a:t>
                </a:r>
                <a:r>
                  <a:rPr lang="en-US" dirty="0"/>
                  <a:t> de hombres que hay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población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en-US" dirty="0" err="1"/>
                  <a:t>cada</a:t>
                </a:r>
                <a:r>
                  <a:rPr lang="en-US" dirty="0"/>
                  <a:t> 100 </a:t>
                </a:r>
                <a:r>
                  <a:rPr lang="en-US" dirty="0" err="1"/>
                  <a:t>mujeres</a:t>
                </a:r>
                <a:r>
                  <a:rPr lang="en-US" dirty="0"/>
                  <a:t>.</a:t>
                </a:r>
              </a:p>
              <a:p>
                <a:pPr lvl="1"/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8A1A153-C4B7-1A1F-BDA0-35A0370D8B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158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96C28-1CE2-7756-601C-1421975FD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51B863-9A86-2C04-C5EE-5E7FFB957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Estructura por sexo y edad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9A1E12-1CFD-E9A4-98FC-5B1FEBF76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R" dirty="0"/>
              <a:t>El análisis de la estructura por sexo y edad es un análisis de “estado” </a:t>
            </a:r>
            <a:r>
              <a:rPr lang="es-CR" dirty="0" err="1"/>
              <a:t>ó</a:t>
            </a:r>
            <a:r>
              <a:rPr lang="es-CR" dirty="0"/>
              <a:t> “stock”.</a:t>
            </a:r>
          </a:p>
          <a:p>
            <a:r>
              <a:rPr lang="es-CR" dirty="0"/>
              <a:t>Sin embargo, refleja los efectos de los componentes del cambio poblacional  a través del tiempo.</a:t>
            </a:r>
          </a:p>
          <a:p>
            <a:r>
              <a:rPr lang="es-CR" dirty="0"/>
              <a:t>La estructura de la población en general permite también el cálculo de tasas específicas, razones y proporciones:</a:t>
            </a:r>
          </a:p>
          <a:p>
            <a:pPr lvl="1"/>
            <a:r>
              <a:rPr lang="es-CR" dirty="0"/>
              <a:t>Se analiza entonces la estructura de la mortalidad o de la fecundidad al analizar las tasas específicas por edad.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3894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1CD45-A3EF-45E6-7E8F-520CFC067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131F39-1EB7-D911-B304-250E605B8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Razones de masculinidad por edad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3D7F68-4FB1-080A-3D32-418AB25EC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R" dirty="0"/>
              <a:t>Las razones de masculinidad por edad permiten resumir la interrelación entre estas variables:</a:t>
            </a:r>
          </a:p>
          <a:p>
            <a:pPr lvl="1"/>
            <a:r>
              <a:rPr lang="es-CR" dirty="0"/>
              <a:t>Por ejemplo, la Razón de Masculinidad al Nacimiento refleja patrones biológicos más o menos estables en distintas poblaciones.</a:t>
            </a:r>
          </a:p>
          <a:p>
            <a:pPr lvl="1"/>
            <a:r>
              <a:rPr lang="es-CR" dirty="0"/>
              <a:t>En la mayoría de poblaciones humanas en las que se haya erradicado la mortalidad materna, la curva de la Razón de Masculinidad por edad sigue un patrón descendente claro.</a:t>
            </a:r>
          </a:p>
          <a:p>
            <a:r>
              <a:rPr lang="es-CR" dirty="0"/>
              <a:t>Pueden servir para el análisis de la calidad de la información.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1981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770B1-2E5A-045F-8B22-826609EDD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2DBFA-28B2-5BA9-3450-03594BEFA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2337"/>
          </a:xfrm>
        </p:spPr>
        <p:txBody>
          <a:bodyPr>
            <a:normAutofit/>
          </a:bodyPr>
          <a:lstStyle/>
          <a:p>
            <a:r>
              <a:rPr lang="es-CR" sz="3200" dirty="0"/>
              <a:t>Gr 1.  Suiza: Razón de masculinidad por edad, 2023</a:t>
            </a:r>
            <a:endParaRPr lang="en-US" sz="320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874CE50-2CF0-7180-100E-8B8AA2EC3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11613"/>
            <a:ext cx="10515600" cy="4887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sz="2200" dirty="0"/>
              <a:t>Fuente: Oficina Federal de Estadística de Suiza</a:t>
            </a:r>
            <a:endParaRPr lang="en-US" sz="2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AA0CA17-ACD3-04B9-912F-A90E7BDF5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594" y="1241990"/>
            <a:ext cx="6842234" cy="496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344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93F4F-B948-01B7-F19C-C4A4B6CA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9B652-B715-4E7D-F0E1-74611EF8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Pirámides de población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A67F79-B22C-B85D-3770-A17DFEAF3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R" dirty="0"/>
              <a:t>Las pirámides de población ilustran más directamente la estructura por sexo y edad de una población.</a:t>
            </a:r>
          </a:p>
          <a:p>
            <a:r>
              <a:rPr lang="es-CR" dirty="0"/>
              <a:t>Se puede presentar con distribuciones absolutas o distribuciones relativas.</a:t>
            </a:r>
          </a:p>
          <a:p>
            <a:r>
              <a:rPr lang="es-CR" dirty="0"/>
              <a:t>Con las pirámides es más fácil ilustrar si se tiene una estructura joven, una estructura envejecida o una estructura en transición.</a:t>
            </a:r>
          </a:p>
          <a:p>
            <a:r>
              <a:rPr lang="es-CR" dirty="0"/>
              <a:t>Ver: https://www.bfs.admin.ch/bfs/en/home/statistics/population/effectif-change/age.html</a:t>
            </a:r>
          </a:p>
          <a:p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8671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DF7FD-AE5E-0C0F-7FDB-5211D6027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2B601-3F9F-6557-37DE-A84182D1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2337"/>
          </a:xfrm>
        </p:spPr>
        <p:txBody>
          <a:bodyPr>
            <a:normAutofit/>
          </a:bodyPr>
          <a:lstStyle/>
          <a:p>
            <a:r>
              <a:rPr lang="es-CR" sz="3200" dirty="0"/>
              <a:t>Gr 2.  Suiza: Pirámides de población 1900, 1975 y 2025</a:t>
            </a:r>
            <a:endParaRPr lang="en-US" sz="320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83FA5F0-9C89-A489-A81C-9E649E708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11613"/>
            <a:ext cx="10515600" cy="4887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sz="2200" dirty="0"/>
              <a:t>Fuente: Oficina Federal de Estadística de Suiza</a:t>
            </a:r>
            <a:endParaRPr lang="en-US" sz="22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AFFE5FF-8A9A-A713-478D-C3FCD4818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041" y="2612005"/>
            <a:ext cx="3705318" cy="2617074"/>
          </a:xfrm>
          <a:prstGeom prst="rect">
            <a:avLst/>
          </a:prstGeom>
        </p:spPr>
      </p:pic>
      <p:sp>
        <p:nvSpPr>
          <p:cNvPr id="9" name="Marcador de contenido 4">
            <a:extLst>
              <a:ext uri="{FF2B5EF4-FFF2-40B4-BE49-F238E27FC236}">
                <a16:creationId xmlns:a16="http://schemas.microsoft.com/office/drawing/2014/main" id="{9E9F535F-B1B7-3F6E-4869-D5566BE740A7}"/>
              </a:ext>
            </a:extLst>
          </p:cNvPr>
          <p:cNvSpPr txBox="1">
            <a:spLocks/>
          </p:cNvSpPr>
          <p:nvPr/>
        </p:nvSpPr>
        <p:spPr>
          <a:xfrm>
            <a:off x="564315" y="1463364"/>
            <a:ext cx="11165230" cy="61233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R" sz="4500" dirty="0"/>
              <a:t>		1900				1975				2025</a:t>
            </a:r>
            <a:r>
              <a:rPr lang="es-CR" sz="2200" dirty="0"/>
              <a:t>		</a:t>
            </a:r>
            <a:endParaRPr lang="en-US" sz="22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49EC182-65EE-D5D2-958A-A33EED08C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360" y="2592468"/>
            <a:ext cx="3688637" cy="263661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6557C11-E971-0253-B3A8-E311B1C28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15" y="2561603"/>
            <a:ext cx="3904932" cy="275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894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6035B-2D41-D2A4-FCD4-6C476E515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44599-5C87-38A0-9829-DFE15E87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Subgrupos especiales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279F1D-C8A7-6746-8870-6776D224C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R" dirty="0"/>
              <a:t>Población a la edad 0: Razón de masculinidad </a:t>
            </a:r>
            <a:r>
              <a:rPr lang="es-CR" dirty="0">
                <a:sym typeface="Symbol" panose="05050102010706020507" pitchFamily="18" charset="2"/>
              </a:rPr>
              <a:t> 105</a:t>
            </a:r>
          </a:p>
          <a:p>
            <a:r>
              <a:rPr lang="es-CR" dirty="0">
                <a:sym typeface="Symbol" panose="05050102010706020507" pitchFamily="18" charset="2"/>
              </a:rPr>
              <a:t>Población de 0 a 14 años:  Población dependiente joven</a:t>
            </a:r>
          </a:p>
          <a:p>
            <a:r>
              <a:rPr lang="es-CR" dirty="0">
                <a:sym typeface="Symbol" panose="05050102010706020507" pitchFamily="18" charset="2"/>
              </a:rPr>
              <a:t>Población de 15 a 64 años: Población en edades laborales</a:t>
            </a:r>
          </a:p>
          <a:p>
            <a:r>
              <a:rPr lang="es-CR" dirty="0">
                <a:sym typeface="Symbol" panose="05050102010706020507" pitchFamily="18" charset="2"/>
              </a:rPr>
              <a:t>Población de 65 años y más: Población dependiente en edades mayores</a:t>
            </a:r>
          </a:p>
          <a:p>
            <a:pPr lvl="1"/>
            <a:r>
              <a:rPr lang="es-CR" dirty="0">
                <a:sym typeface="Symbol" panose="05050102010706020507" pitchFamily="18" charset="2"/>
              </a:rPr>
              <a:t>En algunos textos se define el grupo de 15 a 59 años y el de 60 y más..</a:t>
            </a:r>
            <a:endParaRPr lang="es-CR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4991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7E83B-932A-C244-D2E5-EB02F794E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0091C-CC4C-CCF6-F3D3-ACB749744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Razones de dependencia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3B1B84B-45B1-B1C3-F6E4-5668000F6C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1211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𝑅𝑎𝑧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ó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𝑑𝑒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𝐷𝑒𝑝𝑒𝑛𝑑𝑒𝑛𝑐𝑖𝑎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0−14</m:t>
                            </m:r>
                          </m:sub>
                        </m:sSub>
                        <m:r>
                          <a:rPr lang="es-C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65 </m:t>
                            </m:r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15−64</m:t>
                            </m:r>
                          </m:sub>
                        </m:sSub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∗100</m:t>
                    </m:r>
                  </m:oMath>
                </a14:m>
                <a:endParaRPr lang="en-US" dirty="0"/>
              </a:p>
              <a:p>
                <a:endParaRPr lang="es-CR" b="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𝑅𝑎𝑧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ó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𝑑𝑒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𝐷𝑒𝑝𝑒𝑛𝑑𝑒𝑛𝑐𝑖𝑎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𝐽𝑜𝑣𝑒𝑛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0−14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15−64</m:t>
                            </m:r>
                          </m:sub>
                        </m:sSub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∗100</m:t>
                    </m:r>
                  </m:oMath>
                </a14:m>
                <a:endParaRPr lang="en-US" dirty="0"/>
              </a:p>
              <a:p>
                <a:endParaRPr lang="es-CR" b="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𝑅𝑎𝑧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ó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𝑑𝑒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𝐷𝑒𝑝𝑒𝑛𝑑𝑒𝑛𝑐𝑖𝑎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𝑀𝑎𝑦𝑜𝑟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65 </m:t>
                            </m:r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15−64</m:t>
                            </m:r>
                          </m:sub>
                        </m:sSub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∗100</m:t>
                    </m:r>
                  </m:oMath>
                </a14:m>
                <a:endParaRPr lang="en-US" dirty="0"/>
              </a:p>
              <a:p>
                <a:endParaRPr lang="es-CR" b="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𝑅𝑎𝑧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ó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𝑑𝑒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C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𝐸𝑛𝑣𝑒𝑗𝑒𝑐𝑖𝑚𝑖𝑒𝑛𝑡𝑜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65</m:t>
                            </m:r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s-CR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0−14</m:t>
                            </m:r>
                          </m:sub>
                        </m:sSub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∗100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s-ES" dirty="0"/>
              </a:p>
              <a:p>
                <a:endParaRPr lang="es-ES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3B1B84B-45B1-B1C3-F6E4-5668000F6C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1211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117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453C6-7DE1-39A6-0456-9359C7026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B1122-E7F0-3139-3C83-86DA918C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Otros indicadores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2">
                <a:extLst>
                  <a:ext uri="{FF2B5EF4-FFF2-40B4-BE49-F238E27FC236}">
                    <a16:creationId xmlns:a16="http://schemas.microsoft.com/office/drawing/2014/main" id="{BDF9B452-F0BD-6233-351D-0D772FE638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90688"/>
                <a:ext cx="10515600" cy="4802187"/>
              </a:xfrm>
              <a:prstGeom prst="rect">
                <a:avLst/>
              </a:prstGeom>
            </p:spPr>
            <p:txBody>
              <a:bodyPr vert="horz" lIns="91440" tIns="45720" rIns="91440" bIns="45720" numCol="1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CR" dirty="0"/>
                  <a:t>Edad mediana</a:t>
                </a:r>
              </a:p>
              <a:p>
                <a:r>
                  <a:rPr lang="es-CR" dirty="0"/>
                  <a:t>Edad promedio</a:t>
                </a:r>
              </a:p>
              <a:p>
                <a:r>
                  <a:rPr lang="es-CR" dirty="0"/>
                  <a:t>Razones particulares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sz="2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75 </m:t>
                            </m:r>
                            <m:r>
                              <a:rPr lang="es-CR" sz="2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s-CR" sz="2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60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sz="26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65 </m:t>
                            </m:r>
                            <m:r>
                              <a:rPr lang="es-CR" sz="26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s-CR" sz="26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b>
                        </m:sSub>
                      </m:den>
                    </m:f>
                    <m:r>
                      <a:rPr lang="en-US" sz="2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∗100</m:t>
                    </m:r>
                  </m:oMath>
                </a14:m>
                <a:r>
                  <a:rPr lang="es-ES" sz="2600" dirty="0"/>
                  <a:t>:  Para medir longevidad</a:t>
                </a:r>
              </a:p>
              <a:p>
                <a:pPr lvl="2"/>
                <a:r>
                  <a:rPr lang="es-ES" sz="2600" dirty="0"/>
                  <a:t>Razón Niño/ Mujer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sz="2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0−4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60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  <m:r>
                              <a:rPr lang="es-CR" sz="26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s-CR" sz="2600" b="0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15−49</m:t>
                            </m:r>
                          </m:sub>
                        </m:sSub>
                      </m:den>
                    </m:f>
                    <m:r>
                      <a:rPr lang="en-US" sz="2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∗100</m:t>
                    </m:r>
                  </m:oMath>
                </a14:m>
                <a:r>
                  <a:rPr lang="es-ES" sz="2600" dirty="0"/>
                  <a:t>:  Para medir fecundidad.</a:t>
                </a:r>
              </a:p>
            </p:txBody>
          </p:sp>
        </mc:Choice>
        <mc:Fallback xmlns="">
          <p:sp>
            <p:nvSpPr>
              <p:cNvPr id="4" name="Marcador de contenido 2">
                <a:extLst>
                  <a:ext uri="{FF2B5EF4-FFF2-40B4-BE49-F238E27FC236}">
                    <a16:creationId xmlns:a16="http://schemas.microsoft.com/office/drawing/2014/main" id="{BDF9B452-F0BD-6233-351D-0D772FE63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10515600" cy="4802187"/>
              </a:xfrm>
              <a:prstGeom prst="rect">
                <a:avLst/>
              </a:prstGeom>
              <a:blipFill>
                <a:blip r:embed="rId2"/>
                <a:stretch>
                  <a:fillRect l="-1043" t="-2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8162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6CC3C-5CB5-EDB3-8223-791597119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00892-2438-02B2-DB4C-0FA1D6EB0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Fuentes de información sobre distribución por sexo y edad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5B36F4-F57F-D143-8316-45FA83BD1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Censos de población</a:t>
            </a:r>
          </a:p>
          <a:p>
            <a:r>
              <a:rPr lang="es-ES" dirty="0"/>
              <a:t>Estimaciones y proyecciones de población</a:t>
            </a:r>
          </a:p>
          <a:p>
            <a:r>
              <a:rPr lang="es-ES" dirty="0"/>
              <a:t>Encuestas de Hogares</a:t>
            </a:r>
          </a:p>
          <a:p>
            <a:r>
              <a:rPr lang="es-ES" dirty="0"/>
              <a:t>En Costa Rica:</a:t>
            </a:r>
          </a:p>
          <a:p>
            <a:pPr lvl="1"/>
            <a:r>
              <a:rPr lang="es-ES" dirty="0"/>
              <a:t>Registro Civil (TSE)</a:t>
            </a:r>
          </a:p>
          <a:p>
            <a:pPr lvl="1"/>
            <a:r>
              <a:rPr lang="es-ES" dirty="0"/>
              <a:t>Registro Unificado de Población (RUP)</a:t>
            </a:r>
          </a:p>
        </p:txBody>
      </p:sp>
    </p:spTree>
    <p:extLst>
      <p:ext uri="{BB962C8B-B14F-4D97-AF65-F5344CB8AC3E}">
        <p14:creationId xmlns:p14="http://schemas.microsoft.com/office/powerpoint/2010/main" val="2659437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7E73D-6230-24FD-B6BA-71D0799D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AFA59-889B-55E1-B5D8-3F58D1599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Calidad en la Declaración de la Edad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30DE74-6B47-AA9E-9B1C-59A353111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96347"/>
          </a:xfrm>
        </p:spPr>
        <p:txBody>
          <a:bodyPr>
            <a:normAutofit/>
          </a:bodyPr>
          <a:lstStyle/>
          <a:p>
            <a:r>
              <a:rPr lang="es-ES" dirty="0"/>
              <a:t>Cuando se usan censos de población y encuestas para analizar la distribución por edad, la verdadera distribución está afectada por distintos problemas que afectan la calidad del dato:</a:t>
            </a:r>
          </a:p>
          <a:p>
            <a:pPr lvl="1"/>
            <a:r>
              <a:rPr lang="es-ES" dirty="0"/>
              <a:t>Omisión diferenciada</a:t>
            </a:r>
          </a:p>
          <a:p>
            <a:pPr lvl="1"/>
            <a:r>
              <a:rPr lang="es-ES" dirty="0"/>
              <a:t>Preferencia de dígitos</a:t>
            </a:r>
          </a:p>
          <a:p>
            <a:pPr lvl="1"/>
            <a:r>
              <a:rPr lang="es-ES" dirty="0"/>
              <a:t>Exageración de la edad</a:t>
            </a:r>
          </a:p>
          <a:p>
            <a:pPr lvl="1"/>
            <a:r>
              <a:rPr lang="es-ES" dirty="0"/>
              <a:t>(En Encuestas): Desactualización de marcos muestrales o diseños muestrales con sesgos de selección.</a:t>
            </a:r>
          </a:p>
          <a:p>
            <a:r>
              <a:rPr lang="es-ES" dirty="0"/>
              <a:t>Medidas para analizar la calidad en la declaración de la edad:</a:t>
            </a:r>
          </a:p>
          <a:p>
            <a:pPr lvl="1"/>
            <a:r>
              <a:rPr lang="es-ES" dirty="0"/>
              <a:t>Índice de </a:t>
            </a:r>
            <a:r>
              <a:rPr lang="es-ES" dirty="0" err="1"/>
              <a:t>Whipple</a:t>
            </a:r>
            <a:endParaRPr lang="es-ES" dirty="0"/>
          </a:p>
          <a:p>
            <a:pPr lvl="1"/>
            <a:r>
              <a:rPr lang="es-ES" dirty="0"/>
              <a:t>Índice de Myers.</a:t>
            </a:r>
          </a:p>
        </p:txBody>
      </p:sp>
    </p:spTree>
    <p:extLst>
      <p:ext uri="{BB962C8B-B14F-4D97-AF65-F5344CB8AC3E}">
        <p14:creationId xmlns:p14="http://schemas.microsoft.com/office/powerpoint/2010/main" val="3346169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9425B-5F3C-E5D1-61E5-09D235739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C9875-5300-8FD5-A9F6-A2BFCED34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10" y="365126"/>
            <a:ext cx="3042745" cy="4790198"/>
          </a:xfrm>
        </p:spPr>
        <p:txBody>
          <a:bodyPr>
            <a:normAutofit/>
          </a:bodyPr>
          <a:lstStyle/>
          <a:p>
            <a:r>
              <a:rPr lang="es-CR" dirty="0"/>
              <a:t>Calidad en la Declaración de la Edad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AA4F0E9-FA09-1169-D19E-DEFB9FA78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821" y="0"/>
            <a:ext cx="5114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85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B303-4EA8-882D-075E-FC2A0E0B8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60936-1AD1-F993-AB47-C3AA12B7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Índice de </a:t>
            </a:r>
            <a:r>
              <a:rPr lang="es-CR" dirty="0" err="1"/>
              <a:t>Whipple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F41B8E-EFFB-9C4F-B499-C33F7DF2B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96347"/>
          </a:xfrm>
        </p:spPr>
        <p:txBody>
          <a:bodyPr>
            <a:normAutofit/>
          </a:bodyPr>
          <a:lstStyle/>
          <a:p>
            <a:r>
              <a:rPr lang="es-ES" dirty="0"/>
              <a:t>El índice de </a:t>
            </a:r>
            <a:r>
              <a:rPr lang="es-ES" dirty="0" err="1"/>
              <a:t>Whipple</a:t>
            </a:r>
            <a:r>
              <a:rPr lang="es-ES" dirty="0"/>
              <a:t> se usa para medir la atracción de un dígito final en la declaración de la edad, sobre todo el 5 y el 0.</a:t>
            </a:r>
          </a:p>
          <a:p>
            <a:endParaRPr lang="es-ES" dirty="0"/>
          </a:p>
          <a:p>
            <a:r>
              <a:rPr lang="es-ES" dirty="0"/>
              <a:t>El principal supuesto es que los dígitos finales en las edades siguen una distribución uniforme.</a:t>
            </a:r>
          </a:p>
          <a:p>
            <a:endParaRPr lang="es-ES" dirty="0"/>
          </a:p>
          <a:p>
            <a:r>
              <a:rPr lang="es-ES" dirty="0"/>
              <a:t>Generalmente se estima para edades adultas intermedias, por ejemplo, entre 23 y 62 </a:t>
            </a:r>
            <a:r>
              <a:rPr lang="es-ES" dirty="0" err="1"/>
              <a:t>ó</a:t>
            </a:r>
            <a:r>
              <a:rPr lang="es-ES" dirty="0"/>
              <a:t> entre 30 y 69.</a:t>
            </a:r>
          </a:p>
        </p:txBody>
      </p:sp>
    </p:spTree>
    <p:extLst>
      <p:ext uri="{BB962C8B-B14F-4D97-AF65-F5344CB8AC3E}">
        <p14:creationId xmlns:p14="http://schemas.microsoft.com/office/powerpoint/2010/main" val="3171842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50570-EC5C-9ED0-B9AC-A908D4FBD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A8759-7353-7D2E-4243-A19DCC59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Índice de </a:t>
            </a:r>
            <a:r>
              <a:rPr lang="es-CR" dirty="0" err="1"/>
              <a:t>Whipple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6A535AA-2682-9BA3-E3FB-4E4BD7E548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496347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5∗</m:t>
                        </m:r>
                        <m:nary>
                          <m:naryPr>
                            <m:chr m:val="∑"/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=5</m:t>
                            </m:r>
                          </m:sub>
                          <m:sup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s-C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C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  <m:sup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62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∗100</m:t>
                    </m:r>
                  </m:oMath>
                </a14:m>
                <a:endParaRPr lang="es-ES" dirty="0"/>
              </a:p>
              <a:p>
                <a:endParaRPr lang="es-E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5∗</m:t>
                        </m:r>
                        <m:d>
                          <m:dPr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sub>
                            </m:sSub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sub>
                            </m:sSub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sub>
                            </m:sSub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sub>
                            </m:sSub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s-C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23−62</m:t>
                            </m:r>
                          </m:sub>
                        </m:sSub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∗100</m:t>
                    </m:r>
                  </m:oMath>
                </a14:m>
                <a:endParaRPr lang="es-ES" dirty="0"/>
              </a:p>
              <a:p>
                <a:endParaRPr lang="es-ES" dirty="0"/>
              </a:p>
              <a:p>
                <a:r>
                  <a:rPr lang="es-ES" dirty="0"/>
                  <a:t>Solo para el dígito 10: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10∗</m:t>
                        </m:r>
                        <m:d>
                          <m:dPr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sub>
                            </m:sSub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sub>
                            </m:sSub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++</m:t>
                            </m:r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sub>
                            </m:sSub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s-C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30−69</m:t>
                            </m:r>
                          </m:sub>
                        </m:sSub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∗100</m:t>
                    </m:r>
                  </m:oMath>
                </a14:m>
                <a:endParaRPr lang="es-ES" dirty="0"/>
              </a:p>
              <a:p>
                <a:endParaRPr lang="es-ES" dirty="0"/>
              </a:p>
              <a:p>
                <a:r>
                  <a:rPr lang="es-ES" dirty="0"/>
                  <a:t>Solo para el dígito 5: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10∗</m:t>
                        </m:r>
                        <m:d>
                          <m:dPr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sub>
                            </m:sSub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sub>
                            </m:sSub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</m:sub>
                            </m:sSub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s-C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s-C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25−64</m:t>
                            </m:r>
                          </m:sub>
                        </m:sSub>
                      </m:den>
                    </m:f>
                    <m:r>
                      <a:rPr lang="es-CR" b="0" i="1" smtClean="0">
                        <a:latin typeface="Cambria Math" panose="02040503050406030204" pitchFamily="18" charset="0"/>
                      </a:rPr>
                      <m:t>∗100</m:t>
                    </m:r>
                  </m:oMath>
                </a14:m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6A535AA-2682-9BA3-E3FB-4E4BD7E548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496347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8280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53695-5729-5820-7DAF-A499CBFAE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F4FE3-6208-F813-BC09-B80BD241F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Siguiendo a la ONU, se usan los siguientes criterios:</a:t>
            </a:r>
            <a:endParaRPr lang="en-US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07C62B6-A80D-E645-0CEA-9494B432FA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2133847"/>
              </p:ext>
            </p:extLst>
          </p:nvPr>
        </p:nvGraphicFramePr>
        <p:xfrm>
          <a:off x="838200" y="1825625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0021">
                  <a:extLst>
                    <a:ext uri="{9D8B030D-6E8A-4147-A177-3AD203B41FA5}">
                      <a16:colId xmlns:a16="http://schemas.microsoft.com/office/drawing/2014/main" val="1885734342"/>
                    </a:ext>
                  </a:extLst>
                </a:gridCol>
                <a:gridCol w="7065579">
                  <a:extLst>
                    <a:ext uri="{9D8B030D-6E8A-4147-A177-3AD203B41FA5}">
                      <a16:colId xmlns:a16="http://schemas.microsoft.com/office/drawing/2014/main" val="4037262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Rango de IW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Clasificación de la información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2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100 a 104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Muy precisa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758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105 a 109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Precisa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932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110 a 124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Aproximada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127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125 a 174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Deficiente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100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175 a más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Muy deficiente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537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874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D0160-CEFE-DB8B-B50D-98CD2385C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890F5-8FB9-E89D-1553-D5499F12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Índice de Myers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3F3334-2065-D162-8BB8-F885E094A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96347"/>
          </a:xfrm>
        </p:spPr>
        <p:txBody>
          <a:bodyPr>
            <a:normAutofit/>
          </a:bodyPr>
          <a:lstStyle/>
          <a:p>
            <a:r>
              <a:rPr lang="es-ES" dirty="0"/>
              <a:t>El índice de Myers también se usa para analizar preferencia hacia algún dígito y supone también que los </a:t>
            </a:r>
            <a:r>
              <a:rPr lang="es-ES" dirty="0" err="1"/>
              <a:t>los</a:t>
            </a:r>
            <a:r>
              <a:rPr lang="es-ES" dirty="0"/>
              <a:t> dígitos finales en las edades siguen una distribución uniforme.</a:t>
            </a:r>
          </a:p>
          <a:p>
            <a:endParaRPr lang="es-ES" dirty="0"/>
          </a:p>
          <a:p>
            <a:r>
              <a:rPr lang="es-ES" dirty="0"/>
              <a:t>Se estima para poblaciones de 10 años y más (aunque también es conveniente restringirla a edades menores a cierta edad, por ejemplo, edades menores a 80.</a:t>
            </a:r>
          </a:p>
        </p:txBody>
      </p:sp>
    </p:spTree>
    <p:extLst>
      <p:ext uri="{BB962C8B-B14F-4D97-AF65-F5344CB8AC3E}">
        <p14:creationId xmlns:p14="http://schemas.microsoft.com/office/powerpoint/2010/main" val="440050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12FF9-599C-2F7E-9A4D-17FD4EB53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369257-ABCC-9AE8-2605-40DB7D17B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Índice de Myers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810AAB1-887A-D727-3538-4D12970CDB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825624"/>
                <a:ext cx="11508828" cy="4496347"/>
              </a:xfrm>
            </p:spPr>
            <p:txBody>
              <a:bodyPr numCol="2">
                <a:normAutofit/>
              </a:bodyPr>
              <a:lstStyle/>
              <a:p>
                <a:r>
                  <a:rPr lang="es-ES" dirty="0"/>
                  <a:t>vj=Cantidad de personas con edades terminadas en dígito j en la población de 10 años y más</a:t>
                </a:r>
              </a:p>
              <a:p>
                <a:r>
                  <a:rPr lang="es-ES" dirty="0" err="1"/>
                  <a:t>v’j</a:t>
                </a:r>
                <a:r>
                  <a:rPr lang="es-ES" dirty="0"/>
                  <a:t> = Cantidad de personas con edades terminadas en dígito j en la población de 20 años y más</a:t>
                </a:r>
              </a:p>
              <a:p>
                <a:r>
                  <a:rPr lang="es-ES" dirty="0"/>
                  <a:t>N</a:t>
                </a:r>
                <a:r>
                  <a:rPr lang="es-ES" sz="1600" dirty="0"/>
                  <a:t>10+</a:t>
                </a:r>
                <a:r>
                  <a:rPr lang="es-ES" dirty="0"/>
                  <a:t>= Población de 10 años y más</a:t>
                </a:r>
              </a:p>
              <a:p>
                <a:r>
                  <a:rPr lang="es-ES" dirty="0"/>
                  <a:t>N</a:t>
                </a:r>
                <a:r>
                  <a:rPr lang="es-ES" sz="1600" dirty="0"/>
                  <a:t>20+</a:t>
                </a:r>
                <a:r>
                  <a:rPr lang="es-ES" dirty="0"/>
                  <a:t>= Población de 20 años y más</a:t>
                </a:r>
              </a:p>
              <a:p>
                <a:endParaRPr lang="es-ES" dirty="0"/>
              </a:p>
              <a:p>
                <a:endParaRPr lang="es-ES" dirty="0"/>
              </a:p>
              <a:p>
                <a:pPr marL="568325"/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s-CR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s-CR" i="1">
                        <a:latin typeface="Cambria Math" panose="02040503050406030204" pitchFamily="18" charset="0"/>
                      </a:rPr>
                      <m:t>𝑣𝑗</m:t>
                    </m:r>
                    <m:r>
                      <a:rPr lang="es-C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10−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s-CR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s-C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s-CR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s-ES" dirty="0"/>
              </a:p>
              <a:p>
                <a:pPr marL="568325"/>
                <a:endParaRPr lang="es-ES" dirty="0"/>
              </a:p>
              <a:p>
                <a:pPr marL="568325"/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</a:rPr>
                      <m:t>=100∗</m:t>
                    </m:r>
                    <m:nary>
                      <m:naryPr>
                        <m:chr m:val="∑"/>
                        <m:supHide m:val="on"/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s-CR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C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≥0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s-C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C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C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R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s-C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num>
                              <m:den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s-CR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s-CR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s-C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≥0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s-C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R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s-C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−0.1</m:t>
                            </m:r>
                          </m:e>
                        </m:d>
                      </m:e>
                    </m:nary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810AAB1-887A-D727-3538-4D12970CDB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825624"/>
                <a:ext cx="11508828" cy="4496347"/>
              </a:xfrm>
              <a:blipFill>
                <a:blip r:embed="rId2"/>
                <a:stretch>
                  <a:fillRect l="-953" t="-2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4259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12640-AB96-267C-91C0-BC4DF6492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1AD1A-7F57-9B72-3890-FEF4A7DC4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Siguiendo a la ONU, se usan los siguientes criterios:</a:t>
            </a:r>
            <a:endParaRPr lang="en-US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A8F6E0D-6AEB-9FD7-B1C7-B4070C228E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4772265"/>
              </p:ext>
            </p:extLst>
          </p:nvPr>
        </p:nvGraphicFramePr>
        <p:xfrm>
          <a:off x="838200" y="1825625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0021">
                  <a:extLst>
                    <a:ext uri="{9D8B030D-6E8A-4147-A177-3AD203B41FA5}">
                      <a16:colId xmlns:a16="http://schemas.microsoft.com/office/drawing/2014/main" val="1885734342"/>
                    </a:ext>
                  </a:extLst>
                </a:gridCol>
                <a:gridCol w="7065579">
                  <a:extLst>
                    <a:ext uri="{9D8B030D-6E8A-4147-A177-3AD203B41FA5}">
                      <a16:colId xmlns:a16="http://schemas.microsoft.com/office/drawing/2014/main" val="4037262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Rango de IW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Clasificación de la información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2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0 a 4.99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Baja concentración de un dígito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758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5 a 14.99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Mediana concentración de un dígito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932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15 a 29.99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Alta concentración de un dígito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127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3000" dirty="0"/>
                        <a:t>30 a más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3000" dirty="0"/>
                        <a:t>Muy alta </a:t>
                      </a:r>
                      <a:r>
                        <a:rPr lang="es-CR" sz="3000" dirty="0" err="1"/>
                        <a:t>concentación</a:t>
                      </a:r>
                      <a:r>
                        <a:rPr lang="es-CR" sz="3000" dirty="0"/>
                        <a:t> de un dígito</a:t>
                      </a:r>
                      <a:endParaRPr lang="en-US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537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595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4DC6B-F612-E241-382E-9486AD92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Discusión sobre envejecimiento poblacional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1EB80E-B83E-060F-EBFD-51456FCB7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/>
              <a:t>El envejecimiento poblacional se refiere a un aumento en la proporción relativa de las personas mayores en una población.</a:t>
            </a:r>
          </a:p>
          <a:p>
            <a:r>
              <a:rPr lang="es-CR" dirty="0"/>
              <a:t>Un decrecimiento sostenido en el número de nacimientos a través del tiempo conlleva a un envejecimiento poblacional.</a:t>
            </a:r>
          </a:p>
          <a:p>
            <a:r>
              <a:rPr lang="es-CR" dirty="0"/>
              <a:t>El concepto de envejecimiento poblacional no es biológico, </a:t>
            </a:r>
            <a:r>
              <a:rPr lang="es-CR"/>
              <a:t>sino estadístico.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695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1121</Words>
  <Application>Microsoft Office PowerPoint</Application>
  <PresentationFormat>Panorámica</PresentationFormat>
  <Paragraphs>150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Symbol</vt:lpstr>
      <vt:lpstr>Tema de Office</vt:lpstr>
      <vt:lpstr>XS-3010 Introducción a la demografía y bioestadística 2025</vt:lpstr>
      <vt:lpstr>Guía</vt:lpstr>
      <vt:lpstr>Variables de desagregación</vt:lpstr>
      <vt:lpstr>Estructura de población por sexo</vt:lpstr>
      <vt:lpstr>Estructura por sexo y edad</vt:lpstr>
      <vt:lpstr>Razones de masculinidad por edad</vt:lpstr>
      <vt:lpstr>Gr 1.  Suiza: Razón de masculinidad por edad, 2023</vt:lpstr>
      <vt:lpstr>Pirámides de población</vt:lpstr>
      <vt:lpstr>Gr 2.  Suiza: Pirámides de población 1900, 1975 y 2025</vt:lpstr>
      <vt:lpstr>Subgrupos especiales</vt:lpstr>
      <vt:lpstr>Razones de dependencia</vt:lpstr>
      <vt:lpstr>Otros indicadores</vt:lpstr>
      <vt:lpstr>Fuentes de información sobre distribución por sexo y edad</vt:lpstr>
      <vt:lpstr>Calidad en la Declaración de la Edad</vt:lpstr>
      <vt:lpstr>Calidad en la Declaración de la Edad</vt:lpstr>
      <vt:lpstr>Índice de Whipple</vt:lpstr>
      <vt:lpstr>Índice de Whipple</vt:lpstr>
      <vt:lpstr>Siguiendo a la ONU, se usan los siguientes criterios:</vt:lpstr>
      <vt:lpstr>Índice de Myers</vt:lpstr>
      <vt:lpstr>Índice de Myers</vt:lpstr>
      <vt:lpstr>Siguiendo a la ONU, se usan los siguientes criterios:</vt:lpstr>
      <vt:lpstr>Discusión sobre envejecimiento poblacional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 Brenes-Camacho</dc:creator>
  <cp:lastModifiedBy>ANDERSON DAVID MARTINEZ ABARCA</cp:lastModifiedBy>
  <cp:revision>16</cp:revision>
  <dcterms:created xsi:type="dcterms:W3CDTF">2025-01-10T18:14:17Z</dcterms:created>
  <dcterms:modified xsi:type="dcterms:W3CDTF">2026-03-17T16:39:28Z</dcterms:modified>
</cp:coreProperties>
</file>