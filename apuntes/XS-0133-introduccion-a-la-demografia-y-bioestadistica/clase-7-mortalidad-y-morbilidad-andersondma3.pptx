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4" r:id="rId4"/>
    <p:sldId id="290" r:id="rId5"/>
    <p:sldId id="292" r:id="rId6"/>
    <p:sldId id="293" r:id="rId7"/>
    <p:sldId id="294" r:id="rId8"/>
    <p:sldId id="295" r:id="rId9"/>
    <p:sldId id="296" r:id="rId10"/>
    <p:sldId id="297" r:id="rId11"/>
    <p:sldId id="298" r:id="rId12"/>
    <p:sldId id="299" r:id="rId13"/>
    <p:sldId id="300" r:id="rId14"/>
    <p:sldId id="301" r:id="rId15"/>
    <p:sldId id="302" r:id="rId16"/>
    <p:sldId id="303" r:id="rId17"/>
    <p:sldId id="270" r:id="rId18"/>
    <p:sldId id="304" r:id="rId19"/>
    <p:sldId id="305" r:id="rId20"/>
    <p:sldId id="271" r:id="rId21"/>
    <p:sldId id="306" r:id="rId22"/>
    <p:sldId id="307" r:id="rId23"/>
    <p:sldId id="308" r:id="rId24"/>
    <p:sldId id="313" r:id="rId25"/>
    <p:sldId id="312" r:id="rId26"/>
    <p:sldId id="314" r:id="rId27"/>
    <p:sldId id="309" r:id="rId28"/>
    <p:sldId id="310" r:id="rId29"/>
    <p:sldId id="311" r:id="rId30"/>
    <p:sldId id="315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513" autoAdjust="0"/>
    <p:restoredTop sz="94660"/>
  </p:normalViewPr>
  <p:slideViewPr>
    <p:cSldViewPr snapToGrid="0" showGuides="1">
      <p:cViewPr varScale="1">
        <p:scale>
          <a:sx n="74" d="100"/>
          <a:sy n="74" d="100"/>
        </p:scale>
        <p:origin x="605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4F9E0F-2E37-D02F-547A-10F255FF2C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F671617-3171-C0BB-7B2D-FFAD6F3446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747B137-18FE-FB7D-8BF6-535881DF9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1F3F1-497C-47B9-A18E-83DECA3909B3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48E15A3-A9FB-E51A-6027-7A459C712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AEB6A8-87B8-0FE2-8510-B477863A1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44222-9D2F-4AD5-8895-FD80843607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511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14B53C-26E4-4134-73B5-99607FF8E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D0AA165-019D-8D97-5339-692E5ECA01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0A95A2F-9947-C6DB-7193-A2165E6B7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1F3F1-497C-47B9-A18E-83DECA3909B3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CD0C00C-8058-4459-BB83-F55E2DC1B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08232C3-9540-7A94-419A-AEFD82DCD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44222-9D2F-4AD5-8895-FD80843607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259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CBEECA-3AA7-4D32-7042-A8B54A6B3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A5696CA-D73C-A1A6-BA95-E0D7B42370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558304-32CA-3CA1-1FEA-B54A6997C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1F3F1-497C-47B9-A18E-83DECA3909B3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62470CC-025A-4FA6-3440-70494EFBF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78631FF-C52A-37B0-1CB5-4C47A8254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44222-9D2F-4AD5-8895-FD80843607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33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65B9E0-5F65-F95C-75A5-FFDFA572D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8C07C85-FC85-A278-CBB6-F7BA37D387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DA9137E-6DA1-1130-C0F6-0EFAF25643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E243844-8075-2FD4-1CCF-DE1ABECC0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1F3F1-497C-47B9-A18E-83DECA3909B3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B5AC555-78FE-1B1B-7737-E79DCF371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13F9F5C-5DFD-32D8-7DB2-B044BEA4A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44222-9D2F-4AD5-8895-FD80843607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2594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E255C0-1415-85BE-1165-9C0C54F07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B0A1395-0A9F-B80E-E211-F1ACA83250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FD740BA-BF8A-108D-EACE-225C192F92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3784550-95A2-77DC-D665-4337294435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B531739-FB3E-B2CC-A0DB-6D8ED7CF8A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E871342-3E4B-6DB6-2FF7-A0D5D2DEF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1F3F1-497C-47B9-A18E-83DECA3909B3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35E8FDE-7414-CF64-FF6E-FEC0CC281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508BCD7-8715-678B-A4B2-84F06478D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44222-9D2F-4AD5-8895-FD80843607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172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BD7687-04E9-D6B1-A4FF-1A9CFCF2C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9F5849E-DE97-5A76-F782-8354D71D5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1F3F1-497C-47B9-A18E-83DECA3909B3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80C7457-F67A-3A13-2724-40313EE3E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49BA60A-5909-F0B8-0EAE-8FAEA7530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44222-9D2F-4AD5-8895-FD80843607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9676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35915CA-E095-FAA6-F2FB-AD27D9CF4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1F3F1-497C-47B9-A18E-83DECA3909B3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83CBB2E-B003-4EBF-5D10-DD61FA6D2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3DFD563-37EF-1088-2DAD-86E1CDA53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44222-9D2F-4AD5-8895-FD80843607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218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996882-6B5B-134A-1A76-8B29181B5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F057575-A3C6-3476-6CBD-2E57BA6BF9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88DF928-6051-AFCD-7EF8-FFFC297FD5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E598E56-7530-3052-762D-51C64A133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1F3F1-497C-47B9-A18E-83DECA3909B3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8B0D834-54DF-9448-9C2A-E3F16D772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95B2950-AC42-85DE-D11F-EED4223FF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44222-9D2F-4AD5-8895-FD80843607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9136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3BEFF3-A2EC-EED8-FEA5-1DFF3828E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566923D-B92D-3492-502B-2AC57CC19C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AB5D60C-0915-EA6A-7D7B-93EDA3F78E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C856C2D-73B1-4F36-1491-9038AEE4D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1F3F1-497C-47B9-A18E-83DECA3909B3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C9C87A3-772E-817F-E0BD-CEB52B825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BA8470E-36E1-7796-C269-F5FABC646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44222-9D2F-4AD5-8895-FD80843607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019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05BD62-80B5-73AC-247B-557D541BC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356E60C-69ED-36D4-E379-D90AA993E8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8533B8-B990-570F-2FF9-F5CB4C8AC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1F3F1-497C-47B9-A18E-83DECA3909B3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2D7539-EC26-3063-B6AA-BDDD30A42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213976-546D-B209-4AE5-55B62C103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44222-9D2F-4AD5-8895-FD80843607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375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C032FBA-D46B-9AD9-6A4A-CCC671639B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E0765D1-3113-7EE5-5D68-7C2610512D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9BF1DF9-8FBB-EF60-5CB8-B832135B2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1F3F1-497C-47B9-A18E-83DECA3909B3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4117F01-7DF1-4C58-D99D-DDCD27503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4479F5B-A745-4D30-0645-6FD930FF9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44222-9D2F-4AD5-8895-FD80843607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5068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C587F12-B27F-FB1F-C6A6-F70AD3126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80B90C4-B84F-C1FB-760E-72D4EA32F8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F73809E-B4B5-A1E4-417D-0E7C532109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81F3F1-497C-47B9-A18E-83DECA3909B3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9296595-A99A-7B3C-D00D-B8BF2287F5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2634B69-AF7A-9040-FD3E-70FCCA37CA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844222-9D2F-4AD5-8895-FD80843607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1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8975F5-9759-D9DD-E21A-5B7FE4D546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s-CR" dirty="0"/>
              <a:t>XS-3010 Introducción a la demografía y bioestadística</a:t>
            </a:r>
            <a:br>
              <a:rPr lang="en-US" dirty="0"/>
            </a:br>
            <a:r>
              <a:rPr lang="en-US" dirty="0"/>
              <a:t>2025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645B192-1ED3-E270-42E8-2C7C1D9FDD4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Profesor</a:t>
            </a:r>
            <a:r>
              <a:rPr lang="en-US" dirty="0"/>
              <a:t> Gilbert </a:t>
            </a:r>
            <a:r>
              <a:rPr lang="en-US" dirty="0" err="1"/>
              <a:t>Brenes</a:t>
            </a:r>
            <a:r>
              <a:rPr lang="en-US" dirty="0"/>
              <a:t> Camacho, Grupo 01</a:t>
            </a:r>
          </a:p>
          <a:p>
            <a:endParaRPr lang="en-US" dirty="0"/>
          </a:p>
          <a:p>
            <a:endParaRPr lang="en-US" dirty="0"/>
          </a:p>
          <a:p>
            <a:r>
              <a:rPr lang="es-CR" dirty="0"/>
              <a:t>Tema 7. MORTALIDAD Y MORBILIDAD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76225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E3B47C-32F1-1ECC-95EB-A077866F1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Guía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F7D0468-056F-7E17-F512-4EFD0D5D0A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193"/>
            <a:ext cx="10515600" cy="5026682"/>
          </a:xfrm>
        </p:spPr>
        <p:txBody>
          <a:bodyPr>
            <a:normAutofit/>
          </a:bodyPr>
          <a:lstStyle/>
          <a:p>
            <a:r>
              <a:rPr lang="es-CR" dirty="0"/>
              <a:t>Medición de la mortalidad</a:t>
            </a:r>
          </a:p>
          <a:p>
            <a:r>
              <a:rPr lang="es-CR" dirty="0"/>
              <a:t>Tasas específicas de mortalidad</a:t>
            </a:r>
          </a:p>
          <a:p>
            <a:pPr lvl="1"/>
            <a:r>
              <a:rPr lang="es-CR" dirty="0"/>
              <a:t>Tasas por edad</a:t>
            </a:r>
          </a:p>
          <a:p>
            <a:pPr lvl="1"/>
            <a:r>
              <a:rPr lang="es-CR" dirty="0"/>
              <a:t>Tasa de Mortalidad Infantil (TMI) y el q0</a:t>
            </a:r>
          </a:p>
          <a:p>
            <a:pPr lvl="1"/>
            <a:r>
              <a:rPr lang="es-CR" dirty="0"/>
              <a:t>Tasa de Mortalidad Materna</a:t>
            </a:r>
          </a:p>
          <a:p>
            <a:endParaRPr lang="es-CR" dirty="0"/>
          </a:p>
          <a:p>
            <a:r>
              <a:rPr lang="es-CR" dirty="0"/>
              <a:t>Medidas de morbilidad</a:t>
            </a:r>
          </a:p>
          <a:p>
            <a:pPr lvl="1"/>
            <a:r>
              <a:rPr lang="es-CR" dirty="0"/>
              <a:t>Repaso de prevalencia</a:t>
            </a:r>
          </a:p>
          <a:p>
            <a:pPr lvl="1"/>
            <a:r>
              <a:rPr lang="es-CR" dirty="0"/>
              <a:t>Cálculo de tasas de </a:t>
            </a:r>
            <a:r>
              <a:rPr lang="es-CR" dirty="0" err="1"/>
              <a:t>inicidencia</a:t>
            </a:r>
            <a:endParaRPr lang="es-CR" dirty="0"/>
          </a:p>
          <a:p>
            <a:pPr lvl="1"/>
            <a:r>
              <a:rPr lang="es-CR" dirty="0"/>
              <a:t>¿Se pueden calcular tasas de incidencia en Costa Rica?</a:t>
            </a:r>
          </a:p>
          <a:p>
            <a:pPr lvl="1"/>
            <a:r>
              <a:rPr lang="es-CR" dirty="0"/>
              <a:t>Otras medidas epidemiológicas: Riesgos atribuibles</a:t>
            </a:r>
          </a:p>
        </p:txBody>
      </p:sp>
    </p:spTree>
    <p:extLst>
      <p:ext uri="{BB962C8B-B14F-4D97-AF65-F5344CB8AC3E}">
        <p14:creationId xmlns:p14="http://schemas.microsoft.com/office/powerpoint/2010/main" val="2883932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0F746-29AE-1097-D16D-27F7E1537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9EF888-D33A-2737-EA61-9ECBDE469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Definición de defunción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6DB1BE9-ED97-ACCA-103D-B9103B96DC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80127"/>
          </a:xfrm>
        </p:spPr>
        <p:txBody>
          <a:bodyPr>
            <a:normAutofit/>
          </a:bodyPr>
          <a:lstStyle/>
          <a:p>
            <a:r>
              <a:rPr lang="es-CR" dirty="0"/>
              <a:t>Una defunción es la terminación o finalización de una vida.</a:t>
            </a:r>
          </a:p>
          <a:p>
            <a:endParaRPr lang="es-CR" dirty="0"/>
          </a:p>
          <a:p>
            <a:r>
              <a:rPr lang="es-CR" dirty="0"/>
              <a:t>La finalización depende de los conceptos clínicos necesarios para interpretarla.</a:t>
            </a:r>
          </a:p>
          <a:p>
            <a:pPr lvl="1"/>
            <a:r>
              <a:rPr lang="es-CR" dirty="0"/>
              <a:t>Por ejemplo, una muerte fetal –conocida como óbito fetal o muerte intrauterina- se define como la muerte del feto antes de su expulsión o extracción en el nacimiento.  </a:t>
            </a:r>
          </a:p>
          <a:p>
            <a:pPr lvl="2"/>
            <a:r>
              <a:rPr lang="es-CR" dirty="0"/>
              <a:t>En el campo de la salud es un fenómeno que se puede clasificar como muerte</a:t>
            </a:r>
          </a:p>
          <a:p>
            <a:pPr lvl="2"/>
            <a:r>
              <a:rPr lang="es-CR" dirty="0"/>
              <a:t>Pero en demografía, no se registra como defunción porque ocurrió antes del nacimiento.</a:t>
            </a:r>
          </a:p>
          <a:p>
            <a:pPr lvl="1"/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19575732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AB2CC-BCB0-CC8A-AAC7-8A3C46334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21C13C-2C33-E173-8615-9AA2CBB05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Causas de muerte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9B95510-CF0A-9E40-739C-9473058E9B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80127"/>
          </a:xfrm>
        </p:spPr>
        <p:txBody>
          <a:bodyPr>
            <a:normAutofit/>
          </a:bodyPr>
          <a:lstStyle/>
          <a:p>
            <a:r>
              <a:rPr lang="es-CR" dirty="0"/>
              <a:t>Un análisis fundamental en demografía y epidemiología es el análisis por causas de muerte.</a:t>
            </a:r>
          </a:p>
          <a:p>
            <a:r>
              <a:rPr lang="es-CR" dirty="0"/>
              <a:t>Las causas de muerte permiten comprender mejor la evolución de la salud.</a:t>
            </a:r>
          </a:p>
          <a:p>
            <a:r>
              <a:rPr lang="es-CR" dirty="0"/>
              <a:t>Existen diferentes formas de clasificación de las causas de muerte.</a:t>
            </a:r>
          </a:p>
          <a:p>
            <a:pPr lvl="1"/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15142818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E9F0E-046B-EAF0-91E0-45B3D2DE0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B1BE20-1032-43FD-6288-D197BE056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Clasificación de causas, según endogeneidad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C460FEA-5686-9AC5-DE94-40A48D184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80127"/>
          </a:xfrm>
        </p:spPr>
        <p:txBody>
          <a:bodyPr>
            <a:normAutofit/>
          </a:bodyPr>
          <a:lstStyle/>
          <a:p>
            <a:r>
              <a:rPr lang="es-CR" dirty="0"/>
              <a:t>Mortalidad endógena o biológica al comienzo de la vida: Muertes congénitas</a:t>
            </a:r>
          </a:p>
          <a:p>
            <a:r>
              <a:rPr lang="es-CR" dirty="0"/>
              <a:t>Mortalidad endógena o biológica debida al envejecimiento:  Eventos biológicos relacionados con el deterioro fisiológico del cuerpo humano a medida que se envejece.</a:t>
            </a:r>
          </a:p>
          <a:p>
            <a:r>
              <a:rPr lang="es-CR" dirty="0"/>
              <a:t>Mortalidad exógena, resultante de la acción del medio ambiente y de factores sociales, y que se puede manifestar en distintas edades (infecciones, accidentes de tránsito, cirrosis por consumo de alcohol. </a:t>
            </a:r>
          </a:p>
          <a:p>
            <a:endParaRPr lang="es-CR" dirty="0"/>
          </a:p>
          <a:p>
            <a:pPr lvl="1"/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41559565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57C42-31C9-24D8-202D-7DF97AF34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9BD04A-4590-C74B-1504-9E551D344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Clasificación de causas, según evitabilidad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6607A19-C941-DFDE-7AC7-005797ACE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80127"/>
          </a:xfrm>
        </p:spPr>
        <p:txBody>
          <a:bodyPr>
            <a:normAutofit/>
          </a:bodyPr>
          <a:lstStyle/>
          <a:p>
            <a:r>
              <a:rPr lang="es-CR" dirty="0"/>
              <a:t>Mortalidad  no evitable: Causas relacionadas con limitaciones del funcionamiento del organismo humano</a:t>
            </a:r>
          </a:p>
          <a:p>
            <a:pPr lvl="1"/>
            <a:r>
              <a:rPr lang="es-CR" dirty="0"/>
              <a:t>Enfermedades cardíacas congénitas</a:t>
            </a:r>
          </a:p>
          <a:p>
            <a:pPr lvl="1"/>
            <a:r>
              <a:rPr lang="es-CR" dirty="0"/>
              <a:t>Diabetes tipo I</a:t>
            </a:r>
          </a:p>
          <a:p>
            <a:pPr lvl="1"/>
            <a:r>
              <a:rPr lang="es-CR" dirty="0"/>
              <a:t>Alzheimer  y Parkinson</a:t>
            </a:r>
          </a:p>
          <a:p>
            <a:r>
              <a:rPr lang="es-CR" dirty="0"/>
              <a:t>Mortalidad evitable: Causas que se pueden evitar con políticas públicas o decisiones individuales para cambiar estilos de vida:</a:t>
            </a:r>
          </a:p>
          <a:p>
            <a:pPr lvl="1"/>
            <a:r>
              <a:rPr lang="es-CR" dirty="0"/>
              <a:t>Accidentes de tránsito</a:t>
            </a:r>
          </a:p>
          <a:p>
            <a:pPr lvl="1"/>
            <a:r>
              <a:rPr lang="es-CR" dirty="0"/>
              <a:t>Enfermedades infecciosas como el tétanos o la rubeola (para los que hay vacunas)</a:t>
            </a:r>
          </a:p>
          <a:p>
            <a:pPr lvl="1"/>
            <a:r>
              <a:rPr lang="es-CR" dirty="0"/>
              <a:t>Diabetes tipo II, que se puede controlar con mejor estilo de vida.</a:t>
            </a:r>
          </a:p>
          <a:p>
            <a:endParaRPr lang="es-CR" dirty="0"/>
          </a:p>
          <a:p>
            <a:pPr lvl="1"/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34805099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AB969-1B46-4524-70EC-2C4884A56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726431-D328-2F5C-D15A-C93FB1DAB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Clasificación de causas, según etiología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7308D92-9000-1B41-83DD-18429AC3C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80127"/>
          </a:xfrm>
        </p:spPr>
        <p:txBody>
          <a:bodyPr>
            <a:normAutofit/>
          </a:bodyPr>
          <a:lstStyle/>
          <a:p>
            <a:r>
              <a:rPr lang="es-CR" dirty="0"/>
              <a:t>Mortalidad  transmisible:  Típicamente enfermedades infecto-contagiosas o choque séptico</a:t>
            </a:r>
          </a:p>
          <a:p>
            <a:r>
              <a:rPr lang="es-CR" dirty="0"/>
              <a:t>Mortalidad no transmisible por enfermedades crónicas:  Incluye enfermedades crónicas de origen genético o por estilos de vida, como diabetes tipo II, osteoporosis, enfermedad pulmonar</a:t>
            </a:r>
          </a:p>
          <a:p>
            <a:r>
              <a:rPr lang="es-CR" dirty="0"/>
              <a:t>Mortalidad por causas externas o violencia: Incluye homicidios, ahogamientos, intoxicaciones, suicidios, lesiones por accidentes de tránsito, etc.</a:t>
            </a:r>
          </a:p>
          <a:p>
            <a:endParaRPr lang="es-CR" dirty="0"/>
          </a:p>
          <a:p>
            <a:pPr lvl="1"/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35352915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A3E012-D47D-5C7A-27D8-A1807B918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Medidas de </a:t>
            </a:r>
            <a:r>
              <a:rPr lang="es-CR" dirty="0" err="1"/>
              <a:t>mortaliddad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88797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6B33EF-A0CD-802A-8BCE-0D5895959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Tasa bruta de mortalidad y tasas específicas de mortalidad por edad y por causa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F061D782-21C2-3789-80B5-29A33021BC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15311" y="1825625"/>
                <a:ext cx="11524592" cy="4351338"/>
              </a:xfrm>
            </p:spPr>
            <p:txBody>
              <a:bodyPr/>
              <a:lstStyle/>
              <a:p>
                <a:r>
                  <a:rPr lang="es-ES" dirty="0"/>
                  <a:t>Tasa bruta de mortalidad: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s-CR" b="0" i="1" smtClean="0">
                        <a:latin typeface="Cambria Math" panose="02040503050406030204" pitchFamily="18" charset="0"/>
                      </a:rPr>
                      <m:t>𝑇𝐵𝑀</m:t>
                    </m:r>
                    <m:r>
                      <a:rPr lang="es-C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C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𝐷𝑒𝑓𝑢𝑛𝑐𝑖𝑜𝑛𝑒𝑠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𝑑𝑒𝑙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𝑝𝑒𝑟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í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𝑜𝑑𝑜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𝑃𝑜𝑏𝑙𝑎𝑐𝑖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ó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𝑚𝑖𝑡𝑎𝑑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𝑑𝑒𝑙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𝑝𝑒𝑟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í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𝑜𝑑𝑜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s-CR" b="0" i="1" smtClean="0">
                        <a:latin typeface="Cambria Math" panose="02040503050406030204" pitchFamily="18" charset="0"/>
                      </a:rPr>
                      <m:t>∗1000</m:t>
                    </m:r>
                  </m:oMath>
                </a14:m>
                <a:endParaRPr lang="es-ES" dirty="0"/>
              </a:p>
              <a:p>
                <a:endParaRPr lang="es-ES" dirty="0"/>
              </a:p>
              <a:p>
                <a:r>
                  <a:rPr lang="es-ES" dirty="0"/>
                  <a:t>Tasa de mortalidad para la edad x: </a:t>
                </a:r>
                <a:endParaRPr lang="es-CR" b="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s-C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s-C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C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𝐷𝑒𝑓𝑢𝑛𝑐𝑖𝑜𝑛𝑒𝑠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𝑙𝑎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𝑒𝑑𝑎𝑑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𝑒𝑛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𝑒𝑙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𝑝𝑒𝑟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í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𝑜𝑑𝑜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𝑃𝑜𝑏𝑙𝑎𝑐𝑖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ó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𝑙𝑎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𝑒𝑑𝑎𝑑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𝑚𝑖𝑡𝑎𝑑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𝑑𝑒𝑙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𝑝𝑒𝑟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í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𝑜𝑑𝑜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s-ES" dirty="0"/>
                  <a:t>Tasa de mortalidad para la edad x por causa k: </a:t>
                </a:r>
                <a:endParaRPr lang="es-CR" b="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s-CR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bSup>
                    <m:r>
                      <a:rPr lang="es-C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C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𝐷𝑒𝑓𝑢𝑛𝑐𝑖𝑜𝑛𝑒𝑠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𝑙𝑎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𝑒𝑑𝑎𝑑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𝑝𝑜𝑟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𝑙𝑎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𝑐𝑎𝑢𝑠𝑎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𝑒𝑛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𝑒𝑙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𝑝𝑒𝑟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í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𝑜𝑑𝑜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𝑃𝑜𝑏𝑙𝑎𝑐𝑖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ó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𝑙𝑎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𝑒𝑑𝑎𝑑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𝑚𝑖𝑡𝑎𝑑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𝑑𝑒𝑙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𝑝𝑒𝑟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í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𝑜𝑑𝑜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F061D782-21C2-3789-80B5-29A33021BC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5311" y="1825625"/>
                <a:ext cx="11524592" cy="4351338"/>
              </a:xfrm>
              <a:blipFill>
                <a:blip r:embed="rId2"/>
                <a:stretch>
                  <a:fillRect l="-952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229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7FF34-D6A1-0383-064C-DF7ADAA13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D86FE0-9899-23EC-882D-3EB0BADA1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Tasa de mortalidad infantil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6F5EBD07-1C47-0593-2702-7F0AD9AB92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15311" y="1825625"/>
                <a:ext cx="11524592" cy="4351338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s-CR" b="0" i="1" smtClean="0">
                        <a:latin typeface="Cambria Math" panose="02040503050406030204" pitchFamily="18" charset="0"/>
                      </a:rPr>
                      <m:t>𝑇𝑀𝐼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/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∗1000</m:t>
                    </m:r>
                  </m:oMath>
                </a14:m>
                <a:r>
                  <a:rPr lang="en-US" sz="1400" dirty="0"/>
                  <a:t> </a:t>
                </a:r>
                <a:r>
                  <a:rPr lang="en-US" dirty="0"/>
                  <a:t> </a:t>
                </a:r>
                <a:endParaRPr lang="en-US" sz="2400" dirty="0"/>
              </a:p>
              <a:p>
                <a:r>
                  <a:rPr lang="en-US" dirty="0"/>
                  <a:t>Donde:</a:t>
                </a:r>
                <a:endParaRPr lang="en-US" sz="2400" dirty="0"/>
              </a:p>
              <a:p>
                <a:r>
                  <a:rPr lang="en-US" baseline="-25000" dirty="0"/>
                  <a:t>1</a:t>
                </a:r>
                <a:r>
                  <a:rPr lang="en-US" dirty="0"/>
                  <a:t>D</a:t>
                </a:r>
                <a:r>
                  <a:rPr lang="en-US" baseline="-25000" dirty="0"/>
                  <a:t>0</a:t>
                </a:r>
                <a:r>
                  <a:rPr lang="en-US" dirty="0"/>
                  <a:t>(t) :	</a:t>
                </a:r>
                <a:r>
                  <a:rPr lang="en-US" dirty="0" err="1"/>
                  <a:t>Defunciones</a:t>
                </a:r>
                <a:r>
                  <a:rPr lang="en-US" dirty="0"/>
                  <a:t> a la </a:t>
                </a:r>
                <a:r>
                  <a:rPr lang="en-US" dirty="0" err="1"/>
                  <a:t>edad</a:t>
                </a:r>
                <a:r>
                  <a:rPr lang="en-US" dirty="0"/>
                  <a:t> 0, </a:t>
                </a:r>
                <a:r>
                  <a:rPr lang="en-US" dirty="0" err="1"/>
                  <a:t>durante</a:t>
                </a:r>
                <a:r>
                  <a:rPr lang="en-US" dirty="0"/>
                  <a:t> </a:t>
                </a:r>
                <a:r>
                  <a:rPr lang="en-US" dirty="0" err="1"/>
                  <a:t>el</a:t>
                </a:r>
                <a:r>
                  <a:rPr lang="en-US" dirty="0"/>
                  <a:t> </a:t>
                </a:r>
                <a:r>
                  <a:rPr lang="en-US" dirty="0" err="1"/>
                  <a:t>período</a:t>
                </a:r>
                <a:r>
                  <a:rPr lang="en-US" dirty="0"/>
                  <a:t> t</a:t>
                </a:r>
                <a:endParaRPr lang="en-US" sz="2400" dirty="0"/>
              </a:p>
              <a:p>
                <a:r>
                  <a:rPr lang="en-US" dirty="0"/>
                  <a:t>B(t):		</a:t>
                </a:r>
                <a:r>
                  <a:rPr lang="en-US" dirty="0" err="1"/>
                  <a:t>Nacimientos</a:t>
                </a:r>
                <a:r>
                  <a:rPr lang="en-US" dirty="0"/>
                  <a:t> </a:t>
                </a:r>
                <a:r>
                  <a:rPr lang="en-US" dirty="0" err="1"/>
                  <a:t>ocurridos</a:t>
                </a:r>
                <a:r>
                  <a:rPr lang="en-US" dirty="0"/>
                  <a:t> </a:t>
                </a:r>
                <a:r>
                  <a:rPr lang="en-US" dirty="0" err="1"/>
                  <a:t>durante</a:t>
                </a:r>
                <a:r>
                  <a:rPr lang="en-US" dirty="0"/>
                  <a:t> </a:t>
                </a:r>
                <a:r>
                  <a:rPr lang="en-US" dirty="0" err="1"/>
                  <a:t>el</a:t>
                </a:r>
                <a:r>
                  <a:rPr lang="en-US" dirty="0"/>
                  <a:t> </a:t>
                </a:r>
                <a:r>
                  <a:rPr lang="en-US" dirty="0" err="1"/>
                  <a:t>período</a:t>
                </a:r>
                <a:r>
                  <a:rPr lang="en-US" dirty="0"/>
                  <a:t> t.</a:t>
                </a:r>
              </a:p>
              <a:p>
                <a:endParaRPr lang="en-US" dirty="0"/>
              </a:p>
              <a:p>
                <a:r>
                  <a:rPr lang="en-US" dirty="0" err="1"/>
                  <a:t>Interpretaci</a:t>
                </a:r>
                <a:r>
                  <a:rPr lang="es-CR" dirty="0" err="1"/>
                  <a:t>ón</a:t>
                </a:r>
                <a:r>
                  <a:rPr lang="es-CR" dirty="0"/>
                  <a:t>:  El número de defunciones infantiles por cada 1000 nacimientos.</a:t>
                </a:r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6F5EBD07-1C47-0593-2702-7F0AD9AB92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5311" y="1825625"/>
                <a:ext cx="11524592" cy="4351338"/>
              </a:xfrm>
              <a:blipFill>
                <a:blip r:embed="rId2"/>
                <a:stretch>
                  <a:fillRect l="-9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665684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188E18-F898-C75F-BD9F-002B4A8A7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9F2BFA-1E65-63B8-2261-D6FEEB92C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Probabilidad de morir antes de la edad 1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7715E5CA-EF1B-4D76-1F87-B30AE67DC0A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15311" y="1825625"/>
                <a:ext cx="11524592" cy="4351338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C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s-CR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s-CR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s-C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bSup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∗1000</m:t>
                    </m:r>
                  </m:oMath>
                </a14:m>
                <a:r>
                  <a:rPr lang="en-US" sz="1400" dirty="0"/>
                  <a:t> </a:t>
                </a:r>
                <a:r>
                  <a:rPr lang="en-US" dirty="0"/>
                  <a:t> </a:t>
                </a:r>
                <a:endParaRPr lang="en-US" sz="2400" dirty="0"/>
              </a:p>
              <a:p>
                <a:r>
                  <a:rPr lang="en-US" dirty="0"/>
                  <a:t>Donde:</a:t>
                </a:r>
                <a:endParaRPr lang="en-US" sz="2400" dirty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bSup>
                  </m:oMath>
                </a14:m>
                <a:r>
                  <a:rPr lang="en-US" dirty="0"/>
                  <a:t> :		</a:t>
                </a:r>
                <a:r>
                  <a:rPr lang="en-US" dirty="0" err="1"/>
                  <a:t>Defunciones</a:t>
                </a:r>
                <a:r>
                  <a:rPr lang="en-US" dirty="0"/>
                  <a:t> a la </a:t>
                </a:r>
                <a:r>
                  <a:rPr lang="en-US" dirty="0" err="1"/>
                  <a:t>edad</a:t>
                </a:r>
                <a:r>
                  <a:rPr lang="en-US" dirty="0"/>
                  <a:t> 0 de la </a:t>
                </a:r>
                <a:r>
                  <a:rPr lang="en-US" dirty="0" err="1"/>
                  <a:t>cohorte</a:t>
                </a:r>
                <a:r>
                  <a:rPr lang="en-US" dirty="0"/>
                  <a:t> </a:t>
                </a:r>
                <a:r>
                  <a:rPr lang="en-US" dirty="0" err="1"/>
                  <a:t>nacida</a:t>
                </a:r>
                <a:r>
                  <a:rPr lang="en-US" dirty="0"/>
                  <a:t> </a:t>
                </a:r>
                <a:r>
                  <a:rPr lang="en-US" dirty="0" err="1"/>
                  <a:t>en</a:t>
                </a:r>
                <a:r>
                  <a:rPr lang="en-US" dirty="0"/>
                  <a:t> </a:t>
                </a:r>
                <a:r>
                  <a:rPr lang="en-US" dirty="0" err="1"/>
                  <a:t>el</a:t>
                </a:r>
                <a:r>
                  <a:rPr lang="en-US" dirty="0"/>
                  <a:t> </a:t>
                </a:r>
                <a:r>
                  <a:rPr lang="en-US" dirty="0" err="1"/>
                  <a:t>año</a:t>
                </a:r>
                <a:r>
                  <a:rPr lang="en-US" dirty="0"/>
                  <a:t> t</a:t>
                </a:r>
                <a:endParaRPr lang="en-US" sz="2400" dirty="0"/>
              </a:p>
              <a:p>
                <a:r>
                  <a:rPr lang="en-US" dirty="0"/>
                  <a:t>B(t):		</a:t>
                </a:r>
                <a:r>
                  <a:rPr lang="en-US" dirty="0" err="1"/>
                  <a:t>Nacimientos</a:t>
                </a:r>
                <a:r>
                  <a:rPr lang="en-US" dirty="0"/>
                  <a:t> </a:t>
                </a:r>
                <a:r>
                  <a:rPr lang="en-US" dirty="0" err="1"/>
                  <a:t>ocurridos</a:t>
                </a:r>
                <a:r>
                  <a:rPr lang="en-US" dirty="0"/>
                  <a:t> </a:t>
                </a:r>
                <a:r>
                  <a:rPr lang="en-US" dirty="0" err="1"/>
                  <a:t>en</a:t>
                </a:r>
                <a:r>
                  <a:rPr lang="en-US" dirty="0"/>
                  <a:t> </a:t>
                </a:r>
                <a:r>
                  <a:rPr lang="en-US" dirty="0" err="1"/>
                  <a:t>el</a:t>
                </a:r>
                <a:r>
                  <a:rPr lang="en-US" dirty="0"/>
                  <a:t> </a:t>
                </a:r>
                <a:r>
                  <a:rPr lang="en-US" dirty="0" err="1"/>
                  <a:t>año</a:t>
                </a:r>
                <a:r>
                  <a:rPr lang="en-US" dirty="0"/>
                  <a:t> t.</a:t>
                </a:r>
              </a:p>
              <a:p>
                <a:endParaRPr lang="en-US" dirty="0"/>
              </a:p>
              <a:p>
                <a:r>
                  <a:rPr lang="en-US" dirty="0" err="1"/>
                  <a:t>Interpretación</a:t>
                </a:r>
                <a:r>
                  <a:rPr lang="en-US" dirty="0"/>
                  <a:t>:  </a:t>
                </a:r>
                <a:r>
                  <a:rPr lang="en-US" dirty="0" err="1"/>
                  <a:t>Cantidad</a:t>
                </a:r>
                <a:r>
                  <a:rPr lang="en-US" dirty="0"/>
                  <a:t> d.</a:t>
                </a:r>
              </a:p>
              <a:p>
                <a:endParaRPr lang="en-US" dirty="0"/>
              </a:p>
              <a:p>
                <a:r>
                  <a:rPr lang="en-US" dirty="0" err="1"/>
                  <a:t>Volvamos</a:t>
                </a:r>
                <a:r>
                  <a:rPr lang="en-US" dirty="0"/>
                  <a:t> al </a:t>
                </a:r>
                <a:r>
                  <a:rPr lang="en-US" dirty="0" err="1"/>
                  <a:t>Diagrama</a:t>
                </a:r>
                <a:r>
                  <a:rPr lang="en-US" dirty="0"/>
                  <a:t> de Lexis</a:t>
                </a: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7715E5CA-EF1B-4D76-1F87-B30AE67DC0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5311" y="1825625"/>
                <a:ext cx="11524592" cy="4351338"/>
              </a:xfrm>
              <a:blipFill>
                <a:blip r:embed="rId2"/>
                <a:stretch>
                  <a:fillRect l="-952" b="-36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79545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FE201CBE-1132-943D-EC6F-CF9F5B8DB7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9186" y="0"/>
            <a:ext cx="8217902" cy="6858000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F4DEF6B9-912B-6F8D-E972-E5F3BA7A3B97}"/>
              </a:ext>
            </a:extLst>
          </p:cNvPr>
          <p:cNvSpPr txBox="1"/>
          <p:nvPr/>
        </p:nvSpPr>
        <p:spPr>
          <a:xfrm>
            <a:off x="8150772" y="445019"/>
            <a:ext cx="40386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¿ Cuál sería la tasa de mortalidad infantil del año 2011?</a:t>
            </a:r>
          </a:p>
          <a:p>
            <a:pPr marL="342900" indent="-342900">
              <a:buAutoNum type="arabicPeriod"/>
            </a:pPr>
            <a:endParaRPr lang="es-ES" dirty="0"/>
          </a:p>
          <a:p>
            <a:pPr marL="342900" indent="-342900">
              <a:buAutoNum type="arabicPeriod"/>
            </a:pPr>
            <a:endParaRPr lang="es-ES" dirty="0"/>
          </a:p>
          <a:p>
            <a:endParaRPr lang="es-ES" dirty="0"/>
          </a:p>
          <a:p>
            <a:r>
              <a:rPr lang="es-ES" dirty="0"/>
              <a:t>¿Cuál sería la q0 del año 2011?</a:t>
            </a:r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601343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FC032-6FF1-FDB9-4439-0026F2550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74AC22-7719-5DF4-A957-A312D8AF1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Tasa de mortalidad en la niñez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056209AB-56A8-F494-A1C9-5480C36D98B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15311" y="1825625"/>
                <a:ext cx="11524592" cy="4351338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s-CR" b="0" i="1" smtClean="0">
                        <a:latin typeface="Cambria Math" panose="02040503050406030204" pitchFamily="18" charset="0"/>
                      </a:rPr>
                      <m:t>𝑇𝑀𝑁</m:t>
                    </m:r>
                    <m:r>
                      <a:rPr lang="es-CR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C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CR" i="1">
                            <a:latin typeface="Cambria Math" panose="02040503050406030204" pitchFamily="18" charset="0"/>
                          </a:rPr>
                          <m:t>𝐷𝑒𝑓𝑢𝑛𝑐𝑖𝑜𝑛𝑒𝑠</m:t>
                        </m:r>
                        <m:r>
                          <a:rPr lang="es-CR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𝑒𝑛𝑡𝑟𝑒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𝑙𝑎𝑠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𝑒𝑑𝑎𝑑𝑒𝑠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 0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 4 </m:t>
                        </m:r>
                        <m:r>
                          <a:rPr lang="es-CR" i="1">
                            <a:latin typeface="Cambria Math" panose="02040503050406030204" pitchFamily="18" charset="0"/>
                          </a:rPr>
                          <m:t>𝑒𝑛</m:t>
                        </m:r>
                        <m:r>
                          <a:rPr lang="es-CR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i="1">
                            <a:latin typeface="Cambria Math" panose="02040503050406030204" pitchFamily="18" charset="0"/>
                          </a:rPr>
                          <m:t>𝑒𝑙</m:t>
                        </m:r>
                        <m:r>
                          <a:rPr lang="es-CR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i="1">
                            <a:latin typeface="Cambria Math" panose="02040503050406030204" pitchFamily="18" charset="0"/>
                          </a:rPr>
                          <m:t>𝑝𝑒𝑟</m:t>
                        </m:r>
                        <m:r>
                          <a:rPr lang="es-CR" i="1">
                            <a:latin typeface="Cambria Math" panose="02040503050406030204" pitchFamily="18" charset="0"/>
                          </a:rPr>
                          <m:t>í</m:t>
                        </m:r>
                        <m:r>
                          <a:rPr lang="es-CR" i="1">
                            <a:latin typeface="Cambria Math" panose="02040503050406030204" pitchFamily="18" charset="0"/>
                          </a:rPr>
                          <m:t>𝑜𝑑𝑜</m:t>
                        </m:r>
                        <m:r>
                          <a:rPr lang="es-CR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i="1"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s-CR" i="1">
                            <a:latin typeface="Cambria Math" panose="02040503050406030204" pitchFamily="18" charset="0"/>
                          </a:rPr>
                          <m:t>𝑃𝑜𝑏𝑙𝑎𝑐𝑖</m:t>
                        </m:r>
                        <m:r>
                          <a:rPr lang="es-CR" i="1">
                            <a:latin typeface="Cambria Math" panose="02040503050406030204" pitchFamily="18" charset="0"/>
                          </a:rPr>
                          <m:t>ó</m:t>
                        </m:r>
                        <m:r>
                          <a:rPr lang="es-CR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s-CR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𝑒𝑛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𝑒𝑑𝑎𝑑𝑒𝑠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𝑒𝑛𝑡𝑟𝑒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 0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 4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ñ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𝑜𝑠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𝑚𝑖𝑡𝑎𝑑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i="1">
                            <a:latin typeface="Cambria Math" panose="02040503050406030204" pitchFamily="18" charset="0"/>
                          </a:rPr>
                          <m:t>𝑑𝑒𝑙</m:t>
                        </m:r>
                        <m:r>
                          <a:rPr lang="es-CR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i="1">
                            <a:latin typeface="Cambria Math" panose="02040503050406030204" pitchFamily="18" charset="0"/>
                          </a:rPr>
                          <m:t>𝑝𝑒𝑟</m:t>
                        </m:r>
                        <m:r>
                          <a:rPr lang="es-CR" i="1">
                            <a:latin typeface="Cambria Math" panose="02040503050406030204" pitchFamily="18" charset="0"/>
                          </a:rPr>
                          <m:t>í</m:t>
                        </m:r>
                        <m:r>
                          <a:rPr lang="es-CR" i="1">
                            <a:latin typeface="Cambria Math" panose="02040503050406030204" pitchFamily="18" charset="0"/>
                          </a:rPr>
                          <m:t>𝑜𝑑𝑜</m:t>
                        </m:r>
                        <m:r>
                          <a:rPr lang="es-CR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i="1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en-US" sz="2400" dirty="0"/>
                  <a:t>*100</a:t>
                </a:r>
              </a:p>
              <a:p>
                <a:endParaRPr lang="en-US" dirty="0"/>
              </a:p>
              <a:p>
                <a:r>
                  <a:rPr lang="en-US" dirty="0" err="1"/>
                  <a:t>Interpretación</a:t>
                </a:r>
                <a:r>
                  <a:rPr lang="en-US" dirty="0"/>
                  <a:t>:  </a:t>
                </a:r>
                <a:r>
                  <a:rPr lang="en-US" dirty="0" err="1"/>
                  <a:t>Cantidad</a:t>
                </a:r>
                <a:r>
                  <a:rPr lang="en-US" dirty="0"/>
                  <a:t> de </a:t>
                </a:r>
                <a:r>
                  <a:rPr lang="en-US" dirty="0" err="1"/>
                  <a:t>defunciones</a:t>
                </a:r>
                <a:r>
                  <a:rPr lang="en-US" dirty="0"/>
                  <a:t> de </a:t>
                </a:r>
                <a:r>
                  <a:rPr lang="en-US" dirty="0" err="1"/>
                  <a:t>menores</a:t>
                </a:r>
                <a:r>
                  <a:rPr lang="en-US" dirty="0"/>
                  <a:t> de 5 </a:t>
                </a:r>
                <a:r>
                  <a:rPr lang="en-US" dirty="0" err="1"/>
                  <a:t>años</a:t>
                </a:r>
                <a:r>
                  <a:rPr lang="en-US" dirty="0"/>
                  <a:t> </a:t>
                </a:r>
                <a:r>
                  <a:rPr lang="en-US" dirty="0" err="1"/>
                  <a:t>por</a:t>
                </a:r>
                <a:r>
                  <a:rPr lang="en-US" dirty="0"/>
                  <a:t> </a:t>
                </a:r>
                <a:r>
                  <a:rPr lang="en-US" dirty="0" err="1"/>
                  <a:t>cada</a:t>
                </a:r>
                <a:r>
                  <a:rPr lang="en-US" dirty="0"/>
                  <a:t> 100 </a:t>
                </a:r>
                <a:r>
                  <a:rPr lang="en-US" dirty="0" err="1"/>
                  <a:t>menores</a:t>
                </a:r>
                <a:r>
                  <a:rPr lang="en-US" dirty="0"/>
                  <a:t> de 5 </a:t>
                </a:r>
                <a:r>
                  <a:rPr lang="en-US" dirty="0" err="1"/>
                  <a:t>años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056209AB-56A8-F494-A1C9-5480C36D98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5311" y="1825625"/>
                <a:ext cx="11524592" cy="4351338"/>
              </a:xfrm>
              <a:blipFill>
                <a:blip r:embed="rId2"/>
                <a:stretch>
                  <a:fillRect l="-9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81986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A3C0B8-3722-786A-7D36-C1A0AFDB0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A74312-9353-DEF3-C718-A7C64E5C2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Tasa de mortalidad materna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DCF7082A-2B17-D51C-3E76-7D2A3A78B8F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15311" y="1825625"/>
                <a:ext cx="11524592" cy="4351338"/>
              </a:xfrm>
            </p:spPr>
            <p:txBody>
              <a:bodyPr>
                <a:normAutofit lnSpcReduction="10000"/>
              </a:bodyPr>
              <a:lstStyle/>
              <a:p>
                <a14:m>
                  <m:oMath xmlns:m="http://schemas.openxmlformats.org/officeDocument/2006/math">
                    <m:r>
                      <a:rPr lang="es-CR" b="0" i="1" smtClean="0">
                        <a:latin typeface="Cambria Math" panose="02040503050406030204" pitchFamily="18" charset="0"/>
                      </a:rPr>
                      <m:t>𝑇𝑎𝑠𝑎</m:t>
                    </m:r>
                    <m:r>
                      <a:rPr lang="es-C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CR" b="0" i="1" smtClean="0">
                        <a:latin typeface="Cambria Math" panose="02040503050406030204" pitchFamily="18" charset="0"/>
                      </a:rPr>
                      <m:t>𝑀𝑜𝑟𝑡𝑎𝑙𝑖𝑑𝑎𝑑</m:t>
                    </m:r>
                    <m:r>
                      <a:rPr lang="es-C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CR" b="0" i="1" smtClean="0">
                        <a:latin typeface="Cambria Math" panose="02040503050406030204" pitchFamily="18" charset="0"/>
                      </a:rPr>
                      <m:t>𝑀𝑎𝑡𝑒𝑟𝑛𝑎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  <m:r>
                              <a:rPr lang="es-CR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𝑀𝑀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∗100</m:t>
                    </m:r>
                    <m:r>
                      <a:rPr lang="es-CR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000</m:t>
                    </m:r>
                  </m:oMath>
                </a14:m>
                <a:r>
                  <a:rPr lang="en-US" dirty="0"/>
                  <a:t> </a:t>
                </a:r>
                <a:r>
                  <a:rPr lang="en-US" dirty="0">
                    <a:effectLst/>
                  </a:rPr>
                  <a:t> </a:t>
                </a:r>
              </a:p>
              <a:p>
                <a:r>
                  <a:rPr lang="en-US" dirty="0"/>
                  <a:t>Donde:</a:t>
                </a:r>
                <a:endParaRPr lang="en-US" sz="2400" dirty="0"/>
              </a:p>
              <a:p>
                <a:r>
                  <a:rPr lang="en-US" dirty="0"/>
                  <a:t>B(t):		</a:t>
                </a:r>
                <a:r>
                  <a:rPr lang="en-US" dirty="0" err="1"/>
                  <a:t>Nacimientos</a:t>
                </a:r>
                <a:r>
                  <a:rPr lang="en-US" dirty="0"/>
                  <a:t> </a:t>
                </a:r>
                <a:r>
                  <a:rPr lang="en-US" dirty="0" err="1"/>
                  <a:t>ocurridos</a:t>
                </a:r>
                <a:r>
                  <a:rPr lang="en-US" dirty="0"/>
                  <a:t> </a:t>
                </a:r>
                <a:r>
                  <a:rPr lang="en-US" dirty="0" err="1"/>
                  <a:t>durante</a:t>
                </a:r>
                <a:r>
                  <a:rPr lang="en-US" dirty="0"/>
                  <a:t> </a:t>
                </a:r>
                <a:r>
                  <a:rPr lang="en-US" dirty="0" err="1"/>
                  <a:t>el</a:t>
                </a:r>
                <a:r>
                  <a:rPr lang="en-US" dirty="0"/>
                  <a:t> </a:t>
                </a:r>
                <a:r>
                  <a:rPr lang="en-US" dirty="0" err="1"/>
                  <a:t>período</a:t>
                </a:r>
                <a:r>
                  <a:rPr lang="en-US" dirty="0"/>
                  <a:t> t.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𝑀𝑀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: </a:t>
                </a:r>
                <a:r>
                  <a:rPr lang="en-US" dirty="0" err="1"/>
                  <a:t>Defunciones</a:t>
                </a:r>
                <a:r>
                  <a:rPr lang="en-US" dirty="0"/>
                  <a:t> de </a:t>
                </a:r>
                <a:r>
                  <a:rPr lang="en-US" dirty="0" err="1"/>
                  <a:t>mujeres</a:t>
                </a:r>
                <a:r>
                  <a:rPr lang="en-US" dirty="0"/>
                  <a:t> </a:t>
                </a:r>
                <a:r>
                  <a:rPr lang="en-US" dirty="0" err="1"/>
                  <a:t>mientras</a:t>
                </a:r>
                <a:r>
                  <a:rPr lang="en-US" dirty="0"/>
                  <a:t> </a:t>
                </a:r>
                <a:r>
                  <a:rPr lang="en-US" dirty="0" err="1"/>
                  <a:t>están</a:t>
                </a:r>
                <a:r>
                  <a:rPr lang="en-US" dirty="0"/>
                  <a:t> </a:t>
                </a:r>
                <a:r>
                  <a:rPr lang="en-US" dirty="0" err="1"/>
                  <a:t>embarazadas</a:t>
                </a:r>
                <a:r>
                  <a:rPr lang="en-US" dirty="0"/>
                  <a:t> o </a:t>
                </a:r>
                <a:r>
                  <a:rPr lang="en-US" dirty="0" err="1"/>
                  <a:t>dentro</a:t>
                </a:r>
                <a:r>
                  <a:rPr lang="en-US" dirty="0"/>
                  <a:t> de </a:t>
                </a:r>
                <a:r>
                  <a:rPr lang="en-US" dirty="0" err="1"/>
                  <a:t>los</a:t>
                </a:r>
                <a:r>
                  <a:rPr lang="en-US" dirty="0"/>
                  <a:t> 42 días de </a:t>
                </a:r>
                <a:r>
                  <a:rPr lang="en-US" dirty="0" err="1"/>
                  <a:t>terminado</a:t>
                </a:r>
                <a:r>
                  <a:rPr lang="en-US" dirty="0"/>
                  <a:t> </a:t>
                </a:r>
                <a:r>
                  <a:rPr lang="en-US" dirty="0" err="1"/>
                  <a:t>el</a:t>
                </a:r>
                <a:r>
                  <a:rPr lang="en-US" dirty="0"/>
                  <a:t> </a:t>
                </a:r>
                <a:r>
                  <a:rPr lang="en-US" dirty="0" err="1"/>
                  <a:t>embarazo</a:t>
                </a:r>
                <a:r>
                  <a:rPr lang="en-US" dirty="0"/>
                  <a:t>, </a:t>
                </a:r>
                <a:r>
                  <a:rPr lang="en-US" dirty="0" err="1"/>
                  <a:t>indiferentemente</a:t>
                </a:r>
                <a:r>
                  <a:rPr lang="en-US" dirty="0"/>
                  <a:t> de la </a:t>
                </a:r>
                <a:r>
                  <a:rPr lang="en-US" dirty="0" err="1"/>
                  <a:t>duración</a:t>
                </a:r>
                <a:r>
                  <a:rPr lang="en-US" dirty="0"/>
                  <a:t> o </a:t>
                </a:r>
                <a:r>
                  <a:rPr lang="en-US" dirty="0" err="1"/>
                  <a:t>el</a:t>
                </a:r>
                <a:r>
                  <a:rPr lang="en-US" dirty="0"/>
                  <a:t> </a:t>
                </a:r>
                <a:r>
                  <a:rPr lang="en-US" dirty="0" err="1"/>
                  <a:t>lugar</a:t>
                </a:r>
                <a:r>
                  <a:rPr lang="en-US" dirty="0"/>
                  <a:t> del </a:t>
                </a:r>
                <a:r>
                  <a:rPr lang="en-US" dirty="0" err="1"/>
                  <a:t>embarazo</a:t>
                </a:r>
                <a:r>
                  <a:rPr lang="en-US" dirty="0"/>
                  <a:t>, </a:t>
                </a:r>
                <a:r>
                  <a:rPr lang="en-US" dirty="0" err="1"/>
                  <a:t>por</a:t>
                </a:r>
                <a:r>
                  <a:rPr lang="en-US" dirty="0"/>
                  <a:t> </a:t>
                </a:r>
                <a:r>
                  <a:rPr lang="en-US" dirty="0" err="1"/>
                  <a:t>cualquier</a:t>
                </a:r>
                <a:r>
                  <a:rPr lang="en-US" dirty="0"/>
                  <a:t> causa </a:t>
                </a:r>
                <a:r>
                  <a:rPr lang="en-US" dirty="0" err="1"/>
                  <a:t>relacionada</a:t>
                </a:r>
                <a:r>
                  <a:rPr lang="en-US" dirty="0"/>
                  <a:t> o </a:t>
                </a:r>
                <a:r>
                  <a:rPr lang="en-US" dirty="0" err="1"/>
                  <a:t>agravada</a:t>
                </a:r>
                <a:r>
                  <a:rPr lang="en-US" dirty="0"/>
                  <a:t> </a:t>
                </a:r>
                <a:r>
                  <a:rPr lang="en-US" dirty="0" err="1"/>
                  <a:t>por</a:t>
                </a:r>
                <a:r>
                  <a:rPr lang="en-US" dirty="0"/>
                  <a:t> </a:t>
                </a:r>
                <a:r>
                  <a:rPr lang="en-US" dirty="0" err="1"/>
                  <a:t>el</a:t>
                </a:r>
                <a:r>
                  <a:rPr lang="en-US" dirty="0"/>
                  <a:t> </a:t>
                </a:r>
                <a:r>
                  <a:rPr lang="en-US" dirty="0" err="1"/>
                  <a:t>embarazo</a:t>
                </a:r>
                <a:r>
                  <a:rPr lang="en-US" dirty="0"/>
                  <a:t> o </a:t>
                </a:r>
                <a:r>
                  <a:rPr lang="en-US" dirty="0" err="1"/>
                  <a:t>su</a:t>
                </a:r>
                <a:r>
                  <a:rPr lang="en-US" dirty="0"/>
                  <a:t> </a:t>
                </a:r>
                <a:r>
                  <a:rPr lang="en-US" dirty="0" err="1"/>
                  <a:t>administración</a:t>
                </a:r>
                <a:r>
                  <a:rPr lang="en-US" dirty="0"/>
                  <a:t>, </a:t>
                </a:r>
                <a:r>
                  <a:rPr lang="en-US" dirty="0" err="1"/>
                  <a:t>pero</a:t>
                </a:r>
                <a:r>
                  <a:rPr lang="en-US" dirty="0"/>
                  <a:t> no </a:t>
                </a:r>
                <a:r>
                  <a:rPr lang="en-US" dirty="0" err="1"/>
                  <a:t>por</a:t>
                </a:r>
                <a:r>
                  <a:rPr lang="en-US" dirty="0"/>
                  <a:t> </a:t>
                </a:r>
                <a:r>
                  <a:rPr lang="en-US" dirty="0" err="1"/>
                  <a:t>causas</a:t>
                </a:r>
                <a:r>
                  <a:rPr lang="en-US" dirty="0"/>
                  <a:t> </a:t>
                </a:r>
                <a:r>
                  <a:rPr lang="en-US" dirty="0" err="1"/>
                  <a:t>incidentales</a:t>
                </a:r>
                <a:r>
                  <a:rPr lang="en-US" dirty="0"/>
                  <a:t> o accidentals (OMS, 2007)</a:t>
                </a:r>
              </a:p>
              <a:p>
                <a:r>
                  <a:rPr lang="en-US" dirty="0" err="1"/>
                  <a:t>Interpretaci</a:t>
                </a:r>
                <a:r>
                  <a:rPr lang="es-CR" dirty="0" err="1"/>
                  <a:t>ón</a:t>
                </a:r>
                <a:r>
                  <a:rPr lang="es-CR" dirty="0"/>
                  <a:t>:  El número de defunciones maternas por cada 100.000 nacimientos.</a:t>
                </a:r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DCF7082A-2B17-D51C-3E76-7D2A3A78B8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5311" y="1825625"/>
                <a:ext cx="11524592" cy="4351338"/>
              </a:xfrm>
              <a:blipFill>
                <a:blip r:embed="rId2"/>
                <a:stretch>
                  <a:fillRect l="-952" t="-280" b="-2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34292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577B7E-F8DE-C238-E711-E133D6BB8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FE7247-32B7-EE88-3CE7-572D33136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Otras medidas de mortalidad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5911221-AF7F-BE8C-062E-43E4ED4F8E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80127"/>
          </a:xfrm>
        </p:spPr>
        <p:txBody>
          <a:bodyPr>
            <a:normAutofit/>
          </a:bodyPr>
          <a:lstStyle/>
          <a:p>
            <a:r>
              <a:rPr lang="es-CR" dirty="0"/>
              <a:t>Funciones de la tabla de vida:</a:t>
            </a:r>
          </a:p>
          <a:p>
            <a:pPr lvl="1"/>
            <a:r>
              <a:rPr lang="es-CR" dirty="0"/>
              <a:t>Esperanza de vida a la edad x</a:t>
            </a:r>
          </a:p>
          <a:p>
            <a:pPr lvl="1"/>
            <a:r>
              <a:rPr lang="es-CR" dirty="0"/>
              <a:t>Razón de Supervivencia a la edad x</a:t>
            </a:r>
          </a:p>
          <a:p>
            <a:pPr lvl="1"/>
            <a:r>
              <a:rPr lang="es-CR" dirty="0"/>
              <a:t>Probabilidad de morir a la edad x antes de cumplir la edad </a:t>
            </a:r>
            <a:r>
              <a:rPr lang="es-CR" dirty="0" err="1"/>
              <a:t>x+k</a:t>
            </a:r>
            <a:endParaRPr lang="es-CR" dirty="0"/>
          </a:p>
          <a:p>
            <a:pPr lvl="1"/>
            <a:endParaRPr lang="es-CR" dirty="0"/>
          </a:p>
          <a:p>
            <a:r>
              <a:rPr lang="es-CR" dirty="0"/>
              <a:t>La tabla de vida se analizará con el siguiente tema después del tema de medidas sobre morbilidad</a:t>
            </a:r>
          </a:p>
          <a:p>
            <a:endParaRPr lang="es-CR" dirty="0"/>
          </a:p>
          <a:p>
            <a:pPr lvl="1"/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15739225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A4A860-48A0-8A12-ED4D-EB5C90517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Medidas</a:t>
            </a:r>
            <a:r>
              <a:rPr lang="en-US" dirty="0"/>
              <a:t> de </a:t>
            </a:r>
            <a:r>
              <a:rPr lang="en-US" dirty="0" err="1"/>
              <a:t>morbilidad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4610A8C-53FE-1187-8B9C-0575106440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 </a:t>
            </a:r>
            <a:r>
              <a:rPr lang="en-US" dirty="0" err="1"/>
              <a:t>morbilidad</a:t>
            </a:r>
            <a:r>
              <a:rPr lang="en-US" dirty="0"/>
              <a:t> se </a:t>
            </a:r>
            <a:r>
              <a:rPr lang="en-US" dirty="0" err="1"/>
              <a:t>refiere</a:t>
            </a:r>
            <a:r>
              <a:rPr lang="en-US" dirty="0"/>
              <a:t> al </a:t>
            </a:r>
            <a:r>
              <a:rPr lang="en-US" dirty="0" err="1"/>
              <a:t>desarrollo</a:t>
            </a:r>
            <a:r>
              <a:rPr lang="en-US" dirty="0"/>
              <a:t> o </a:t>
            </a:r>
            <a:r>
              <a:rPr lang="en-US" dirty="0" err="1"/>
              <a:t>experiencia</a:t>
            </a:r>
            <a:r>
              <a:rPr lang="en-US" dirty="0"/>
              <a:t> de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enfermedad</a:t>
            </a:r>
            <a:r>
              <a:rPr lang="en-US" dirty="0"/>
              <a:t>. </a:t>
            </a:r>
          </a:p>
          <a:p>
            <a:pPr lvl="1"/>
            <a:r>
              <a:rPr lang="en-US" dirty="0" err="1"/>
              <a:t>Generalmente</a:t>
            </a:r>
            <a:r>
              <a:rPr lang="en-US" dirty="0"/>
              <a:t> se </a:t>
            </a:r>
            <a:r>
              <a:rPr lang="en-US" dirty="0" err="1"/>
              <a:t>refiere</a:t>
            </a:r>
            <a:r>
              <a:rPr lang="en-US" dirty="0"/>
              <a:t> a personas </a:t>
            </a:r>
            <a:r>
              <a:rPr lang="en-US" dirty="0" err="1"/>
              <a:t>vivas</a:t>
            </a:r>
            <a:r>
              <a:rPr lang="en-US" dirty="0"/>
              <a:t>.</a:t>
            </a:r>
          </a:p>
          <a:p>
            <a:r>
              <a:rPr lang="en-US" dirty="0" err="1"/>
              <a:t>Pueden</a:t>
            </a:r>
            <a:r>
              <a:rPr lang="en-US" dirty="0"/>
              <a:t> </a:t>
            </a:r>
            <a:r>
              <a:rPr lang="en-US" dirty="0" err="1"/>
              <a:t>haber</a:t>
            </a:r>
            <a:r>
              <a:rPr lang="en-US" dirty="0"/>
              <a:t> </a:t>
            </a:r>
            <a:r>
              <a:rPr lang="en-US" dirty="0" err="1"/>
              <a:t>medidas</a:t>
            </a:r>
            <a:r>
              <a:rPr lang="en-US" dirty="0"/>
              <a:t> de:</a:t>
            </a:r>
          </a:p>
          <a:p>
            <a:pPr lvl="1"/>
            <a:r>
              <a:rPr lang="en-US" dirty="0"/>
              <a:t>Stock: </a:t>
            </a:r>
            <a:r>
              <a:rPr lang="en-US" dirty="0" err="1"/>
              <a:t>Prevalencia</a:t>
            </a:r>
            <a:endParaRPr lang="en-US" dirty="0"/>
          </a:p>
          <a:p>
            <a:pPr lvl="1"/>
            <a:r>
              <a:rPr lang="en-US" dirty="0" err="1"/>
              <a:t>Flujo</a:t>
            </a:r>
            <a:r>
              <a:rPr lang="en-US" dirty="0"/>
              <a:t>: </a:t>
            </a:r>
            <a:r>
              <a:rPr lang="en-US" dirty="0" err="1"/>
              <a:t>Tasas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03309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17277-6BA8-B14A-B349-EDC6949D3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E397DA-A36B-7C8D-45FF-6F811119E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64130"/>
          </a:xfrm>
        </p:spPr>
        <p:txBody>
          <a:bodyPr/>
          <a:lstStyle/>
          <a:p>
            <a:r>
              <a:rPr lang="es-CR" dirty="0"/>
              <a:t>Recordatorio: Prevalencia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2EE8D32-A04A-F0BF-84D8-25FE45DA07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18440"/>
            <a:ext cx="10515600" cy="4774433"/>
          </a:xfrm>
        </p:spPr>
        <p:txBody>
          <a:bodyPr>
            <a:normAutofit/>
          </a:bodyPr>
          <a:lstStyle/>
          <a:p>
            <a:r>
              <a:rPr lang="en-US" dirty="0"/>
              <a:t>La </a:t>
            </a:r>
            <a:r>
              <a:rPr lang="en-US" dirty="0" err="1"/>
              <a:t>prevalencia</a:t>
            </a:r>
            <a:r>
              <a:rPr lang="en-US" dirty="0"/>
              <a:t> es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medida</a:t>
            </a:r>
            <a:r>
              <a:rPr lang="en-US" dirty="0"/>
              <a:t> de </a:t>
            </a:r>
            <a:r>
              <a:rPr lang="en-US" dirty="0" err="1"/>
              <a:t>estado</a:t>
            </a:r>
            <a:r>
              <a:rPr lang="en-US" dirty="0"/>
              <a:t> o “stock”.</a:t>
            </a:r>
          </a:p>
          <a:p>
            <a:r>
              <a:rPr lang="en-US" dirty="0"/>
              <a:t>Se </a:t>
            </a:r>
            <a:r>
              <a:rPr lang="en-US" dirty="0" err="1"/>
              <a:t>refiere</a:t>
            </a:r>
            <a:r>
              <a:rPr lang="en-US" dirty="0"/>
              <a:t> a la </a:t>
            </a:r>
            <a:r>
              <a:rPr lang="en-US" dirty="0" err="1"/>
              <a:t>cantidad</a:t>
            </a:r>
            <a:r>
              <a:rPr lang="en-US" dirty="0"/>
              <a:t> de </a:t>
            </a:r>
            <a:r>
              <a:rPr lang="en-US" dirty="0" err="1"/>
              <a:t>sujetos</a:t>
            </a:r>
            <a:r>
              <a:rPr lang="en-US" dirty="0"/>
              <a:t> con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característica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un </a:t>
            </a:r>
            <a:r>
              <a:rPr lang="en-US" dirty="0" err="1"/>
              <a:t>momento</a:t>
            </a:r>
            <a:r>
              <a:rPr lang="en-US" dirty="0"/>
              <a:t> dado.</a:t>
            </a:r>
          </a:p>
          <a:p>
            <a:r>
              <a:rPr lang="en-US" dirty="0"/>
              <a:t>Se </a:t>
            </a:r>
            <a:r>
              <a:rPr lang="en-US" dirty="0" err="1"/>
              <a:t>usa</a:t>
            </a:r>
            <a:r>
              <a:rPr lang="en-US" dirty="0"/>
              <a:t> </a:t>
            </a:r>
            <a:r>
              <a:rPr lang="en-US" dirty="0" err="1"/>
              <a:t>frecuentemente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epidemiología</a:t>
            </a:r>
            <a:r>
              <a:rPr lang="en-US" dirty="0"/>
              <a:t> para </a:t>
            </a:r>
            <a:r>
              <a:rPr lang="en-US" dirty="0" err="1"/>
              <a:t>referirse</a:t>
            </a:r>
            <a:r>
              <a:rPr lang="en-US" dirty="0"/>
              <a:t> a la </a:t>
            </a:r>
            <a:r>
              <a:rPr lang="en-US" dirty="0" err="1"/>
              <a:t>cantidad</a:t>
            </a:r>
            <a:r>
              <a:rPr lang="en-US" dirty="0"/>
              <a:t> de </a:t>
            </a:r>
            <a:r>
              <a:rPr lang="en-US" dirty="0" err="1"/>
              <a:t>sujetos</a:t>
            </a:r>
            <a:r>
              <a:rPr lang="en-US" dirty="0"/>
              <a:t> con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enfermedad</a:t>
            </a:r>
            <a:r>
              <a:rPr lang="en-US" dirty="0"/>
              <a:t> (</a:t>
            </a:r>
            <a:r>
              <a:rPr lang="en-US" dirty="0" err="1"/>
              <a:t>prevalencia</a:t>
            </a:r>
            <a:r>
              <a:rPr lang="en-US" dirty="0"/>
              <a:t> de personas con diabetes mellitus) o con un factor de </a:t>
            </a:r>
            <a:r>
              <a:rPr lang="en-US" dirty="0" err="1"/>
              <a:t>riesgoa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enfermedad</a:t>
            </a:r>
            <a:r>
              <a:rPr lang="en-US" dirty="0"/>
              <a:t> (</a:t>
            </a:r>
            <a:r>
              <a:rPr lang="en-US" dirty="0" err="1"/>
              <a:t>prevalencia</a:t>
            </a:r>
            <a:r>
              <a:rPr lang="en-US" dirty="0"/>
              <a:t> de personas con </a:t>
            </a:r>
            <a:r>
              <a:rPr lang="en-US" dirty="0" err="1"/>
              <a:t>obesidad</a:t>
            </a:r>
            <a:r>
              <a:rPr lang="en-US" dirty="0"/>
              <a:t> que es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condición</a:t>
            </a:r>
            <a:r>
              <a:rPr lang="en-US" dirty="0"/>
              <a:t> que </a:t>
            </a:r>
            <a:r>
              <a:rPr lang="en-US" dirty="0" err="1"/>
              <a:t>aumenta</a:t>
            </a:r>
            <a:r>
              <a:rPr lang="en-US" dirty="0"/>
              <a:t> la </a:t>
            </a:r>
            <a:r>
              <a:rPr lang="en-US" dirty="0" err="1"/>
              <a:t>probabilidad</a:t>
            </a:r>
            <a:r>
              <a:rPr lang="en-US" dirty="0"/>
              <a:t> de </a:t>
            </a:r>
            <a:r>
              <a:rPr lang="en-US" dirty="0" err="1"/>
              <a:t>desarrollar</a:t>
            </a:r>
            <a:r>
              <a:rPr lang="en-US" dirty="0"/>
              <a:t> </a:t>
            </a:r>
            <a:r>
              <a:rPr lang="en-US" dirty="0" err="1"/>
              <a:t>enfermedades</a:t>
            </a:r>
            <a:r>
              <a:rPr lang="en-US" dirty="0"/>
              <a:t>).</a:t>
            </a:r>
          </a:p>
          <a:p>
            <a:r>
              <a:rPr lang="en-US" dirty="0"/>
              <a:t>Se </a:t>
            </a:r>
            <a:r>
              <a:rPr lang="en-US" dirty="0" err="1"/>
              <a:t>usa</a:t>
            </a:r>
            <a:r>
              <a:rPr lang="en-US" dirty="0"/>
              <a:t> </a:t>
            </a:r>
            <a:r>
              <a:rPr lang="en-US" dirty="0" err="1"/>
              <a:t>sobre</a:t>
            </a:r>
            <a:r>
              <a:rPr lang="en-US" dirty="0"/>
              <a:t> </a:t>
            </a:r>
            <a:r>
              <a:rPr lang="en-US" dirty="0" err="1"/>
              <a:t>todo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proporción</a:t>
            </a:r>
            <a:r>
              <a:rPr lang="en-US" dirty="0"/>
              <a:t>.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40021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D7DC2-5C94-910A-447C-601E1915D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FAF2D7-10A8-15F8-1825-CC20A3E38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64130"/>
          </a:xfrm>
        </p:spPr>
        <p:txBody>
          <a:bodyPr/>
          <a:lstStyle/>
          <a:p>
            <a:r>
              <a:rPr lang="es-CR" dirty="0"/>
              <a:t>Medidas de Prevalencia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618B4728-EF2E-5B74-37E1-BD0014599E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18440"/>
                <a:ext cx="10515600" cy="4774433"/>
              </a:xfrm>
            </p:spPr>
            <p:txBody>
              <a:bodyPr>
                <a:normAutofit lnSpcReduction="10000"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𝑃𝑟𝑒𝑣𝑎𝑙𝑒𝑛𝑐𝑖𝑎</m:t>
                    </m:r>
                    <m:r>
                      <a:rPr lang="en-US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𝑝𝑢𝑛𝑡𝑢𝑎𝑙</m:t>
                    </m:r>
                    <m:r>
                      <a:rPr lang="en-US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𝑑𝑒</m:t>
                    </m:r>
                    <m:r>
                      <a:rPr lang="en-US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𝑒𝑛𝑓𝑒𝑟𝑚𝑒𝑑𝑎𝑑</m:t>
                    </m:r>
                    <m:r>
                      <a:rPr lang="en-US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𝑜</m:t>
                    </m:r>
                    <m:r>
                      <a:rPr lang="en-US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𝑐𝑜𝑛𝑑𝑖𝑐𝑖</m:t>
                    </m:r>
                    <m:r>
                      <a:rPr lang="es-CR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ó</m:t>
                    </m:r>
                    <m:r>
                      <a:rPr lang="es-CR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s-CR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s-CR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smtClean="0">
                            <a:effectLst/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</a:rPr>
                          <m:t>𝑎𝑛𝑡𝑖𝑑𝑎𝑑</m:t>
                        </m:r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</a:rPr>
                          <m:t>𝑑𝑒</m:t>
                        </m:r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</a:rPr>
                          <m:t>𝑝𝑒𝑟𝑠𝑜𝑛𝑎𝑠</m:t>
                        </m:r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</a:rPr>
                          <m:t>𝑐𝑜𝑛</m:t>
                        </m:r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effectLst/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s-CR" b="0" i="1" smtClean="0">
                            <a:effectLst/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effectLst/>
                            <a:latin typeface="Cambria Math" panose="02040503050406030204" pitchFamily="18" charset="0"/>
                          </a:rPr>
                          <m:t>𝑒𝑛</m:t>
                        </m:r>
                        <m:r>
                          <a:rPr lang="es-CR" b="0" i="1" smtClean="0">
                            <a:effectLst/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effectLst/>
                            <a:latin typeface="Cambria Math" panose="02040503050406030204" pitchFamily="18" charset="0"/>
                          </a:rPr>
                          <m:t>𝑢𝑛</m:t>
                        </m:r>
                        <m:r>
                          <a:rPr lang="es-CR" b="0" i="1" smtClean="0">
                            <a:effectLst/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effectLst/>
                            <a:latin typeface="Cambria Math" panose="02040503050406030204" pitchFamily="18" charset="0"/>
                          </a:rPr>
                          <m:t>𝑚𝑜𝑚𝑒𝑛𝑡𝑜</m:t>
                        </m:r>
                        <m:r>
                          <a:rPr lang="es-CR" b="0" i="1" smtClean="0">
                            <a:effectLst/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effectLst/>
                            <a:latin typeface="Cambria Math" panose="02040503050406030204" pitchFamily="18" charset="0"/>
                          </a:rPr>
                          <m:t>𝑑𝑎𝑑𝑜</m:t>
                        </m:r>
                      </m:num>
                      <m:den>
                        <m:r>
                          <a:rPr lang="es-CR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𝑇𝑜𝑡𝑎𝑙</m:t>
                        </m:r>
                        <m:r>
                          <a:rPr lang="es-CR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s-CR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𝑑𝑒</m:t>
                        </m:r>
                        <m:r>
                          <a:rPr lang="es-CR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s-CR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𝑝𝑒𝑟𝑠𝑜𝑛𝑎𝑠</m:t>
                        </m:r>
                        <m:r>
                          <a:rPr lang="es-CR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s-CR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𝑒𝑛</m:t>
                        </m:r>
                        <m:r>
                          <a:rPr lang="es-CR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s-CR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𝑢𝑛</m:t>
                        </m:r>
                        <m:r>
                          <a:rPr lang="es-CR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s-CR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𝑚𝑜𝑚𝑒𝑛𝑡𝑜</m:t>
                        </m:r>
                        <m:r>
                          <a:rPr lang="es-CR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s-CR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𝑑𝑎𝑑𝑜</m:t>
                        </m:r>
                      </m:den>
                    </m:f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∗100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La </a:t>
                </a:r>
                <a:r>
                  <a:rPr lang="en-US" dirty="0" err="1"/>
                  <a:t>prevalencia</a:t>
                </a:r>
                <a:r>
                  <a:rPr lang="en-US" dirty="0"/>
                  <a:t> punctual </a:t>
                </a:r>
                <a:r>
                  <a:rPr lang="en-US" dirty="0" err="1"/>
                  <a:t>generalmente</a:t>
                </a:r>
                <a:r>
                  <a:rPr lang="en-US" dirty="0"/>
                  <a:t> se </a:t>
                </a:r>
                <a:r>
                  <a:rPr lang="en-US" dirty="0" err="1"/>
                  <a:t>usa</a:t>
                </a:r>
                <a:r>
                  <a:rPr lang="en-US" dirty="0"/>
                  <a:t> con </a:t>
                </a:r>
                <a:r>
                  <a:rPr lang="en-US" dirty="0" err="1"/>
                  <a:t>monitoreos</a:t>
                </a:r>
                <a:r>
                  <a:rPr lang="en-US" dirty="0"/>
                  <a:t> </a:t>
                </a:r>
                <a:r>
                  <a:rPr lang="en-US" dirty="0" err="1"/>
                  <a:t>epidemiológicos</a:t>
                </a:r>
                <a:r>
                  <a:rPr lang="en-US" dirty="0"/>
                  <a:t> que se </a:t>
                </a:r>
                <a:r>
                  <a:rPr lang="en-US" dirty="0" err="1"/>
                  <a:t>llevan</a:t>
                </a:r>
                <a:r>
                  <a:rPr lang="en-US" dirty="0"/>
                  <a:t> </a:t>
                </a:r>
                <a:r>
                  <a:rPr lang="en-US" dirty="0" err="1"/>
                  <a:t>en</a:t>
                </a:r>
                <a:r>
                  <a:rPr lang="en-US" dirty="0"/>
                  <a:t> </a:t>
                </a:r>
                <a:r>
                  <a:rPr lang="en-US" dirty="0" err="1"/>
                  <a:t>tiempo</a:t>
                </a:r>
                <a:r>
                  <a:rPr lang="en-US" dirty="0"/>
                  <a:t> real.</a:t>
                </a:r>
              </a:p>
              <a:p>
                <a:pPr lvl="1"/>
                <a:r>
                  <a:rPr lang="en-US" dirty="0"/>
                  <a:t>Por </a:t>
                </a:r>
                <a:r>
                  <a:rPr lang="en-US" dirty="0" err="1"/>
                  <a:t>ejemplo</a:t>
                </a:r>
                <a:r>
                  <a:rPr lang="en-US" dirty="0"/>
                  <a:t>, la </a:t>
                </a:r>
                <a:r>
                  <a:rPr lang="en-US" dirty="0" err="1"/>
                  <a:t>prevalencia</a:t>
                </a:r>
                <a:r>
                  <a:rPr lang="en-US" dirty="0"/>
                  <a:t> de </a:t>
                </a:r>
                <a:r>
                  <a:rPr lang="en-US" dirty="0" err="1"/>
                  <a:t>casos</a:t>
                </a:r>
                <a:r>
                  <a:rPr lang="en-US" dirty="0"/>
                  <a:t> de COVID </a:t>
                </a:r>
                <a:r>
                  <a:rPr lang="en-US" dirty="0" err="1"/>
                  <a:t>en</a:t>
                </a:r>
                <a:r>
                  <a:rPr lang="en-US" dirty="0"/>
                  <a:t> </a:t>
                </a:r>
                <a:r>
                  <a:rPr lang="en-US" dirty="0" err="1"/>
                  <a:t>el</a:t>
                </a:r>
                <a:r>
                  <a:rPr lang="en-US" dirty="0"/>
                  <a:t> día 1 de </a:t>
                </a:r>
                <a:r>
                  <a:rPr lang="en-US" dirty="0" err="1"/>
                  <a:t>febrero</a:t>
                </a:r>
                <a:r>
                  <a:rPr lang="en-US" dirty="0"/>
                  <a:t> de 2021</a:t>
                </a:r>
              </a:p>
              <a:p>
                <a:r>
                  <a:rPr lang="en-US" dirty="0"/>
                  <a:t>También se </a:t>
                </a:r>
                <a:r>
                  <a:rPr lang="en-US" dirty="0" err="1"/>
                  <a:t>usa</a:t>
                </a:r>
                <a:r>
                  <a:rPr lang="en-US" dirty="0"/>
                  <a:t> con </a:t>
                </a:r>
                <a:r>
                  <a:rPr lang="en-US" dirty="0" err="1"/>
                  <a:t>encuestas</a:t>
                </a:r>
                <a:r>
                  <a:rPr lang="en-US" dirty="0"/>
                  <a:t> u </a:t>
                </a:r>
                <a:r>
                  <a:rPr lang="en-US" dirty="0" err="1"/>
                  <a:t>otro</a:t>
                </a:r>
                <a:r>
                  <a:rPr lang="en-US" dirty="0"/>
                  <a:t> </a:t>
                </a:r>
                <a:r>
                  <a:rPr lang="en-US" dirty="0" err="1"/>
                  <a:t>tipo</a:t>
                </a:r>
                <a:r>
                  <a:rPr lang="en-US" dirty="0"/>
                  <a:t> de </a:t>
                </a:r>
                <a:r>
                  <a:rPr lang="en-US" dirty="0" err="1"/>
                  <a:t>estudios</a:t>
                </a:r>
                <a:r>
                  <a:rPr lang="en-US" dirty="0"/>
                  <a:t> con </a:t>
                </a:r>
                <a:r>
                  <a:rPr lang="en-US" dirty="0" err="1"/>
                  <a:t>muestreo</a:t>
                </a:r>
                <a:r>
                  <a:rPr lang="en-US" dirty="0"/>
                  <a:t> </a:t>
                </a:r>
                <a:r>
                  <a:rPr lang="en-US" dirty="0" err="1"/>
                  <a:t>cuya</a:t>
                </a:r>
                <a:r>
                  <a:rPr lang="en-US" dirty="0"/>
                  <a:t> </a:t>
                </a:r>
                <a:r>
                  <a:rPr lang="en-US" dirty="0" err="1"/>
                  <a:t>información</a:t>
                </a:r>
                <a:r>
                  <a:rPr lang="en-US" dirty="0"/>
                  <a:t> se </a:t>
                </a:r>
                <a:r>
                  <a:rPr lang="en-US" dirty="0" err="1"/>
                  <a:t>obtiene</a:t>
                </a:r>
                <a:r>
                  <a:rPr lang="en-US" dirty="0"/>
                  <a:t> </a:t>
                </a:r>
                <a:r>
                  <a:rPr lang="en-US" dirty="0" err="1"/>
                  <a:t>en</a:t>
                </a:r>
                <a:r>
                  <a:rPr lang="en-US" dirty="0"/>
                  <a:t> un </a:t>
                </a:r>
                <a:r>
                  <a:rPr lang="en-US" dirty="0" err="1"/>
                  <a:t>tiempo</a:t>
                </a:r>
                <a:r>
                  <a:rPr lang="en-US" dirty="0"/>
                  <a:t> </a:t>
                </a:r>
                <a:r>
                  <a:rPr lang="en-US" dirty="0" err="1"/>
                  <a:t>corto</a:t>
                </a:r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Por </a:t>
                </a:r>
                <a:r>
                  <a:rPr lang="en-US" dirty="0" err="1"/>
                  <a:t>ejemplo</a:t>
                </a:r>
                <a:r>
                  <a:rPr lang="en-US" dirty="0"/>
                  <a:t>, </a:t>
                </a:r>
                <a:r>
                  <a:rPr lang="en-US" dirty="0" err="1"/>
                  <a:t>prevalencia</a:t>
                </a:r>
                <a:r>
                  <a:rPr lang="en-US" dirty="0"/>
                  <a:t> de </a:t>
                </a:r>
                <a:r>
                  <a:rPr lang="en-US" dirty="0" err="1"/>
                  <a:t>enfermedades</a:t>
                </a:r>
                <a:r>
                  <a:rPr lang="en-US" dirty="0"/>
                  <a:t> de </a:t>
                </a:r>
                <a:r>
                  <a:rPr lang="en-US" dirty="0" err="1"/>
                  <a:t>transmisión</a:t>
                </a:r>
                <a:r>
                  <a:rPr lang="en-US" dirty="0"/>
                  <a:t> sexual </a:t>
                </a:r>
                <a:r>
                  <a:rPr lang="en-US" dirty="0" err="1"/>
                  <a:t>en</a:t>
                </a:r>
                <a:r>
                  <a:rPr lang="en-US" dirty="0"/>
                  <a:t> un </a:t>
                </a:r>
                <a:r>
                  <a:rPr lang="en-US" dirty="0" err="1"/>
                  <a:t>estudio</a:t>
                </a:r>
                <a:r>
                  <a:rPr lang="en-US" dirty="0"/>
                  <a:t> con </a:t>
                </a:r>
                <a:r>
                  <a:rPr lang="en-US" dirty="0" err="1"/>
                  <a:t>trabajadoras</a:t>
                </a:r>
                <a:r>
                  <a:rPr lang="en-US" dirty="0"/>
                  <a:t> </a:t>
                </a:r>
                <a:r>
                  <a:rPr lang="en-US" dirty="0" err="1"/>
                  <a:t>sexuales</a:t>
                </a:r>
                <a:r>
                  <a:rPr lang="en-US" dirty="0"/>
                  <a:t> </a:t>
                </a:r>
                <a:r>
                  <a:rPr lang="en-US" dirty="0" err="1"/>
                  <a:t>tomado</a:t>
                </a:r>
                <a:r>
                  <a:rPr lang="en-US" dirty="0"/>
                  <a:t> </a:t>
                </a:r>
                <a:r>
                  <a:rPr lang="en-US" dirty="0" err="1"/>
                  <a:t>en</a:t>
                </a:r>
                <a:r>
                  <a:rPr lang="en-US" dirty="0"/>
                  <a:t> un fin de </a:t>
                </a:r>
                <a:r>
                  <a:rPr lang="en-US" dirty="0" err="1"/>
                  <a:t>semana</a:t>
                </a:r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618B4728-EF2E-5B74-37E1-BD0014599E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18440"/>
                <a:ext cx="10515600" cy="4774433"/>
              </a:xfrm>
              <a:blipFill>
                <a:blip r:embed="rId2"/>
                <a:stretch>
                  <a:fillRect l="-1043" t="-1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67557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F81D4-CF9C-5321-F722-A28F824CE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F35A3E-B3B0-825C-3D76-213F0B95F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64130"/>
          </a:xfrm>
        </p:spPr>
        <p:txBody>
          <a:bodyPr/>
          <a:lstStyle/>
          <a:p>
            <a:r>
              <a:rPr lang="es-CR" dirty="0"/>
              <a:t>Medidas de Prevalencia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02E7C5C1-F710-078A-0B5A-FF4ECF64B94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18440"/>
                <a:ext cx="10515600" cy="4774433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𝑃𝑟𝑒𝑣𝑎𝑙𝑒𝑛𝑐𝑖𝑎</m:t>
                    </m:r>
                    <m:r>
                      <a:rPr lang="en-US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s-CR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𝑑𝑒</m:t>
                    </m:r>
                    <m:r>
                      <a:rPr lang="es-CR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s-CR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𝑝𝑒𝑟</m:t>
                    </m:r>
                    <m:r>
                      <a:rPr lang="es-CR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í</m:t>
                    </m:r>
                    <m:r>
                      <a:rPr lang="es-CR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𝑜𝑑𝑜</m:t>
                    </m:r>
                    <m:r>
                      <a:rPr lang="en-US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𝑑𝑒</m:t>
                    </m:r>
                    <m:r>
                      <a:rPr lang="en-US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𝑒𝑛𝑓𝑒𝑟𝑚𝑒𝑑𝑎𝑑</m:t>
                    </m:r>
                    <m:r>
                      <a:rPr lang="en-US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𝑜</m:t>
                    </m:r>
                    <m:r>
                      <a:rPr lang="en-US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𝑐𝑜𝑛𝑑𝑖𝑐𝑖</m:t>
                    </m:r>
                    <m:r>
                      <a:rPr lang="es-CR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ó</m:t>
                    </m:r>
                    <m:r>
                      <a:rPr lang="es-CR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s-CR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s-CR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smtClean="0">
                            <a:effectLst/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</a:rPr>
                          <m:t>𝑎𝑛𝑡𝑖𝑑𝑎𝑑</m:t>
                        </m:r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</a:rPr>
                          <m:t>𝑑𝑒</m:t>
                        </m:r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</a:rPr>
                          <m:t>𝑝𝑒𝑟𝑠𝑜𝑛𝑎𝑠</m:t>
                        </m:r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</a:rPr>
                          <m:t>𝑐𝑜𝑛</m:t>
                        </m:r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effectLst/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s-CR" b="0" i="1" smtClean="0">
                            <a:effectLst/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effectLst/>
                            <a:latin typeface="Cambria Math" panose="02040503050406030204" pitchFamily="18" charset="0"/>
                          </a:rPr>
                          <m:t>𝑒𝑛</m:t>
                        </m:r>
                        <m:r>
                          <a:rPr lang="es-CR" b="0" i="1" smtClean="0">
                            <a:effectLst/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effectLst/>
                            <a:latin typeface="Cambria Math" panose="02040503050406030204" pitchFamily="18" charset="0"/>
                          </a:rPr>
                          <m:t>𝑢𝑛</m:t>
                        </m:r>
                        <m:r>
                          <a:rPr lang="es-CR" b="0" i="1" smtClean="0">
                            <a:effectLst/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effectLst/>
                            <a:latin typeface="Cambria Math" panose="02040503050406030204" pitchFamily="18" charset="0"/>
                          </a:rPr>
                          <m:t>𝑝𝑒𝑟</m:t>
                        </m:r>
                        <m:r>
                          <a:rPr lang="es-CR" b="0" i="1" smtClean="0">
                            <a:effectLst/>
                            <a:latin typeface="Cambria Math" panose="02040503050406030204" pitchFamily="18" charset="0"/>
                          </a:rPr>
                          <m:t>í</m:t>
                        </m:r>
                        <m:r>
                          <a:rPr lang="es-CR" b="0" i="1" smtClean="0">
                            <a:effectLst/>
                            <a:latin typeface="Cambria Math" panose="02040503050406030204" pitchFamily="18" charset="0"/>
                          </a:rPr>
                          <m:t>𝑜𝑑𝑜</m:t>
                        </m:r>
                        <m:r>
                          <a:rPr lang="es-CR" b="0" i="1" smtClean="0">
                            <a:effectLst/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effectLst/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s-CR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𝑇𝑜𝑡𝑎𝑙</m:t>
                        </m:r>
                        <m:r>
                          <a:rPr lang="es-CR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s-CR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𝑑𝑒</m:t>
                        </m:r>
                        <m:r>
                          <a:rPr lang="es-CR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s-CR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𝑝𝑒𝑟𝑠𝑜𝑛𝑎𝑠</m:t>
                        </m:r>
                        <m:r>
                          <a:rPr lang="es-CR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s-CR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s-CR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s-CR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𝑚𝑖𝑡𝑎𝑑</m:t>
                        </m:r>
                        <m:r>
                          <a:rPr lang="es-CR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s-CR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𝑑𝑒𝑙</m:t>
                        </m:r>
                        <m:r>
                          <a:rPr lang="es-CR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s-CR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𝑝𝑒𝑟</m:t>
                        </m:r>
                        <m:r>
                          <a:rPr lang="es-CR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í</m:t>
                        </m:r>
                        <m:r>
                          <a:rPr lang="es-CR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𝑜𝑑𝑜</m:t>
                        </m:r>
                        <m:r>
                          <a:rPr lang="es-CR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s-CR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𝑡</m:t>
                        </m:r>
                      </m:den>
                    </m:f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∗100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La </a:t>
                </a:r>
                <a:r>
                  <a:rPr lang="en-US" dirty="0" err="1"/>
                  <a:t>prevalencia</a:t>
                </a:r>
                <a:r>
                  <a:rPr lang="en-US" dirty="0"/>
                  <a:t> de </a:t>
                </a:r>
                <a:r>
                  <a:rPr lang="en-US" dirty="0" err="1"/>
                  <a:t>período</a:t>
                </a:r>
                <a:r>
                  <a:rPr lang="en-US" dirty="0"/>
                  <a:t> </a:t>
                </a:r>
                <a:r>
                  <a:rPr lang="en-US" dirty="0" err="1"/>
                  <a:t>generalmente</a:t>
                </a:r>
                <a:r>
                  <a:rPr lang="en-US" dirty="0"/>
                  <a:t> se </a:t>
                </a:r>
                <a:r>
                  <a:rPr lang="en-US" dirty="0" err="1"/>
                  <a:t>calcula</a:t>
                </a:r>
                <a:r>
                  <a:rPr lang="en-US" dirty="0"/>
                  <a:t> con </a:t>
                </a:r>
                <a:r>
                  <a:rPr lang="en-US" dirty="0" err="1"/>
                  <a:t>registros</a:t>
                </a:r>
                <a:r>
                  <a:rPr lang="en-US" dirty="0"/>
                  <a:t> </a:t>
                </a:r>
                <a:r>
                  <a:rPr lang="en-US" dirty="0" err="1"/>
                  <a:t>administrativos</a:t>
                </a:r>
                <a:r>
                  <a:rPr lang="en-US" dirty="0"/>
                  <a:t> </a:t>
                </a:r>
                <a:r>
                  <a:rPr lang="en-US" dirty="0" err="1"/>
                  <a:t>durante</a:t>
                </a:r>
                <a:r>
                  <a:rPr lang="en-US" dirty="0"/>
                  <a:t> un </a:t>
                </a:r>
                <a:r>
                  <a:rPr lang="en-US" dirty="0" err="1"/>
                  <a:t>período</a:t>
                </a:r>
                <a:r>
                  <a:rPr lang="en-US" dirty="0"/>
                  <a:t> de </a:t>
                </a:r>
                <a:r>
                  <a:rPr lang="en-US" dirty="0" err="1"/>
                  <a:t>tiempo</a:t>
                </a:r>
                <a:r>
                  <a:rPr lang="en-US" dirty="0"/>
                  <a:t>.  </a:t>
                </a:r>
              </a:p>
              <a:p>
                <a:pPr lvl="1"/>
                <a:r>
                  <a:rPr lang="en-US" dirty="0"/>
                  <a:t>Por </a:t>
                </a:r>
                <a:r>
                  <a:rPr lang="en-US" dirty="0" err="1"/>
                  <a:t>ejemplo</a:t>
                </a:r>
                <a:r>
                  <a:rPr lang="en-US" dirty="0"/>
                  <a:t>, la </a:t>
                </a:r>
                <a:r>
                  <a:rPr lang="en-US" dirty="0" err="1"/>
                  <a:t>prevalencia</a:t>
                </a:r>
                <a:r>
                  <a:rPr lang="en-US" dirty="0"/>
                  <a:t>  de </a:t>
                </a:r>
                <a:r>
                  <a:rPr lang="en-US" dirty="0" err="1"/>
                  <a:t>pacientes</a:t>
                </a:r>
                <a:r>
                  <a:rPr lang="en-US" dirty="0"/>
                  <a:t> con cancer que se </a:t>
                </a:r>
                <a:r>
                  <a:rPr lang="en-US" dirty="0" err="1"/>
                  <a:t>calculan</a:t>
                </a:r>
                <a:r>
                  <a:rPr lang="en-US" dirty="0"/>
                  <a:t> con </a:t>
                </a:r>
                <a:r>
                  <a:rPr lang="en-US" dirty="0" err="1"/>
                  <a:t>registros</a:t>
                </a:r>
                <a:r>
                  <a:rPr lang="en-US" dirty="0"/>
                  <a:t> </a:t>
                </a:r>
                <a:r>
                  <a:rPr lang="en-US" dirty="0" err="1"/>
                  <a:t>administrativos</a:t>
                </a:r>
                <a:r>
                  <a:rPr lang="en-US" dirty="0"/>
                  <a:t> de la CCSS. 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02E7C5C1-F710-078A-0B5A-FF4ECF64B9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18440"/>
                <a:ext cx="10515600" cy="4774433"/>
              </a:xfrm>
              <a:blipFill>
                <a:blip r:embed="rId2"/>
                <a:stretch>
                  <a:fillRect l="-1043" t="-1660" r="-9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43145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607A1-1160-CCAB-D057-7F8B2DA8A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4C257F-71F0-FABE-4328-1BE08384A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64130"/>
          </a:xfrm>
        </p:spPr>
        <p:txBody>
          <a:bodyPr/>
          <a:lstStyle/>
          <a:p>
            <a:r>
              <a:rPr lang="es-CR" dirty="0"/>
              <a:t>Casos especiales: Incidencia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4F6B606-CDF8-07F6-EBA2-DC61354E02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18440"/>
            <a:ext cx="10515600" cy="477443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La </a:t>
            </a:r>
            <a:r>
              <a:rPr lang="en-US" dirty="0" err="1"/>
              <a:t>incidencia</a:t>
            </a:r>
            <a:r>
              <a:rPr lang="en-US" dirty="0"/>
              <a:t> es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medida</a:t>
            </a:r>
            <a:r>
              <a:rPr lang="en-US" dirty="0"/>
              <a:t> de </a:t>
            </a:r>
            <a:r>
              <a:rPr lang="en-US" dirty="0" err="1"/>
              <a:t>cambio</a:t>
            </a:r>
            <a:r>
              <a:rPr lang="en-US" dirty="0"/>
              <a:t>, </a:t>
            </a:r>
            <a:r>
              <a:rPr lang="en-US" dirty="0" err="1"/>
              <a:t>transición</a:t>
            </a:r>
            <a:r>
              <a:rPr lang="en-US" dirty="0"/>
              <a:t> o </a:t>
            </a:r>
            <a:r>
              <a:rPr lang="en-US" dirty="0" err="1"/>
              <a:t>movimiento</a:t>
            </a:r>
            <a:r>
              <a:rPr lang="en-US" dirty="0"/>
              <a:t>. </a:t>
            </a:r>
          </a:p>
          <a:p>
            <a:r>
              <a:rPr lang="en-US" dirty="0"/>
              <a:t>Se </a:t>
            </a:r>
            <a:r>
              <a:rPr lang="en-US" dirty="0" err="1"/>
              <a:t>refiere</a:t>
            </a:r>
            <a:r>
              <a:rPr lang="en-US" dirty="0"/>
              <a:t> a la </a:t>
            </a:r>
            <a:r>
              <a:rPr lang="en-US" dirty="0" err="1"/>
              <a:t>cantidad</a:t>
            </a:r>
            <a:r>
              <a:rPr lang="en-US" dirty="0"/>
              <a:t> </a:t>
            </a:r>
            <a:r>
              <a:rPr lang="en-US" dirty="0" err="1"/>
              <a:t>nueva</a:t>
            </a:r>
            <a:r>
              <a:rPr lang="en-US" dirty="0"/>
              <a:t> de </a:t>
            </a:r>
            <a:r>
              <a:rPr lang="en-US" dirty="0" err="1"/>
              <a:t>sujetos</a:t>
            </a:r>
            <a:r>
              <a:rPr lang="en-US" dirty="0"/>
              <a:t> que </a:t>
            </a:r>
            <a:r>
              <a:rPr lang="en-US" dirty="0" err="1"/>
              <a:t>desarrolló</a:t>
            </a:r>
            <a:r>
              <a:rPr lang="en-US" dirty="0"/>
              <a:t> o </a:t>
            </a:r>
            <a:r>
              <a:rPr lang="en-US" dirty="0" err="1"/>
              <a:t>adquirió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característica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un </a:t>
            </a:r>
            <a:r>
              <a:rPr lang="en-US" dirty="0" err="1"/>
              <a:t>período</a:t>
            </a:r>
            <a:r>
              <a:rPr lang="en-US" dirty="0"/>
              <a:t> de </a:t>
            </a:r>
            <a:r>
              <a:rPr lang="en-US" dirty="0" err="1"/>
              <a:t>tiempo</a:t>
            </a:r>
            <a:r>
              <a:rPr lang="en-US" dirty="0"/>
              <a:t>.</a:t>
            </a:r>
          </a:p>
          <a:p>
            <a:r>
              <a:rPr lang="en-US" dirty="0"/>
              <a:t>Se </a:t>
            </a:r>
            <a:r>
              <a:rPr lang="en-US" dirty="0" err="1"/>
              <a:t>usa</a:t>
            </a:r>
            <a:r>
              <a:rPr lang="en-US" dirty="0"/>
              <a:t> </a:t>
            </a:r>
            <a:r>
              <a:rPr lang="en-US" dirty="0" err="1"/>
              <a:t>frecuentemente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epidemiología</a:t>
            </a:r>
            <a:r>
              <a:rPr lang="en-US" dirty="0"/>
              <a:t> para </a:t>
            </a:r>
            <a:r>
              <a:rPr lang="en-US" dirty="0" err="1"/>
              <a:t>referirse</a:t>
            </a:r>
            <a:r>
              <a:rPr lang="en-US" dirty="0"/>
              <a:t> a la </a:t>
            </a:r>
            <a:r>
              <a:rPr lang="en-US" dirty="0" err="1"/>
              <a:t>cantidad</a:t>
            </a:r>
            <a:r>
              <a:rPr lang="en-US" dirty="0"/>
              <a:t> de </a:t>
            </a:r>
            <a:r>
              <a:rPr lang="en-US" dirty="0" err="1"/>
              <a:t>sujetos</a:t>
            </a:r>
            <a:r>
              <a:rPr lang="en-US" dirty="0"/>
              <a:t> que </a:t>
            </a:r>
            <a:r>
              <a:rPr lang="en-US" dirty="0" err="1"/>
              <a:t>desarrollaron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enfermedad</a:t>
            </a:r>
            <a:r>
              <a:rPr lang="en-US" dirty="0"/>
              <a:t> o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condición</a:t>
            </a:r>
            <a:r>
              <a:rPr lang="en-US" dirty="0"/>
              <a:t> de </a:t>
            </a:r>
            <a:r>
              <a:rPr lang="en-US" dirty="0" err="1"/>
              <a:t>riesgo</a:t>
            </a:r>
            <a:r>
              <a:rPr lang="en-US" dirty="0"/>
              <a:t> de un </a:t>
            </a:r>
            <a:r>
              <a:rPr lang="en-US" dirty="0" err="1"/>
              <a:t>año</a:t>
            </a:r>
            <a:r>
              <a:rPr lang="en-US" dirty="0"/>
              <a:t> a </a:t>
            </a:r>
            <a:r>
              <a:rPr lang="en-US" dirty="0" err="1"/>
              <a:t>otro</a:t>
            </a:r>
            <a:r>
              <a:rPr lang="en-US" dirty="0"/>
              <a:t>. </a:t>
            </a:r>
          </a:p>
          <a:p>
            <a:r>
              <a:rPr lang="en-US" dirty="0"/>
              <a:t>Se </a:t>
            </a:r>
            <a:r>
              <a:rPr lang="en-US" dirty="0" err="1"/>
              <a:t>representa</a:t>
            </a:r>
            <a:r>
              <a:rPr lang="en-US" dirty="0"/>
              <a:t> </a:t>
            </a:r>
            <a:r>
              <a:rPr lang="en-US" dirty="0" err="1"/>
              <a:t>generalmente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tasa</a:t>
            </a:r>
            <a:r>
              <a:rPr lang="en-US" dirty="0"/>
              <a:t>, </a:t>
            </a:r>
            <a:r>
              <a:rPr lang="en-US" dirty="0" err="1"/>
              <a:t>aunque</a:t>
            </a:r>
            <a:r>
              <a:rPr lang="en-US" dirty="0"/>
              <a:t> </a:t>
            </a:r>
            <a:r>
              <a:rPr lang="en-US" dirty="0" err="1"/>
              <a:t>estadísticamente</a:t>
            </a:r>
            <a:r>
              <a:rPr lang="en-US" dirty="0"/>
              <a:t> también se </a:t>
            </a:r>
            <a:r>
              <a:rPr lang="en-US" dirty="0" err="1"/>
              <a:t>puede</a:t>
            </a:r>
            <a:r>
              <a:rPr lang="en-US" dirty="0"/>
              <a:t> </a:t>
            </a:r>
            <a:r>
              <a:rPr lang="en-US" dirty="0" err="1"/>
              <a:t>presentar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probabilidad</a:t>
            </a:r>
            <a:r>
              <a:rPr lang="en-US" dirty="0"/>
              <a:t> (</a:t>
            </a:r>
            <a:r>
              <a:rPr lang="en-US" dirty="0" err="1"/>
              <a:t>si</a:t>
            </a:r>
            <a:r>
              <a:rPr lang="en-US" dirty="0"/>
              <a:t> se </a:t>
            </a:r>
            <a:r>
              <a:rPr lang="en-US" dirty="0" err="1"/>
              <a:t>modela</a:t>
            </a:r>
            <a:r>
              <a:rPr lang="en-US" dirty="0"/>
              <a:t> con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regresión</a:t>
            </a:r>
            <a:r>
              <a:rPr lang="en-US" dirty="0"/>
              <a:t> </a:t>
            </a:r>
            <a:r>
              <a:rPr lang="en-US" dirty="0" err="1"/>
              <a:t>logística</a:t>
            </a:r>
            <a:r>
              <a:rPr lang="en-US" dirty="0"/>
              <a:t>,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ej</a:t>
            </a:r>
            <a:r>
              <a:rPr lang="en-US" dirty="0"/>
              <a:t>.)</a:t>
            </a:r>
          </a:p>
          <a:p>
            <a:r>
              <a:rPr lang="en-US" dirty="0"/>
              <a:t>En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denominador</a:t>
            </a:r>
            <a:r>
              <a:rPr lang="en-US" dirty="0"/>
              <a:t> de la </a:t>
            </a:r>
            <a:r>
              <a:rPr lang="en-US" dirty="0" err="1"/>
              <a:t>tasa</a:t>
            </a:r>
            <a:r>
              <a:rPr lang="en-US" dirty="0"/>
              <a:t> o </a:t>
            </a:r>
            <a:r>
              <a:rPr lang="en-US" dirty="0" err="1"/>
              <a:t>probabilidad</a:t>
            </a:r>
            <a:r>
              <a:rPr lang="en-US" dirty="0"/>
              <a:t> se </a:t>
            </a:r>
            <a:r>
              <a:rPr lang="en-US" dirty="0" err="1"/>
              <a:t>tiene</a:t>
            </a:r>
            <a:r>
              <a:rPr lang="en-US" dirty="0"/>
              <a:t> que </a:t>
            </a:r>
            <a:r>
              <a:rPr lang="en-US" dirty="0" err="1"/>
              <a:t>tomar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cuenta</a:t>
            </a:r>
            <a:r>
              <a:rPr lang="en-US" dirty="0"/>
              <a:t> </a:t>
            </a:r>
            <a:r>
              <a:rPr lang="en-US" dirty="0" err="1"/>
              <a:t>únicamente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casos</a:t>
            </a:r>
            <a:r>
              <a:rPr lang="en-US" dirty="0"/>
              <a:t> (o </a:t>
            </a:r>
            <a:r>
              <a:rPr lang="en-US" dirty="0" err="1"/>
              <a:t>años</a:t>
            </a:r>
            <a:r>
              <a:rPr lang="en-US" dirty="0"/>
              <a:t> persona) que no Tengan la </a:t>
            </a:r>
            <a:r>
              <a:rPr lang="en-US" dirty="0" err="1"/>
              <a:t>característica</a:t>
            </a:r>
            <a:r>
              <a:rPr lang="en-US"/>
              <a:t>.</a:t>
            </a:r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74818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424A7-B0C8-2340-5883-377D6DBD9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0DEC80-1511-559B-09A9-4DC74A044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64130"/>
          </a:xfrm>
        </p:spPr>
        <p:txBody>
          <a:bodyPr/>
          <a:lstStyle/>
          <a:p>
            <a:r>
              <a:rPr lang="es-CR" dirty="0"/>
              <a:t>Medidas de Incidencia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FA1F183C-C607-A27E-CCFD-886F2C40540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15310" y="1718440"/>
                <a:ext cx="11508829" cy="4774433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m>
                      <m:mPr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es-CR" sz="2600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mPr>
                      <m:mr>
                        <m:e>
                          <m:r>
                            <a:rPr lang="es-CR" sz="26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𝑃𝑟𝑜𝑝𝑜𝑟𝑐𝑖</m:t>
                          </m:r>
                          <m:r>
                            <a:rPr lang="es-CR" sz="26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ó</m:t>
                          </m:r>
                          <m:r>
                            <a:rPr lang="es-CR" sz="26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s-CR" sz="26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s-CR" sz="26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𝑑𝑒</m:t>
                          </m:r>
                          <m:r>
                            <a:rPr lang="es-CR" sz="26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s-CR" sz="26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𝑖𝑛𝑐𝑖𝑑𝑒𝑛𝑐𝑖𝑎</m:t>
                          </m:r>
                          <m:r>
                            <a:rPr lang="es-CR" sz="26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US" sz="26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𝑑𝑒</m:t>
                          </m:r>
                        </m:e>
                      </m:mr>
                      <m:mr>
                        <m:e>
                          <m:r>
                            <a:rPr lang="en-US" sz="26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𝑒𝑛𝑓𝑒𝑟𝑚𝑒𝑑𝑎𝑑</m:t>
                          </m:r>
                          <m:r>
                            <a:rPr lang="en-US" sz="26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US" sz="26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𝑜</m:t>
                          </m:r>
                          <m:r>
                            <a:rPr lang="en-US" sz="26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US" sz="26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𝑐𝑜𝑛𝑑𝑖𝑐𝑖</m:t>
                          </m:r>
                          <m:r>
                            <a:rPr lang="es-CR" sz="26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ó</m:t>
                          </m:r>
                          <m:r>
                            <a:rPr lang="es-CR" sz="26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s-CR" sz="26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s-CR" sz="26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e>
                      </m:mr>
                    </m:m>
                    <m:r>
                      <a:rPr lang="en-US" sz="260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600" i="1"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CR" sz="2600" b="0" i="1" smtClean="0">
                            <a:effectLst/>
                            <a:latin typeface="Cambria Math" panose="02040503050406030204" pitchFamily="18" charset="0"/>
                          </a:rPr>
                          <m:t>𝐶𝑎𝑠𝑜𝑠</m:t>
                        </m:r>
                        <m:r>
                          <a:rPr lang="es-CR" sz="2600" b="0" i="1" smtClean="0">
                            <a:effectLst/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sz="2600" b="0" i="1" smtClean="0">
                            <a:effectLst/>
                            <a:latin typeface="Cambria Math" panose="02040503050406030204" pitchFamily="18" charset="0"/>
                          </a:rPr>
                          <m:t>𝑛𝑢𝑒𝑣𝑜𝑠</m:t>
                        </m:r>
                        <m:r>
                          <a:rPr lang="es-CR" sz="2600" b="0" i="1" smtClean="0">
                            <a:effectLst/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600" b="0" i="1" smtClean="0">
                            <a:effectLst/>
                            <a:latin typeface="Cambria Math" panose="02040503050406030204" pitchFamily="18" charset="0"/>
                          </a:rPr>
                          <m:t>𝑐𝑜𝑛</m:t>
                        </m:r>
                        <m:r>
                          <a:rPr lang="en-US" sz="2600" b="0" i="1" smtClean="0">
                            <a:effectLst/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sz="2600" b="0" i="1" smtClean="0">
                            <a:effectLst/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s-CR" sz="2600" b="0" i="1" smtClean="0">
                            <a:effectLst/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sz="2600" b="0" i="1" smtClean="0">
                            <a:effectLst/>
                            <a:latin typeface="Cambria Math" panose="02040503050406030204" pitchFamily="18" charset="0"/>
                          </a:rPr>
                          <m:t>𝑑𝑢𝑟𝑎𝑛𝑡𝑒</m:t>
                        </m:r>
                        <m:r>
                          <a:rPr lang="es-CR" sz="2600" b="0" i="1" smtClean="0">
                            <a:effectLst/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sz="2600" b="0" i="1" smtClean="0">
                            <a:effectLst/>
                            <a:latin typeface="Cambria Math" panose="02040503050406030204" pitchFamily="18" charset="0"/>
                          </a:rPr>
                          <m:t>𝑢𝑛</m:t>
                        </m:r>
                        <m:r>
                          <a:rPr lang="es-CR" sz="2600" b="0" i="1" smtClean="0">
                            <a:effectLst/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sz="2600" b="0" i="1" smtClean="0">
                            <a:effectLst/>
                            <a:latin typeface="Cambria Math" panose="02040503050406030204" pitchFamily="18" charset="0"/>
                          </a:rPr>
                          <m:t>𝑝𝑒𝑟</m:t>
                        </m:r>
                        <m:r>
                          <a:rPr lang="en-US" sz="2600" b="0" i="1" smtClean="0">
                            <a:effectLst/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s-CR" sz="2600" b="0" i="1" smtClean="0">
                            <a:effectLst/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sz="2600" b="0" i="1" smtClean="0">
                            <a:effectLst/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US" sz="2600" b="0" i="1" smtClean="0">
                            <a:effectLst/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s-CR" sz="2600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𝑜𝑏𝑙𝑎𝑐𝑖</m:t>
                        </m:r>
                        <m:r>
                          <a:rPr lang="es-CR" sz="2600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ó</m:t>
                        </m:r>
                        <m:r>
                          <a:rPr lang="es-CR" sz="2600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s-CR" sz="2600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s-CR" sz="2600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𝑒𝑥𝑝𝑢𝑒𝑠𝑡𝑎</m:t>
                        </m:r>
                        <m:r>
                          <a:rPr lang="es-CR" sz="2600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s-CR" sz="2600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𝑎𝑙</m:t>
                        </m:r>
                        <m:r>
                          <a:rPr lang="es-CR" sz="2600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s-CR" sz="2600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𝑟𝑖𝑒𝑠𝑔𝑜</m:t>
                        </m:r>
                        <m:r>
                          <a:rPr lang="es-CR" sz="2600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s-CR" sz="2600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𝑎𝑙</m:t>
                        </m:r>
                        <m:r>
                          <a:rPr lang="es-CR" sz="2600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s-CR" sz="2600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𝑖𝑛𝑖𝑐𝑖𝑜</m:t>
                        </m:r>
                        <m:r>
                          <a:rPr lang="es-CR" sz="2600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s-CR" sz="2600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𝑑𝑒𝑙</m:t>
                        </m:r>
                        <m:r>
                          <a:rPr lang="es-CR" sz="2600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s-CR" sz="2600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𝑝𝑒𝑟</m:t>
                        </m:r>
                        <m:r>
                          <a:rPr lang="en-US" sz="2600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.</m:t>
                        </m:r>
                        <m:r>
                          <a:rPr lang="es-CR" sz="2600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s-CR" sz="2600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𝑡</m:t>
                        </m:r>
                      </m:den>
                    </m:f>
                    <m:r>
                      <a:rPr lang="en-US" sz="26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∗100</m:t>
                    </m:r>
                  </m:oMath>
                </a14:m>
                <a:endParaRPr lang="en-US" sz="2600" dirty="0"/>
              </a:p>
              <a:p>
                <a:endParaRPr lang="en-US" dirty="0"/>
              </a:p>
              <a:p>
                <a:r>
                  <a:rPr lang="en-US" dirty="0" err="1"/>
                  <a:t>Conocida</a:t>
                </a:r>
                <a:r>
                  <a:rPr lang="en-US" dirty="0"/>
                  <a:t> también </a:t>
                </a:r>
                <a:r>
                  <a:rPr lang="en-US" dirty="0" err="1"/>
                  <a:t>como</a:t>
                </a:r>
                <a:r>
                  <a:rPr lang="en-US" dirty="0"/>
                  <a:t> </a:t>
                </a:r>
                <a:r>
                  <a:rPr lang="en-US" dirty="0" err="1"/>
                  <a:t>tasa</a:t>
                </a:r>
                <a:r>
                  <a:rPr lang="en-US" dirty="0"/>
                  <a:t> de </a:t>
                </a:r>
                <a:r>
                  <a:rPr lang="en-US" dirty="0" err="1"/>
                  <a:t>ataque</a:t>
                </a:r>
                <a:r>
                  <a:rPr lang="en-US" dirty="0"/>
                  <a:t> o </a:t>
                </a:r>
                <a:r>
                  <a:rPr lang="en-US" dirty="0" err="1"/>
                  <a:t>riesgo</a:t>
                </a:r>
                <a:r>
                  <a:rPr lang="en-US" dirty="0"/>
                  <a:t> de </a:t>
                </a:r>
                <a:r>
                  <a:rPr lang="en-US" dirty="0" err="1"/>
                  <a:t>ataque</a:t>
                </a:r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Por </a:t>
                </a:r>
                <a:r>
                  <a:rPr lang="en-US" dirty="0" err="1"/>
                  <a:t>ejemplo</a:t>
                </a:r>
                <a:r>
                  <a:rPr lang="en-US" dirty="0"/>
                  <a:t>, de las personas sin COVID-19 </a:t>
                </a:r>
                <a:r>
                  <a:rPr lang="en-US" dirty="0" err="1"/>
                  <a:t>el</a:t>
                </a:r>
                <a:r>
                  <a:rPr lang="en-US" dirty="0"/>
                  <a:t> día 1 de </a:t>
                </a:r>
                <a:r>
                  <a:rPr lang="en-US" dirty="0" err="1"/>
                  <a:t>febrero</a:t>
                </a:r>
                <a:r>
                  <a:rPr lang="en-US" dirty="0"/>
                  <a:t> de 2021, </a:t>
                </a:r>
                <a:r>
                  <a:rPr lang="en-US" dirty="0" err="1"/>
                  <a:t>cuántos</a:t>
                </a:r>
                <a:r>
                  <a:rPr lang="en-US" dirty="0"/>
                  <a:t> </a:t>
                </a:r>
                <a:r>
                  <a:rPr lang="en-US" dirty="0" err="1"/>
                  <a:t>desarrollaron</a:t>
                </a:r>
                <a:r>
                  <a:rPr lang="en-US" dirty="0"/>
                  <a:t> COVID-19 </a:t>
                </a:r>
                <a:r>
                  <a:rPr lang="en-US" dirty="0" err="1"/>
                  <a:t>durante</a:t>
                </a:r>
                <a:r>
                  <a:rPr lang="en-US" dirty="0"/>
                  <a:t> </a:t>
                </a:r>
                <a:r>
                  <a:rPr lang="en-US" dirty="0" err="1"/>
                  <a:t>febrero</a:t>
                </a:r>
                <a:r>
                  <a:rPr lang="en-US" dirty="0"/>
                  <a:t> de 2021</a:t>
                </a:r>
              </a:p>
              <a:p>
                <a:r>
                  <a:rPr lang="en-US" dirty="0"/>
                  <a:t>La </a:t>
                </a:r>
                <a:r>
                  <a:rPr lang="en-US" dirty="0" err="1"/>
                  <a:t>información</a:t>
                </a:r>
                <a:r>
                  <a:rPr lang="en-US" dirty="0"/>
                  <a:t> se </a:t>
                </a:r>
                <a:r>
                  <a:rPr lang="en-US" dirty="0" err="1"/>
                  <a:t>puede</a:t>
                </a:r>
                <a:r>
                  <a:rPr lang="en-US" dirty="0"/>
                  <a:t> </a:t>
                </a:r>
                <a:r>
                  <a:rPr lang="en-US" dirty="0" err="1"/>
                  <a:t>captar</a:t>
                </a:r>
                <a:r>
                  <a:rPr lang="en-US" dirty="0"/>
                  <a:t> con:</a:t>
                </a:r>
              </a:p>
              <a:p>
                <a:pPr lvl="1"/>
                <a:r>
                  <a:rPr lang="en-US" dirty="0" err="1"/>
                  <a:t>Seguimiento</a:t>
                </a:r>
                <a:r>
                  <a:rPr lang="en-US" dirty="0"/>
                  <a:t> </a:t>
                </a:r>
                <a:r>
                  <a:rPr lang="en-US" dirty="0" err="1"/>
                  <a:t>epidemiológico</a:t>
                </a:r>
                <a:r>
                  <a:rPr lang="en-US" dirty="0"/>
                  <a:t>.</a:t>
                </a:r>
              </a:p>
              <a:p>
                <a:pPr lvl="1"/>
                <a:r>
                  <a:rPr lang="en-US" dirty="0" err="1"/>
                  <a:t>Encuestas</a:t>
                </a:r>
                <a:r>
                  <a:rPr lang="en-US" dirty="0"/>
                  <a:t> con </a:t>
                </a:r>
                <a:r>
                  <a:rPr lang="en-US" dirty="0" err="1"/>
                  <a:t>preguntas</a:t>
                </a:r>
                <a:r>
                  <a:rPr lang="en-US" dirty="0"/>
                  <a:t> </a:t>
                </a:r>
                <a:r>
                  <a:rPr lang="en-US" dirty="0" err="1"/>
                  <a:t>retrospectivas</a:t>
                </a:r>
                <a:r>
                  <a:rPr lang="en-US" dirty="0"/>
                  <a:t> </a:t>
                </a:r>
                <a:r>
                  <a:rPr lang="en-US" dirty="0" err="1"/>
                  <a:t>sobre</a:t>
                </a:r>
                <a:r>
                  <a:rPr lang="en-US" dirty="0"/>
                  <a:t> </a:t>
                </a:r>
                <a:r>
                  <a:rPr lang="en-US" dirty="0" err="1"/>
                  <a:t>inicio</a:t>
                </a:r>
                <a:r>
                  <a:rPr lang="en-US" dirty="0"/>
                  <a:t> de </a:t>
                </a:r>
                <a:r>
                  <a:rPr lang="en-US" dirty="0" err="1"/>
                  <a:t>enfermedad</a:t>
                </a:r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FA1F183C-C607-A27E-CCFD-886F2C4054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5310" y="1718440"/>
                <a:ext cx="11508829" cy="4774433"/>
              </a:xfrm>
              <a:blipFill>
                <a:blip r:embed="rId2"/>
                <a:stretch>
                  <a:fillRect l="-9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748711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5DED7-8C13-816D-7CA3-D4280FD6B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0ED425-7A36-4A78-0A41-7C39CE34A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64130"/>
          </a:xfrm>
        </p:spPr>
        <p:txBody>
          <a:bodyPr/>
          <a:lstStyle/>
          <a:p>
            <a:r>
              <a:rPr lang="es-CR" dirty="0"/>
              <a:t>Medidas de Incidencia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618A0969-59C1-E0DE-1511-B6F2FF1B7E2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20262" y="1718440"/>
                <a:ext cx="11351172" cy="4774433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m>
                      <m:mPr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es-CR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mPr>
                      <m:mr>
                        <m:e>
                          <m:r>
                            <a:rPr lang="es-CR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𝑇𝑎𝑠𝑎</m:t>
                          </m:r>
                          <m:r>
                            <a:rPr lang="es-CR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s-CR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𝑑𝑒</m:t>
                          </m:r>
                          <m:r>
                            <a:rPr lang="es-CR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s-CR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𝑖𝑛𝑐𝑖𝑑𝑒𝑛𝑐𝑖𝑎</m:t>
                          </m:r>
                          <m:r>
                            <a:rPr lang="es-CR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𝑑𝑒</m:t>
                          </m:r>
                        </m:e>
                      </m:mr>
                      <m:m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𝑒𝑛𝑓𝑒𝑟𝑚𝑒𝑑𝑎𝑑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𝑜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𝑐𝑜𝑛𝑑𝑖𝑐𝑖</m:t>
                          </m:r>
                          <m:r>
                            <a:rPr lang="es-CR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ó</m:t>
                          </m:r>
                          <m:r>
                            <a:rPr lang="es-CR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s-CR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s-CR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e>
                      </m:mr>
                    </m:m>
                    <m:r>
                      <a:rPr lang="en-US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CR" b="0" i="1" smtClean="0">
                            <a:effectLst/>
                            <a:latin typeface="Cambria Math" panose="02040503050406030204" pitchFamily="18" charset="0"/>
                          </a:rPr>
                          <m:t>𝐶𝑎𝑠𝑜𝑠</m:t>
                        </m:r>
                        <m:r>
                          <a:rPr lang="es-CR" b="0" i="1" smtClean="0">
                            <a:effectLst/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effectLst/>
                            <a:latin typeface="Cambria Math" panose="02040503050406030204" pitchFamily="18" charset="0"/>
                          </a:rPr>
                          <m:t>𝑛𝑢𝑒𝑣𝑜𝑠</m:t>
                        </m:r>
                        <m:r>
                          <a:rPr lang="es-CR" b="0" i="1" smtClean="0">
                            <a:effectLst/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</a:rPr>
                          <m:t>𝑐𝑜𝑛</m:t>
                        </m:r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effectLst/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s-CR" b="0" i="1" smtClean="0">
                            <a:effectLst/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effectLst/>
                            <a:latin typeface="Cambria Math" panose="02040503050406030204" pitchFamily="18" charset="0"/>
                          </a:rPr>
                          <m:t>𝑑𝑢𝑟𝑎𝑛𝑡𝑒</m:t>
                        </m:r>
                        <m:r>
                          <a:rPr lang="es-CR" b="0" i="1" smtClean="0">
                            <a:effectLst/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effectLst/>
                            <a:latin typeface="Cambria Math" panose="02040503050406030204" pitchFamily="18" charset="0"/>
                          </a:rPr>
                          <m:t>𝑢𝑛</m:t>
                        </m:r>
                        <m:r>
                          <a:rPr lang="es-CR" b="0" i="1" smtClean="0">
                            <a:effectLst/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effectLst/>
                            <a:latin typeface="Cambria Math" panose="02040503050406030204" pitchFamily="18" charset="0"/>
                          </a:rPr>
                          <m:t>𝑝𝑒𝑟</m:t>
                        </m:r>
                        <m:r>
                          <a:rPr lang="es-CR" b="0" i="1" smtClean="0">
                            <a:effectLst/>
                            <a:latin typeface="Cambria Math" panose="02040503050406030204" pitchFamily="18" charset="0"/>
                          </a:rPr>
                          <m:t>í</m:t>
                        </m:r>
                        <m:r>
                          <a:rPr lang="es-CR" b="0" i="1" smtClean="0">
                            <a:effectLst/>
                            <a:latin typeface="Cambria Math" panose="02040503050406030204" pitchFamily="18" charset="0"/>
                          </a:rPr>
                          <m:t>𝑜𝑑𝑜</m:t>
                        </m:r>
                        <m:r>
                          <a:rPr lang="es-CR" b="0" i="1" smtClean="0">
                            <a:effectLst/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effectLst/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s-CR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𝑇𝑜𝑡𝑎𝑙</m:t>
                        </m:r>
                        <m:r>
                          <a:rPr lang="es-CR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s-CR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𝑑𝑒</m:t>
                        </m:r>
                        <m:r>
                          <a:rPr lang="es-CR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s-CR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𝑝𝑜𝑏𝑙𝑎𝑐𝑖</m:t>
                        </m:r>
                        <m:r>
                          <a:rPr lang="es-CR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ó</m:t>
                        </m:r>
                        <m:r>
                          <a:rPr lang="es-CR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s-CR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s-CR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𝑚𝑖𝑡𝑎𝑑</m:t>
                        </m:r>
                        <m:r>
                          <a:rPr lang="es-CR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s-CR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𝑑𝑒𝑙</m:t>
                        </m:r>
                        <m:r>
                          <a:rPr lang="es-CR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s-CR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𝑝𝑒𝑟</m:t>
                        </m:r>
                        <m:r>
                          <a:rPr lang="es-CR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í</m:t>
                        </m:r>
                        <m:r>
                          <a:rPr lang="es-CR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𝑜𝑑𝑜</m:t>
                        </m:r>
                        <m:r>
                          <a:rPr lang="es-CR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s-CR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𝑡</m:t>
                        </m:r>
                      </m:den>
                    </m:f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∗100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Si se </a:t>
                </a:r>
                <a:r>
                  <a:rPr lang="en-US" dirty="0" err="1"/>
                  <a:t>cuenta</a:t>
                </a:r>
                <a:r>
                  <a:rPr lang="en-US" dirty="0"/>
                  <a:t> con la </a:t>
                </a:r>
                <a:r>
                  <a:rPr lang="en-US" dirty="0" err="1"/>
                  <a:t>información</a:t>
                </a:r>
                <a:r>
                  <a:rPr lang="en-US" dirty="0"/>
                  <a:t>, </a:t>
                </a:r>
                <a:r>
                  <a:rPr lang="en-US" dirty="0" err="1"/>
                  <a:t>el</a:t>
                </a:r>
                <a:r>
                  <a:rPr lang="en-US" dirty="0"/>
                  <a:t> </a:t>
                </a:r>
                <a:r>
                  <a:rPr lang="en-US" dirty="0" err="1"/>
                  <a:t>denominador</a:t>
                </a:r>
                <a:r>
                  <a:rPr lang="en-US" dirty="0"/>
                  <a:t> </a:t>
                </a:r>
                <a:r>
                  <a:rPr lang="en-US" dirty="0" err="1"/>
                  <a:t>puede</a:t>
                </a:r>
                <a:r>
                  <a:rPr lang="en-US" dirty="0"/>
                  <a:t> ser la </a:t>
                </a:r>
                <a:r>
                  <a:rPr lang="en-US" dirty="0" err="1"/>
                  <a:t>suma</a:t>
                </a:r>
                <a:r>
                  <a:rPr lang="en-US" dirty="0"/>
                  <a:t> de </a:t>
                </a:r>
                <a:r>
                  <a:rPr lang="en-US" dirty="0" err="1"/>
                  <a:t>los</a:t>
                </a:r>
                <a:r>
                  <a:rPr lang="en-US" dirty="0"/>
                  <a:t> </a:t>
                </a:r>
                <a:r>
                  <a:rPr lang="en-US" dirty="0" err="1"/>
                  <a:t>años</a:t>
                </a:r>
                <a:r>
                  <a:rPr lang="en-US" dirty="0"/>
                  <a:t> persona </a:t>
                </a:r>
                <a:r>
                  <a:rPr lang="en-US" dirty="0" err="1"/>
                  <a:t>expuestos</a:t>
                </a:r>
                <a:r>
                  <a:rPr lang="en-US" dirty="0"/>
                  <a:t> al </a:t>
                </a:r>
                <a:r>
                  <a:rPr lang="en-US" dirty="0" err="1"/>
                  <a:t>riesgo</a:t>
                </a:r>
                <a:r>
                  <a:rPr lang="en-US" dirty="0"/>
                  <a:t>. </a:t>
                </a:r>
              </a:p>
              <a:p>
                <a:r>
                  <a:rPr lang="en-US" dirty="0" err="1"/>
                  <a:t>Ejemplo</a:t>
                </a:r>
                <a:r>
                  <a:rPr lang="en-US" dirty="0"/>
                  <a:t>, la </a:t>
                </a:r>
                <a:r>
                  <a:rPr lang="en-US" dirty="0" err="1"/>
                  <a:t>tasa</a:t>
                </a:r>
                <a:r>
                  <a:rPr lang="en-US" dirty="0"/>
                  <a:t> de </a:t>
                </a:r>
                <a:r>
                  <a:rPr lang="en-US" dirty="0" err="1"/>
                  <a:t>contagio</a:t>
                </a:r>
                <a:r>
                  <a:rPr lang="en-US" dirty="0"/>
                  <a:t> de COVID-19 </a:t>
                </a:r>
                <a:r>
                  <a:rPr lang="en-US" dirty="0" err="1"/>
                  <a:t>durante</a:t>
                </a:r>
                <a:r>
                  <a:rPr lang="en-US" dirty="0"/>
                  <a:t> </a:t>
                </a:r>
                <a:r>
                  <a:rPr lang="en-US" dirty="0" err="1"/>
                  <a:t>el</a:t>
                </a:r>
                <a:r>
                  <a:rPr lang="en-US" dirty="0"/>
                  <a:t> </a:t>
                </a:r>
                <a:r>
                  <a:rPr lang="en-US" dirty="0" err="1"/>
                  <a:t>año</a:t>
                </a:r>
                <a:r>
                  <a:rPr lang="en-US" dirty="0"/>
                  <a:t> 2021.</a:t>
                </a:r>
              </a:p>
              <a:p>
                <a:r>
                  <a:rPr lang="en-US" dirty="0"/>
                  <a:t>La </a:t>
                </a:r>
                <a:r>
                  <a:rPr lang="en-US" dirty="0" err="1"/>
                  <a:t>información</a:t>
                </a:r>
                <a:r>
                  <a:rPr lang="en-US" dirty="0"/>
                  <a:t> también </a:t>
                </a:r>
                <a:r>
                  <a:rPr lang="en-US" dirty="0" err="1"/>
                  <a:t>puede</a:t>
                </a:r>
                <a:r>
                  <a:rPr lang="en-US" dirty="0"/>
                  <a:t> ser </a:t>
                </a:r>
                <a:r>
                  <a:rPr lang="en-US" dirty="0" err="1"/>
                  <a:t>captada</a:t>
                </a:r>
                <a:r>
                  <a:rPr lang="en-US" dirty="0"/>
                  <a:t> con:</a:t>
                </a:r>
              </a:p>
              <a:p>
                <a:pPr lvl="1"/>
                <a:r>
                  <a:rPr lang="en-US" dirty="0" err="1"/>
                  <a:t>Seguimiento</a:t>
                </a:r>
                <a:r>
                  <a:rPr lang="en-US" dirty="0"/>
                  <a:t> </a:t>
                </a:r>
                <a:r>
                  <a:rPr lang="en-US" dirty="0" err="1"/>
                  <a:t>epidemiológico</a:t>
                </a:r>
                <a:r>
                  <a:rPr lang="en-US" dirty="0"/>
                  <a:t>.</a:t>
                </a:r>
              </a:p>
              <a:p>
                <a:pPr lvl="1"/>
                <a:r>
                  <a:rPr lang="en-US" dirty="0" err="1"/>
                  <a:t>Encuestas</a:t>
                </a:r>
                <a:r>
                  <a:rPr lang="en-US" dirty="0"/>
                  <a:t> con </a:t>
                </a:r>
                <a:r>
                  <a:rPr lang="en-US" dirty="0" err="1"/>
                  <a:t>preguntas</a:t>
                </a:r>
                <a:r>
                  <a:rPr lang="en-US" dirty="0"/>
                  <a:t> </a:t>
                </a:r>
                <a:r>
                  <a:rPr lang="en-US" dirty="0" err="1"/>
                  <a:t>retrospectivas</a:t>
                </a:r>
                <a:r>
                  <a:rPr lang="en-US" dirty="0"/>
                  <a:t> </a:t>
                </a:r>
                <a:r>
                  <a:rPr lang="en-US" dirty="0" err="1"/>
                  <a:t>sobre</a:t>
                </a:r>
                <a:r>
                  <a:rPr lang="en-US" dirty="0"/>
                  <a:t> </a:t>
                </a:r>
                <a:r>
                  <a:rPr lang="en-US" dirty="0" err="1"/>
                  <a:t>inicio</a:t>
                </a:r>
                <a:r>
                  <a:rPr lang="en-US" dirty="0"/>
                  <a:t> de </a:t>
                </a:r>
                <a:r>
                  <a:rPr lang="en-US" dirty="0" err="1"/>
                  <a:t>enfermedad</a:t>
                </a:r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618A0969-59C1-E0DE-1511-B6F2FF1B7E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0262" y="1718440"/>
                <a:ext cx="11351172" cy="4774433"/>
              </a:xfrm>
              <a:blipFill>
                <a:blip r:embed="rId2"/>
                <a:stretch>
                  <a:fillRect l="-967" r="-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35397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BDABAB-D77C-AA1E-36A0-CB0A98CCE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¿Se pueden calcular tasas de incidencia en Costa Rica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8CA9E7E-1059-1C64-83BB-E97ACDA2E2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R" dirty="0"/>
              <a:t>No existe un buen sistema de información de la mayoría de las enfermedades y condiciones de salud.</a:t>
            </a:r>
          </a:p>
          <a:p>
            <a:r>
              <a:rPr lang="es-CR" dirty="0"/>
              <a:t>Sí hay un seguimiento de las enfermedades de reporte obligatorio del Sistema de Vigilancia Epidemiológica, entonces con ellas es fácil calcular incidencias.</a:t>
            </a:r>
          </a:p>
          <a:p>
            <a:pPr lvl="1"/>
            <a:r>
              <a:rPr lang="en-US" dirty="0"/>
              <a:t>Principal </a:t>
            </a:r>
            <a:r>
              <a:rPr lang="en-US" dirty="0" err="1"/>
              <a:t>problema</a:t>
            </a:r>
            <a:r>
              <a:rPr lang="en-US" dirty="0"/>
              <a:t>:  Casos no </a:t>
            </a:r>
            <a:r>
              <a:rPr lang="en-US" dirty="0" err="1"/>
              <a:t>reportados</a:t>
            </a:r>
            <a:r>
              <a:rPr lang="en-US" dirty="0"/>
              <a:t> y </a:t>
            </a:r>
            <a:r>
              <a:rPr lang="en-US" dirty="0" err="1"/>
              <a:t>reporte</a:t>
            </a:r>
            <a:r>
              <a:rPr lang="en-US" dirty="0"/>
              <a:t> </a:t>
            </a:r>
            <a:r>
              <a:rPr lang="en-US" dirty="0" err="1"/>
              <a:t>tardío</a:t>
            </a:r>
            <a:endParaRPr lang="en-US" dirty="0"/>
          </a:p>
          <a:p>
            <a:r>
              <a:rPr lang="en-US" dirty="0"/>
              <a:t>Para </a:t>
            </a:r>
            <a:r>
              <a:rPr lang="en-US" dirty="0" err="1"/>
              <a:t>enfermedades</a:t>
            </a:r>
            <a:r>
              <a:rPr lang="en-US" dirty="0"/>
              <a:t> </a:t>
            </a:r>
            <a:r>
              <a:rPr lang="en-US" dirty="0" err="1"/>
              <a:t>crónicas</a:t>
            </a:r>
            <a:r>
              <a:rPr lang="en-US" dirty="0"/>
              <a:t> o no </a:t>
            </a:r>
            <a:r>
              <a:rPr lang="en-US" dirty="0" err="1"/>
              <a:t>transmisibles</a:t>
            </a:r>
            <a:r>
              <a:rPr lang="en-US" dirty="0"/>
              <a:t>, se </a:t>
            </a:r>
            <a:r>
              <a:rPr lang="en-US" dirty="0" err="1"/>
              <a:t>usan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egresos</a:t>
            </a:r>
            <a:r>
              <a:rPr lang="en-US" dirty="0"/>
              <a:t> </a:t>
            </a:r>
            <a:r>
              <a:rPr lang="en-US" dirty="0" err="1"/>
              <a:t>hospitalarios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Principales</a:t>
            </a:r>
            <a:r>
              <a:rPr lang="en-US" dirty="0"/>
              <a:t> </a:t>
            </a:r>
            <a:r>
              <a:rPr lang="en-US" dirty="0" err="1"/>
              <a:t>problemas</a:t>
            </a:r>
            <a:r>
              <a:rPr lang="en-US" dirty="0"/>
              <a:t>: </a:t>
            </a:r>
            <a:r>
              <a:rPr lang="en-US" dirty="0" err="1"/>
              <a:t>Limitado</a:t>
            </a:r>
            <a:r>
              <a:rPr lang="en-US" dirty="0"/>
              <a:t> a </a:t>
            </a:r>
            <a:r>
              <a:rPr lang="en-US" dirty="0" err="1"/>
              <a:t>pacientes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la CCSS y </a:t>
            </a:r>
            <a:r>
              <a:rPr lang="en-US" dirty="0" err="1"/>
              <a:t>reporte</a:t>
            </a:r>
            <a:r>
              <a:rPr lang="en-US" dirty="0"/>
              <a:t> multiple.</a:t>
            </a:r>
          </a:p>
        </p:txBody>
      </p:sp>
    </p:spTree>
    <p:extLst>
      <p:ext uri="{BB962C8B-B14F-4D97-AF65-F5344CB8AC3E}">
        <p14:creationId xmlns:p14="http://schemas.microsoft.com/office/powerpoint/2010/main" val="29602979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79E94-9441-1AFA-2D72-EDDCB13C0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264BE9-01A7-4B53-E96D-6F8BF9300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Otras medidas epidemiológicas: Ejemplo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9110D7B-5B4B-98CA-F1C4-724FE6EACE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935095"/>
          </a:xfrm>
        </p:spPr>
        <p:txBody>
          <a:bodyPr/>
          <a:lstStyle/>
          <a:p>
            <a:r>
              <a:rPr lang="es-CR" dirty="0"/>
              <a:t>Cuadro 1.  Casos de derrame según presencia de hipertensión</a:t>
            </a:r>
          </a:p>
          <a:p>
            <a:endParaRPr lang="en-US" dirty="0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0239CE85-6AFF-D81C-EAFB-93B09CA969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296706"/>
              </p:ext>
            </p:extLst>
          </p:nvPr>
        </p:nvGraphicFramePr>
        <p:xfrm>
          <a:off x="1087120" y="2606356"/>
          <a:ext cx="9918931" cy="29372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4102">
                  <a:extLst>
                    <a:ext uri="{9D8B030D-6E8A-4147-A177-3AD203B41FA5}">
                      <a16:colId xmlns:a16="http://schemas.microsoft.com/office/drawing/2014/main" val="2413106538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16468436"/>
                    </a:ext>
                  </a:extLst>
                </a:gridCol>
                <a:gridCol w="2033465">
                  <a:extLst>
                    <a:ext uri="{9D8B030D-6E8A-4147-A177-3AD203B41FA5}">
                      <a16:colId xmlns:a16="http://schemas.microsoft.com/office/drawing/2014/main" val="2540262734"/>
                    </a:ext>
                  </a:extLst>
                </a:gridCol>
                <a:gridCol w="1690637">
                  <a:extLst>
                    <a:ext uri="{9D8B030D-6E8A-4147-A177-3AD203B41FA5}">
                      <a16:colId xmlns:a16="http://schemas.microsoft.com/office/drawing/2014/main" val="622516394"/>
                    </a:ext>
                  </a:extLst>
                </a:gridCol>
                <a:gridCol w="2094807">
                  <a:extLst>
                    <a:ext uri="{9D8B030D-6E8A-4147-A177-3AD203B41FA5}">
                      <a16:colId xmlns:a16="http://schemas.microsoft.com/office/drawing/2014/main" val="1790137117"/>
                    </a:ext>
                  </a:extLst>
                </a:gridCol>
              </a:tblGrid>
              <a:tr h="704771">
                <a:tc>
                  <a:txBody>
                    <a:bodyPr/>
                    <a:lstStyle/>
                    <a:p>
                      <a:r>
                        <a:rPr lang="es-CR" sz="2400" dirty="0"/>
                        <a:t>Condición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R" sz="2400" dirty="0"/>
                        <a:t>Derrame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R" sz="2400" dirty="0"/>
                        <a:t>Sin derrame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R" sz="2400" dirty="0"/>
                        <a:t>Total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R" sz="2400" dirty="0"/>
                        <a:t>Proporción de Incidencia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0491070"/>
                  </a:ext>
                </a:extLst>
              </a:tr>
              <a:tr h="704771">
                <a:tc>
                  <a:txBody>
                    <a:bodyPr/>
                    <a:lstStyle/>
                    <a:p>
                      <a:r>
                        <a:rPr lang="es-CR" sz="2400" dirty="0"/>
                        <a:t>Con hipertensión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CR" sz="2400" dirty="0"/>
                        <a:t>2134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CR" sz="2400" dirty="0"/>
                        <a:t>16176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CR" sz="2400" dirty="0"/>
                        <a:t>18310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CR" sz="2400" dirty="0"/>
                        <a:t>0.116548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3525893"/>
                  </a:ext>
                </a:extLst>
              </a:tr>
              <a:tr h="704771">
                <a:tc>
                  <a:txBody>
                    <a:bodyPr/>
                    <a:lstStyle/>
                    <a:p>
                      <a:r>
                        <a:rPr lang="es-CR" sz="2400" dirty="0"/>
                        <a:t>Sin hipertensión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CR" sz="2400" dirty="0"/>
                        <a:t>3882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CR" sz="2400" dirty="0"/>
                        <a:t>118730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CR" sz="2400" dirty="0"/>
                        <a:t>122612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CR" sz="2400" dirty="0"/>
                        <a:t>0.0316608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8528188"/>
                  </a:ext>
                </a:extLst>
              </a:tr>
              <a:tr h="704771">
                <a:tc>
                  <a:txBody>
                    <a:bodyPr/>
                    <a:lstStyle/>
                    <a:p>
                      <a:r>
                        <a:rPr lang="es-CR" sz="2400" dirty="0"/>
                        <a:t>Total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CR" sz="2400" dirty="0"/>
                        <a:t>6016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CR" sz="2400" dirty="0"/>
                        <a:t>134906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CR" sz="2400" dirty="0"/>
                        <a:t>140922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CR" sz="2400" dirty="0"/>
                        <a:t>0.0426903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6927410"/>
                  </a:ext>
                </a:extLst>
              </a:tr>
            </a:tbl>
          </a:graphicData>
        </a:graphic>
      </p:graphicFrame>
      <p:sp>
        <p:nvSpPr>
          <p:cNvPr id="5" name="CuadroTexto 4">
            <a:extLst>
              <a:ext uri="{FF2B5EF4-FFF2-40B4-BE49-F238E27FC236}">
                <a16:creationId xmlns:a16="http://schemas.microsoft.com/office/drawing/2014/main" id="{FBEF229A-5329-0EB9-BD9E-2DAD57EEA091}"/>
              </a:ext>
            </a:extLst>
          </p:cNvPr>
          <p:cNvSpPr txBox="1"/>
          <p:nvPr/>
        </p:nvSpPr>
        <p:spPr>
          <a:xfrm>
            <a:off x="1087119" y="5760719"/>
            <a:ext cx="90028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/>
              <a:t>Fuente: Adaptado de </a:t>
            </a:r>
            <a:r>
              <a:rPr lang="en-US" dirty="0"/>
              <a:t>Biostatistics for Medical and Biomedical Practitioners, p.289</a:t>
            </a:r>
            <a:r>
              <a:rPr lang="es-CR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2321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AEBA61-F8C1-7F8A-0CFE-BA73798D3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Otras</a:t>
            </a:r>
            <a:r>
              <a:rPr lang="en-US" dirty="0"/>
              <a:t> </a:t>
            </a:r>
            <a:r>
              <a:rPr lang="en-US" dirty="0" err="1"/>
              <a:t>medidas</a:t>
            </a:r>
            <a:r>
              <a:rPr lang="en-US" dirty="0"/>
              <a:t>: Odds Ratio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C28B21E4-B880-72C3-A168-A316133FB57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s-ES" dirty="0"/>
                  <a:t>Este es uno de los estadísticos más utilizados para medir asociación en el campo de la epidemiología.  </a:t>
                </a:r>
              </a:p>
              <a:p>
                <a:r>
                  <a:rPr lang="es-ES" dirty="0"/>
                  <a:t>Se puede calcular con prevalencias o incidencias</a:t>
                </a:r>
              </a:p>
              <a:p>
                <a:r>
                  <a:rPr lang="es-ES" dirty="0"/>
                  <a:t>También se utiliza en tablas 2X2, aunque se puede adaptar para otros tipos de condiciones.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R" sz="2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𝑂𝑅</m:t>
                        </m:r>
                      </m:e>
                      <m:sub>
                        <m:r>
                          <a:rPr lang="es-CR" sz="2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21</m:t>
                        </m:r>
                      </m:sub>
                    </m:sSub>
                    <m:r>
                      <a:rPr lang="es-CR" sz="2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sz="2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600" b="0" i="1" smtClean="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𝑃𝑟𝑒𝑣𝑎𝑙</m:t>
                            </m:r>
                            <m:r>
                              <a:rPr lang="en-US" sz="2600" b="0" i="1" smtClean="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a:rPr lang="en-US" sz="2600" b="0" i="1" smtClean="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𝑜</m:t>
                            </m:r>
                            <m:r>
                              <a:rPr lang="en-US" sz="2600" b="0" i="1" smtClean="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a:rPr lang="en-US" sz="2600" b="0" i="1" smtClean="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𝑖𝑛𝑐𝑖𝑑𝑒𝑛𝑐𝑖𝑎</m:t>
                            </m:r>
                            <m:r>
                              <a:rPr lang="en-US" sz="2600" b="0" i="1" smtClean="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a:rPr lang="en-US" sz="2600" b="0" i="1" smtClean="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𝐺</m:t>
                            </m:r>
                            <m:r>
                              <a:rPr lang="en-US" sz="2600" b="0" i="1" smtClean="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s-CR" sz="26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1−</m:t>
                            </m:r>
                            <m:r>
                              <a:rPr lang="en-US" sz="2600" b="0" i="1" smtClean="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s-CR" sz="26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𝑃</m:t>
                            </m:r>
                            <m:r>
                              <a:rPr lang="en-US" sz="2600" b="0" i="1" smtClean="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𝑟𝑒𝑣𝑎𝑙</m:t>
                            </m:r>
                            <m:r>
                              <a:rPr lang="en-US" sz="2600" b="0" i="1" smtClean="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a:rPr lang="en-US" sz="2600" b="0" i="1" smtClean="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𝑜</m:t>
                            </m:r>
                            <m:r>
                              <a:rPr lang="en-US" sz="2600" b="0" i="1" smtClean="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a:rPr lang="en-US" sz="2600" b="0" i="1" smtClean="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𝑖𝑛𝑐𝑖𝑑</m:t>
                            </m:r>
                            <m:r>
                              <a:rPr lang="en-US" sz="2600" b="0" i="1" smtClean="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a:rPr lang="en-US" sz="2600" b="0" i="1" smtClean="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𝐺</m:t>
                            </m:r>
                            <m:r>
                              <a:rPr lang="en-US" sz="2600" b="0" i="1" smtClean="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2)</m:t>
                            </m:r>
                          </m:den>
                        </m:f>
                      </m:num>
                      <m:den>
                        <m:f>
                          <m:fPr>
                            <m:ctrlPr>
                              <a:rPr lang="en-US" sz="2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6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𝑃𝑟𝑒𝑣𝑎𝑙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𝑜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𝑖𝑛𝑐𝑖𝑑𝑒𝑛𝑐𝑖𝑎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𝐺</m:t>
                            </m:r>
                            <m:r>
                              <a:rPr lang="en-US" sz="2600" b="0" i="1" smtClean="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s-CR" sz="26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1−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s-CR" sz="26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𝑃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𝑟𝑒𝑣𝑎𝑙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𝑜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𝑖𝑛𝑐𝑖𝑑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𝐺</m:t>
                            </m:r>
                            <m:r>
                              <a:rPr lang="en-US" sz="2600" b="0" i="1" smtClean="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den>
                        </m:f>
                      </m:den>
                    </m:f>
                    <m:r>
                      <a:rPr lang="en-US" sz="2600" b="0" i="1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600" i="1"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sz="26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CR" sz="2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𝑃</m:t>
                            </m:r>
                            <m:r>
                              <a:rPr lang="es-CR" sz="2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s-CR" sz="2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𝑌</m:t>
                            </m:r>
                            <m:r>
                              <a:rPr lang="es-CR" sz="2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=1|</m:t>
                            </m:r>
                            <m:r>
                              <a:rPr lang="es-CR" sz="2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  <m:r>
                              <a:rPr lang="es-CR" sz="2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=2)</m:t>
                            </m:r>
                          </m:num>
                          <m:den>
                            <m:r>
                              <a:rPr lang="es-CR" sz="2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1−</m:t>
                            </m:r>
                            <m:r>
                              <a:rPr lang="es-CR" sz="2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𝑃</m:t>
                            </m:r>
                            <m:r>
                              <a:rPr lang="es-CR" sz="2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s-CR" sz="2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𝑌</m:t>
                            </m:r>
                            <m:r>
                              <a:rPr lang="es-CR" sz="2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=1|</m:t>
                            </m:r>
                            <m:r>
                              <a:rPr lang="es-CR" sz="2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  <m:r>
                              <a:rPr lang="es-CR" sz="2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=2)</m:t>
                            </m:r>
                          </m:den>
                        </m:f>
                      </m:num>
                      <m:den>
                        <m:f>
                          <m:fPr>
                            <m:ctrlPr>
                              <a:rPr lang="en-US" sz="26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CR" sz="2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𝑃</m:t>
                            </m:r>
                            <m:r>
                              <a:rPr lang="es-CR" sz="2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s-CR" sz="2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𝑌</m:t>
                            </m:r>
                            <m:r>
                              <a:rPr lang="es-CR" sz="2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=1|</m:t>
                            </m:r>
                            <m:r>
                              <a:rPr lang="es-CR" sz="2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  <m:r>
                              <a:rPr lang="es-CR" sz="2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=1)</m:t>
                            </m:r>
                          </m:num>
                          <m:den>
                            <m:r>
                              <a:rPr lang="es-CR" sz="2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1−</m:t>
                            </m:r>
                            <m:r>
                              <a:rPr lang="es-CR" sz="2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𝑃</m:t>
                            </m:r>
                            <m:r>
                              <a:rPr lang="es-CR" sz="2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s-CR" sz="2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𝑌</m:t>
                            </m:r>
                            <m:r>
                              <a:rPr lang="es-CR" sz="2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=1|</m:t>
                            </m:r>
                            <m:r>
                              <a:rPr lang="es-CR" sz="2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  <m:r>
                              <a:rPr lang="es-CR" sz="2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=1)</m:t>
                            </m:r>
                          </m:den>
                        </m:f>
                      </m:den>
                    </m:f>
                    <m:r>
                      <a:rPr lang="es-CR" sz="2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600" i="1"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sz="26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CR" sz="2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𝑃</m:t>
                            </m:r>
                            <m:r>
                              <a:rPr lang="es-CR" sz="2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s-CR" sz="2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𝑌</m:t>
                            </m:r>
                            <m:r>
                              <a:rPr lang="es-CR" sz="2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=1|</m:t>
                            </m:r>
                            <m:r>
                              <a:rPr lang="es-CR" sz="2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  <m:r>
                              <a:rPr lang="es-CR" sz="2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=2)</m:t>
                            </m:r>
                          </m:num>
                          <m:den>
                            <m:r>
                              <a:rPr lang="es-CR" sz="2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𝑃</m:t>
                            </m:r>
                            <m:r>
                              <a:rPr lang="es-CR" sz="2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s-CR" sz="2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𝑌</m:t>
                            </m:r>
                            <m:r>
                              <a:rPr lang="es-CR" sz="2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=0|</m:t>
                            </m:r>
                            <m:r>
                              <a:rPr lang="es-CR" sz="2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  <m:r>
                              <a:rPr lang="es-CR" sz="2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=2)</m:t>
                            </m:r>
                          </m:den>
                        </m:f>
                      </m:num>
                      <m:den>
                        <m:f>
                          <m:fPr>
                            <m:ctrlPr>
                              <a:rPr lang="en-US" sz="26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CR" sz="2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𝑃</m:t>
                            </m:r>
                            <m:r>
                              <a:rPr lang="es-CR" sz="2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s-CR" sz="2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𝑌</m:t>
                            </m:r>
                            <m:r>
                              <a:rPr lang="es-CR" sz="2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=1|</m:t>
                            </m:r>
                            <m:r>
                              <a:rPr lang="es-CR" sz="2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  <m:r>
                              <a:rPr lang="es-CR" sz="2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=1)</m:t>
                            </m:r>
                          </m:num>
                          <m:den>
                            <m:r>
                              <a:rPr lang="es-CR" sz="2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𝑃</m:t>
                            </m:r>
                            <m:r>
                              <a:rPr lang="es-CR" sz="2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s-CR" sz="2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𝑌</m:t>
                            </m:r>
                            <m:r>
                              <a:rPr lang="es-CR" sz="2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=0|</m:t>
                            </m:r>
                            <m:r>
                              <a:rPr lang="es-CR" sz="2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  <m:r>
                              <a:rPr lang="es-CR" sz="2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=1)</m:t>
                            </m:r>
                          </m:den>
                        </m:f>
                      </m:den>
                    </m:f>
                  </m:oMath>
                </a14:m>
                <a:endParaRPr lang="es-ES" sz="2600" dirty="0"/>
              </a:p>
              <a:p>
                <a:endParaRPr lang="es-ES" dirty="0"/>
              </a:p>
              <a:p>
                <a:r>
                  <a:rPr lang="es-ES" dirty="0"/>
                  <a:t>Si el OR se acerca a uno, quiere decir que la incidencia en un grupo es igual que la del otro grupo</a:t>
                </a:r>
              </a:p>
              <a:p>
                <a:endParaRPr lang="es-E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C28B21E4-B880-72C3-A168-A316133FB5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8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21206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14947-09E5-72B7-D57F-FAC800D94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0FCBD5-0179-1233-9F69-C2D70DEAC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Otras</a:t>
            </a:r>
            <a:r>
              <a:rPr lang="en-US" dirty="0"/>
              <a:t> </a:t>
            </a:r>
            <a:r>
              <a:rPr lang="en-US" dirty="0" err="1"/>
              <a:t>medidas</a:t>
            </a:r>
            <a:r>
              <a:rPr lang="en-US" dirty="0"/>
              <a:t>: </a:t>
            </a:r>
            <a:r>
              <a:rPr lang="en-US" dirty="0" err="1"/>
              <a:t>Riesgo</a:t>
            </a:r>
            <a:r>
              <a:rPr lang="en-US" dirty="0"/>
              <a:t> </a:t>
            </a:r>
            <a:r>
              <a:rPr lang="en-US" dirty="0" err="1"/>
              <a:t>Relativo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D38C8B45-0566-6B12-0A17-AD93E298715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r>
                  <a:rPr lang="es-ES" dirty="0"/>
                  <a:t>Técnica y originalmente se debería de calcular con las tasas de incidencia, pero en su operacionalización como razón de probabilidades, se puede calcular con otras variantes</a:t>
                </a:r>
              </a:p>
              <a:p>
                <a:r>
                  <a:rPr lang="es-ES" dirty="0"/>
                  <a:t>Se puede calcular con prevalencias o incidencias</a:t>
                </a:r>
              </a:p>
              <a:p>
                <a:r>
                  <a:rPr lang="es-ES" dirty="0"/>
                  <a:t>También se utiliza en tablas 2X2, aunque se puede adaptar para otros tipos de condiciones.</a:t>
                </a:r>
              </a:p>
              <a:p>
                <a:endParaRPr lang="es-ES" sz="26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30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CR" sz="33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𝑅𝑅</m:t>
                        </m:r>
                      </m:e>
                      <m:sub>
                        <m:r>
                          <a:rPr lang="es-CR" sz="33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21</m:t>
                        </m:r>
                      </m:sub>
                    </m:sSub>
                    <m:r>
                      <a:rPr lang="es-CR" sz="33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s-CR" sz="33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3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𝑃𝑟𝑒𝑣𝑎𝑙</m:t>
                        </m:r>
                        <m:r>
                          <a:rPr lang="en-US" sz="33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sz="33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𝑜</m:t>
                        </m:r>
                        <m:r>
                          <a:rPr lang="en-US" sz="33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sz="33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𝑖𝑛𝑐𝑖𝑑𝑒𝑛𝑐𝑖𝑎</m:t>
                        </m:r>
                        <m:r>
                          <a:rPr lang="en-US" sz="33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sz="33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𝐺</m:t>
                        </m:r>
                        <m:r>
                          <a:rPr lang="en-US" sz="33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33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𝑃𝑟𝑒𝑣𝑎𝑙</m:t>
                        </m:r>
                        <m:r>
                          <a:rPr lang="en-US" sz="33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sz="33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𝑜</m:t>
                        </m:r>
                        <m:r>
                          <a:rPr lang="en-US" sz="33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sz="33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𝑖𝑛𝑐𝑖𝑑𝑒𝑛𝑐𝑖𝑎</m:t>
                        </m:r>
                        <m:r>
                          <a:rPr lang="en-US" sz="33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sz="33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𝐺</m:t>
                        </m:r>
                        <m:r>
                          <a:rPr lang="en-US" sz="33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den>
                    </m:f>
                    <m:r>
                      <a:rPr lang="es-CR" sz="3300" b="0" i="1" smtClean="0">
                        <a:effectLst/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3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s-CR" sz="33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𝑃</m:t>
                        </m:r>
                        <m:r>
                          <a:rPr lang="es-CR" sz="33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(</m:t>
                        </m:r>
                        <m:r>
                          <a:rPr lang="es-CR" sz="33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𝑌</m:t>
                        </m:r>
                        <m:r>
                          <a:rPr lang="es-CR" sz="33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=1|</m:t>
                        </m:r>
                        <m:r>
                          <a:rPr lang="es-CR" sz="33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𝑋</m:t>
                        </m:r>
                        <m:r>
                          <a:rPr lang="es-CR" sz="33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=2)</m:t>
                        </m:r>
                      </m:num>
                      <m:den>
                        <m:r>
                          <a:rPr lang="es-CR" sz="33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𝑃</m:t>
                        </m:r>
                        <m:r>
                          <a:rPr lang="es-CR" sz="33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(</m:t>
                        </m:r>
                        <m:r>
                          <a:rPr lang="es-CR" sz="33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𝑌</m:t>
                        </m:r>
                        <m:r>
                          <a:rPr lang="es-CR" sz="33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=1|</m:t>
                        </m:r>
                        <m:r>
                          <a:rPr lang="es-CR" sz="33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𝑋</m:t>
                        </m:r>
                        <m:r>
                          <a:rPr lang="es-CR" sz="33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=1)</m:t>
                        </m:r>
                      </m:den>
                    </m:f>
                  </m:oMath>
                </a14:m>
                <a:endParaRPr lang="en-US" sz="33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endParaRPr lang="es-ES" dirty="0"/>
              </a:p>
              <a:p>
                <a:r>
                  <a:rPr lang="es-ES" dirty="0"/>
                  <a:t>Si el RR se acerca a uno, quiere decir que la incidencia en un grupo es igual que la del otro grupo</a:t>
                </a:r>
              </a:p>
              <a:p>
                <a:endParaRPr lang="es-E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D38C8B45-0566-6B12-0A17-AD93E29871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28862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1A26BD-BD84-04CE-E494-BD329CFE7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Otras medidas epidemiológicas: Riesgos atribuibles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D8008B7-B236-0FA2-0C45-58294745ED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R" dirty="0"/>
              <a:t>El riesgo atribuible es la diferencia de la tasa de incidencia entre sujetos expuestos al riesgo menos la tasa de incidencia entre los sujetos no expuestos al riesgo (AR)</a:t>
            </a:r>
          </a:p>
          <a:p>
            <a:r>
              <a:rPr lang="es-CR" dirty="0"/>
              <a:t>La fracción de riesgo atribuible es el riesgo atribuible dividido por la tasa de incidencia de lo sujetos expuestos al riesgo (FAR)</a:t>
            </a:r>
          </a:p>
          <a:p>
            <a:r>
              <a:rPr lang="es-CR" dirty="0"/>
              <a:t>La proporción de riesgo atribuible en la población se refiere a la diferencia entre la tasa de incidencia en toda la población menos la tasa de incidencia en la población no expuesta al riesgo, dividido por la tasa de incidencia total (PAR)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42015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A5161-B643-4D72-6F6D-E962A9D02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3125EF-CACC-1F4E-ACBF-8257CFD14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Otras medidas epidemiológicas: Riesgos atribuibles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6B93124-F263-6B1B-3D2E-350320766C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935095"/>
          </a:xfrm>
        </p:spPr>
        <p:txBody>
          <a:bodyPr/>
          <a:lstStyle/>
          <a:p>
            <a:r>
              <a:rPr lang="es-CR" dirty="0"/>
              <a:t>Cuadro 1.  Casos de derrame según presencia de hipertensión</a:t>
            </a:r>
          </a:p>
          <a:p>
            <a:endParaRPr lang="en-US" dirty="0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CF9288ED-25FA-2C9D-4108-A4AD31636B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8928748"/>
              </p:ext>
            </p:extLst>
          </p:nvPr>
        </p:nvGraphicFramePr>
        <p:xfrm>
          <a:off x="1087120" y="2606356"/>
          <a:ext cx="9918931" cy="28190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4102">
                  <a:extLst>
                    <a:ext uri="{9D8B030D-6E8A-4147-A177-3AD203B41FA5}">
                      <a16:colId xmlns:a16="http://schemas.microsoft.com/office/drawing/2014/main" val="2413106538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16468436"/>
                    </a:ext>
                  </a:extLst>
                </a:gridCol>
                <a:gridCol w="2033465">
                  <a:extLst>
                    <a:ext uri="{9D8B030D-6E8A-4147-A177-3AD203B41FA5}">
                      <a16:colId xmlns:a16="http://schemas.microsoft.com/office/drawing/2014/main" val="2540262734"/>
                    </a:ext>
                  </a:extLst>
                </a:gridCol>
                <a:gridCol w="1690637">
                  <a:extLst>
                    <a:ext uri="{9D8B030D-6E8A-4147-A177-3AD203B41FA5}">
                      <a16:colId xmlns:a16="http://schemas.microsoft.com/office/drawing/2014/main" val="622516394"/>
                    </a:ext>
                  </a:extLst>
                </a:gridCol>
                <a:gridCol w="2094807">
                  <a:extLst>
                    <a:ext uri="{9D8B030D-6E8A-4147-A177-3AD203B41FA5}">
                      <a16:colId xmlns:a16="http://schemas.microsoft.com/office/drawing/2014/main" val="1790137117"/>
                    </a:ext>
                  </a:extLst>
                </a:gridCol>
              </a:tblGrid>
              <a:tr h="704771">
                <a:tc>
                  <a:txBody>
                    <a:bodyPr/>
                    <a:lstStyle/>
                    <a:p>
                      <a:r>
                        <a:rPr lang="es-CR" sz="2400" dirty="0"/>
                        <a:t>Condición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R" sz="2400" dirty="0"/>
                        <a:t>Derrame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R" sz="2400" dirty="0"/>
                        <a:t>Sin derrame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R" sz="2400" dirty="0"/>
                        <a:t>Total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R" sz="2400" dirty="0"/>
                        <a:t>Incidencia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0491070"/>
                  </a:ext>
                </a:extLst>
              </a:tr>
              <a:tr h="704771">
                <a:tc>
                  <a:txBody>
                    <a:bodyPr/>
                    <a:lstStyle/>
                    <a:p>
                      <a:r>
                        <a:rPr lang="es-CR" sz="2400" dirty="0"/>
                        <a:t>Con hipertensión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CR" sz="2400" dirty="0"/>
                        <a:t>2134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CR" sz="2400" dirty="0"/>
                        <a:t>16176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CR" sz="2400" dirty="0"/>
                        <a:t>18310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CR" sz="2400" dirty="0"/>
                        <a:t>0.116548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3525893"/>
                  </a:ext>
                </a:extLst>
              </a:tr>
              <a:tr h="704771">
                <a:tc>
                  <a:txBody>
                    <a:bodyPr/>
                    <a:lstStyle/>
                    <a:p>
                      <a:r>
                        <a:rPr lang="es-CR" sz="2400" dirty="0"/>
                        <a:t>Sin hipertensión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CR" sz="2400" dirty="0"/>
                        <a:t>3882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CR" sz="2400" dirty="0"/>
                        <a:t>118730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CR" sz="2400" dirty="0"/>
                        <a:t>122612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CR" sz="2400" dirty="0"/>
                        <a:t>0.0316608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8528188"/>
                  </a:ext>
                </a:extLst>
              </a:tr>
              <a:tr h="704771">
                <a:tc>
                  <a:txBody>
                    <a:bodyPr/>
                    <a:lstStyle/>
                    <a:p>
                      <a:r>
                        <a:rPr lang="es-CR" sz="2400" dirty="0"/>
                        <a:t>Total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CR" sz="2400" dirty="0"/>
                        <a:t>6016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CR" sz="2400" dirty="0"/>
                        <a:t>134906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CR" sz="2400" dirty="0"/>
                        <a:t>140922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CR" sz="2400" dirty="0"/>
                        <a:t>0.0426903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6927410"/>
                  </a:ext>
                </a:extLst>
              </a:tr>
            </a:tbl>
          </a:graphicData>
        </a:graphic>
      </p:graphicFrame>
      <p:sp>
        <p:nvSpPr>
          <p:cNvPr id="5" name="CuadroTexto 4">
            <a:extLst>
              <a:ext uri="{FF2B5EF4-FFF2-40B4-BE49-F238E27FC236}">
                <a16:creationId xmlns:a16="http://schemas.microsoft.com/office/drawing/2014/main" id="{90410D03-3ED1-BE20-5DA8-A9C86D05436B}"/>
              </a:ext>
            </a:extLst>
          </p:cNvPr>
          <p:cNvSpPr txBox="1"/>
          <p:nvPr/>
        </p:nvSpPr>
        <p:spPr>
          <a:xfrm>
            <a:off x="1087119" y="5760719"/>
            <a:ext cx="90028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/>
              <a:t>Fuente: Adaptado de </a:t>
            </a:r>
            <a:r>
              <a:rPr lang="en-US" dirty="0"/>
              <a:t>Biostatistics for Medical and Biomedical Practitioners, p.289</a:t>
            </a:r>
            <a:r>
              <a:rPr lang="es-CR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77115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3EBEF-472A-6EE4-F4A5-E07F294EE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186ED7-7575-9267-5FEC-606C53809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Otras medidas epidemiológicas: OR y RR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F8BDACAF-008F-98AC-CC69-9FE91A90A30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R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𝑂𝑅</m:t>
                        </m:r>
                      </m:e>
                      <m:sub>
                        <m:r>
                          <a:rPr lang="es-CR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21</m:t>
                        </m:r>
                      </m:sub>
                    </m:sSub>
                    <m:r>
                      <a:rPr lang="es-CR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CR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𝑃</m:t>
                            </m:r>
                            <m:r>
                              <a:rPr lang="es-CR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s-CR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𝑌</m:t>
                            </m:r>
                            <m:r>
                              <a:rPr lang="es-CR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=1|</m:t>
                            </m:r>
                            <m:r>
                              <a:rPr lang="es-CR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  <m:r>
                              <a:rPr lang="es-CR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=2)</m:t>
                            </m:r>
                          </m:num>
                          <m:den>
                            <m:r>
                              <a:rPr lang="es-CR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1−</m:t>
                            </m:r>
                            <m:r>
                              <a:rPr lang="es-CR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𝑃</m:t>
                            </m:r>
                            <m:r>
                              <a:rPr lang="es-CR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s-CR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𝑌</m:t>
                            </m:r>
                            <m:r>
                              <a:rPr lang="es-CR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=1|</m:t>
                            </m:r>
                            <m:r>
                              <a:rPr lang="es-CR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  <m:r>
                              <a:rPr lang="es-CR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=2)</m:t>
                            </m:r>
                          </m:den>
                        </m:f>
                      </m:num>
                      <m:den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CR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𝑃</m:t>
                            </m:r>
                            <m:r>
                              <a:rPr lang="es-CR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s-CR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𝑌</m:t>
                            </m:r>
                            <m:r>
                              <a:rPr lang="es-CR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=1|</m:t>
                            </m:r>
                            <m:r>
                              <a:rPr lang="es-CR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  <m:r>
                              <a:rPr lang="es-CR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=1)</m:t>
                            </m:r>
                          </m:num>
                          <m:den>
                            <m:r>
                              <a:rPr lang="es-CR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1−</m:t>
                            </m:r>
                            <m:r>
                              <a:rPr lang="es-CR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𝑃</m:t>
                            </m:r>
                            <m:r>
                              <a:rPr lang="es-CR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s-CR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𝑌</m:t>
                            </m:r>
                            <m:r>
                              <a:rPr lang="es-CR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=1|</m:t>
                            </m:r>
                            <m:r>
                              <a:rPr lang="es-CR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  <m:r>
                              <a:rPr lang="es-CR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=1)</m:t>
                            </m:r>
                          </m:den>
                        </m:f>
                      </m:den>
                    </m:f>
                    <m:r>
                      <a:rPr lang="es-CR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CR" b="0" i="1" smtClean="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2134/18310</m:t>
                            </m:r>
                          </m:num>
                          <m:den>
                            <m:r>
                              <a:rPr lang="es-CR" b="0" i="1" smtClean="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1−2134/18310</m:t>
                            </m:r>
                          </m:den>
                        </m:f>
                      </m:num>
                      <m:den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CR" b="0" i="1" smtClean="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3882/122612</m:t>
                            </m:r>
                          </m:num>
                          <m:den>
                            <m:r>
                              <a:rPr lang="es-CR" b="0" i="1" smtClean="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1−3882/122612</m:t>
                            </m:r>
                          </m:den>
                        </m:f>
                      </m:den>
                    </m:f>
                  </m:oMath>
                </a14:m>
                <a:r>
                  <a:rPr lang="en-US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CR" b="0" i="1" smtClean="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0.116548</m:t>
                            </m:r>
                          </m:num>
                          <m:den>
                            <m:r>
                              <a:rPr lang="es-CR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1−</m:t>
                            </m:r>
                            <m:r>
                              <a:rPr lang="es-CR" b="0" i="1" smtClean="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0.116548</m:t>
                            </m:r>
                          </m:den>
                        </m:f>
                      </m:num>
                      <m:den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CR" b="0" i="1" smtClean="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0.0316608</m:t>
                            </m:r>
                          </m:num>
                          <m:den>
                            <m:r>
                              <a:rPr lang="es-CR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1−</m:t>
                            </m:r>
                            <m:r>
                              <a:rPr lang="es-CR" b="0" i="1" smtClean="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0.0316608</m:t>
                            </m:r>
                          </m:den>
                        </m:f>
                      </m:den>
                    </m:f>
                    <m:r>
                      <a:rPr lang="es-CR" b="0" i="1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s-CR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s-CR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0.131923</m:t>
                        </m:r>
                      </m:num>
                      <m:den>
                        <m:r>
                          <a:rPr lang="es-CR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0.032696</m:t>
                        </m:r>
                      </m:den>
                    </m:f>
                    <m:r>
                      <a:rPr lang="es-CR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=4.03</m:t>
                    </m:r>
                  </m:oMath>
                </a14:m>
                <a:endParaRPr lang="es-CR" b="0" dirty="0">
                  <a:cs typeface="Times New Roman" panose="02020603050405020304" pitchFamily="18" charset="0"/>
                </a:endParaRP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CR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𝑅𝑅</m:t>
                        </m:r>
                      </m:e>
                      <m:sub>
                        <m:r>
                          <a:rPr lang="es-CR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21</m:t>
                        </m:r>
                      </m:sub>
                    </m:sSub>
                    <m:r>
                      <a:rPr lang="es-CR" sz="2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s-CR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2134/18310</m:t>
                        </m:r>
                      </m:num>
                      <m:den>
                        <m:r>
                          <a:rPr lang="es-CR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3882/122612</m:t>
                        </m:r>
                      </m:den>
                    </m:f>
                    <m:r>
                      <a:rPr lang="es-CR" sz="2800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es-CR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CR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s-CR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0.1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16548</m:t>
                        </m:r>
                      </m:num>
                      <m:den>
                        <m:r>
                          <a:rPr lang="es-CR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0.03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a:rPr lang="es-CR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6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608</m:t>
                        </m:r>
                      </m:den>
                    </m:f>
                    <m:r>
                      <a:rPr lang="es-CR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en-US" dirty="0"/>
                  <a:t>3.68</a:t>
                </a: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F8BDACAF-008F-98AC-CC69-9FE91A90A3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78942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425D7-370D-7260-13D1-8DFE9BA94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3DC138-EB38-CE0F-9F65-D41BBDEC0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Otras medidas epidemiológicas: OR y RR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16345738-7E04-62CE-7C01-090E457570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s-CR" b="0" i="1" smtClean="0">
                        <a:latin typeface="Cambria Math" panose="02040503050406030204" pitchFamily="18" charset="0"/>
                      </a:rPr>
                      <m:t>𝐴𝑅</m:t>
                    </m:r>
                    <m:r>
                      <a:rPr lang="es-C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C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s-CR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s-C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𝑛𝑒</m:t>
                        </m:r>
                      </m:sub>
                    </m:sSub>
                    <m:r>
                      <a:rPr lang="es-CR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0.116548-0.0316608 =0.0848872</a:t>
                </a:r>
              </a:p>
              <a:p>
                <a14:m>
                  <m:oMath xmlns:m="http://schemas.openxmlformats.org/officeDocument/2006/math">
                    <m:r>
                      <a:rPr lang="es-CR" b="0" i="1" smtClean="0">
                        <a:latin typeface="Cambria Math" panose="02040503050406030204" pitchFamily="18" charset="0"/>
                      </a:rPr>
                      <m:t>𝐹𝐴𝑅</m:t>
                    </m:r>
                    <m:r>
                      <a:rPr lang="es-C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C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𝐴𝑅</m:t>
                        </m:r>
                      </m:num>
                      <m:den>
                        <m:sSub>
                          <m:sSubPr>
                            <m:ctrlPr>
                              <a:rPr lang="es-C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R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s-CR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</m:den>
                    </m:f>
                    <m:r>
                      <a:rPr lang="es-CR" b="0" i="1" smtClean="0">
                        <a:latin typeface="Cambria Math" panose="02040503050406030204" pitchFamily="18" charset="0"/>
                      </a:rPr>
                      <m:t>∗100%=</m:t>
                    </m:r>
                    <m:f>
                      <m:fPr>
                        <m:ctrlPr>
                          <a:rPr lang="es-C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0.0848872</m:t>
                        </m:r>
                      </m:num>
                      <m:den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0.116548</m:t>
                        </m:r>
                      </m:den>
                    </m:f>
                    <m:r>
                      <a:rPr lang="es-CR" b="0" i="1" smtClean="0">
                        <a:latin typeface="Cambria Math" panose="02040503050406030204" pitchFamily="18" charset="0"/>
                      </a:rPr>
                      <m:t>∗100%=72.79%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s-CR" b="0" i="1" smtClean="0">
                        <a:latin typeface="Cambria Math" panose="02040503050406030204" pitchFamily="18" charset="0"/>
                      </a:rPr>
                      <m:t>𝑃𝐴𝑅</m:t>
                    </m:r>
                    <m:r>
                      <a:rPr lang="es-C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C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s-C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R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s-C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s-C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R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s-CR" b="0" i="1" smtClean="0">
                                <a:latin typeface="Cambria Math" panose="02040503050406030204" pitchFamily="18" charset="0"/>
                              </a:rPr>
                              <m:t>𝑛𝑒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s-C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R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s-C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den>
                    </m:f>
                    <m:r>
                      <a:rPr lang="es-C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C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0.0426903−0.0316608</m:t>
                        </m:r>
                      </m:num>
                      <m:den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0.0426903</m:t>
                        </m:r>
                      </m:den>
                    </m:f>
                    <m:r>
                      <a:rPr lang="es-CR" b="0" i="1" smtClean="0">
                        <a:latin typeface="Cambria Math" panose="02040503050406030204" pitchFamily="18" charset="0"/>
                      </a:rPr>
                      <m:t>∗100%=25.8%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 err="1"/>
                  <a:t>Otra</a:t>
                </a:r>
                <a:r>
                  <a:rPr lang="en-US" dirty="0"/>
                  <a:t> formula para </a:t>
                </a:r>
                <a:r>
                  <a:rPr lang="en-US" dirty="0" err="1"/>
                  <a:t>el</a:t>
                </a:r>
                <a:r>
                  <a:rPr lang="en-US" dirty="0"/>
                  <a:t> PAR</a:t>
                </a:r>
              </a:p>
              <a:p>
                <a14:m>
                  <m:oMath xmlns:m="http://schemas.openxmlformats.org/officeDocument/2006/math">
                    <m:r>
                      <a:rPr lang="es-CR" b="0" i="1" smtClean="0">
                        <a:latin typeface="Cambria Math" panose="02040503050406030204" pitchFamily="18" charset="0"/>
                      </a:rPr>
                      <m:t>𝑃𝐴𝑅</m:t>
                    </m:r>
                    <m:r>
                      <a:rPr lang="es-C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C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𝑃𝑟𝑒𝑣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∗(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𝑅𝑅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−1)</m:t>
                        </m:r>
                      </m:num>
                      <m:den>
                        <m:r>
                          <a:rPr lang="es-CR" i="1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s-CR" i="1">
                            <a:latin typeface="Cambria Math" panose="02040503050406030204" pitchFamily="18" charset="0"/>
                          </a:rPr>
                          <m:t>𝑃𝑟𝑒𝑣</m:t>
                        </m:r>
                        <m:r>
                          <a:rPr lang="es-CR" i="1">
                            <a:latin typeface="Cambria Math" panose="02040503050406030204" pitchFamily="18" charset="0"/>
                          </a:rPr>
                          <m:t>∗(</m:t>
                        </m:r>
                        <m:r>
                          <a:rPr lang="es-CR" i="1">
                            <a:latin typeface="Cambria Math" panose="02040503050406030204" pitchFamily="18" charset="0"/>
                          </a:rPr>
                          <m:t>𝑅𝑅</m:t>
                        </m:r>
                        <m:r>
                          <a:rPr lang="es-CR" i="1">
                            <a:latin typeface="Cambria Math" panose="02040503050406030204" pitchFamily="18" charset="0"/>
                          </a:rPr>
                          <m:t>−1)</m:t>
                        </m:r>
                      </m:den>
                    </m:f>
                    <m:r>
                      <a:rPr lang="es-C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C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s-C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s-CR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s-CR" i="1">
                                    <a:latin typeface="Cambria Math" panose="02040503050406030204" pitchFamily="18" charset="0"/>
                                  </a:rPr>
                                  <m:t>18310</m:t>
                                </m:r>
                              </m:num>
                              <m:den>
                                <m:r>
                                  <a:rPr lang="es-CR" i="1">
                                    <a:latin typeface="Cambria Math" panose="02040503050406030204" pitchFamily="18" charset="0"/>
                                  </a:rPr>
                                  <m:t>140922</m:t>
                                </m:r>
                              </m:den>
                            </m:f>
                          </m:e>
                        </m:d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d>
                          <m:dPr>
                            <m:ctrlPr>
                              <a:rPr lang="es-C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3.68</m:t>
                            </m:r>
                            <m:r>
                              <a:rPr lang="es-CR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num>
                      <m:den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d>
                          <m:dPr>
                            <m:ctrlPr>
                              <a:rPr lang="es-C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s-CR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s-CR" i="1">
                                    <a:latin typeface="Cambria Math" panose="02040503050406030204" pitchFamily="18" charset="0"/>
                                  </a:rPr>
                                  <m:t>18310</m:t>
                                </m:r>
                              </m:num>
                              <m:den>
                                <m:r>
                                  <a:rPr lang="es-CR" i="1">
                                    <a:latin typeface="Cambria Math" panose="02040503050406030204" pitchFamily="18" charset="0"/>
                                  </a:rPr>
                                  <m:t>140922</m:t>
                                </m:r>
                              </m:den>
                            </m:f>
                          </m:e>
                        </m:d>
                        <m:r>
                          <a:rPr lang="es-CR" i="1">
                            <a:latin typeface="Cambria Math" panose="02040503050406030204" pitchFamily="18" charset="0"/>
                          </a:rPr>
                          <m:t>∗</m:t>
                        </m:r>
                        <m:d>
                          <m:dPr>
                            <m:ctrlPr>
                              <a:rPr lang="es-C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3.68</m:t>
                            </m:r>
                            <m:r>
                              <a:rPr lang="es-CR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den>
                    </m:f>
                    <m:r>
                      <a:rPr lang="es-CR" b="0" i="1" smtClean="0">
                        <a:latin typeface="Cambria Math" panose="02040503050406030204" pitchFamily="18" charset="0"/>
                      </a:rPr>
                      <m:t>∗100%=25.8%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16345738-7E04-62CE-7C01-090E457570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439690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1711</TotalTime>
  <Words>1839</Words>
  <Application>Microsoft Office PowerPoint</Application>
  <PresentationFormat>Panorámica</PresentationFormat>
  <Paragraphs>226</Paragraphs>
  <Slides>30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30</vt:i4>
      </vt:variant>
    </vt:vector>
  </HeadingPairs>
  <TitlesOfParts>
    <vt:vector size="36" baseType="lpstr">
      <vt:lpstr>Aptos</vt:lpstr>
      <vt:lpstr>Aptos Display</vt:lpstr>
      <vt:lpstr>Arial</vt:lpstr>
      <vt:lpstr>Cambria Math</vt:lpstr>
      <vt:lpstr>Times New Roman</vt:lpstr>
      <vt:lpstr>Tema de Office</vt:lpstr>
      <vt:lpstr>XS-3010 Introducción a la demografía y bioestadística 2025</vt:lpstr>
      <vt:lpstr>Guía</vt:lpstr>
      <vt:lpstr>Definición de defunción</vt:lpstr>
      <vt:lpstr>Causas de muerte</vt:lpstr>
      <vt:lpstr>Clasificación de causas, según endogeneidad</vt:lpstr>
      <vt:lpstr>Clasificación de causas, según evitabilidad</vt:lpstr>
      <vt:lpstr>Clasificación de causas, según etiología</vt:lpstr>
      <vt:lpstr>Medidas de mortaliddad</vt:lpstr>
      <vt:lpstr>Tasa bruta de mortalidad y tasas específicas de mortalidad por edad y por causa</vt:lpstr>
      <vt:lpstr>Tasa de mortalidad infantil</vt:lpstr>
      <vt:lpstr>Probabilidad de morir antes de la edad 1</vt:lpstr>
      <vt:lpstr>Presentación de PowerPoint</vt:lpstr>
      <vt:lpstr>Tasa de mortalidad en la niñez</vt:lpstr>
      <vt:lpstr>Tasa de mortalidad materna</vt:lpstr>
      <vt:lpstr>Otras medidas de mortalidad</vt:lpstr>
      <vt:lpstr>Medidas de morbilidad</vt:lpstr>
      <vt:lpstr>Recordatorio: Prevalencia</vt:lpstr>
      <vt:lpstr>Medidas de Prevalencia</vt:lpstr>
      <vt:lpstr>Medidas de Prevalencia</vt:lpstr>
      <vt:lpstr>Casos especiales: Incidencia</vt:lpstr>
      <vt:lpstr>Medidas de Incidencia</vt:lpstr>
      <vt:lpstr>Medidas de Incidencia</vt:lpstr>
      <vt:lpstr>¿Se pueden calcular tasas de incidencia en Costa Rica</vt:lpstr>
      <vt:lpstr>Otras medidas epidemiológicas: Ejemplo</vt:lpstr>
      <vt:lpstr>Otras medidas: Odds Ratio</vt:lpstr>
      <vt:lpstr>Otras medidas: Riesgo Relativo</vt:lpstr>
      <vt:lpstr>Otras medidas epidemiológicas: Riesgos atribuibles</vt:lpstr>
      <vt:lpstr>Otras medidas epidemiológicas: Riesgos atribuibles</vt:lpstr>
      <vt:lpstr>Otras medidas epidemiológicas: OR y RR</vt:lpstr>
      <vt:lpstr>Otras medidas epidemiológicas: OR y RR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Gilbert Brenes-Camacho</dc:creator>
  <cp:lastModifiedBy>Gilbert Brenes</cp:lastModifiedBy>
  <cp:revision>36</cp:revision>
  <dcterms:created xsi:type="dcterms:W3CDTF">2025-01-10T18:14:17Z</dcterms:created>
  <dcterms:modified xsi:type="dcterms:W3CDTF">2026-03-06T15:47:23Z</dcterms:modified>
</cp:coreProperties>
</file>