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78" r:id="rId6"/>
    <p:sldId id="279" r:id="rId7"/>
    <p:sldId id="280" r:id="rId8"/>
    <p:sldId id="281" r:id="rId9"/>
    <p:sldId id="282" r:id="rId10"/>
    <p:sldId id="283" r:id="rId11"/>
    <p:sldId id="286" r:id="rId12"/>
    <p:sldId id="265" r:id="rId13"/>
    <p:sldId id="284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F9E0F-2E37-D02F-547A-10F255F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71617-3171-C0BB-7B2D-FFAD6F344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B137-18FE-FB7D-8BF6-535881D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E15A3-A9FB-E51A-6027-7A459C7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EB6A8-87B8-0FE2-8510-B477863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4B53C-26E4-4134-73B5-99607FF8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AA165-019D-8D97-5339-692E5EC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A2F-9947-C6DB-7193-A2165E6B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0C00C-8058-4459-BB83-F55E2DC1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232C3-9540-7A94-419A-AEFD82D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5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EECA-3AA7-4D32-7042-A8B54A6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5696CA-D73C-A1A6-BA95-E0D7B423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58304-32CA-3CA1-1FEA-B54A6997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470CC-025A-4FA6-3440-70494EFB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631FF-C52A-37B0-1CB5-4C47A82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B9E0-5F65-F95C-75A5-FFDFA572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07C85-FC85-A278-CBB6-F7BA37D3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9137E-6DA1-1130-C0F6-0EFAF2564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43844-8075-2FD4-1CCF-DE1ABECC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AC555-78FE-1B1B-7737-E79DCF3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F9F5C-5DFD-32D8-7DB2-B044BEA4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55C0-1415-85BE-1165-9C0C54F0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A1395-0A9F-B80E-E211-F1ACA832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D740BA-BF8A-108D-EACE-225C192F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84550-95A2-77DC-D665-43372944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31739-FB3E-B2CC-A0DB-6D8ED7CF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871342-3E4B-6DB6-2FF7-A0D5D2D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5E8FDE-7414-CF64-FF6E-FEC0CC2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08BCD7-8715-678B-A4B2-84F06478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D7687-04E9-D6B1-A4FF-1A9CFCF2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5849E-DE97-5A76-F782-8354D71D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C7457-F67A-3A13-2724-40313EE3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9BA60A-5909-F0B8-0EAE-8FAEA753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915CA-E095-FAA6-F2FB-AD27D9CF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3CBB2E-B003-4EBF-5D10-DD61FA6D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FD563-37EF-1088-2DAD-86E1CDA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6882-6B5B-134A-1A76-8B29181B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57575-A3C6-3476-6CBD-2E57BA6B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DF928-6051-AFCD-7EF8-FFFC297F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98E56-7530-3052-762D-51C64A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0D834-54DF-9448-9C2A-E3F16D77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5B2950-AC42-85DE-D11F-EED4223F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EFF3-A2EC-EED8-FEA5-1DFF3828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66923D-B92D-3492-502B-2AC57CC1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5D60C-0915-EA6A-7D7B-93EDA3F7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56C2D-73B1-4F36-1491-9038AEE4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C87A3-772E-817F-E0BD-CEB52B82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A8470E-36E1-7796-C269-F5FABC64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BD62-80B5-73AC-247B-557D541B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56E60C-69ED-36D4-E379-D90AA99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533B8-B990-570F-2FF9-F5CB4C8A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D7539-EC26-3063-B6AA-BDDD30A4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3976-546D-B209-4AE5-55B62C1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32FBA-D46B-9AD9-6A4A-CCC6716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765D1-3113-7EE5-5D68-7C261051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F1DF9-8FBB-EF60-5CB8-B832135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117F01-7DF1-4C58-D99D-DDCD275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79F5B-A745-4D30-0645-6FD930FF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587F12-B27F-FB1F-C6A6-F70AD312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B90C4-B84F-C1FB-760E-72D4EA32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3809E-B4B5-A1E4-417D-0E7C5321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F3F1-497C-47B9-A18E-83DECA3909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96595-A99A-7B3C-D00D-B8BF228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34B69-AF7A-9040-FD3E-70FCCA37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975F5-9759-D9DD-E21A-5B7FE4D54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XS-3010 Introducción a la demografía y bioestadística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5B192-1ED3-E270-42E8-2C7C1D9FD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Profesor</a:t>
            </a:r>
            <a:r>
              <a:rPr lang="en-US" dirty="0"/>
              <a:t> Gilbert </a:t>
            </a:r>
            <a:r>
              <a:rPr lang="en-US" dirty="0" err="1"/>
              <a:t>Brenes</a:t>
            </a:r>
            <a:r>
              <a:rPr lang="en-US" dirty="0"/>
              <a:t> Camacho, Grupo 01</a:t>
            </a:r>
          </a:p>
          <a:p>
            <a:endParaRPr lang="en-US" dirty="0"/>
          </a:p>
          <a:p>
            <a:endParaRPr lang="en-US" dirty="0"/>
          </a:p>
          <a:p>
            <a:r>
              <a:rPr lang="es-CR" dirty="0"/>
              <a:t>Tema 4. COMPONENTES DEL CAMBIO DEMOGRÁFICO.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7C-32F1-1ECC-95EB-A077866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Guía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D0468-056F-7E17-F512-4EFD0D5D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5026682"/>
          </a:xfrm>
        </p:spPr>
        <p:txBody>
          <a:bodyPr>
            <a:normAutofit/>
          </a:bodyPr>
          <a:lstStyle/>
          <a:p>
            <a:r>
              <a:rPr lang="es-CR" dirty="0"/>
              <a:t>Discusión sobre los componentes del cambio demográfico:</a:t>
            </a:r>
          </a:p>
          <a:p>
            <a:pPr lvl="1"/>
            <a:r>
              <a:rPr lang="es-CR" dirty="0"/>
              <a:t>Nacimientos, defunciones, inmigraciones y emigraciones</a:t>
            </a:r>
          </a:p>
          <a:p>
            <a:endParaRPr lang="es-CR" dirty="0"/>
          </a:p>
          <a:p>
            <a:r>
              <a:rPr lang="es-CR" dirty="0"/>
              <a:t>Ecuación compensadora</a:t>
            </a:r>
          </a:p>
          <a:p>
            <a:endParaRPr lang="es-CR" dirty="0"/>
          </a:p>
          <a:p>
            <a:r>
              <a:rPr lang="es-CR" dirty="0"/>
              <a:t>Interpolación y extrapolación:</a:t>
            </a:r>
          </a:p>
          <a:p>
            <a:pPr lvl="1"/>
            <a:r>
              <a:rPr lang="es-CR" dirty="0"/>
              <a:t>Modelos de crecimiento:</a:t>
            </a:r>
          </a:p>
          <a:p>
            <a:pPr lvl="2"/>
            <a:r>
              <a:rPr lang="es-CR" dirty="0"/>
              <a:t>Aritmético</a:t>
            </a:r>
          </a:p>
          <a:p>
            <a:pPr lvl="2"/>
            <a:r>
              <a:rPr lang="es-CR" dirty="0"/>
              <a:t>Geométrico</a:t>
            </a:r>
          </a:p>
          <a:p>
            <a:pPr lvl="2"/>
            <a:r>
              <a:rPr lang="es-CR" dirty="0"/>
              <a:t>Exponencial</a:t>
            </a:r>
          </a:p>
          <a:p>
            <a:pPr lvl="1"/>
            <a:r>
              <a:rPr lang="es-CR" dirty="0"/>
              <a:t>El modelo logístico no lineal en demografía</a:t>
            </a:r>
          </a:p>
        </p:txBody>
      </p:sp>
    </p:spTree>
    <p:extLst>
      <p:ext uri="{BB962C8B-B14F-4D97-AF65-F5344CB8AC3E}">
        <p14:creationId xmlns:p14="http://schemas.microsoft.com/office/powerpoint/2010/main" val="2883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F746-29AE-1097-D16D-27F7E153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F888-D33A-2737-EA61-9ECBDE46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Componentes del cambio demográfico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B1BE9-ED97-ACCA-103D-B9103B96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 lnSpcReduction="10000"/>
          </a:bodyPr>
          <a:lstStyle/>
          <a:p>
            <a:r>
              <a:rPr lang="es-CR" dirty="0"/>
              <a:t>Una buena parte del trabajo de un demógrafo es considerar y medir los componentes del cambio demográfico:</a:t>
            </a:r>
          </a:p>
          <a:p>
            <a:pPr lvl="1"/>
            <a:r>
              <a:rPr lang="es-CR" dirty="0"/>
              <a:t>Nacimientos, defunciones, inmigraciones y emigraciones.</a:t>
            </a:r>
          </a:p>
          <a:p>
            <a:r>
              <a:rPr lang="es-CR" dirty="0"/>
              <a:t>Generalmente se analizan:</a:t>
            </a:r>
          </a:p>
          <a:p>
            <a:pPr lvl="1"/>
            <a:r>
              <a:rPr lang="es-CR" dirty="0"/>
              <a:t>En términos absolutos:</a:t>
            </a:r>
          </a:p>
          <a:p>
            <a:pPr lvl="2"/>
            <a:r>
              <a:rPr lang="es-CR" dirty="0"/>
              <a:t>Natalidad, mortalidad, saldos netos migratorios=inmigraciones-emigraciones</a:t>
            </a:r>
          </a:p>
          <a:p>
            <a:pPr lvl="1"/>
            <a:r>
              <a:rPr lang="es-CR" dirty="0"/>
              <a:t>En términos relativos:</a:t>
            </a:r>
          </a:p>
          <a:p>
            <a:pPr lvl="2"/>
            <a:r>
              <a:rPr lang="es-CR" dirty="0"/>
              <a:t>Tasas de fecundidad, tasas de mortalidad, tasas netas de migración.</a:t>
            </a:r>
          </a:p>
          <a:p>
            <a:r>
              <a:rPr lang="es-CR" dirty="0"/>
              <a:t>En estudios de población se analizan las variables sociales y biológicas que determinan estos componentes</a:t>
            </a:r>
          </a:p>
          <a:p>
            <a:r>
              <a:rPr lang="es-CR" dirty="0"/>
              <a:t>En los trabajos de proyecciones, se calcula (proyecta, pronostica) cómo serán las tasas en el futuro para proyectar población.</a:t>
            </a:r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95757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D4E6E-FA53-3D72-C1BC-04F36CAE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Ecuación compensadora: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A1A153-C4B7-1A1F-BDA0-35A0370D8B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población total:	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s-E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s-E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𝑆𝑁𝑀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s-ES" dirty="0"/>
              </a:p>
              <a:p>
                <a:r>
                  <a:rPr lang="es-ES" dirty="0"/>
                  <a:t>Donde: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: Población</a:t>
                </a:r>
                <a:r>
                  <a:rPr lang="es-CR" dirty="0"/>
                  <a:t> en el momento </a:t>
                </a:r>
                <a:r>
                  <a:rPr lang="es-CR" dirty="0" err="1"/>
                  <a:t>t+k</a:t>
                </a:r>
                <a:endParaRPr lang="es-C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: Nacimientos entre los momentos t y </a:t>
                </a:r>
                <a:r>
                  <a:rPr lang="es-ES" dirty="0" err="1"/>
                  <a:t>t+k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: Defunciones entre los momentos t y </a:t>
                </a:r>
                <a:r>
                  <a:rPr lang="es-ES" dirty="0" err="1"/>
                  <a:t>t+k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 : Cantidad de inmigrantes entre los momentos t y </a:t>
                </a:r>
                <a:r>
                  <a:rPr lang="es-ES" dirty="0" err="1"/>
                  <a:t>t+k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 : Cantidad de emigrantes entre los momentos t y </a:t>
                </a:r>
                <a:r>
                  <a:rPr lang="es-ES" dirty="0" err="1"/>
                  <a:t>t+k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𝑆𝑁𝑀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" dirty="0"/>
                  <a:t> : Saldo neto migratorio entre los momentos t y </a:t>
                </a:r>
                <a:r>
                  <a:rPr lang="es-ES" dirty="0" err="1"/>
                  <a:t>t+k</a:t>
                </a:r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A1A153-C4B7-1A1F-BDA0-35A0370D8B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158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9474-F6BE-E9FC-1472-A109DC90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DB0D1-5E13-F558-749D-7E195145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Ecuación compensadora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A5FBC4-9C1B-7FC6-5CC3-E09E6C792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/>
          </a:bodyPr>
          <a:lstStyle/>
          <a:p>
            <a:r>
              <a:rPr lang="es-CR" dirty="0"/>
              <a:t>Es la base para una proyección si se conocen las magnitudes de todos los componentes</a:t>
            </a:r>
          </a:p>
          <a:p>
            <a:endParaRPr lang="es-CR" dirty="0"/>
          </a:p>
          <a:p>
            <a:r>
              <a:rPr lang="es-CR" dirty="0"/>
              <a:t>Permite también evaluar la calidad de la información de los distintos componentes.</a:t>
            </a:r>
          </a:p>
          <a:p>
            <a:pPr lvl="1"/>
            <a:r>
              <a:rPr lang="es-CR" dirty="0"/>
              <a:t>Por ejemplo, censos de población o registros vitales.</a:t>
            </a:r>
          </a:p>
          <a:p>
            <a:endParaRPr lang="es-CR" dirty="0"/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613435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CCCAC-4F42-6CC8-A0CC-C82D729C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57EA5-9B4F-EE8C-FAA6-6F39333A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Interpolación y extrapolación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30B2B2-81BE-DA25-27D6-A4B1C3BC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En </a:t>
            </a:r>
            <a:r>
              <a:rPr lang="es-ES" dirty="0" err="1"/>
              <a:t>demograf</a:t>
            </a:r>
            <a:r>
              <a:rPr lang="es-CR" dirty="0" err="1"/>
              <a:t>ía</a:t>
            </a:r>
            <a:r>
              <a:rPr lang="es-CR" dirty="0"/>
              <a:t>, así como en otras áreas (contabilidad, ecología, etc.), se usan modelos de crecimiento para interpolar y extrapolar:</a:t>
            </a:r>
          </a:p>
          <a:p>
            <a:pPr lvl="1"/>
            <a:r>
              <a:rPr lang="es-ES" dirty="0"/>
              <a:t>Interpolar: Estimar el tamaño de un indicador en un período intermedio entre t y </a:t>
            </a:r>
            <a:r>
              <a:rPr lang="es-ES" dirty="0" err="1"/>
              <a:t>t+k</a:t>
            </a:r>
            <a:r>
              <a:rPr lang="es-ES" dirty="0"/>
              <a:t> (por ejemplo, si se tiene que t=2000 y </a:t>
            </a:r>
            <a:r>
              <a:rPr lang="es-ES" dirty="0" err="1"/>
              <a:t>t+k</a:t>
            </a:r>
            <a:r>
              <a:rPr lang="es-ES" dirty="0"/>
              <a:t>=2020, se interpolaría cuando se estima la magnitud para un año como 2005.)</a:t>
            </a:r>
          </a:p>
          <a:p>
            <a:pPr lvl="1"/>
            <a:r>
              <a:rPr lang="es-ES" dirty="0"/>
              <a:t>Extrapolar: Estimar el tamaño de un indicador para un momento menor a t </a:t>
            </a:r>
            <a:r>
              <a:rPr lang="es-ES" dirty="0" err="1"/>
              <a:t>ó</a:t>
            </a:r>
            <a:r>
              <a:rPr lang="es-ES" dirty="0"/>
              <a:t> mayor a </a:t>
            </a:r>
            <a:r>
              <a:rPr lang="es-ES" dirty="0" err="1"/>
              <a:t>t+k</a:t>
            </a:r>
            <a:r>
              <a:rPr lang="es-ES" dirty="0"/>
              <a:t> (por ejemplo, si se tiene que t=2000 y </a:t>
            </a:r>
            <a:r>
              <a:rPr lang="es-ES" dirty="0" err="1"/>
              <a:t>t+k</a:t>
            </a:r>
            <a:r>
              <a:rPr lang="es-ES" dirty="0"/>
              <a:t>=2020, se extrapolaría cuando se estima la magnitud para un año como 1992 </a:t>
            </a:r>
            <a:r>
              <a:rPr lang="es-ES" dirty="0" err="1"/>
              <a:t>ó</a:t>
            </a:r>
            <a:r>
              <a:rPr lang="es-ES" dirty="0"/>
              <a:t> 2025).</a:t>
            </a:r>
          </a:p>
          <a:p>
            <a:r>
              <a:rPr lang="es-ES" dirty="0"/>
              <a:t>La extrapolación es la forma más sencilla de calcular una proyección de población.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2426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4D37-EA90-0912-A285-DA1138A3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F8506-5E52-6907-52C5-602D9518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Modelos de crecimiento: Notación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79B581-1D2D-954C-14B5-9D41FBF89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CR" dirty="0"/>
                  <a:t>Sea: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dirty="0"/>
                  <a:t>: Población en el momento 0: Población de origen o inicial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s-CR" dirty="0"/>
                  <a:t>: Población en el momento t: Población final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s-CR" dirty="0"/>
                  <a:t>: Población en el momento t’: Población interpolada o extrapolada</a:t>
                </a:r>
              </a:p>
              <a:p>
                <a:pPr lvl="1"/>
                <a:r>
                  <a:rPr lang="es-CR" dirty="0"/>
                  <a:t> t: Tiempo transcurrido entre el momento inicial y el final.</a:t>
                </a:r>
              </a:p>
              <a:p>
                <a:pPr lvl="1"/>
                <a:r>
                  <a:rPr lang="es-CR" dirty="0"/>
                  <a:t> t’ : Tiempo transcurrido entre el momento pivote y el momento de interpolación o extrapolación.</a:t>
                </a:r>
              </a:p>
              <a:p>
                <a:pPr lvl="1"/>
                <a:r>
                  <a:rPr lang="es-CR" dirty="0"/>
                  <a:t> r: Tasa de crecimiento</a:t>
                </a:r>
              </a:p>
              <a:p>
                <a:pPr lvl="1"/>
                <a:endParaRPr lang="es-CR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79B581-1D2D-954C-14B5-9D41FBF8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62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C8C4A-4074-78C0-C259-255D6F1A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40F45-8739-4146-845A-6777EA92D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868"/>
          </a:xfrm>
        </p:spPr>
        <p:txBody>
          <a:bodyPr>
            <a:normAutofit fontScale="90000"/>
          </a:bodyPr>
          <a:lstStyle/>
          <a:p>
            <a:r>
              <a:rPr lang="es-CR" dirty="0"/>
              <a:t>Modelos de crecimiento: Aritmético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EC2B4A-7705-166F-B651-8E9496B2E7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2772"/>
                <a:ext cx="10515600" cy="5200102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El modelo de crecimiento aritmético supone que en cada nuevo período el indicador aumenta en la misma magnitud absoluta (por ejemplo, en cada año, una población aumentaría en 300 mil personas).</a:t>
                </a:r>
              </a:p>
              <a:p>
                <a:r>
                  <a:rPr lang="es-CR" dirty="0"/>
                  <a:t>Cálculo de tasa </a:t>
                </a:r>
                <a:r>
                  <a:rPr lang="es-CR" dirty="0" err="1"/>
                  <a:t>r</a:t>
                </a:r>
                <a:r>
                  <a:rPr lang="es-CR" sz="1800" dirty="0" err="1"/>
                  <a:t>a</a:t>
                </a:r>
                <a:r>
                  <a:rPr lang="es-C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s-C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s-CR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s-CR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s-CR" dirty="0"/>
              </a:p>
              <a:p>
                <a:r>
                  <a:rPr lang="es-CR" dirty="0"/>
                  <a:t>Extrapolación o interpolación: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s-C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𝑝𝑖𝑣𝑜𝑡𝑒</m:t>
                        </m:r>
                      </m:sub>
                    </m:sSub>
                    <m:r>
                      <a:rPr lang="es-CR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s-CR" i="1">
                            <a:latin typeface="Cambria Math" panose="02040503050406030204" pitchFamily="18" charset="0"/>
                          </a:rPr>
                          <m:t>∗(</m:t>
                        </m:r>
                        <m:sSup>
                          <m:sSup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C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s-CR" dirty="0"/>
              </a:p>
              <a:p>
                <a:pPr lvl="1"/>
                <a:endParaRPr lang="es-CR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EC2B4A-7705-166F-B651-8E9496B2E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2772"/>
                <a:ext cx="10515600" cy="5200102"/>
              </a:xfrm>
              <a:blipFill>
                <a:blip r:embed="rId2"/>
                <a:stretch>
                  <a:fillRect l="-1043" t="-1993" r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86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07CE-8AD3-7269-A2B0-138CF896E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02E92-9BC6-3131-E1B9-B151FCFA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868"/>
          </a:xfrm>
        </p:spPr>
        <p:txBody>
          <a:bodyPr>
            <a:normAutofit fontScale="90000"/>
          </a:bodyPr>
          <a:lstStyle/>
          <a:p>
            <a:r>
              <a:rPr lang="es-CR" dirty="0"/>
              <a:t>Modelos de crecimiento: Geométrico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C483697-341F-C4D3-79C1-77B522402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2772"/>
                <a:ext cx="10515600" cy="5200102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El modelo de crecimiento geométrico supone que en cada nuevo período el indicador aumenta en la misma magnitud relativa (por ejemplo, en cada año, una población aumentaría en 2%).</a:t>
                </a:r>
              </a:p>
              <a:p>
                <a:r>
                  <a:rPr lang="es-CR" dirty="0"/>
                  <a:t>Cálculo de tasa </a:t>
                </a:r>
                <a:r>
                  <a:rPr lang="es-CR" dirty="0" err="1"/>
                  <a:t>r</a:t>
                </a:r>
                <a:r>
                  <a:rPr lang="es-CR" sz="1800" dirty="0" err="1"/>
                  <a:t>g</a:t>
                </a:r>
                <a:r>
                  <a:rPr lang="es-C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s-CR" dirty="0"/>
              </a:p>
              <a:p>
                <a:r>
                  <a:rPr lang="es-CR" dirty="0"/>
                  <a:t>Extrapolación o interpolación: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𝑝𝑖𝑣𝑜𝑡𝑒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</m:e>
                      <m:sup>
                        <m:d>
                          <m:d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endParaRPr lang="es-CR" dirty="0"/>
              </a:p>
              <a:p>
                <a:pPr lvl="1"/>
                <a:endParaRPr lang="es-CR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C483697-341F-C4D3-79C1-77B522402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2772"/>
                <a:ext cx="10515600" cy="5200102"/>
              </a:xfrm>
              <a:blipFill>
                <a:blip r:embed="rId2"/>
                <a:stretch>
                  <a:fillRect l="-1043" t="-1993" r="-5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661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CBB0-13FB-2EAD-9CAA-A8C24BF9A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F8885-0EC6-89BE-FBAD-D3DD9384C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868"/>
          </a:xfrm>
        </p:spPr>
        <p:txBody>
          <a:bodyPr>
            <a:normAutofit fontScale="90000"/>
          </a:bodyPr>
          <a:lstStyle/>
          <a:p>
            <a:r>
              <a:rPr lang="es-CR" dirty="0"/>
              <a:t>Modelos de crecimiento: Exponencial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1B8F618-CDCD-EDEE-E5B7-DEE1DFD0F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2772"/>
                <a:ext cx="10515600" cy="5200102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El modelo de crecimiento exponencial supone que en cada pequeño instante (que tiende a 0) el indicador aumenta en la misma magnitud relativa (por ejemplo, en 2%).</a:t>
                </a:r>
              </a:p>
              <a:p>
                <a:r>
                  <a:rPr lang="es-CR" dirty="0"/>
                  <a:t>Cálculo de tasa r</a:t>
                </a:r>
                <a:r>
                  <a:rPr lang="es-CR" sz="1800" dirty="0"/>
                  <a:t>e</a:t>
                </a:r>
                <a:r>
                  <a:rPr lang="es-C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s-C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s-CR" dirty="0"/>
              </a:p>
              <a:p>
                <a:r>
                  <a:rPr lang="es-CR" dirty="0"/>
                  <a:t>Extrapolación o interpolación: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s-C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𝑝𝑖𝑣𝑜𝑡𝑒</m:t>
                        </m:r>
                      </m:sub>
                    </m:sSub>
                    <m:r>
                      <a:rPr lang="es-C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s-CR" i="1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s-CR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𝑝𝑖𝑣𝑜𝑡𝑒</m:t>
                        </m:r>
                      </m:sub>
                    </m:sSub>
                    <m:r>
                      <a:rPr lang="es-CR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sup>
                    </m:sSup>
                  </m:oMath>
                </a14:m>
                <a:endParaRPr lang="es-CR" dirty="0"/>
              </a:p>
              <a:p>
                <a:pPr lvl="1"/>
                <a:endParaRPr lang="es-CR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1B8F618-CDCD-EDEE-E5B7-DEE1DFD0F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2772"/>
                <a:ext cx="10515600" cy="5200102"/>
              </a:xfrm>
              <a:blipFill>
                <a:blip r:embed="rId2"/>
                <a:stretch>
                  <a:fillRect l="-1043" t="-199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293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A712-600F-6CEF-90DB-4B1327D35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3185B-5BC2-A968-7EFD-543480F00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Ejemplo:</a:t>
            </a:r>
            <a:endParaRPr lang="en-U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DDCF653-1734-01A6-0108-768DAE494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906708"/>
              </p:ext>
            </p:extLst>
          </p:nvPr>
        </p:nvGraphicFramePr>
        <p:xfrm>
          <a:off x="838200" y="1825625"/>
          <a:ext cx="108755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0021">
                  <a:extLst>
                    <a:ext uri="{9D8B030D-6E8A-4147-A177-3AD203B41FA5}">
                      <a16:colId xmlns:a16="http://schemas.microsoft.com/office/drawing/2014/main" val="1885734342"/>
                    </a:ext>
                  </a:extLst>
                </a:gridCol>
                <a:gridCol w="3026979">
                  <a:extLst>
                    <a:ext uri="{9D8B030D-6E8A-4147-A177-3AD203B41FA5}">
                      <a16:colId xmlns:a16="http://schemas.microsoft.com/office/drawing/2014/main" val="403726225"/>
                    </a:ext>
                  </a:extLst>
                </a:gridCol>
                <a:gridCol w="4398579">
                  <a:extLst>
                    <a:ext uri="{9D8B030D-6E8A-4147-A177-3AD203B41FA5}">
                      <a16:colId xmlns:a16="http://schemas.microsoft.com/office/drawing/2014/main" val="262165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Población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Población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Notación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N</a:t>
                      </a:r>
                      <a:r>
                        <a:rPr lang="es-CR" sz="2000" dirty="0"/>
                        <a:t>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3000" dirty="0"/>
                        <a:t>3.050.000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12 agosto de 2005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758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N</a:t>
                      </a:r>
                      <a:r>
                        <a:rPr lang="es-CR" sz="2000" dirty="0"/>
                        <a:t>F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3000" dirty="0"/>
                        <a:t>3.130.000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30 junio de 2011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32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 err="1"/>
                        <a:t>N</a:t>
                      </a:r>
                      <a:r>
                        <a:rPr lang="es-CR" sz="2000" dirty="0" err="1"/>
                        <a:t>t</a:t>
                      </a:r>
                      <a:r>
                        <a:rPr lang="es-CR" sz="2000" dirty="0"/>
                        <a:t>’</a:t>
                      </a:r>
                      <a:r>
                        <a:rPr lang="es-CR" sz="3000" dirty="0"/>
                        <a:t>(1)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3000" dirty="0"/>
                        <a:t>?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1 de enero de 2012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127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 err="1"/>
                        <a:t>N</a:t>
                      </a:r>
                      <a:r>
                        <a:rPr lang="es-CR" sz="2000" dirty="0" err="1"/>
                        <a:t>t</a:t>
                      </a:r>
                      <a:r>
                        <a:rPr lang="es-CR" sz="2000" dirty="0"/>
                        <a:t>’</a:t>
                      </a:r>
                      <a:r>
                        <a:rPr lang="es-CR" sz="3000" dirty="0"/>
                        <a:t>(2)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3000" dirty="0"/>
                        <a:t>?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31 de diciembre de 2008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10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 t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3000" dirty="0"/>
                        <a:t>5,88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7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 t’(1)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3000" dirty="0"/>
                        <a:t>0,5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8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 t’(2)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3000" dirty="0"/>
                        <a:t>-2,50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269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70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6C28-1CE2-7756-601C-1421975F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1B863-9A86-2C04-C5EE-5E7FFB95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Modelo de crecimiento logístico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59A1E12-1CFD-E9A4-98FC-5B1FEBF76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CR" dirty="0"/>
                  <a:t>Es un modelo ampliamente usado en demografía y ecología.</a:t>
                </a:r>
              </a:p>
              <a:p>
                <a:r>
                  <a:rPr lang="es-CR" dirty="0"/>
                  <a:t>Es útil cuando se supone que hay una cota inferior y una cota superior en el tamaño de la población (o algún otro indicador).</a:t>
                </a:r>
              </a:p>
              <a:p>
                <a:r>
                  <a:rPr lang="es-CR" dirty="0"/>
                  <a:t>Se recomienda estimarlo con una regresión no lineal, por lo que se requieren varios puntos en el tiempo.</a:t>
                </a:r>
              </a:p>
              <a:p>
                <a:r>
                  <a:rPr lang="es-CR" dirty="0"/>
                  <a:t>Sea:</a:t>
                </a:r>
              </a:p>
              <a:p>
                <a:pPr lvl="1"/>
                <a:r>
                  <a:rPr lang="es-419" dirty="0" err="1"/>
                  <a:t>N</a:t>
                </a:r>
                <a:r>
                  <a:rPr lang="es-419" sz="1700" dirty="0" err="1"/>
                  <a:t>t</a:t>
                </a:r>
                <a:r>
                  <a:rPr lang="es-419" dirty="0"/>
                  <a:t>:  Tamaños de población</a:t>
                </a:r>
              </a:p>
              <a:p>
                <a:pPr lvl="1"/>
                <a:r>
                  <a:rPr lang="es-CR" dirty="0"/>
                  <a:t> t: Variable de tiempo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s-CR" dirty="0"/>
                  <a:t>: Cota inferior asintótica </a:t>
                </a:r>
                <a:endParaRPr lang="es-C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s-CR" dirty="0"/>
                  <a:t>: Cota superior asintótica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s-CR" dirty="0"/>
                  <a:t>: tiempo de inflexión</a:t>
                </a:r>
              </a:p>
              <a:p>
                <a:pPr lvl="1"/>
                <a:r>
                  <a:rPr lang="es-CR" dirty="0">
                    <a:sym typeface="Symbol" panose="05050102010706020507" pitchFamily="18" charset="2"/>
                  </a:rPr>
                  <a:t> :  Valor de escala</a:t>
                </a:r>
                <a:endParaRPr lang="es-C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s-CR" dirty="0"/>
                  <a:t>: Población en el momento t’: Población interpolada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59A1E12-1CFD-E9A4-98FC-5B1FEBF76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940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516C-E476-4AF6-0009-700A5728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67FC8-2BFF-8DA2-845B-E78D9BC5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/>
          <a:lstStyle/>
          <a:p>
            <a:r>
              <a:rPr lang="es-CR" dirty="0"/>
              <a:t>Modelo de crecimiento logístico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56739A7-F1F7-BA1C-95F7-86CEEC48E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9710"/>
                <a:ext cx="10515600" cy="494725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s-419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CR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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s-ES" dirty="0"/>
              </a:p>
              <a:p>
                <a:r>
                  <a:rPr lang="es-ES" dirty="0"/>
                  <a:t>En este caso, hay 4 parámetros por estimar: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es-C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s-C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es-CR" dirty="0"/>
              </a:p>
              <a:p>
                <a:pPr lvl="1"/>
                <a:r>
                  <a:rPr lang="es-ES" dirty="0">
                    <a:sym typeface="Symbol" panose="05050102010706020507" pitchFamily="18" charset="2"/>
                  </a:rPr>
                  <a:t></a:t>
                </a:r>
              </a:p>
              <a:p>
                <a:r>
                  <a:rPr lang="es-ES" dirty="0"/>
                  <a:t>Precisamente por eso se recomienda utilizar un modelo de regresión no lineal.</a:t>
                </a:r>
              </a:p>
              <a:p>
                <a:r>
                  <a:rPr lang="es-ES" dirty="0"/>
                  <a:t>Aún así, hay fórmulas para estimar los parámetros con tres puntos de referencia.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56739A7-F1F7-BA1C-95F7-86CEEC48E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9710"/>
                <a:ext cx="10515600" cy="4947253"/>
              </a:xfrm>
              <a:blipFill>
                <a:blip r:embed="rId2"/>
                <a:stretch>
                  <a:fillRect l="-1043" b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726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B683-CAC7-70FB-B2C8-4DEE714E1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D101F-A0B1-E6BC-E0CC-FD3718C5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s-CR" dirty="0"/>
              <a:t>Modelo de crecimiento logístico</a:t>
            </a:r>
            <a:endParaRPr lang="en-US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A04FF0E-0018-257B-205C-2C1CF5F88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85766"/>
              </p:ext>
            </p:extLst>
          </p:nvPr>
        </p:nvGraphicFramePr>
        <p:xfrm>
          <a:off x="345090" y="1690688"/>
          <a:ext cx="417961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115143908"/>
                    </a:ext>
                  </a:extLst>
                </a:gridCol>
                <a:gridCol w="1639613">
                  <a:extLst>
                    <a:ext uri="{9D8B030D-6E8A-4147-A177-3AD203B41FA5}">
                      <a16:colId xmlns:a16="http://schemas.microsoft.com/office/drawing/2014/main" val="1379245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Año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1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2002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1.995.000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51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2003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3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2.010.000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2005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2.060.000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73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2006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2.125.000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14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2008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2.175.000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61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2009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2.205.000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22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2.218.000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01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2.225.000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1498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CFACD56-A249-D422-EE98-2A58DB6A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539" y="1502650"/>
            <a:ext cx="6686550" cy="436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7968-815D-7A87-869C-913CC905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13952-7D08-30AE-200B-CA2338F4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/>
          <a:lstStyle/>
          <a:p>
            <a:r>
              <a:rPr lang="es-CR" dirty="0"/>
              <a:t>Modelo de crecimiento logístico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A60C03-FDBC-CDD7-42AF-7B77907F1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79" y="1747602"/>
            <a:ext cx="9711559" cy="451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44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CEE7-92FB-2F85-1930-E5E098BD7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086F6-294F-1EF9-53A1-14A64D53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/>
          <a:lstStyle/>
          <a:p>
            <a:r>
              <a:rPr lang="es-CR" dirty="0"/>
              <a:t>Modelo de crecimiento logístico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7ADF30B-BD74-92D6-6DEB-F437F8E1E5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49972"/>
                <a:ext cx="10515600" cy="442699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R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s-CR" b="0" i="0" smtClean="0">
                        <a:latin typeface="Cambria Math" panose="02040503050406030204" pitchFamily="18" charset="0"/>
                      </a:rPr>
                      <m:t>alculen</m:t>
                    </m:r>
                    <m:r>
                      <a:rPr lang="es-C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R" b="0" i="0" smtClean="0">
                        <a:latin typeface="Cambria Math" panose="02040503050406030204" pitchFamily="18" charset="0"/>
                      </a:rPr>
                      <m:t>las</m:t>
                    </m:r>
                    <m:r>
                      <a:rPr lang="es-C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R" b="0" i="0" smtClean="0">
                        <a:latin typeface="Cambria Math" panose="02040503050406030204" pitchFamily="18" charset="0"/>
                      </a:rPr>
                      <m:t>poblaciones</m:t>
                    </m:r>
                    <m:r>
                      <a:rPr lang="es-C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R" b="0" i="0" smtClean="0">
                        <a:latin typeface="Cambria Math" panose="02040503050406030204" pitchFamily="18" charset="0"/>
                      </a:rPr>
                      <m:t>proyectadas</m:t>
                    </m:r>
                    <m:r>
                      <a:rPr lang="es-C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R" b="0" i="0" smtClean="0">
                        <a:latin typeface="Cambria Math" panose="02040503050406030204" pitchFamily="18" charset="0"/>
                      </a:rPr>
                      <m:t>para</m:t>
                    </m:r>
                  </m:oMath>
                </a14:m>
                <a:r>
                  <a:rPr lang="es-ES" dirty="0"/>
                  <a:t> 2012 y 2013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7ADF30B-BD74-92D6-6DEB-F437F8E1E5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49972"/>
                <a:ext cx="10515600" cy="4426991"/>
              </a:xfrm>
              <a:blipFill>
                <a:blip r:embed="rId2"/>
                <a:stretch>
                  <a:fillRect t="-2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6048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952</Words>
  <Application>Microsoft Office PowerPoint</Application>
  <PresentationFormat>Panorámica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Symbol</vt:lpstr>
      <vt:lpstr>Tema de Office</vt:lpstr>
      <vt:lpstr>XS-3010 Introducción a la demografía y bioestadística 2025</vt:lpstr>
      <vt:lpstr>Guía</vt:lpstr>
      <vt:lpstr>Componentes del cambio demográfico</vt:lpstr>
      <vt:lpstr>Ecuación compensadora:</vt:lpstr>
      <vt:lpstr>Ecuación compensadora</vt:lpstr>
      <vt:lpstr>Interpolación y extrapolación</vt:lpstr>
      <vt:lpstr>Modelos de crecimiento: Notación</vt:lpstr>
      <vt:lpstr>Modelos de crecimiento: Aritmético</vt:lpstr>
      <vt:lpstr>Modelos de crecimiento: Geométrico</vt:lpstr>
      <vt:lpstr>Modelos de crecimiento: Exponencial</vt:lpstr>
      <vt:lpstr>Ejemplo:</vt:lpstr>
      <vt:lpstr>Modelo de crecimiento logístico</vt:lpstr>
      <vt:lpstr>Modelo de crecimiento logístico</vt:lpstr>
      <vt:lpstr>Modelo de crecimiento logístico</vt:lpstr>
      <vt:lpstr>Modelo de crecimiento logístico</vt:lpstr>
      <vt:lpstr>Modelo de crecimiento logístico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Brenes-Camacho</dc:creator>
  <cp:lastModifiedBy>ANDERSON DAVID MARTINEZ ABARCA</cp:lastModifiedBy>
  <cp:revision>28</cp:revision>
  <dcterms:created xsi:type="dcterms:W3CDTF">2025-01-10T18:14:17Z</dcterms:created>
  <dcterms:modified xsi:type="dcterms:W3CDTF">2026-04-07T17:30:20Z</dcterms:modified>
</cp:coreProperties>
</file>