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5" r:id="rId6"/>
    <p:sldId id="266" r:id="rId7"/>
    <p:sldId id="267" r:id="rId8"/>
    <p:sldId id="272" r:id="rId9"/>
    <p:sldId id="268" r:id="rId10"/>
    <p:sldId id="269" r:id="rId11"/>
    <p:sldId id="270" r:id="rId12"/>
    <p:sldId id="271" r:id="rId13"/>
    <p:sldId id="273" r:id="rId14"/>
    <p:sldId id="275" r:id="rId15"/>
    <p:sldId id="274" r:id="rId16"/>
    <p:sldId id="276" r:id="rId17"/>
    <p:sldId id="277" r:id="rId18"/>
    <p:sldId id="278" r:id="rId19"/>
    <p:sldId id="2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F9E0F-2E37-D02F-547A-10F255F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71617-3171-C0BB-7B2D-FFAD6F344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B137-18FE-FB7D-8BF6-535881D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E15A3-A9FB-E51A-6027-7A459C7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EB6A8-87B8-0FE2-8510-B477863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4B53C-26E4-4134-73B5-99607FF8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AA165-019D-8D97-5339-692E5EC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A2F-9947-C6DB-7193-A2165E6B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0C00C-8058-4459-BB83-F55E2DC1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232C3-9540-7A94-419A-AEFD82D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5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EECA-3AA7-4D32-7042-A8B54A6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5696CA-D73C-A1A6-BA95-E0D7B423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58304-32CA-3CA1-1FEA-B54A6997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470CC-025A-4FA6-3440-70494EFB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631FF-C52A-37B0-1CB5-4C47A82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B9E0-5F65-F95C-75A5-FFDFA572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07C85-FC85-A278-CBB6-F7BA37D3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9137E-6DA1-1130-C0F6-0EFAF2564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43844-8075-2FD4-1CCF-DE1ABECC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AC555-78FE-1B1B-7737-E79DCF3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F9F5C-5DFD-32D8-7DB2-B044BEA4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55C0-1415-85BE-1165-9C0C54F0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A1395-0A9F-B80E-E211-F1ACA832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D740BA-BF8A-108D-EACE-225C192F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84550-95A2-77DC-D665-43372944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31739-FB3E-B2CC-A0DB-6D8ED7CF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871342-3E4B-6DB6-2FF7-A0D5D2D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5E8FDE-7414-CF64-FF6E-FEC0CC2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08BCD7-8715-678B-A4B2-84F06478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D7687-04E9-D6B1-A4FF-1A9CFCF2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5849E-DE97-5A76-F782-8354D71D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C7457-F67A-3A13-2724-40313EE3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9BA60A-5909-F0B8-0EAE-8FAEA753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915CA-E095-FAA6-F2FB-AD27D9CF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3CBB2E-B003-4EBF-5D10-DD61FA6D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FD563-37EF-1088-2DAD-86E1CDA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6882-6B5B-134A-1A76-8B29181B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57575-A3C6-3476-6CBD-2E57BA6B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DF928-6051-AFCD-7EF8-FFFC297F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98E56-7530-3052-762D-51C64A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0D834-54DF-9448-9C2A-E3F16D77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5B2950-AC42-85DE-D11F-EED4223F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EFF3-A2EC-EED8-FEA5-1DFF3828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66923D-B92D-3492-502B-2AC57CC1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5D60C-0915-EA6A-7D7B-93EDA3F7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56C2D-73B1-4F36-1491-9038AEE4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C87A3-772E-817F-E0BD-CEB52B82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A8470E-36E1-7796-C269-F5FABC64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BD62-80B5-73AC-247B-557D541B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56E60C-69ED-36D4-E379-D90AA99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533B8-B990-570F-2FF9-F5CB4C8A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D7539-EC26-3063-B6AA-BDDD30A4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3976-546D-B209-4AE5-55B62C1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32FBA-D46B-9AD9-6A4A-CCC6716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765D1-3113-7EE5-5D68-7C261051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F1DF9-8FBB-EF60-5CB8-B832135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117F01-7DF1-4C58-D99D-DDCD275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79F5B-A745-4D30-0645-6FD930FF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587F12-B27F-FB1F-C6A6-F70AD312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B90C4-B84F-C1FB-760E-72D4EA32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3809E-B4B5-A1E4-417D-0E7C5321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96595-A99A-7B3C-D00D-B8BF228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34B69-AF7A-9040-FD3E-70FCCA37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975F5-9759-D9DD-E21A-5B7FE4D54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598299"/>
          </a:xfrm>
        </p:spPr>
        <p:txBody>
          <a:bodyPr>
            <a:normAutofit fontScale="90000"/>
          </a:bodyPr>
          <a:lstStyle/>
          <a:p>
            <a:r>
              <a:rPr lang="es-CR" dirty="0"/>
              <a:t>XS-3010 Introducción a la demografía y bioestadística</a:t>
            </a:r>
            <a:br>
              <a:rPr lang="en-US" dirty="0"/>
            </a:br>
            <a:r>
              <a:rPr lang="en-US" dirty="0"/>
              <a:t>2025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5B192-1ED3-E270-42E8-2C7C1D9FD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0662"/>
            <a:ext cx="9144000" cy="2404242"/>
          </a:xfrm>
        </p:spPr>
        <p:txBody>
          <a:bodyPr/>
          <a:lstStyle/>
          <a:p>
            <a:r>
              <a:rPr lang="en-US" dirty="0" err="1"/>
              <a:t>Profesor</a:t>
            </a:r>
            <a:r>
              <a:rPr lang="en-US" dirty="0"/>
              <a:t> Gilbert </a:t>
            </a:r>
            <a:r>
              <a:rPr lang="en-US" dirty="0" err="1"/>
              <a:t>Brenes</a:t>
            </a:r>
            <a:r>
              <a:rPr lang="en-US" dirty="0"/>
              <a:t> Camacho, Grupo 01</a:t>
            </a:r>
          </a:p>
          <a:p>
            <a:endParaRPr lang="en-US" dirty="0"/>
          </a:p>
          <a:p>
            <a:r>
              <a:rPr lang="en-US" dirty="0"/>
              <a:t>Tema 3.  </a:t>
            </a:r>
            <a:r>
              <a:rPr lang="en-US" dirty="0" err="1"/>
              <a:t>Medidas</a:t>
            </a:r>
            <a:r>
              <a:rPr lang="en-US" dirty="0"/>
              <a:t> </a:t>
            </a:r>
            <a:r>
              <a:rPr lang="en-US" dirty="0" err="1"/>
              <a:t>demográficas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7C-32F1-1ECC-95EB-A077866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Guía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D0468-056F-7E17-F512-4EFD0D5D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Medidas relativas, tasas y razones</a:t>
            </a:r>
          </a:p>
          <a:p>
            <a:r>
              <a:rPr lang="es-CR" dirty="0"/>
              <a:t>Prevalencia e incidencia</a:t>
            </a:r>
          </a:p>
          <a:p>
            <a:r>
              <a:rPr lang="es-CR" dirty="0"/>
              <a:t>Tasas brutas: </a:t>
            </a:r>
          </a:p>
          <a:p>
            <a:pPr lvl="1"/>
            <a:r>
              <a:rPr lang="es-CR" dirty="0"/>
              <a:t>Definición, cálculo, interpretación, </a:t>
            </a:r>
          </a:p>
          <a:p>
            <a:pPr lvl="1"/>
            <a:r>
              <a:rPr lang="es-CR" dirty="0"/>
              <a:t>Limitaciones</a:t>
            </a:r>
          </a:p>
          <a:p>
            <a:pPr lvl="1"/>
            <a:r>
              <a:rPr lang="es-CR" dirty="0"/>
              <a:t>Estandarización directa.</a:t>
            </a:r>
          </a:p>
          <a:p>
            <a:pPr lvl="1"/>
            <a:r>
              <a:rPr lang="es-CR" dirty="0"/>
              <a:t>Otros tipos de estandarización en ciencias de la salud.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D4E6E-FA53-3D72-C1BC-04F36CAE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Medidas absolutas y relativas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A1A153-C4B7-1A1F-BDA0-35A0370D8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s-ES" dirty="0"/>
              <a:t>En Demografía se usan tanto medidas absolutas y relativas</a:t>
            </a:r>
          </a:p>
          <a:p>
            <a:r>
              <a:rPr lang="es-ES" dirty="0"/>
              <a:t>Las medidas absolutas generalmente se refieren a números enteros que se refiere a tamaños:</a:t>
            </a:r>
          </a:p>
          <a:p>
            <a:pPr lvl="1"/>
            <a:r>
              <a:rPr lang="es-ES" dirty="0"/>
              <a:t>Tamaño de la población, número de nacimientos, “stock” de migrantes.</a:t>
            </a:r>
          </a:p>
          <a:p>
            <a:pPr lvl="1"/>
            <a:r>
              <a:rPr lang="es-ES" dirty="0"/>
              <a:t>Medias aritméticas, medianas y variancias también son medidas absolutas</a:t>
            </a:r>
          </a:p>
          <a:p>
            <a:r>
              <a:rPr lang="es-ES" dirty="0"/>
              <a:t>Las medidas relativas comparan una cifra con otra para efectos de comparación:</a:t>
            </a:r>
          </a:p>
          <a:p>
            <a:pPr lvl="1"/>
            <a:r>
              <a:rPr lang="es-ES" dirty="0"/>
              <a:t>Razones</a:t>
            </a:r>
          </a:p>
          <a:p>
            <a:pPr lvl="1"/>
            <a:r>
              <a:rPr lang="es-ES" dirty="0"/>
              <a:t>Tasas, </a:t>
            </a:r>
          </a:p>
          <a:p>
            <a:pPr lvl="1"/>
            <a:r>
              <a:rPr lang="es-ES" dirty="0"/>
              <a:t>Proporciones y probabilidades</a:t>
            </a:r>
          </a:p>
        </p:txBody>
      </p:sp>
    </p:spTree>
    <p:extLst>
      <p:ext uri="{BB962C8B-B14F-4D97-AF65-F5344CB8AC3E}">
        <p14:creationId xmlns:p14="http://schemas.microsoft.com/office/powerpoint/2010/main" val="182115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3F4F-B948-01B7-F19C-C4A4B6CA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9B652-B715-4E7D-F0E1-74611EF8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Cociente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A67F79-B22C-B85D-3770-A17DFEAF3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440"/>
            <a:ext cx="10515600" cy="4774433"/>
          </a:xfrm>
        </p:spPr>
        <p:txBody>
          <a:bodyPr>
            <a:normAutofit/>
          </a:bodyPr>
          <a:lstStyle/>
          <a:p>
            <a:r>
              <a:rPr lang="es-CR" dirty="0"/>
              <a:t>La definición de cociente es la más general de todas.</a:t>
            </a:r>
          </a:p>
          <a:p>
            <a:r>
              <a:rPr lang="es-CR" dirty="0"/>
              <a:t>Un cociente se define como la división entre dos cifras</a:t>
            </a:r>
          </a:p>
          <a:p>
            <a:r>
              <a:rPr lang="es-CR" dirty="0"/>
              <a:t>Todas las medidas relativas que se usan en estadística y demografía son cocientes.</a:t>
            </a:r>
          </a:p>
          <a:p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67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B7FD-5EF4-B7BC-5BF9-01CB2F9B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B7F14-B695-7FFE-5A91-19679F929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Razón o ratio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9AE813F-86CE-BB7C-422B-BE168E2CD5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 </a:t>
                </a:r>
                <a:r>
                  <a:rPr lang="en-US" dirty="0" err="1"/>
                  <a:t>razón</a:t>
                </a:r>
                <a:r>
                  <a:rPr lang="en-US" dirty="0"/>
                  <a:t> </a:t>
                </a:r>
                <a:r>
                  <a:rPr lang="en-US" dirty="0" err="1"/>
                  <a:t>relaciona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cantidad</a:t>
                </a:r>
                <a:r>
                  <a:rPr lang="en-US" dirty="0"/>
                  <a:t> con </a:t>
                </a:r>
                <a:r>
                  <a:rPr lang="en-US" dirty="0" err="1"/>
                  <a:t>respecto</a:t>
                </a:r>
                <a:r>
                  <a:rPr lang="en-US" dirty="0"/>
                  <a:t> de </a:t>
                </a:r>
                <a:r>
                  <a:rPr lang="en-US" dirty="0" err="1"/>
                  <a:t>otra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Se </a:t>
                </a:r>
                <a:r>
                  <a:rPr lang="en-US" dirty="0" err="1"/>
                  <a:t>usa</a:t>
                </a:r>
                <a:r>
                  <a:rPr lang="en-US" dirty="0"/>
                  <a:t> para </a:t>
                </a:r>
                <a:r>
                  <a:rPr lang="en-US" dirty="0" err="1"/>
                  <a:t>comparar</a:t>
                </a:r>
                <a:r>
                  <a:rPr lang="en-US" dirty="0"/>
                  <a:t> dos </a:t>
                </a:r>
                <a:r>
                  <a:rPr lang="en-US" dirty="0" err="1"/>
                  <a:t>subgrupos</a:t>
                </a:r>
                <a:r>
                  <a:rPr lang="en-US" dirty="0"/>
                  <a:t> o dos </a:t>
                </a:r>
                <a:r>
                  <a:rPr lang="en-US" dirty="0" err="1"/>
                  <a:t>cifras</a:t>
                </a:r>
                <a:r>
                  <a:rPr lang="en-US" dirty="0"/>
                  <a:t> </a:t>
                </a:r>
                <a:r>
                  <a:rPr lang="en-US" dirty="0" err="1"/>
                  <a:t>relacionadas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Ejemplos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Razón de </a:t>
                </a:r>
                <a:r>
                  <a:rPr lang="en-US" dirty="0" err="1"/>
                  <a:t>Masculinidad</a:t>
                </a:r>
                <a:r>
                  <a:rPr lang="en-US" dirty="0"/>
                  <a:t> o Razón de </a:t>
                </a:r>
                <a:r>
                  <a:rPr lang="en-US" dirty="0" err="1"/>
                  <a:t>Sexos</a:t>
                </a:r>
                <a:r>
                  <a:rPr lang="en-US" dirty="0"/>
                  <a:t>: Población </a:t>
                </a:r>
                <a:r>
                  <a:rPr lang="en-US" dirty="0" err="1"/>
                  <a:t>masculina</a:t>
                </a:r>
                <a:r>
                  <a:rPr lang="en-US" dirty="0"/>
                  <a:t> </a:t>
                </a:r>
                <a:r>
                  <a:rPr lang="en-US" dirty="0" err="1"/>
                  <a:t>dividida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la población </a:t>
                </a:r>
                <a:r>
                  <a:rPr lang="en-US" dirty="0" err="1"/>
                  <a:t>femenina</a:t>
                </a:r>
                <a:r>
                  <a:rPr lang="en-US" dirty="0"/>
                  <a:t> (</a:t>
                </a:r>
                <a:r>
                  <a:rPr lang="en-US" dirty="0" err="1"/>
                  <a:t>generalmente</a:t>
                </a:r>
                <a:r>
                  <a:rPr lang="en-US" dirty="0"/>
                  <a:t> </a:t>
                </a:r>
                <a:r>
                  <a:rPr lang="en-US" dirty="0" err="1"/>
                  <a:t>multiplicada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100).</a:t>
                </a:r>
              </a:p>
              <a:p>
                <a:pPr lvl="1"/>
                <a:endParaRPr lang="es-CR" sz="1800" b="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𝑅𝑎𝑧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𝑀𝑎𝑠𝑐𝑢𝑙𝑖𝑛𝑖𝑑𝑎𝑑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𝑀𝑎𝑠𝑐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𝐹𝑒𝑚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Se </a:t>
                </a:r>
                <a:r>
                  <a:rPr lang="en-US" dirty="0" err="1"/>
                  <a:t>interpreta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la </a:t>
                </a:r>
                <a:r>
                  <a:rPr lang="en-US" dirty="0" err="1"/>
                  <a:t>cantidad</a:t>
                </a:r>
                <a:r>
                  <a:rPr lang="en-US" dirty="0"/>
                  <a:t> de hombres que hay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población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cada</a:t>
                </a:r>
                <a:r>
                  <a:rPr lang="en-US" dirty="0"/>
                  <a:t> 100 </a:t>
                </a:r>
                <a:r>
                  <a:rPr lang="en-US" dirty="0" err="1"/>
                  <a:t>mujeres</a:t>
                </a:r>
                <a:r>
                  <a:rPr lang="en-US" dirty="0"/>
                  <a:t>.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9AE813F-86CE-BB7C-422B-BE168E2CD5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1043" t="-2299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92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AC79-775F-B6F5-0EF8-AB10A804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89676-1266-55E3-976D-66C00419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Tasa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A52CFB-25C1-10B7-CE36-FE6F1D615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El concepto de tasa en demografía y bioestadística se nutre de la terminología matemática de eventos físicos.</a:t>
                </a:r>
              </a:p>
              <a:p>
                <a:r>
                  <a:rPr lang="es-CR" dirty="0"/>
                  <a:t>Sea t una variable de tiempo y X una variable de cantidad, entonces: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𝑡𝑎𝑠𝑎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𝑎𝑏𝑠𝑜𝑙𝑢𝑡𝑎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CR" i="1">
                        <a:latin typeface="Cambria Math" panose="02040503050406030204" pitchFamily="18" charset="0"/>
                      </a:rPr>
                      <m:t>𝑡𝑎𝑠𝑎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𝑟𝑒𝑙𝑎𝑡𝑖𝑣𝑎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sSub>
                          <m:sSubPr>
                            <m:ctrlPr>
                              <a:rPr lang="es-C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CR" i="1">
                        <a:latin typeface="Cambria Math" panose="02040503050406030204" pitchFamily="18" charset="0"/>
                      </a:rPr>
                      <m:t>𝑡𝑎𝑠𝑎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𝑟𝑒𝑙𝑎𝑡𝑖𝑣𝑎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𝑑𝑒𝑚𝑜𝑔𝑟𝑎𝑓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í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s-C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CR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s-ES" dirty="0"/>
                  <a:t>=</a:t>
                </a:r>
                <a:r>
                  <a:rPr lang="es-C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sSub>
                          <m:sSub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s-C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C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R" b="0" i="1" smtClean="0">
                                        <a:latin typeface="Cambria Math" panose="02040503050406030204" pitchFamily="18" charset="0"/>
                                      </a:rPr>
                                      <m:t>−0</m:t>
                                    </m:r>
                                  </m:num>
                                  <m:den>
                                    <m:r>
                                      <a:rPr lang="es-C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r>
                          <a:rPr lang="es-CR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s-ES" dirty="0"/>
              </a:p>
              <a:p>
                <a:r>
                  <a:rPr lang="es-ES" dirty="0"/>
                  <a:t>En demografía y bioestadística, las tasas se refieren a cómo cambia una población durante un período de tiempo.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A52CFB-25C1-10B7-CE36-FE6F1D615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1043" t="-2299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94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61E5-6916-345D-A91E-3F7F82A2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AA9A7-4D31-C31F-86AF-EFEECDF5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Tasa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3FBEAB5-AA84-29FA-1CF0-BFEBC3706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18440"/>
                <a:ext cx="10872019" cy="4774433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La definición operativa de una tasa es:</a:t>
                </a:r>
              </a:p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𝑡𝑎𝑠𝑎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𝐶𝑎𝑛𝑡𝑖𝑑𝑎𝑑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𝑝𝑟𝑜𝑚𝑒𝑑𝑖𝑜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𝑒𝑣𝑒𝑛𝑡𝑜𝑠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𝑢𝑛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s-ES" dirty="0"/>
                  <a:t>Sin embargo, esta definición surge de que la mayoría de las tasas en demografía y bioestadística se dan por períodos anuales (un año) o quinquenales (5 años).</a:t>
                </a:r>
              </a:p>
              <a:p>
                <a:r>
                  <a:rPr lang="es-ES" dirty="0"/>
                  <a:t>Así, por ejemplo, si se hablara de una tasa para el período del 1 de julio del 2020 al 30 de junio de 2025, la tasa se calcularía como: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𝑡𝑎𝑠𝑎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1/07/20 – 30/06/25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𝐶𝑎𝑛𝑡𝑖𝑑𝑎𝑑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𝑒𝑣𝑒𝑛𝑡𝑜𝑠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𝑑𝑢𝑟𝑎𝑛𝑡𝑒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1/07/20 – 30/06/25</m:t>
                        </m:r>
                      </m:num>
                      <m:den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3FBEAB5-AA84-29FA-1CF0-BFEBC3706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18440"/>
                <a:ext cx="10872019" cy="4774433"/>
              </a:xfrm>
              <a:blipFill>
                <a:blip r:embed="rId2"/>
                <a:stretch>
                  <a:fillRect l="-953" t="-2299" r="-112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176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A485-05F2-F255-660D-67A54904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EEA04-CE51-D1D0-4054-FBBAE01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Tasa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6E297AD-32DD-5C0A-0530-25A5F26D1A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323" y="1718440"/>
                <a:ext cx="11193517" cy="477443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CR" dirty="0"/>
                  <a:t>No obstante, la mejor definición de tasa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𝑡𝑎𝑠𝑎</m:t>
                        </m:r>
                      </m:e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𝐶𝑎𝑛𝑡𝑖𝑑𝑎𝑑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𝑝𝑟𝑜𝑚𝑒𝑑𝑖𝑜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𝑒𝑣𝑒𝑛𝑡𝑜𝑠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𝑢𝑛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𝑒𝑥𝑝𝑢𝑒𝑠𝑡𝑎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𝑟𝑖𝑒𝑠𝑔𝑜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𝑑𝑢𝑟𝑎𝑛𝑡𝑒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𝑀𝑢𝑙𝑡𝑖𝑝</m:t>
                    </m:r>
                  </m:oMath>
                </a14:m>
                <a:endParaRPr lang="en-US" dirty="0"/>
              </a:p>
              <a:p>
                <a:r>
                  <a:rPr lang="es-ES" dirty="0"/>
                  <a:t>La población expuesta al riesgo es la cantidad de personas a las que les puede ocurrir el evento durante el período en cuestión.</a:t>
                </a:r>
              </a:p>
              <a:p>
                <a:r>
                  <a:rPr lang="es-ES" dirty="0"/>
                  <a:t>Por ejemplo, si hay dos personas: Una está viva durante todo el período t y otra se muere justo a la mitad del período, entonces la primera persona aporta 1 año-persona mientras que la otra aporta 0.5 año persona al denominador. </a:t>
                </a:r>
              </a:p>
              <a:p>
                <a:r>
                  <a:rPr lang="es-ES" dirty="0"/>
                  <a:t>Así, por ejemplo, la tasa para el período del 1 de julio del 2020 al 30 de junio de 2025, la tasa se calcularía como: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𝑡𝑎𝑠𝑎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1/07/20 – 30/06/25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𝐶𝑎𝑛𝑡𝑖𝑑𝑎𝑑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𝑒𝑣𝑒𝑛𝑡𝑜𝑠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𝑑𝑢𝑟𝑎𝑛𝑡𝑒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1/07/20 – 30/06/25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𝑆𝑢𝑚𝑎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𝑙𝑜𝑠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ñ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𝑜𝑠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𝑝𝑒𝑟𝑠𝑜𝑛𝑎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𝑑𝑢𝑟𝑎𝑛𝑡𝑒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1/07/20 – 30/06/25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𝑚𝑢𝑙𝑡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6E297AD-32DD-5C0A-0530-25A5F26D1A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323" y="1718440"/>
                <a:ext cx="11193517" cy="4774433"/>
              </a:xfrm>
              <a:blipFill>
                <a:blip r:embed="rId2"/>
                <a:stretch>
                  <a:fillRect l="-871" t="-2554" r="-926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62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EB25C-3300-EE9B-A15F-893EB55F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74CD9-BC2C-2D0E-1ADC-C3EF9FB0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Proporciones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A910895-C9C8-C0F4-58D0-D72071360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Es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cociente</a:t>
                </a:r>
                <a:r>
                  <a:rPr lang="en-US" dirty="0"/>
                  <a:t> de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cifra</a:t>
                </a:r>
                <a:r>
                  <a:rPr lang="en-US" dirty="0"/>
                  <a:t> que </a:t>
                </a:r>
                <a:r>
                  <a:rPr lang="en-US" dirty="0" err="1"/>
                  <a:t>representa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número</a:t>
                </a:r>
                <a:r>
                  <a:rPr lang="en-US" dirty="0"/>
                  <a:t> de </a:t>
                </a:r>
                <a:r>
                  <a:rPr lang="en-US" dirty="0" err="1"/>
                  <a:t>casos</a:t>
                </a:r>
                <a:r>
                  <a:rPr lang="en-US" dirty="0"/>
                  <a:t> de un </a:t>
                </a:r>
                <a:r>
                  <a:rPr lang="en-US" dirty="0" err="1"/>
                  <a:t>subgrupo</a:t>
                </a:r>
                <a:r>
                  <a:rPr lang="en-US" dirty="0"/>
                  <a:t>, </a:t>
                </a:r>
                <a:r>
                  <a:rPr lang="en-US" dirty="0" err="1"/>
                  <a:t>dividido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total de </a:t>
                </a:r>
                <a:r>
                  <a:rPr lang="en-US" dirty="0" err="1"/>
                  <a:t>casos</a:t>
                </a:r>
                <a:r>
                  <a:rPr lang="en-US" dirty="0"/>
                  <a:t> de </a:t>
                </a:r>
                <a:r>
                  <a:rPr lang="en-US" dirty="0" err="1"/>
                  <a:t>todo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grupo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Directamente</a:t>
                </a:r>
                <a:r>
                  <a:rPr lang="en-US" dirty="0"/>
                  <a:t> es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cifra</a:t>
                </a:r>
                <a:r>
                  <a:rPr lang="en-US" dirty="0"/>
                  <a:t> entre 0 y 1, </a:t>
                </a:r>
                <a:r>
                  <a:rPr lang="en-US" dirty="0" err="1"/>
                  <a:t>pero</a:t>
                </a:r>
                <a:r>
                  <a:rPr lang="en-US" dirty="0"/>
                  <a:t> </a:t>
                </a:r>
                <a:r>
                  <a:rPr lang="en-US" dirty="0" err="1"/>
                  <a:t>generalmente</a:t>
                </a:r>
                <a:r>
                  <a:rPr lang="en-US" dirty="0"/>
                  <a:t> se </a:t>
                </a:r>
                <a:r>
                  <a:rPr lang="en-US" dirty="0" err="1"/>
                  <a:t>multiplica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100, y se </a:t>
                </a:r>
                <a:r>
                  <a:rPr lang="en-US" dirty="0" err="1"/>
                  <a:t>interpreta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un </a:t>
                </a:r>
                <a:r>
                  <a:rPr lang="en-US" dirty="0" err="1"/>
                  <a:t>porcentaje</a:t>
                </a:r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𝑃𝑟𝑜𝑝𝑜𝑟𝑐𝑖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𝑒𝑛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𝑝𝑜𝑟𝑐𝑒𝑛𝑡𝑎𝑗𝑒𝑠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𝑠𝑢𝑏𝑔𝑟𝑢𝑝𝑜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Ejemplos:</a:t>
                </a:r>
              </a:p>
              <a:p>
                <a:pPr lvl="1"/>
                <a:r>
                  <a:rPr lang="en-US" dirty="0" err="1"/>
                  <a:t>Proporción</a:t>
                </a:r>
                <a:r>
                  <a:rPr lang="en-US" dirty="0"/>
                  <a:t> (o </a:t>
                </a:r>
                <a:r>
                  <a:rPr lang="en-US" dirty="0" err="1"/>
                  <a:t>porcentaje</a:t>
                </a:r>
                <a:r>
                  <a:rPr lang="en-US" dirty="0"/>
                  <a:t>) de hombres </a:t>
                </a:r>
                <a:r>
                  <a:rPr lang="en-US" dirty="0" err="1"/>
                  <a:t>en</a:t>
                </a:r>
                <a:r>
                  <a:rPr lang="en-US" dirty="0"/>
                  <a:t> la población.</a:t>
                </a:r>
              </a:p>
              <a:p>
                <a:pPr lvl="1"/>
                <a:endParaRPr lang="es-CR" sz="1800" b="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𝑃𝑜𝑟𝑐𝑒𝑛𝑡𝑎𝑗𝑒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h𝑜𝑚𝑏𝑟𝑒𝑠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𝑀𝑎𝑠𝑐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es-CR" i="1" smtClean="0"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Se </a:t>
                </a:r>
                <a:r>
                  <a:rPr lang="en-US" dirty="0" err="1"/>
                  <a:t>interpreta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la </a:t>
                </a:r>
                <a:r>
                  <a:rPr lang="en-US" dirty="0" err="1"/>
                  <a:t>cantidad</a:t>
                </a:r>
                <a:r>
                  <a:rPr lang="en-US" dirty="0"/>
                  <a:t> de hombres que hay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población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cada</a:t>
                </a:r>
                <a:r>
                  <a:rPr lang="en-US" dirty="0"/>
                  <a:t> 100 personas.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A910895-C9C8-C0F4-58D0-D72071360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928" t="-2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40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186A-EB03-461F-404C-C3C8D370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E1B71-7157-8F22-E6FD-7E98D77A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Probabilidades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C6C382-F248-5C7C-21D7-4DB8CBFCD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En la Carrera de </a:t>
                </a:r>
                <a:r>
                  <a:rPr lang="en-US" dirty="0" err="1"/>
                  <a:t>estadística</a:t>
                </a:r>
                <a:r>
                  <a:rPr lang="en-US" dirty="0"/>
                  <a:t> se </a:t>
                </a:r>
                <a:r>
                  <a:rPr lang="en-US" dirty="0" err="1"/>
                  <a:t>usa</a:t>
                </a:r>
                <a:r>
                  <a:rPr lang="en-US" dirty="0"/>
                  <a:t> la </a:t>
                </a:r>
                <a:r>
                  <a:rPr lang="en-US" dirty="0" err="1"/>
                  <a:t>definición</a:t>
                </a:r>
                <a:r>
                  <a:rPr lang="en-US" dirty="0"/>
                  <a:t> </a:t>
                </a:r>
                <a:r>
                  <a:rPr lang="en-US" dirty="0" err="1"/>
                  <a:t>clásica</a:t>
                </a:r>
                <a:r>
                  <a:rPr lang="en-US" dirty="0"/>
                  <a:t> de la </a:t>
                </a:r>
                <a:r>
                  <a:rPr lang="en-US" dirty="0" err="1"/>
                  <a:t>probabilidad</a:t>
                </a:r>
                <a:r>
                  <a:rPr lang="en-US" dirty="0"/>
                  <a:t>: La </a:t>
                </a:r>
                <a:r>
                  <a:rPr lang="en-US" dirty="0" err="1"/>
                  <a:t>cantidad</a:t>
                </a:r>
                <a:r>
                  <a:rPr lang="en-US" dirty="0"/>
                  <a:t> de </a:t>
                </a:r>
                <a:r>
                  <a:rPr lang="en-US" dirty="0" err="1"/>
                  <a:t>eventos</a:t>
                </a:r>
                <a:r>
                  <a:rPr lang="en-US" dirty="0"/>
                  <a:t> “</a:t>
                </a:r>
                <a:r>
                  <a:rPr lang="en-US" dirty="0" err="1"/>
                  <a:t>exitosos</a:t>
                </a:r>
                <a:r>
                  <a:rPr lang="en-US" dirty="0"/>
                  <a:t>” entre </a:t>
                </a:r>
                <a:r>
                  <a:rPr lang="en-US" dirty="0" err="1"/>
                  <a:t>el</a:t>
                </a:r>
                <a:r>
                  <a:rPr lang="en-US" dirty="0"/>
                  <a:t> total de </a:t>
                </a:r>
                <a:r>
                  <a:rPr lang="en-US" dirty="0" err="1"/>
                  <a:t>eventos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espacio</a:t>
                </a:r>
                <a:r>
                  <a:rPr lang="en-US" dirty="0"/>
                  <a:t> </a:t>
                </a:r>
                <a:r>
                  <a:rPr lang="en-US" dirty="0" err="1"/>
                  <a:t>muestral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Una </a:t>
                </a:r>
                <a:r>
                  <a:rPr lang="en-US" dirty="0" err="1"/>
                  <a:t>probabilidad</a:t>
                </a:r>
                <a:r>
                  <a:rPr lang="en-US" dirty="0"/>
                  <a:t> se </a:t>
                </a:r>
                <a:r>
                  <a:rPr lang="en-US" dirty="0" err="1"/>
                  <a:t>puede</a:t>
                </a:r>
                <a:r>
                  <a:rPr lang="en-US" dirty="0"/>
                  <a:t> </a:t>
                </a:r>
                <a:r>
                  <a:rPr lang="en-US" dirty="0" err="1"/>
                  <a:t>comprender</a:t>
                </a:r>
                <a:r>
                  <a:rPr lang="en-US" dirty="0"/>
                  <a:t> </a:t>
                </a:r>
                <a:r>
                  <a:rPr lang="en-US" dirty="0" err="1"/>
                  <a:t>entonces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proporción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En </a:t>
                </a:r>
                <a:r>
                  <a:rPr lang="en-US" dirty="0" err="1"/>
                  <a:t>demografía</a:t>
                </a:r>
                <a:r>
                  <a:rPr lang="en-US" dirty="0"/>
                  <a:t> y </a:t>
                </a:r>
                <a:r>
                  <a:rPr lang="en-US" dirty="0" err="1"/>
                  <a:t>bioestadística</a:t>
                </a:r>
                <a:r>
                  <a:rPr lang="en-US" dirty="0"/>
                  <a:t> se </a:t>
                </a:r>
                <a:r>
                  <a:rPr lang="en-US" dirty="0" err="1"/>
                  <a:t>emplea</a:t>
                </a:r>
                <a:r>
                  <a:rPr lang="en-US" dirty="0"/>
                  <a:t> </a:t>
                </a:r>
                <a:r>
                  <a:rPr lang="en-US" dirty="0" err="1"/>
                  <a:t>sobre</a:t>
                </a:r>
                <a:r>
                  <a:rPr lang="en-US" dirty="0"/>
                  <a:t> </a:t>
                </a:r>
                <a:r>
                  <a:rPr lang="en-US" dirty="0" err="1"/>
                  <a:t>todo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tablas</a:t>
                </a:r>
                <a:r>
                  <a:rPr lang="en-US" dirty="0"/>
                  <a:t> de </a:t>
                </a:r>
                <a:r>
                  <a:rPr lang="en-US" dirty="0" err="1"/>
                  <a:t>vida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Ejemplos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 err="1"/>
                  <a:t>Probabilidad</a:t>
                </a:r>
                <a:r>
                  <a:rPr lang="en-US" dirty="0"/>
                  <a:t> de </a:t>
                </a:r>
                <a:r>
                  <a:rPr lang="en-US" dirty="0" err="1"/>
                  <a:t>muerte</a:t>
                </a:r>
                <a:r>
                  <a:rPr lang="en-US" dirty="0"/>
                  <a:t> a la </a:t>
                </a:r>
                <a:r>
                  <a:rPr lang="en-US" dirty="0" err="1"/>
                  <a:t>edad</a:t>
                </a:r>
                <a:r>
                  <a:rPr lang="en-US" dirty="0"/>
                  <a:t> 0 q</a:t>
                </a:r>
                <a:r>
                  <a:rPr lang="en-US" sz="1500" dirty="0"/>
                  <a:t>0</a:t>
                </a:r>
                <a:r>
                  <a:rPr lang="en-US" dirty="0"/>
                  <a:t>:</a:t>
                </a:r>
              </a:p>
              <a:p>
                <a:pPr lvl="1"/>
                <a:endParaRPr lang="es-CR" sz="1800" b="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𝑐𝑜h𝑜𝑟𝑡𝑒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sup>
                    </m:sSubSup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</a:rPr>
                              <m:t>𝑐𝑜h𝑜𝑟𝑡𝑒</m:t>
                            </m:r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b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𝑐𝑜h𝑜𝑟𝑡𝑒</m:t>
                            </m:r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sup>
                        </m:sSup>
                      </m:den>
                    </m:f>
                    <m:r>
                      <a:rPr lang="es-CR" b="0" i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𝐷𝑒𝑓𝑢𝑛𝑐𝑖𝑜𝑛𝑒𝑠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𝑎𝑛𝑡𝑒𝑠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𝑐𝑢𝑚𝑝𝑙𝑖𝑟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1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ñ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𝑐𝑜h𝑜𝑟𝑡𝑒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𝑛𝑎𝑐𝑖𝑑𝑎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ñ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𝑁𝑎𝑐𝑖𝑚𝑖𝑒𝑛𝑡𝑜𝑠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𝑐𝑜h𝑜𝑟𝑡𝑒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𝑛𝑎𝑐𝑖𝑑𝑎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ñ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C6C382-F248-5C7C-21D7-4DB8CBFCD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928" t="-1916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297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7277-6BA8-B14A-B349-EDC6949D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397DA-A36B-7C8D-45FF-6F811119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Casos especiales: Prevalencia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E8D32-A04A-F0BF-84D8-25FE45DA0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440"/>
            <a:ext cx="10515600" cy="4774433"/>
          </a:xfrm>
        </p:spPr>
        <p:txBody>
          <a:bodyPr>
            <a:normAutofit/>
          </a:bodyPr>
          <a:lstStyle/>
          <a:p>
            <a:r>
              <a:rPr lang="en-US" dirty="0"/>
              <a:t>La </a:t>
            </a:r>
            <a:r>
              <a:rPr lang="en-US" dirty="0" err="1"/>
              <a:t>prevalencia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estado</a:t>
            </a:r>
            <a:r>
              <a:rPr lang="en-US" dirty="0"/>
              <a:t> o “stock”.</a:t>
            </a:r>
          </a:p>
          <a:p>
            <a:r>
              <a:rPr lang="en-US" dirty="0"/>
              <a:t>Se </a:t>
            </a:r>
            <a:r>
              <a:rPr lang="en-US" dirty="0" err="1"/>
              <a:t>refiere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característica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momento</a:t>
            </a:r>
            <a:r>
              <a:rPr lang="en-US" dirty="0"/>
              <a:t> dado.</a:t>
            </a:r>
          </a:p>
          <a:p>
            <a:r>
              <a:rPr lang="en-US" dirty="0"/>
              <a:t>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frecuentemente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epidemiología</a:t>
            </a:r>
            <a:r>
              <a:rPr lang="en-US" dirty="0"/>
              <a:t> para </a:t>
            </a:r>
            <a:r>
              <a:rPr lang="en-US" dirty="0" err="1"/>
              <a:t>referirse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(</a:t>
            </a:r>
            <a:r>
              <a:rPr lang="en-US" dirty="0" err="1"/>
              <a:t>prevalencia</a:t>
            </a:r>
            <a:r>
              <a:rPr lang="en-US" dirty="0"/>
              <a:t> de personas con diabetes mellitus) o con un factor de </a:t>
            </a:r>
            <a:r>
              <a:rPr lang="en-US" dirty="0" err="1"/>
              <a:t>riesgoa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(</a:t>
            </a:r>
            <a:r>
              <a:rPr lang="en-US" dirty="0" err="1"/>
              <a:t>prevalencia</a:t>
            </a:r>
            <a:r>
              <a:rPr lang="en-US" dirty="0"/>
              <a:t> de personas con </a:t>
            </a:r>
            <a:r>
              <a:rPr lang="en-US" dirty="0" err="1"/>
              <a:t>obesidad</a:t>
            </a:r>
            <a:r>
              <a:rPr lang="en-US" dirty="0"/>
              <a:t> que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condición</a:t>
            </a:r>
            <a:r>
              <a:rPr lang="en-US" dirty="0"/>
              <a:t> que </a:t>
            </a:r>
            <a:r>
              <a:rPr lang="en-US" dirty="0" err="1"/>
              <a:t>aumenta</a:t>
            </a:r>
            <a:r>
              <a:rPr lang="en-US" dirty="0"/>
              <a:t> la </a:t>
            </a:r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desarrollar</a:t>
            </a:r>
            <a:r>
              <a:rPr lang="en-US" dirty="0"/>
              <a:t> </a:t>
            </a:r>
            <a:r>
              <a:rPr lang="en-US" dirty="0" err="1"/>
              <a:t>enfermedades</a:t>
            </a:r>
            <a:r>
              <a:rPr lang="en-US" dirty="0"/>
              <a:t>).</a:t>
            </a:r>
          </a:p>
          <a:p>
            <a:r>
              <a:rPr lang="en-US" dirty="0"/>
              <a:t>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proporción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0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07A1-1160-CCAB-D057-7F8B2DA8A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C257F-71F0-FABE-4328-1BE08384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Casos especiales: Incidencia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F6B606-CDF8-07F6-EBA2-DC61354E0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440"/>
            <a:ext cx="10515600" cy="47744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 </a:t>
            </a:r>
            <a:r>
              <a:rPr lang="en-US" dirty="0" err="1"/>
              <a:t>incidencia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cambio</a:t>
            </a:r>
            <a:r>
              <a:rPr lang="en-US" dirty="0"/>
              <a:t>, </a:t>
            </a:r>
            <a:r>
              <a:rPr lang="en-US" dirty="0" err="1"/>
              <a:t>transición</a:t>
            </a:r>
            <a:r>
              <a:rPr lang="en-US" dirty="0"/>
              <a:t> o </a:t>
            </a:r>
            <a:r>
              <a:rPr lang="en-US" dirty="0" err="1"/>
              <a:t>movimiento</a:t>
            </a:r>
            <a:r>
              <a:rPr lang="en-US" dirty="0"/>
              <a:t>. </a:t>
            </a:r>
          </a:p>
          <a:p>
            <a:r>
              <a:rPr lang="en-US" dirty="0"/>
              <a:t>Se </a:t>
            </a:r>
            <a:r>
              <a:rPr lang="en-US" dirty="0" err="1"/>
              <a:t>refiere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</a:t>
            </a:r>
            <a:r>
              <a:rPr lang="en-US" dirty="0" err="1"/>
              <a:t>nueva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que </a:t>
            </a:r>
            <a:r>
              <a:rPr lang="en-US" dirty="0" err="1"/>
              <a:t>desarrolló</a:t>
            </a:r>
            <a:r>
              <a:rPr lang="en-US" dirty="0"/>
              <a:t> o </a:t>
            </a:r>
            <a:r>
              <a:rPr lang="en-US" dirty="0" err="1"/>
              <a:t>adquirió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característica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período</a:t>
            </a:r>
            <a:r>
              <a:rPr lang="en-US" dirty="0"/>
              <a:t> de </a:t>
            </a:r>
            <a:r>
              <a:rPr lang="en-US" dirty="0" err="1"/>
              <a:t>tiempo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frecuentemente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epidemiología</a:t>
            </a:r>
            <a:r>
              <a:rPr lang="en-US" dirty="0"/>
              <a:t> para </a:t>
            </a:r>
            <a:r>
              <a:rPr lang="en-US" dirty="0" err="1"/>
              <a:t>referirse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que </a:t>
            </a:r>
            <a:r>
              <a:rPr lang="en-US" dirty="0" err="1"/>
              <a:t>desarrollaron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condición</a:t>
            </a:r>
            <a:r>
              <a:rPr lang="en-US" dirty="0"/>
              <a:t> de </a:t>
            </a:r>
            <a:r>
              <a:rPr lang="en-US" dirty="0" err="1"/>
              <a:t>riesgo</a:t>
            </a:r>
            <a:r>
              <a:rPr lang="en-US" dirty="0"/>
              <a:t> de un </a:t>
            </a:r>
            <a:r>
              <a:rPr lang="en-US" dirty="0" err="1"/>
              <a:t>año</a:t>
            </a:r>
            <a:r>
              <a:rPr lang="en-US" dirty="0"/>
              <a:t> a </a:t>
            </a:r>
            <a:r>
              <a:rPr lang="en-US" dirty="0" err="1"/>
              <a:t>otro</a:t>
            </a:r>
            <a:r>
              <a:rPr lang="en-US" dirty="0"/>
              <a:t>. </a:t>
            </a:r>
          </a:p>
          <a:p>
            <a:r>
              <a:rPr lang="en-US" dirty="0"/>
              <a:t>Se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generalmente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tasa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</a:t>
            </a:r>
            <a:r>
              <a:rPr lang="en-US" dirty="0" err="1"/>
              <a:t>estadísticamente</a:t>
            </a:r>
            <a:r>
              <a:rPr lang="en-US" dirty="0"/>
              <a:t> también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presentar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probabilidad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modela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regresión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</a:t>
            </a:r>
            <a:r>
              <a:rPr lang="en-US" dirty="0"/>
              <a:t>.)</a:t>
            </a:r>
          </a:p>
          <a:p>
            <a:r>
              <a:rPr lang="en-US" dirty="0"/>
              <a:t>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denominador</a:t>
            </a:r>
            <a:r>
              <a:rPr lang="en-US" dirty="0"/>
              <a:t> de la </a:t>
            </a:r>
            <a:r>
              <a:rPr lang="en-US" dirty="0" err="1"/>
              <a:t>tasa</a:t>
            </a:r>
            <a:r>
              <a:rPr lang="en-US" dirty="0"/>
              <a:t> o </a:t>
            </a:r>
            <a:r>
              <a:rPr lang="en-US" dirty="0" err="1"/>
              <a:t>probabilidad</a:t>
            </a:r>
            <a:r>
              <a:rPr lang="en-US" dirty="0"/>
              <a:t> se </a:t>
            </a:r>
            <a:r>
              <a:rPr lang="en-US" dirty="0" err="1"/>
              <a:t>tiene</a:t>
            </a:r>
            <a:r>
              <a:rPr lang="en-US" dirty="0"/>
              <a:t> que </a:t>
            </a:r>
            <a:r>
              <a:rPr lang="en-US" dirty="0" err="1"/>
              <a:t>tomar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cuenta</a:t>
            </a:r>
            <a:r>
              <a:rPr lang="en-US" dirty="0"/>
              <a:t> </a:t>
            </a:r>
            <a:r>
              <a:rPr lang="en-US" dirty="0" err="1"/>
              <a:t>únicamente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(o </a:t>
            </a:r>
            <a:r>
              <a:rPr lang="en-US" dirty="0" err="1"/>
              <a:t>años</a:t>
            </a:r>
            <a:r>
              <a:rPr lang="en-US" dirty="0"/>
              <a:t> persona) que no Tengan la </a:t>
            </a:r>
            <a:r>
              <a:rPr lang="en-US" dirty="0" err="1"/>
              <a:t>característica</a:t>
            </a:r>
            <a:r>
              <a:rPr lang="en-US"/>
              <a:t>.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48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CD48-EC46-4E1C-FEC9-CD9889B1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F92F2-8BD7-ABAF-4978-01BA0AA5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Tasa bruta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19EA248-AE61-1B38-62A2-08C8B58A05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Las tasas brutas (en inglés “</a:t>
                </a:r>
                <a:r>
                  <a:rPr lang="es-CR" dirty="0" err="1"/>
                  <a:t>gross</a:t>
                </a:r>
                <a:r>
                  <a:rPr lang="es-CR" dirty="0"/>
                  <a:t> </a:t>
                </a:r>
                <a:r>
                  <a:rPr lang="es-CR" dirty="0" err="1"/>
                  <a:t>rates</a:t>
                </a:r>
                <a:r>
                  <a:rPr lang="es-CR" dirty="0"/>
                  <a:t>”) se refieren a las tasas calculadas para toda la población y sin ningún ajuste</a:t>
                </a:r>
                <a:r>
                  <a:rPr lang="es-ES" dirty="0"/>
                  <a:t>.</a:t>
                </a:r>
              </a:p>
              <a:p>
                <a:r>
                  <a:rPr lang="es-ES" dirty="0"/>
                  <a:t>Casos especiales:</a:t>
                </a:r>
              </a:p>
              <a:p>
                <a:pPr lvl="1"/>
                <a:r>
                  <a:rPr lang="es-ES" dirty="0"/>
                  <a:t>Tasa bruta de natalidad: </a:t>
                </a:r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𝑇𝐵𝑁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𝑁𝑎𝑐𝑖𝑚𝑖𝑒𝑛𝑡𝑜𝑠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𝑝𝑟𝑜𝑚𝑒𝑑𝑖𝑜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∗1000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pPr lvl="1"/>
                <a:r>
                  <a:rPr lang="es-ES" dirty="0"/>
                  <a:t>Tasa bruta de mortalidad: </a:t>
                </a:r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𝑇𝐵𝑀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𝐷𝑒𝑓𝑢𝑛𝑐𝑖𝑜𝑛𝑒𝑠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𝑝𝑟𝑜𝑚𝑒𝑑𝑖𝑜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∗1000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19EA248-AE61-1B38-62A2-08C8B58A05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1043" t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710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B994-1746-F5BD-5E4A-06AECEFE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29EF6-774B-1568-5D3E-BF9E5172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relativas: Tasa específica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D3280F-4105-E705-C33C-60965E9715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793" y="1718440"/>
                <a:ext cx="11114689" cy="4774433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Las tasas específicas son tasas –con la misma fórmula- que se calculan para ciertos subgrupos.  </a:t>
                </a:r>
              </a:p>
              <a:p>
                <a:endParaRPr lang="es-CR" dirty="0"/>
              </a:p>
              <a:p>
                <a:r>
                  <a:rPr lang="es-CR" dirty="0"/>
                  <a:t>En demografía, las más usadas son las tasas específicas por edad.</a:t>
                </a:r>
              </a:p>
              <a:p>
                <a:pPr lvl="1"/>
                <a:r>
                  <a:rPr lang="es-ES" dirty="0"/>
                  <a:t>Tasa de mortalidad para la edad 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𝐷𝑒𝑓𝑢𝑛𝑐𝑖𝑜𝑛𝑒𝑠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D3280F-4105-E705-C33C-60965E9715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793" y="1718440"/>
                <a:ext cx="11114689" cy="4774433"/>
              </a:xfrm>
              <a:blipFill>
                <a:blip r:embed="rId2"/>
                <a:stretch>
                  <a:fillRect l="-987" t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1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A3B28-47C0-4DEC-19F3-9D850A1C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E5E80-2FC8-367E-12A0-5D46D2EA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Estandarización de tasas brutas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07D961-04A9-B976-4DFB-72840D4FE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440"/>
            <a:ext cx="10515600" cy="4774433"/>
          </a:xfrm>
        </p:spPr>
        <p:txBody>
          <a:bodyPr>
            <a:normAutofit/>
          </a:bodyPr>
          <a:lstStyle/>
          <a:p>
            <a:r>
              <a:rPr lang="es-CR" dirty="0"/>
              <a:t>En estadística, la palabra estandarización tiene muchos significados y muchos métodos.</a:t>
            </a:r>
          </a:p>
          <a:p>
            <a:r>
              <a:rPr lang="es-CR" dirty="0"/>
              <a:t>Pero su principal objetivo es la comparación entre subgrupos que tienen estructuras (típicamente estructuras por edad) muy diferentes.  </a:t>
            </a:r>
          </a:p>
          <a:p>
            <a:r>
              <a:rPr lang="es-CR" dirty="0"/>
              <a:t>Para calcular una tasa bruta estandarizada, se requiere: </a:t>
            </a:r>
          </a:p>
          <a:p>
            <a:pPr lvl="1"/>
            <a:r>
              <a:rPr lang="es-CR" dirty="0"/>
              <a:t>Tasas específicas por cada subgrupo.</a:t>
            </a:r>
          </a:p>
          <a:p>
            <a:pPr lvl="1"/>
            <a:r>
              <a:rPr lang="es-CR" dirty="0"/>
              <a:t>Distribución relativa de la población según esos subgrupos.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1766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9820-1126-F6DB-307B-ED5FE77B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07CDF-9838-4C1B-4D5F-E7897AE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Estandarización de tasas brutas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404A542-D733-8090-880A-0403DFF281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Tasa bruta de mortalidad estandarizada: </a:t>
                </a:r>
              </a:p>
              <a:p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CR" i="1">
                        <a:latin typeface="Cambria Math" panose="02040503050406030204" pitchFamily="18" charset="0"/>
                      </a:rPr>
                      <m:t>𝑇𝐵𝑀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𝑒𝑠𝑡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s-C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C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  <m:e>
                        <m:d>
                          <m:dPr>
                            <m:ctrlPr>
                              <a:rPr lang="es-C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s-CR" dirty="0"/>
              </a:p>
              <a:p>
                <a:pPr lvl="1"/>
                <a:endParaRPr lang="es-CR" dirty="0"/>
              </a:p>
              <a:p>
                <a:pPr lvl="1"/>
                <a:r>
                  <a:rPr lang="es-CR" dirty="0"/>
                  <a:t>Donde:</a:t>
                </a:r>
              </a:p>
              <a:p>
                <a:pPr lvl="2"/>
                <a:r>
                  <a:rPr lang="es-CR" dirty="0" err="1"/>
                  <a:t>m</a:t>
                </a:r>
                <a:r>
                  <a:rPr lang="es-CR" sz="1400" dirty="0" err="1"/>
                  <a:t>x</a:t>
                </a:r>
                <a:r>
                  <a:rPr lang="es-CR" dirty="0"/>
                  <a:t>: Tasa específica de mortalidad para la edad x</a:t>
                </a:r>
              </a:p>
              <a:p>
                <a:pPr lvl="2"/>
                <a:r>
                  <a:rPr lang="es-CR" dirty="0" err="1"/>
                  <a:t>f</a:t>
                </a:r>
                <a:r>
                  <a:rPr lang="es-CR" sz="1400" dirty="0" err="1"/>
                  <a:t>x</a:t>
                </a:r>
                <a:r>
                  <a:rPr lang="es-CR" dirty="0"/>
                  <a:t>: Proporción de la población estándar con la edad x.</a:t>
                </a:r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404A542-D733-8090-880A-0403DFF281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1043" t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615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17844-0494-A2D2-7F49-13470355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DF215-D543-B008-2FA6-1424DD89E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>
            <a:normAutofit/>
          </a:bodyPr>
          <a:lstStyle/>
          <a:p>
            <a:r>
              <a:rPr lang="es-CR" dirty="0"/>
              <a:t>Otras estandarizaciones en biociencias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95DE59A-B0DA-4573-5785-3DE00E52F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324" y="1718440"/>
                <a:ext cx="11098924" cy="4774433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En nutrición y otras ciencias de la salud, se acostumbra a ajustar ciertas medidas o variables según distintas características de los individuos que producen diferencias en salud.  </a:t>
                </a:r>
              </a:p>
              <a:p>
                <a:pPr lvl="1"/>
                <a:r>
                  <a:rPr lang="es-ES" dirty="0"/>
                  <a:t>Por ejemplo, se puede ajustar el consumo total de calorías por estatura.</a:t>
                </a:r>
              </a:p>
              <a:p>
                <a:r>
                  <a:rPr lang="es-ES" dirty="0"/>
                  <a:t>Una forma de ajustar estas medidas (biomarcadores) es usando el método de los residuos:</a:t>
                </a:r>
              </a:p>
              <a:p>
                <a:pPr lvl="1"/>
                <a:r>
                  <a:rPr lang="es-ES" dirty="0"/>
                  <a:t>Se estima un modelo de regresión tal que: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s-CR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 calcula el promedio de la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/>
                  <a:t> y se le suma el residuo: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s-E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bSup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CR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C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C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" sz="2400" dirty="0"/>
              </a:p>
              <a:p>
                <a:pPr marL="457200" lvl="1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95DE59A-B0DA-4573-5785-3DE00E52F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324" y="1718440"/>
                <a:ext cx="11098924" cy="4774433"/>
              </a:xfrm>
              <a:blipFill>
                <a:blip r:embed="rId2"/>
                <a:stretch>
                  <a:fillRect l="-989" t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00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F62E-E62E-5218-8672-62E22D55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7DA59-CD78-BB1F-66DA-9620AF45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>
            <a:normAutofit/>
          </a:bodyPr>
          <a:lstStyle/>
          <a:p>
            <a:r>
              <a:rPr lang="es-CR" dirty="0"/>
              <a:t>Suavizamiento en tasas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0EFA4E-8358-E0D9-40F4-24A2766AC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324" y="1718440"/>
            <a:ext cx="11098924" cy="4774433"/>
          </a:xfrm>
        </p:spPr>
        <p:txBody>
          <a:bodyPr>
            <a:normAutofit/>
          </a:bodyPr>
          <a:lstStyle/>
          <a:p>
            <a:r>
              <a:rPr lang="es-CR" dirty="0"/>
              <a:t>En el laboratorio, ejemplificaremos tres distintas formas de suavizar tasas por edad y/o por tiempo:</a:t>
            </a:r>
          </a:p>
          <a:p>
            <a:endParaRPr lang="es-CR" dirty="0"/>
          </a:p>
          <a:p>
            <a:pPr lvl="1"/>
            <a:r>
              <a:rPr lang="es-CR" sz="2600" dirty="0"/>
              <a:t>Modelos de regresión local (función loess)</a:t>
            </a:r>
          </a:p>
          <a:p>
            <a:pPr lvl="1"/>
            <a:endParaRPr lang="es-CR" sz="2600" dirty="0"/>
          </a:p>
          <a:p>
            <a:pPr lvl="1"/>
            <a:r>
              <a:rPr lang="es-CR" sz="2600" dirty="0"/>
              <a:t>Promedios móviles</a:t>
            </a:r>
          </a:p>
          <a:p>
            <a:pPr lvl="1"/>
            <a:endParaRPr lang="es-CR" sz="2600" dirty="0"/>
          </a:p>
          <a:p>
            <a:pPr lvl="1"/>
            <a:r>
              <a:rPr lang="es-CR" sz="2600" dirty="0"/>
              <a:t>Modelos teóricos estimados con regresión lineal o regresión no lineal</a:t>
            </a:r>
          </a:p>
          <a:p>
            <a:pPr lvl="1"/>
            <a:endParaRPr lang="es-ES" sz="2000" dirty="0"/>
          </a:p>
          <a:p>
            <a:pPr marL="457200" lvl="1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9741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035B-2D41-D2A4-FCD4-6C476E51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44599-5C87-38A0-9829-DFE15E87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Otras medidas demográficas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79F1D-C8A7-6746-8870-6776D224C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Como en muchas disciplinas científicas, hay otras medidas comunes que se usan:</a:t>
            </a:r>
          </a:p>
          <a:p>
            <a:pPr lvl="1"/>
            <a:endParaRPr lang="es-CR" dirty="0"/>
          </a:p>
          <a:p>
            <a:pPr lvl="1"/>
            <a:r>
              <a:rPr lang="es-CR" dirty="0"/>
              <a:t>Medias, medianas, variancias.</a:t>
            </a:r>
          </a:p>
          <a:p>
            <a:pPr lvl="1"/>
            <a:endParaRPr lang="es-CR" dirty="0"/>
          </a:p>
          <a:p>
            <a:pPr lvl="1"/>
            <a:r>
              <a:rPr lang="es-CR" dirty="0"/>
              <a:t>En cohortes sintéticas, se usan esperanzas matemáticas que son básicamente promedios</a:t>
            </a:r>
          </a:p>
          <a:p>
            <a:pPr lvl="1"/>
            <a:endParaRPr lang="es-CR"/>
          </a:p>
          <a:p>
            <a:pPr lvl="1"/>
            <a:r>
              <a:rPr lang="es-CR"/>
              <a:t>En </a:t>
            </a:r>
            <a:r>
              <a:rPr lang="es-CR" dirty="0"/>
              <a:t>bioestadística es común usar percentiles de una distribución normal.</a:t>
            </a:r>
          </a:p>
          <a:p>
            <a:pPr lvl="1"/>
            <a:endParaRPr lang="es-CR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99148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1292</Words>
  <Application>Microsoft Office PowerPoint</Application>
  <PresentationFormat>Panorámica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Tema de Office</vt:lpstr>
      <vt:lpstr>XS-3010 Introducción a la demografía y bioestadística 2025 </vt:lpstr>
      <vt:lpstr>Guía</vt:lpstr>
      <vt:lpstr>Medidas absolutas y relativas</vt:lpstr>
      <vt:lpstr>Medidas relativas: Cociente</vt:lpstr>
      <vt:lpstr>Medidas relativas: Razón o ratio</vt:lpstr>
      <vt:lpstr>Medidas relativas: Tasa</vt:lpstr>
      <vt:lpstr>Medidas relativas: Tasa</vt:lpstr>
      <vt:lpstr>Medidas relativas: Tasa</vt:lpstr>
      <vt:lpstr>Medidas relativas: Proporciones</vt:lpstr>
      <vt:lpstr>Medidas relativas: Probabilidades</vt:lpstr>
      <vt:lpstr>Casos especiales: Prevalencia</vt:lpstr>
      <vt:lpstr>Casos especiales: Incidencia</vt:lpstr>
      <vt:lpstr>Medidas relativas: Tasa bruta</vt:lpstr>
      <vt:lpstr>Medidas relativas: Tasa específica</vt:lpstr>
      <vt:lpstr>Estandarización de tasas brutas</vt:lpstr>
      <vt:lpstr>Estandarización de tasas brutas</vt:lpstr>
      <vt:lpstr>Otras estandarizaciones en biociencias</vt:lpstr>
      <vt:lpstr>Suavizamiento en tasas</vt:lpstr>
      <vt:lpstr>Otras medidas demográficas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Brenes-Camacho</dc:creator>
  <cp:lastModifiedBy>ANDERSON DAVID MARTINEZ ABARCA</cp:lastModifiedBy>
  <cp:revision>17</cp:revision>
  <dcterms:created xsi:type="dcterms:W3CDTF">2025-01-10T18:14:17Z</dcterms:created>
  <dcterms:modified xsi:type="dcterms:W3CDTF">2026-03-17T17:42:58Z</dcterms:modified>
</cp:coreProperties>
</file>