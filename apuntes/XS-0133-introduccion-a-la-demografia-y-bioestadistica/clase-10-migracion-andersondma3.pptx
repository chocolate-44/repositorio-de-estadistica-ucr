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323" r:id="rId5"/>
    <p:sldId id="324" r:id="rId6"/>
    <p:sldId id="325" r:id="rId7"/>
    <p:sldId id="343" r:id="rId8"/>
    <p:sldId id="344" r:id="rId9"/>
    <p:sldId id="345" r:id="rId10"/>
    <p:sldId id="346" r:id="rId11"/>
    <p:sldId id="353" r:id="rId12"/>
    <p:sldId id="347" r:id="rId13"/>
    <p:sldId id="349" r:id="rId14"/>
    <p:sldId id="350" r:id="rId15"/>
    <p:sldId id="351" r:id="rId16"/>
    <p:sldId id="352" r:id="rId17"/>
    <p:sldId id="35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13" autoAdjust="0"/>
    <p:restoredTop sz="94660"/>
  </p:normalViewPr>
  <p:slideViewPr>
    <p:cSldViewPr snapToGrid="0" showGuides="1">
      <p:cViewPr varScale="1">
        <p:scale>
          <a:sx n="74" d="100"/>
          <a:sy n="74" d="100"/>
        </p:scale>
        <p:origin x="605" y="67"/>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F9E0F-2E37-D02F-547A-10F255FF2C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2F671617-3171-C0BB-7B2D-FFAD6F3446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E747B137-18FE-FB7D-8BF6-535881DF992F}"/>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5" name="Marcador de pie de página 4">
            <a:extLst>
              <a:ext uri="{FF2B5EF4-FFF2-40B4-BE49-F238E27FC236}">
                <a16:creationId xmlns:a16="http://schemas.microsoft.com/office/drawing/2014/main" id="{C48E15A3-A9FB-E51A-6027-7A459C7126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7DAEB6A8-87B8-0FE2-8510-B477863A1D5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56851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4B53C-26E4-4134-73B5-99607FF8E6D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0AA165-019D-8D97-5339-692E5ECA01D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A95A2F-9947-C6DB-7193-A2165E6B7508}"/>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5" name="Marcador de pie de página 4">
            <a:extLst>
              <a:ext uri="{FF2B5EF4-FFF2-40B4-BE49-F238E27FC236}">
                <a16:creationId xmlns:a16="http://schemas.microsoft.com/office/drawing/2014/main" id="{7CD0C00C-8058-4459-BB83-F55E2DC1BAC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08232C3-9540-7A94-419A-AEFD82DCDE52}"/>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65525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EECA-3AA7-4D32-7042-A8B54A6B37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A5696CA-D73C-A1A6-BA95-E0D7B42370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A558304-32CA-3CA1-1FEA-B54A6997C5DC}"/>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5" name="Marcador de pie de página 4">
            <a:extLst>
              <a:ext uri="{FF2B5EF4-FFF2-40B4-BE49-F238E27FC236}">
                <a16:creationId xmlns:a16="http://schemas.microsoft.com/office/drawing/2014/main" id="{F62470CC-025A-4FA6-3440-70494EFBF05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78631FF-C52A-37B0-1CB5-4C47A82549D9}"/>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1913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5B9E0-5F65-F95C-75A5-FFDFA572DD9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8C07C85-FC85-A278-CBB6-F7BA37D3876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FDA9137E-6DA1-1130-C0F6-0EFAF25643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1E243844-8075-2FD4-1CCF-DE1ABECC07FA}"/>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6" name="Marcador de pie de página 5">
            <a:extLst>
              <a:ext uri="{FF2B5EF4-FFF2-40B4-BE49-F238E27FC236}">
                <a16:creationId xmlns:a16="http://schemas.microsoft.com/office/drawing/2014/main" id="{8B5AC555-78FE-1B1B-7737-E79DCF37153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13F9F5C-5DFD-32D8-7DB2-B044BEA4ABD7}"/>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708259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255C0-1415-85BE-1165-9C0C54F0778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B0A1395-0A9F-B80E-E211-F1ACA8325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FD740BA-BF8A-108D-EACE-225C192F923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63784550-95A2-77DC-D665-4337294435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B531739-FB3E-B2CC-A0DB-6D8ED7CF8A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EE871342-3E4B-6DB6-2FF7-A0D5D2DEFED8}"/>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8" name="Marcador de pie de página 7">
            <a:extLst>
              <a:ext uri="{FF2B5EF4-FFF2-40B4-BE49-F238E27FC236}">
                <a16:creationId xmlns:a16="http://schemas.microsoft.com/office/drawing/2014/main" id="{A35E8FDE-7414-CF64-FF6E-FEC0CC28134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4508BCD7-8715-678B-A4B2-84F06478DC7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82717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BD7687-04E9-D6B1-A4FF-1A9CFCF2C80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89F5849E-DE97-5A76-F782-8354D71D5A58}"/>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4" name="Marcador de pie de página 3">
            <a:extLst>
              <a:ext uri="{FF2B5EF4-FFF2-40B4-BE49-F238E27FC236}">
                <a16:creationId xmlns:a16="http://schemas.microsoft.com/office/drawing/2014/main" id="{280C7457-F67A-3A13-2724-40313EE3E676}"/>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C49BA60A-5909-F0B8-0EAE-8FAEA7530A76}"/>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172596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5915CA-E095-FAA6-F2FB-AD27D9CF409B}"/>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3" name="Marcador de pie de página 2">
            <a:extLst>
              <a:ext uri="{FF2B5EF4-FFF2-40B4-BE49-F238E27FC236}">
                <a16:creationId xmlns:a16="http://schemas.microsoft.com/office/drawing/2014/main" id="{C83CBB2E-B003-4EBF-5D10-DD61FA6D2E1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3DFD563-37EF-1088-2DAD-86E1CDA531B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06621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6882-6B5B-134A-1A76-8B29181B5B1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F057575-A3C6-3476-6CBD-2E57BA6BF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388DF928-6051-AFCD-7EF8-FFFC297FD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598E56-7530-3052-762D-51C64A133480}"/>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6" name="Marcador de pie de página 5">
            <a:extLst>
              <a:ext uri="{FF2B5EF4-FFF2-40B4-BE49-F238E27FC236}">
                <a16:creationId xmlns:a16="http://schemas.microsoft.com/office/drawing/2014/main" id="{68B0D834-54DF-9448-9C2A-E3F16D772E6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95B2950-AC42-85DE-D11F-EED4223FFACD}"/>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391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BEFF3-A2EC-EED8-FEA5-1DFF3828E7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566923D-B92D-3492-502B-2AC57CC19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AB5D60C-0915-EA6A-7D7B-93EDA3F78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856C2D-73B1-4F36-1491-9038AEE4DD71}"/>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6" name="Marcador de pie de página 5">
            <a:extLst>
              <a:ext uri="{FF2B5EF4-FFF2-40B4-BE49-F238E27FC236}">
                <a16:creationId xmlns:a16="http://schemas.microsoft.com/office/drawing/2014/main" id="{DC9C87A3-772E-817F-E0BD-CEB52B825BE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BA8470E-36E1-7796-C269-F5FABC646D5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601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5BD62-80B5-73AC-247B-557D541BCBCC}"/>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356E60C-69ED-36D4-E379-D90AA993E81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28533B8-B990-570F-2FF9-F5CB4C8ACC9C}"/>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5" name="Marcador de pie de página 4">
            <a:extLst>
              <a:ext uri="{FF2B5EF4-FFF2-40B4-BE49-F238E27FC236}">
                <a16:creationId xmlns:a16="http://schemas.microsoft.com/office/drawing/2014/main" id="{5A2D7539-EC26-3063-B6AA-BDDD30A4274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6213976-546D-B209-4AE5-55B62C103C1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98437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032FBA-D46B-9AD9-6A4A-CCC671639BF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E0765D1-3113-7EE5-5D68-7C2610512D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9BF1DF9-8FBB-EF60-5CB8-B832135B2B50}"/>
              </a:ext>
            </a:extLst>
          </p:cNvPr>
          <p:cNvSpPr>
            <a:spLocks noGrp="1"/>
          </p:cNvSpPr>
          <p:nvPr>
            <p:ph type="dt" sz="half" idx="10"/>
          </p:nvPr>
        </p:nvSpPr>
        <p:spPr/>
        <p:txBody>
          <a:bodyPr/>
          <a:lstStyle/>
          <a:p>
            <a:fld id="{B981F3F1-497C-47B9-A18E-83DECA3909B3}" type="datetimeFigureOut">
              <a:rPr lang="en-US" smtClean="0"/>
              <a:t>6/25/2026</a:t>
            </a:fld>
            <a:endParaRPr lang="en-US"/>
          </a:p>
        </p:txBody>
      </p:sp>
      <p:sp>
        <p:nvSpPr>
          <p:cNvPr id="5" name="Marcador de pie de página 4">
            <a:extLst>
              <a:ext uri="{FF2B5EF4-FFF2-40B4-BE49-F238E27FC236}">
                <a16:creationId xmlns:a16="http://schemas.microsoft.com/office/drawing/2014/main" id="{C4117F01-7DF1-4C58-D99D-DDCD2750329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4479F5B-A745-4D30-0645-6FD930FF950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37150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587F12-B27F-FB1F-C6A6-F70AD31262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80B90C4-B84F-C1FB-760E-72D4EA32F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F73809E-B4B5-A1E4-417D-0E7C53210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1F3F1-497C-47B9-A18E-83DECA3909B3}" type="datetimeFigureOut">
              <a:rPr lang="en-US" smtClean="0"/>
              <a:t>6/25/2026</a:t>
            </a:fld>
            <a:endParaRPr lang="en-US"/>
          </a:p>
        </p:txBody>
      </p:sp>
      <p:sp>
        <p:nvSpPr>
          <p:cNvPr id="5" name="Marcador de pie de página 4">
            <a:extLst>
              <a:ext uri="{FF2B5EF4-FFF2-40B4-BE49-F238E27FC236}">
                <a16:creationId xmlns:a16="http://schemas.microsoft.com/office/drawing/2014/main" id="{D9296595-A99A-7B3C-D00D-B8BF2287F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E2634B69-AF7A-9040-FD3E-70FCCA37C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844222-9D2F-4AD5-8895-FD8084360767}" type="slidenum">
              <a:rPr lang="en-US" smtClean="0"/>
              <a:t>‹Nº›</a:t>
            </a:fld>
            <a:endParaRPr lang="en-US"/>
          </a:p>
        </p:txBody>
      </p:sp>
    </p:spTree>
    <p:extLst>
      <p:ext uri="{BB962C8B-B14F-4D97-AF65-F5344CB8AC3E}">
        <p14:creationId xmlns:p14="http://schemas.microsoft.com/office/powerpoint/2010/main" val="18931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xlsx"/><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Excel_Worksheet1.xlsx"/><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2.xlsx"/><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3.xlsx"/><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4.xlsx"/><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8975F5-9759-D9DD-E21A-5B7FE4D5467A}"/>
              </a:ext>
            </a:extLst>
          </p:cNvPr>
          <p:cNvSpPr>
            <a:spLocks noGrp="1"/>
          </p:cNvSpPr>
          <p:nvPr>
            <p:ph type="ctrTitle"/>
          </p:nvPr>
        </p:nvSpPr>
        <p:spPr/>
        <p:txBody>
          <a:bodyPr>
            <a:normAutofit fontScale="90000"/>
          </a:bodyPr>
          <a:lstStyle/>
          <a:p>
            <a:r>
              <a:rPr lang="es-CR" dirty="0"/>
              <a:t>XS-3010 Introducción a la demografía y bioestadística</a:t>
            </a:r>
            <a:br>
              <a:rPr lang="en-US" dirty="0"/>
            </a:br>
            <a:r>
              <a:rPr lang="en-US" dirty="0"/>
              <a:t>2025</a:t>
            </a:r>
          </a:p>
        </p:txBody>
      </p:sp>
      <p:sp>
        <p:nvSpPr>
          <p:cNvPr id="3" name="Subtítulo 2">
            <a:extLst>
              <a:ext uri="{FF2B5EF4-FFF2-40B4-BE49-F238E27FC236}">
                <a16:creationId xmlns:a16="http://schemas.microsoft.com/office/drawing/2014/main" id="{D645B192-1ED3-E270-42E8-2C7C1D9FDD4C}"/>
              </a:ext>
            </a:extLst>
          </p:cNvPr>
          <p:cNvSpPr>
            <a:spLocks noGrp="1"/>
          </p:cNvSpPr>
          <p:nvPr>
            <p:ph type="subTitle" idx="1"/>
          </p:nvPr>
        </p:nvSpPr>
        <p:spPr/>
        <p:txBody>
          <a:bodyPr>
            <a:normAutofit lnSpcReduction="10000"/>
          </a:bodyPr>
          <a:lstStyle/>
          <a:p>
            <a:r>
              <a:rPr lang="en-US" dirty="0" err="1"/>
              <a:t>Profesor</a:t>
            </a:r>
            <a:r>
              <a:rPr lang="en-US" dirty="0"/>
              <a:t> Gilbert </a:t>
            </a:r>
            <a:r>
              <a:rPr lang="en-US" dirty="0" err="1"/>
              <a:t>Brenes</a:t>
            </a:r>
            <a:r>
              <a:rPr lang="en-US" dirty="0"/>
              <a:t> Camacho, Grupo 01</a:t>
            </a:r>
          </a:p>
          <a:p>
            <a:endParaRPr lang="en-US" dirty="0"/>
          </a:p>
          <a:p>
            <a:endParaRPr lang="en-US" dirty="0"/>
          </a:p>
          <a:p>
            <a:r>
              <a:rPr lang="es-CR" dirty="0"/>
              <a:t>MIGRACIÓN</a:t>
            </a:r>
            <a:endParaRPr lang="en-US" dirty="0"/>
          </a:p>
        </p:txBody>
      </p:sp>
    </p:spTree>
    <p:extLst>
      <p:ext uri="{BB962C8B-B14F-4D97-AF65-F5344CB8AC3E}">
        <p14:creationId xmlns:p14="http://schemas.microsoft.com/office/powerpoint/2010/main" val="3347622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3B47C-32F1-1ECC-95EB-A077866F1A94}"/>
              </a:ext>
            </a:extLst>
          </p:cNvPr>
          <p:cNvSpPr>
            <a:spLocks noGrp="1"/>
          </p:cNvSpPr>
          <p:nvPr>
            <p:ph type="title"/>
          </p:nvPr>
        </p:nvSpPr>
        <p:spPr/>
        <p:txBody>
          <a:bodyPr/>
          <a:lstStyle/>
          <a:p>
            <a:r>
              <a:rPr lang="es-CR" dirty="0"/>
              <a:t>Guía</a:t>
            </a:r>
            <a:endParaRPr lang="en-US" dirty="0"/>
          </a:p>
        </p:txBody>
      </p:sp>
      <p:sp>
        <p:nvSpPr>
          <p:cNvPr id="3" name="Marcador de contenido 2">
            <a:extLst>
              <a:ext uri="{FF2B5EF4-FFF2-40B4-BE49-F238E27FC236}">
                <a16:creationId xmlns:a16="http://schemas.microsoft.com/office/drawing/2014/main" id="{CF7D0468-056F-7E17-F512-4EFD0D5D0ACD}"/>
              </a:ext>
            </a:extLst>
          </p:cNvPr>
          <p:cNvSpPr>
            <a:spLocks noGrp="1"/>
          </p:cNvSpPr>
          <p:nvPr>
            <p:ph idx="1"/>
          </p:nvPr>
        </p:nvSpPr>
        <p:spPr>
          <a:xfrm>
            <a:off x="838200" y="1466193"/>
            <a:ext cx="10515600" cy="5026682"/>
          </a:xfrm>
        </p:spPr>
        <p:txBody>
          <a:bodyPr>
            <a:normAutofit/>
          </a:bodyPr>
          <a:lstStyle/>
          <a:p>
            <a:r>
              <a:rPr lang="es-ES" dirty="0"/>
              <a:t>Definiciones básicas</a:t>
            </a:r>
          </a:p>
          <a:p>
            <a:r>
              <a:rPr lang="es-ES" dirty="0"/>
              <a:t>Medidas de la migración</a:t>
            </a:r>
          </a:p>
          <a:p>
            <a:r>
              <a:rPr lang="es-ES" dirty="0"/>
              <a:t>Matriz de origen y destino</a:t>
            </a:r>
          </a:p>
          <a:p>
            <a:pPr lvl="1"/>
            <a:endParaRPr lang="es-CR" dirty="0"/>
          </a:p>
        </p:txBody>
      </p:sp>
    </p:spTree>
    <p:extLst>
      <p:ext uri="{BB962C8B-B14F-4D97-AF65-F5344CB8AC3E}">
        <p14:creationId xmlns:p14="http://schemas.microsoft.com/office/powerpoint/2010/main" val="288393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F746-29AE-1097-D16D-27F7E1537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9EF888-D33A-2737-EA61-9ECBDE469D0C}"/>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E6DB1BE9-ED97-ACCA-103D-B9103B96DC99}"/>
              </a:ext>
            </a:extLst>
          </p:cNvPr>
          <p:cNvSpPr>
            <a:spLocks noGrp="1"/>
          </p:cNvSpPr>
          <p:nvPr>
            <p:ph idx="1"/>
          </p:nvPr>
        </p:nvSpPr>
        <p:spPr>
          <a:xfrm>
            <a:off x="838200" y="1355834"/>
            <a:ext cx="10515600" cy="5249917"/>
          </a:xfrm>
        </p:spPr>
        <p:txBody>
          <a:bodyPr>
            <a:normAutofit/>
          </a:bodyPr>
          <a:lstStyle/>
          <a:p>
            <a:r>
              <a:rPr lang="es-ES" dirty="0"/>
              <a:t>Migración:  Cambio en el lugar de residencia que una persona hace durante un intervalo de tiempo determinado.  Para que un evento migratorio ocurra, debe de haber algún cruce de fronteras o de límites </a:t>
            </a:r>
            <a:r>
              <a:rPr lang="es-ES" dirty="0" err="1"/>
              <a:t>geogfáficos</a:t>
            </a:r>
            <a:r>
              <a:rPr lang="es-ES" dirty="0"/>
              <a:t>.  </a:t>
            </a:r>
          </a:p>
          <a:p>
            <a:r>
              <a:rPr lang="es-ES" dirty="0"/>
              <a:t>Esta definición tiene dos componentes importantes:</a:t>
            </a:r>
          </a:p>
          <a:p>
            <a:pPr lvl="1"/>
            <a:r>
              <a:rPr lang="es-ES" dirty="0"/>
              <a:t>Cambio de residencia habitual</a:t>
            </a:r>
          </a:p>
          <a:p>
            <a:pPr lvl="1"/>
            <a:r>
              <a:rPr lang="es-ES" dirty="0"/>
              <a:t>Cruce de fronteras o límites geográficos</a:t>
            </a:r>
          </a:p>
          <a:p>
            <a:r>
              <a:rPr lang="es-ES" dirty="0"/>
              <a:t>La definición de migración es más flexible que otras definiciones porque varía de acuerdo a las definiciones de residencia habitual y límites geográficos. </a:t>
            </a:r>
          </a:p>
        </p:txBody>
      </p:sp>
    </p:spTree>
    <p:extLst>
      <p:ext uri="{BB962C8B-B14F-4D97-AF65-F5344CB8AC3E}">
        <p14:creationId xmlns:p14="http://schemas.microsoft.com/office/powerpoint/2010/main" val="195757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CBDF-1302-85F5-ABD7-ABC3F049C1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2DC705-3AE8-4409-9B52-6E7E0C32908F}"/>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A6693463-7CC7-9EDD-C3B0-A2A109293E9F}"/>
              </a:ext>
            </a:extLst>
          </p:cNvPr>
          <p:cNvSpPr>
            <a:spLocks noGrp="1"/>
          </p:cNvSpPr>
          <p:nvPr>
            <p:ph idx="1"/>
          </p:nvPr>
        </p:nvSpPr>
        <p:spPr>
          <a:xfrm>
            <a:off x="838200" y="1355834"/>
            <a:ext cx="10515600" cy="5249917"/>
          </a:xfrm>
        </p:spPr>
        <p:txBody>
          <a:bodyPr>
            <a:normAutofit fontScale="92500" lnSpcReduction="20000"/>
          </a:bodyPr>
          <a:lstStyle/>
          <a:p>
            <a:r>
              <a:rPr lang="es-ES" dirty="0"/>
              <a:t>Fertilidad:  La capacidad biológica efectiva de una mujer, hombre o pareja para procrear (producir un nacimiento).  La fecundidad se refiere entonces a una capacidad potencial, mientras que la fecundidad a los hechos.  </a:t>
            </a:r>
          </a:p>
          <a:p>
            <a:endParaRPr lang="es-ES" dirty="0"/>
          </a:p>
          <a:p>
            <a:r>
              <a:rPr lang="es-ES" dirty="0"/>
              <a:t>Infertilidad o esterilidad:  La incapacidad de una mujer, hombre o pareja para </a:t>
            </a:r>
            <a:r>
              <a:rPr lang="es-ES" dirty="0" err="1"/>
              <a:t>procerar</a:t>
            </a:r>
            <a:r>
              <a:rPr lang="es-ES" dirty="0"/>
              <a:t>.  Desde el punto de vista demográfico (no médico), la infertilidad puede ser involuntaria o voluntaria (por medio de métodos de planificación familiar).  </a:t>
            </a:r>
          </a:p>
          <a:p>
            <a:endParaRPr lang="es-ES" dirty="0"/>
          </a:p>
          <a:p>
            <a:r>
              <a:rPr lang="es-ES" dirty="0"/>
              <a:t>Período fértil </a:t>
            </a:r>
            <a:r>
              <a:rPr lang="es-ES" dirty="0" err="1"/>
              <a:t>ó</a:t>
            </a:r>
            <a:r>
              <a:rPr lang="es-ES" dirty="0"/>
              <a:t> edad reproductiva:  Es el período durante el cual una mujer puede quedar embarazada.  </a:t>
            </a:r>
          </a:p>
          <a:p>
            <a:pPr lvl="1"/>
            <a:r>
              <a:rPr lang="es-ES" dirty="0"/>
              <a:t>Biológicamente, el período fértil se da entre la menarquía (primera menstruación, que puede ocurrir alrededor de los 11 años de edad) y la menopausia (cesación natural de la menstruación, alrededor de la </a:t>
            </a:r>
            <a:r>
              <a:rPr lang="es-ES" dirty="0" err="1"/>
              <a:t>edd</a:t>
            </a:r>
            <a:r>
              <a:rPr lang="es-ES" dirty="0"/>
              <a:t> 50).  </a:t>
            </a:r>
          </a:p>
        </p:txBody>
      </p:sp>
    </p:spTree>
    <p:extLst>
      <p:ext uri="{BB962C8B-B14F-4D97-AF65-F5344CB8AC3E}">
        <p14:creationId xmlns:p14="http://schemas.microsoft.com/office/powerpoint/2010/main" val="1861772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C838-823D-0602-4D5E-C15D1B293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57CEDA-4A80-901D-B2F4-A7EDF6621FFC}"/>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ADBD49E2-869B-69E1-839B-61CDC77D7C85}"/>
              </a:ext>
            </a:extLst>
          </p:cNvPr>
          <p:cNvSpPr>
            <a:spLocks noGrp="1"/>
          </p:cNvSpPr>
          <p:nvPr>
            <p:ph idx="1"/>
          </p:nvPr>
        </p:nvSpPr>
        <p:spPr>
          <a:xfrm>
            <a:off x="838200" y="1355834"/>
            <a:ext cx="10515600" cy="5249917"/>
          </a:xfrm>
        </p:spPr>
        <p:txBody>
          <a:bodyPr>
            <a:normAutofit/>
          </a:bodyPr>
          <a:lstStyle/>
          <a:p>
            <a:r>
              <a:rPr lang="es-ES" dirty="0"/>
              <a:t>Cambio de residencia habitual: </a:t>
            </a:r>
          </a:p>
          <a:p>
            <a:pPr lvl="1"/>
            <a:r>
              <a:rPr lang="es-ES" dirty="0"/>
              <a:t>El lugar de residencia habitual es el lugar que un individuo tiene como hogar.  </a:t>
            </a:r>
          </a:p>
          <a:p>
            <a:pPr lvl="2"/>
            <a:r>
              <a:rPr lang="es-ES" dirty="0"/>
              <a:t>Definición </a:t>
            </a:r>
            <a:r>
              <a:rPr lang="es-ES" dirty="0" err="1"/>
              <a:t>depede</a:t>
            </a:r>
            <a:r>
              <a:rPr lang="es-ES" dirty="0"/>
              <a:t> de los objetivos principales del estudio estadístico.  </a:t>
            </a:r>
          </a:p>
          <a:p>
            <a:pPr lvl="2"/>
            <a:r>
              <a:rPr lang="es-ES" dirty="0"/>
              <a:t>En distintos censos, la definición más común de residencia habitual es:  el lugar en donde la persona ha vivido por un mínimo de tiempo (3 meses, 6 meses, 12 meses) o el lugar en el que el individuo planea quedarse a vivir por ese período de tiempo antes definido.  </a:t>
            </a:r>
          </a:p>
          <a:p>
            <a:pPr lvl="2"/>
            <a:r>
              <a:rPr lang="es-ES" dirty="0"/>
              <a:t>Por consiguiente, si definimos que el tiempo umbral es de al menos 12 meses, un cambio en el lugar de residencia habitual implica que la persona se ha movido hacia otro lugar en el que se ha quedado o planea quedarse por al menos 12 años. </a:t>
            </a:r>
            <a:endParaRPr lang="es-CR" dirty="0"/>
          </a:p>
        </p:txBody>
      </p:sp>
    </p:spTree>
    <p:extLst>
      <p:ext uri="{BB962C8B-B14F-4D97-AF65-F5344CB8AC3E}">
        <p14:creationId xmlns:p14="http://schemas.microsoft.com/office/powerpoint/2010/main" val="3020647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64B-F9EC-6C03-2A96-C4EE0A492B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413120-C685-EAD2-2BA8-B6022F9A8E4A}"/>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03DF87BB-7546-55E6-2FC1-BC8D355C0127}"/>
              </a:ext>
            </a:extLst>
          </p:cNvPr>
          <p:cNvSpPr>
            <a:spLocks noGrp="1"/>
          </p:cNvSpPr>
          <p:nvPr>
            <p:ph idx="1"/>
          </p:nvPr>
        </p:nvSpPr>
        <p:spPr>
          <a:xfrm>
            <a:off x="838200" y="1355834"/>
            <a:ext cx="10515600" cy="5249917"/>
          </a:xfrm>
        </p:spPr>
        <p:txBody>
          <a:bodyPr>
            <a:normAutofit/>
          </a:bodyPr>
          <a:lstStyle/>
          <a:p>
            <a:r>
              <a:rPr lang="es-ES" dirty="0"/>
              <a:t>Cruce de fronteras o límites geográficos: </a:t>
            </a:r>
          </a:p>
          <a:p>
            <a:pPr lvl="1"/>
            <a:r>
              <a:rPr lang="es-ES" dirty="0"/>
              <a:t>El cruce de límites político administrativos permite determinar la magnitud de los movimientos migratorios.  </a:t>
            </a:r>
          </a:p>
          <a:p>
            <a:pPr lvl="1"/>
            <a:r>
              <a:rPr lang="es-ES" dirty="0"/>
              <a:t>Dentro de un país, los límites tienen que ser claramente definidos para clasificar al cambio de residencia como migración interna o </a:t>
            </a:r>
            <a:r>
              <a:rPr lang="es-ES" dirty="0" err="1"/>
              <a:t>inter-regional</a:t>
            </a:r>
            <a:r>
              <a:rPr lang="es-ES" dirty="0"/>
              <a:t>.  </a:t>
            </a:r>
          </a:p>
          <a:p>
            <a:pPr lvl="1"/>
            <a:r>
              <a:rPr lang="es-ES" dirty="0"/>
              <a:t>La migración internacional se da cuando la persona cruza los límites de un país.  </a:t>
            </a:r>
          </a:p>
          <a:p>
            <a:pPr lvl="2"/>
            <a:r>
              <a:rPr lang="es-ES" dirty="0"/>
              <a:t>Desde las famosas observaciones de Ravenstein (1885) se sabe que las personas tienen mayor probabilidad de migrar hacia un lugar cercano que a un lugar lejano del lugar de origen. </a:t>
            </a:r>
            <a:endParaRPr lang="es-CR" dirty="0"/>
          </a:p>
        </p:txBody>
      </p:sp>
    </p:spTree>
    <p:extLst>
      <p:ext uri="{BB962C8B-B14F-4D97-AF65-F5344CB8AC3E}">
        <p14:creationId xmlns:p14="http://schemas.microsoft.com/office/powerpoint/2010/main" val="150184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CB6DE-0CEE-72A7-A788-FFAEA4F311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C62455-484B-CFE2-5354-55EAC20E46C7}"/>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79EE62A4-C125-C94B-C097-F24082DD5F1B}"/>
              </a:ext>
            </a:extLst>
          </p:cNvPr>
          <p:cNvSpPr>
            <a:spLocks noGrp="1"/>
          </p:cNvSpPr>
          <p:nvPr>
            <p:ph idx="1"/>
          </p:nvPr>
        </p:nvSpPr>
        <p:spPr>
          <a:xfrm>
            <a:off x="838200" y="1355834"/>
            <a:ext cx="10515600" cy="5249917"/>
          </a:xfrm>
        </p:spPr>
        <p:txBody>
          <a:bodyPr>
            <a:normAutofit/>
          </a:bodyPr>
          <a:lstStyle/>
          <a:p>
            <a:r>
              <a:rPr lang="es-ES" dirty="0"/>
              <a:t>Migrante:  Persona que cambia su lugar de residencia habitual cruzando límites geográficos. Persona que traslada su residencia habitual de un lugar a otro, cumpliendo con los términos básicos de la definición de migración</a:t>
            </a:r>
          </a:p>
          <a:p>
            <a:endParaRPr lang="es-ES" dirty="0"/>
          </a:p>
          <a:p>
            <a:r>
              <a:rPr lang="es-ES" dirty="0"/>
              <a:t>Emigrante: Persona migrante que es referida con respecto a su lugar de residencia anterior.</a:t>
            </a:r>
          </a:p>
          <a:p>
            <a:endParaRPr lang="es-ES" dirty="0"/>
          </a:p>
          <a:p>
            <a:r>
              <a:rPr lang="es-ES" dirty="0"/>
              <a:t>Inmigrante: Persona migrante que es referida de acuerdo con su lugar de residencia actual.</a:t>
            </a:r>
          </a:p>
        </p:txBody>
      </p:sp>
    </p:spTree>
    <p:extLst>
      <p:ext uri="{BB962C8B-B14F-4D97-AF65-F5344CB8AC3E}">
        <p14:creationId xmlns:p14="http://schemas.microsoft.com/office/powerpoint/2010/main" val="1908497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F01B9-19C2-D99A-EA77-968F9E22A1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C056B0-42FD-069C-8D7C-0F2B1F4F4AFD}"/>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7597B4EA-9EC3-FD83-5721-B912DAEB3E9E}"/>
              </a:ext>
            </a:extLst>
          </p:cNvPr>
          <p:cNvSpPr>
            <a:spLocks noGrp="1"/>
          </p:cNvSpPr>
          <p:nvPr>
            <p:ph idx="1"/>
          </p:nvPr>
        </p:nvSpPr>
        <p:spPr>
          <a:xfrm>
            <a:off x="838200" y="1355834"/>
            <a:ext cx="10515600" cy="5249917"/>
          </a:xfrm>
        </p:spPr>
        <p:txBody>
          <a:bodyPr>
            <a:normAutofit/>
          </a:bodyPr>
          <a:lstStyle/>
          <a:p>
            <a:r>
              <a:rPr lang="es-ES" dirty="0"/>
              <a:t>Migración neta o saldo migratorio: Número de inmigrantes menos número de emigrantes.  </a:t>
            </a:r>
          </a:p>
          <a:p>
            <a:endParaRPr lang="es-ES" dirty="0"/>
          </a:p>
          <a:p>
            <a:r>
              <a:rPr lang="es-ES" dirty="0"/>
              <a:t>Migración bruta: Corresponde a la suma de entradas y salidas con carácter migratorio de una población.  Corresponde a la magnitud total de movimientos espaciales de orden migratorio que ocurren en una localidad.</a:t>
            </a:r>
          </a:p>
        </p:txBody>
      </p:sp>
    </p:spTree>
    <p:extLst>
      <p:ext uri="{BB962C8B-B14F-4D97-AF65-F5344CB8AC3E}">
        <p14:creationId xmlns:p14="http://schemas.microsoft.com/office/powerpoint/2010/main" val="3449189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64D58-2D25-B007-E7B9-6AD0544BBD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B81F50-574E-7E96-CB84-76623BCA57F8}"/>
              </a:ext>
            </a:extLst>
          </p:cNvPr>
          <p:cNvSpPr>
            <a:spLocks noGrp="1"/>
          </p:cNvSpPr>
          <p:nvPr>
            <p:ph type="title"/>
          </p:nvPr>
        </p:nvSpPr>
        <p:spPr>
          <a:xfrm>
            <a:off x="838200" y="365125"/>
            <a:ext cx="10515600" cy="738461"/>
          </a:xfrm>
        </p:spPr>
        <p:txBody>
          <a:bodyPr/>
          <a:lstStyle/>
          <a:p>
            <a:r>
              <a:rPr lang="es-CR" dirty="0"/>
              <a:t>Conceptos</a:t>
            </a:r>
            <a:endParaRPr lang="en-US" dirty="0"/>
          </a:p>
        </p:txBody>
      </p:sp>
      <p:sp>
        <p:nvSpPr>
          <p:cNvPr id="3" name="Marcador de contenido 2">
            <a:extLst>
              <a:ext uri="{FF2B5EF4-FFF2-40B4-BE49-F238E27FC236}">
                <a16:creationId xmlns:a16="http://schemas.microsoft.com/office/drawing/2014/main" id="{83775930-9FF6-7FD3-0103-EC17A370BDF4}"/>
              </a:ext>
            </a:extLst>
          </p:cNvPr>
          <p:cNvSpPr>
            <a:spLocks noGrp="1"/>
          </p:cNvSpPr>
          <p:nvPr>
            <p:ph idx="1"/>
          </p:nvPr>
        </p:nvSpPr>
        <p:spPr>
          <a:xfrm>
            <a:off x="838200" y="1355834"/>
            <a:ext cx="10515600" cy="5249917"/>
          </a:xfrm>
        </p:spPr>
        <p:txBody>
          <a:bodyPr>
            <a:normAutofit/>
          </a:bodyPr>
          <a:lstStyle/>
          <a:p>
            <a:r>
              <a:rPr lang="es-ES" dirty="0"/>
              <a:t>Zona de atracción:  Corresponde a aquella localidad donde la migración neta es positiva.  El número de inmigrantes supera al de emigrantes.</a:t>
            </a:r>
          </a:p>
          <a:p>
            <a:endParaRPr lang="es-ES" dirty="0"/>
          </a:p>
          <a:p>
            <a:r>
              <a:rPr lang="es-ES" dirty="0"/>
              <a:t>Zona de expulsión: Corresponde a aquella localidad donde la migración neta es negativa.  El número de inmigrantes es inferior al de emigrantes.</a:t>
            </a:r>
          </a:p>
          <a:p>
            <a:endParaRPr lang="es-ES" dirty="0"/>
          </a:p>
          <a:p>
            <a:r>
              <a:rPr lang="es-ES" dirty="0"/>
              <a:t>Lugar de origen:  Lugar de residencia anterior del migrante.</a:t>
            </a:r>
          </a:p>
          <a:p>
            <a:endParaRPr lang="es-ES" dirty="0"/>
          </a:p>
          <a:p>
            <a:r>
              <a:rPr lang="es-ES" dirty="0"/>
              <a:t>Lugar de destino:  Lugar de residencia actual del migrante.</a:t>
            </a:r>
          </a:p>
        </p:txBody>
      </p:sp>
    </p:spTree>
    <p:extLst>
      <p:ext uri="{BB962C8B-B14F-4D97-AF65-F5344CB8AC3E}">
        <p14:creationId xmlns:p14="http://schemas.microsoft.com/office/powerpoint/2010/main" val="2269644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10BF3-FAB6-1609-BA9E-857158A43D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02F2C8-E3F4-6B34-F966-236008ADA056}"/>
              </a:ext>
            </a:extLst>
          </p:cNvPr>
          <p:cNvSpPr>
            <a:spLocks noGrp="1"/>
          </p:cNvSpPr>
          <p:nvPr>
            <p:ph type="title"/>
          </p:nvPr>
        </p:nvSpPr>
        <p:spPr>
          <a:xfrm>
            <a:off x="838200" y="365125"/>
            <a:ext cx="10515600" cy="738461"/>
          </a:xfrm>
        </p:spPr>
        <p:txBody>
          <a:bodyPr/>
          <a:lstStyle/>
          <a:p>
            <a:r>
              <a:rPr lang="es-CR" dirty="0"/>
              <a:t>Medición de la migración</a:t>
            </a:r>
            <a:endParaRPr lang="en-US" dirty="0"/>
          </a:p>
        </p:txBody>
      </p:sp>
      <p:sp>
        <p:nvSpPr>
          <p:cNvPr id="3" name="Marcador de contenido 2">
            <a:extLst>
              <a:ext uri="{FF2B5EF4-FFF2-40B4-BE49-F238E27FC236}">
                <a16:creationId xmlns:a16="http://schemas.microsoft.com/office/drawing/2014/main" id="{8C236BBB-D077-18B2-C656-B066919C2AA3}"/>
              </a:ext>
            </a:extLst>
          </p:cNvPr>
          <p:cNvSpPr>
            <a:spLocks noGrp="1"/>
          </p:cNvSpPr>
          <p:nvPr>
            <p:ph idx="1"/>
          </p:nvPr>
        </p:nvSpPr>
        <p:spPr>
          <a:xfrm>
            <a:off x="838200" y="1355834"/>
            <a:ext cx="10515600" cy="5249917"/>
          </a:xfrm>
        </p:spPr>
        <p:txBody>
          <a:bodyPr>
            <a:normAutofit/>
          </a:bodyPr>
          <a:lstStyle/>
          <a:p>
            <a:r>
              <a:rPr lang="es-ES" dirty="0"/>
              <a:t>Las fuentes de información en el análisis de la migración requieren recolectar datos sobre tres aspectos fundamentales:  </a:t>
            </a:r>
          </a:p>
          <a:p>
            <a:pPr lvl="1"/>
            <a:r>
              <a:rPr lang="es-ES" dirty="0"/>
              <a:t>lugar de residencia actual, </a:t>
            </a:r>
          </a:p>
          <a:p>
            <a:pPr lvl="1"/>
            <a:r>
              <a:rPr lang="es-ES" dirty="0"/>
              <a:t>lugar de nacimiento y </a:t>
            </a:r>
          </a:p>
          <a:p>
            <a:pPr lvl="1"/>
            <a:r>
              <a:rPr lang="es-ES" dirty="0"/>
              <a:t>lugar de residencia en algún momento específico anterior. </a:t>
            </a:r>
          </a:p>
        </p:txBody>
      </p:sp>
    </p:spTree>
    <p:extLst>
      <p:ext uri="{BB962C8B-B14F-4D97-AF65-F5344CB8AC3E}">
        <p14:creationId xmlns:p14="http://schemas.microsoft.com/office/powerpoint/2010/main" val="196744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98373-7898-4EE1-541B-DCA49A19C4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872274-2704-402A-2991-A53519290619}"/>
              </a:ext>
            </a:extLst>
          </p:cNvPr>
          <p:cNvSpPr>
            <a:spLocks noGrp="1"/>
          </p:cNvSpPr>
          <p:nvPr>
            <p:ph type="title"/>
          </p:nvPr>
        </p:nvSpPr>
        <p:spPr>
          <a:xfrm>
            <a:off x="838200" y="365125"/>
            <a:ext cx="10515600" cy="738461"/>
          </a:xfrm>
        </p:spPr>
        <p:txBody>
          <a:bodyPr/>
          <a:lstStyle/>
          <a:p>
            <a:r>
              <a:rPr lang="es-CR" dirty="0"/>
              <a:t>Medición de la migración</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62B9BA2-0E93-1342-F58C-2674AF1E8EED}"/>
                  </a:ext>
                </a:extLst>
              </p:cNvPr>
              <p:cNvSpPr>
                <a:spLocks noGrp="1"/>
              </p:cNvSpPr>
              <p:nvPr>
                <p:ph idx="1"/>
              </p:nvPr>
            </p:nvSpPr>
            <p:spPr>
              <a:xfrm>
                <a:off x="457200" y="1355834"/>
                <a:ext cx="11430000" cy="5249917"/>
              </a:xfrm>
            </p:spPr>
            <p:txBody>
              <a:bodyPr>
                <a:normAutofit/>
              </a:bodyPr>
              <a:lstStyle/>
              <a:p>
                <a14:m>
                  <m:oMath xmlns:m="http://schemas.openxmlformats.org/officeDocument/2006/math">
                    <m:r>
                      <a:rPr lang="es-CR" b="0" i="1" smtClean="0">
                        <a:latin typeface="Cambria Math" panose="02040503050406030204" pitchFamily="18" charset="0"/>
                      </a:rPr>
                      <m:t>% </m:t>
                    </m:r>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𝑛𝑎𝑡𝑖𝑣𝑎</m:t>
                    </m:r>
                    <m:r>
                      <a:rPr lang="es-CR" b="0" i="1" smtClean="0">
                        <a:latin typeface="Cambria Math" panose="02040503050406030204" pitchFamily="18" charset="0"/>
                      </a:rPr>
                      <m:t>=</m:t>
                    </m:r>
                    <m:f>
                      <m:fPr>
                        <m:ctrlPr>
                          <a:rPr lang="es-CR" b="0" i="1" smtClean="0">
                            <a:latin typeface="Cambria Math" panose="02040503050406030204" pitchFamily="18" charset="0"/>
                          </a:rPr>
                        </m:ctrlPr>
                      </m:fPr>
                      <m:num>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𝑛𝑎𝑐𝑖𝑑𝑎</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𝑔𝑒𝑜𝑔𝑟</m:t>
                        </m:r>
                        <m:r>
                          <a:rPr lang="es-CR" b="0" i="1" smtClean="0">
                            <a:latin typeface="Cambria Math" panose="02040503050406030204" pitchFamily="18" charset="0"/>
                          </a:rPr>
                          <m:t>á</m:t>
                        </m:r>
                        <m:r>
                          <a:rPr lang="es-CR" b="0" i="1" smtClean="0">
                            <a:latin typeface="Cambria Math" panose="02040503050406030204" pitchFamily="18" charset="0"/>
                          </a:rPr>
                          <m:t>𝑓𝑖𝑐𝑜</m:t>
                        </m:r>
                        <m:r>
                          <a:rPr lang="es-CR" b="0" i="1" smtClean="0">
                            <a:latin typeface="Cambria Math" panose="02040503050406030204" pitchFamily="18" charset="0"/>
                          </a:rPr>
                          <m:t> </m:t>
                        </m:r>
                        <m:r>
                          <a:rPr lang="es-CR" b="0" i="1" smtClean="0">
                            <a:latin typeface="Cambria Math" panose="02040503050406030204" pitchFamily="18" charset="0"/>
                          </a:rPr>
                          <m:t>𝑘</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𝑚𝑜𝑚𝑒𝑛𝑡𝑜</m:t>
                        </m:r>
                        <m:r>
                          <a:rPr lang="es-CR" b="0" i="1" smtClean="0">
                            <a:latin typeface="Cambria Math" panose="02040503050406030204" pitchFamily="18" charset="0"/>
                          </a:rPr>
                          <m:t> </m:t>
                        </m:r>
                        <m:r>
                          <a:rPr lang="es-CR" b="0" i="1" smtClean="0">
                            <a:latin typeface="Cambria Math" panose="02040503050406030204" pitchFamily="18" charset="0"/>
                          </a:rPr>
                          <m:t>𝑡</m:t>
                        </m:r>
                      </m:num>
                      <m:den>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𝑡𝑜𝑡𝑎𝑙</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𝑔𝑒𝑜𝑔𝑟</m:t>
                        </m:r>
                        <m:r>
                          <a:rPr lang="es-CR" b="0" i="1" smtClean="0">
                            <a:latin typeface="Cambria Math" panose="02040503050406030204" pitchFamily="18" charset="0"/>
                          </a:rPr>
                          <m:t>á</m:t>
                        </m:r>
                        <m:r>
                          <a:rPr lang="es-CR" b="0" i="1" smtClean="0">
                            <a:latin typeface="Cambria Math" panose="02040503050406030204" pitchFamily="18" charset="0"/>
                          </a:rPr>
                          <m:t>𝑓𝑖𝑐𝑜</m:t>
                        </m:r>
                        <m:r>
                          <a:rPr lang="es-CR" b="0" i="1" smtClean="0">
                            <a:latin typeface="Cambria Math" panose="02040503050406030204" pitchFamily="18" charset="0"/>
                          </a:rPr>
                          <m:t> </m:t>
                        </m:r>
                        <m:r>
                          <a:rPr lang="es-CR" b="0" i="1" smtClean="0">
                            <a:latin typeface="Cambria Math" panose="02040503050406030204" pitchFamily="18" charset="0"/>
                          </a:rPr>
                          <m:t>𝑘</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𝑚𝑜𝑚𝑒𝑛𝑡𝑜</m:t>
                        </m:r>
                        <m:r>
                          <a:rPr lang="es-CR" b="0" i="1" smtClean="0">
                            <a:latin typeface="Cambria Math" panose="02040503050406030204" pitchFamily="18" charset="0"/>
                          </a:rPr>
                          <m:t> </m:t>
                        </m:r>
                        <m:r>
                          <a:rPr lang="es-CR" b="0" i="1" smtClean="0">
                            <a:latin typeface="Cambria Math" panose="02040503050406030204" pitchFamily="18" charset="0"/>
                          </a:rPr>
                          <m:t>𝑡</m:t>
                        </m:r>
                      </m:den>
                    </m:f>
                  </m:oMath>
                </a14:m>
                <a:endParaRPr lang="es-ES" dirty="0"/>
              </a:p>
              <a:p>
                <a14:m>
                  <m:oMath xmlns:m="http://schemas.openxmlformats.org/officeDocument/2006/math">
                    <m:m>
                      <m:mPr>
                        <m:mcs>
                          <m:mc>
                            <m:mcPr>
                              <m:count m:val="1"/>
                              <m:mcJc m:val="center"/>
                            </m:mcPr>
                          </m:mc>
                        </m:mcs>
                        <m:ctrlPr>
                          <a:rPr lang="es-CR" b="0" i="1" smtClean="0">
                            <a:latin typeface="Cambria Math" panose="02040503050406030204" pitchFamily="18" charset="0"/>
                          </a:rPr>
                        </m:ctrlPr>
                      </m:mPr>
                      <m:mr>
                        <m:e>
                          <m:r>
                            <m:rPr>
                              <m:brk m:alnAt="7"/>
                            </m:rPr>
                            <a:rPr lang="es-CR" b="0" i="1" smtClean="0">
                              <a:latin typeface="Cambria Math" panose="02040503050406030204" pitchFamily="18" charset="0"/>
                            </a:rPr>
                            <m:t>%</m:t>
                          </m:r>
                          <m:r>
                            <a:rPr lang="es-CR" b="0" i="1" smtClean="0">
                              <a:latin typeface="Cambria Math" panose="02040503050406030204" pitchFamily="18" charset="0"/>
                            </a:rPr>
                            <m:t> </m:t>
                          </m:r>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e>
                      </m:mr>
                      <m:mr>
                        <m:e>
                          <m:r>
                            <a:rPr lang="es-CR" b="0" i="1" smtClean="0">
                              <a:latin typeface="Cambria Math" panose="02040503050406030204" pitchFamily="18" charset="0"/>
                            </a:rPr>
                            <m:t>𝑒𝑥𝑡𝑟𝑎𝑛𝑗𝑒𝑟𝑎</m:t>
                          </m:r>
                        </m:e>
                      </m:mr>
                    </m:m>
                    <m:r>
                      <a:rPr lang="es-CR" b="0" i="1" smtClean="0">
                        <a:latin typeface="Cambria Math" panose="02040503050406030204" pitchFamily="18" charset="0"/>
                      </a:rPr>
                      <m:t>=</m:t>
                    </m:r>
                    <m:f>
                      <m:fPr>
                        <m:ctrlPr>
                          <a:rPr lang="es-CR" b="0" i="1" smtClean="0">
                            <a:latin typeface="Cambria Math" panose="02040503050406030204" pitchFamily="18" charset="0"/>
                          </a:rPr>
                        </m:ctrlPr>
                      </m:fPr>
                      <m:num>
                        <m:eqArr>
                          <m:eqArrPr>
                            <m:ctrlPr>
                              <a:rPr lang="es-CR" b="0" i="1" smtClean="0">
                                <a:latin typeface="Cambria Math" panose="02040503050406030204" pitchFamily="18" charset="0"/>
                              </a:rPr>
                            </m:ctrlPr>
                          </m:eqArrPr>
                          <m:e>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𝑛𝑎𝑐𝑖𝑑𝑎</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𝑒𝑥𝑡𝑒𝑟𝑖𝑜𝑟</m:t>
                            </m:r>
                            <m:r>
                              <a:rPr lang="es-CR" b="0" i="1" smtClean="0">
                                <a:latin typeface="Cambria Math" panose="02040503050406030204" pitchFamily="18" charset="0"/>
                              </a:rPr>
                              <m:t> </m:t>
                            </m:r>
                            <m:r>
                              <a:rPr lang="es-CR" b="0" i="1" smtClean="0">
                                <a:latin typeface="Cambria Math" panose="02040503050406030204" pitchFamily="18" charset="0"/>
                              </a:rPr>
                              <m:t>𝑦</m:t>
                            </m:r>
                            <m:r>
                              <a:rPr lang="es-CR" b="0" i="1" smtClean="0">
                                <a:latin typeface="Cambria Math" panose="02040503050406030204" pitchFamily="18" charset="0"/>
                              </a:rPr>
                              <m:t> </m:t>
                            </m:r>
                            <m:r>
                              <a:rPr lang="es-CR" b="0" i="1" smtClean="0">
                                <a:latin typeface="Cambria Math" panose="02040503050406030204" pitchFamily="18" charset="0"/>
                              </a:rPr>
                              <m:t>𝑟𝑒𝑠𝑖𝑑𝑒𝑛𝑡𝑒</m:t>
                            </m:r>
                            <m:r>
                              <a:rPr lang="es-CR" b="0" i="1" smtClean="0">
                                <a:latin typeface="Cambria Math" panose="02040503050406030204" pitchFamily="18" charset="0"/>
                              </a:rPr>
                              <m:t> </m:t>
                            </m:r>
                          </m:e>
                          <m:e>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𝑔𝑒𝑜𝑔𝑟</m:t>
                            </m:r>
                            <m:r>
                              <a:rPr lang="es-CR" b="0" i="1" smtClean="0">
                                <a:latin typeface="Cambria Math" panose="02040503050406030204" pitchFamily="18" charset="0"/>
                              </a:rPr>
                              <m:t>á</m:t>
                            </m:r>
                            <m:r>
                              <a:rPr lang="es-CR" b="0" i="1" smtClean="0">
                                <a:latin typeface="Cambria Math" panose="02040503050406030204" pitchFamily="18" charset="0"/>
                              </a:rPr>
                              <m:t>𝑓𝑖𝑐𝑜</m:t>
                            </m:r>
                            <m:r>
                              <a:rPr lang="es-CR" b="0" i="1" smtClean="0">
                                <a:latin typeface="Cambria Math" panose="02040503050406030204" pitchFamily="18" charset="0"/>
                              </a:rPr>
                              <m:t> </m:t>
                            </m:r>
                            <m:r>
                              <a:rPr lang="es-CR" b="0" i="1" smtClean="0">
                                <a:latin typeface="Cambria Math" panose="02040503050406030204" pitchFamily="18" charset="0"/>
                              </a:rPr>
                              <m:t>𝑘</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𝑚𝑜𝑚𝑒𝑛𝑡𝑜</m:t>
                            </m:r>
                            <m:r>
                              <a:rPr lang="es-CR" b="0" i="1" smtClean="0">
                                <a:latin typeface="Cambria Math" panose="02040503050406030204" pitchFamily="18" charset="0"/>
                              </a:rPr>
                              <m:t> </m:t>
                            </m:r>
                            <m:r>
                              <a:rPr lang="es-CR" b="0" i="1" smtClean="0">
                                <a:latin typeface="Cambria Math" panose="02040503050406030204" pitchFamily="18" charset="0"/>
                              </a:rPr>
                              <m:t>𝑡</m:t>
                            </m:r>
                          </m:e>
                        </m:eqArr>
                      </m:num>
                      <m:den>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𝑡𝑜𝑡𝑎𝑙</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𝑔𝑒𝑜𝑔𝑟</m:t>
                        </m:r>
                        <m:r>
                          <a:rPr lang="es-CR" b="0" i="1" smtClean="0">
                            <a:latin typeface="Cambria Math" panose="02040503050406030204" pitchFamily="18" charset="0"/>
                          </a:rPr>
                          <m:t>á</m:t>
                        </m:r>
                        <m:r>
                          <a:rPr lang="es-CR" b="0" i="1" smtClean="0">
                            <a:latin typeface="Cambria Math" panose="02040503050406030204" pitchFamily="18" charset="0"/>
                          </a:rPr>
                          <m:t>𝑓𝑖𝑐𝑜</m:t>
                        </m:r>
                        <m:r>
                          <a:rPr lang="es-CR" b="0" i="1" smtClean="0">
                            <a:latin typeface="Cambria Math" panose="02040503050406030204" pitchFamily="18" charset="0"/>
                          </a:rPr>
                          <m:t> </m:t>
                        </m:r>
                        <m:r>
                          <a:rPr lang="es-CR" b="0" i="1" smtClean="0">
                            <a:latin typeface="Cambria Math" panose="02040503050406030204" pitchFamily="18" charset="0"/>
                          </a:rPr>
                          <m:t>𝑘</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𝑚𝑜𝑚𝑒𝑛𝑡𝑜</m:t>
                        </m:r>
                        <m:r>
                          <a:rPr lang="es-CR" b="0" i="1" smtClean="0">
                            <a:latin typeface="Cambria Math" panose="02040503050406030204" pitchFamily="18" charset="0"/>
                          </a:rPr>
                          <m:t> </m:t>
                        </m:r>
                        <m:r>
                          <a:rPr lang="es-CR" b="0" i="1" smtClean="0">
                            <a:latin typeface="Cambria Math" panose="02040503050406030204" pitchFamily="18" charset="0"/>
                          </a:rPr>
                          <m:t>𝑡</m:t>
                        </m:r>
                      </m:den>
                    </m:f>
                  </m:oMath>
                </a14:m>
                <a:endParaRPr lang="es-ES" dirty="0"/>
              </a:p>
              <a:p>
                <a14:m>
                  <m:oMath xmlns:m="http://schemas.openxmlformats.org/officeDocument/2006/math">
                    <m:m>
                      <m:mPr>
                        <m:mcs>
                          <m:mc>
                            <m:mcPr>
                              <m:count m:val="1"/>
                              <m:mcJc m:val="center"/>
                            </m:mcPr>
                          </m:mc>
                        </m:mcs>
                        <m:ctrlPr>
                          <a:rPr lang="es-ES" i="1" smtClean="0">
                            <a:latin typeface="Cambria Math" panose="02040503050406030204" pitchFamily="18" charset="0"/>
                          </a:rPr>
                        </m:ctrlPr>
                      </m:mPr>
                      <m:mr>
                        <m:e>
                          <m:r>
                            <m:rPr>
                              <m:brk m:alnAt="7"/>
                            </m:rPr>
                            <a:rPr lang="es-CR" b="0" i="1" smtClean="0">
                              <a:latin typeface="Cambria Math" panose="02040503050406030204" pitchFamily="18" charset="0"/>
                            </a:rPr>
                            <m:t>𝑇</m:t>
                          </m:r>
                          <m:r>
                            <a:rPr lang="es-CR" b="0" i="1" smtClean="0">
                              <a:latin typeface="Cambria Math" panose="02040503050406030204" pitchFamily="18" charset="0"/>
                            </a:rPr>
                            <m:t>𝑎𝑠𝑎</m:t>
                          </m:r>
                          <m:r>
                            <a:rPr lang="es-CR" b="0" i="1" smtClean="0">
                              <a:latin typeface="Cambria Math" panose="02040503050406030204" pitchFamily="18" charset="0"/>
                            </a:rPr>
                            <m:t> </m:t>
                          </m:r>
                          <m:r>
                            <a:rPr lang="es-CR" b="0" i="1" smtClean="0">
                              <a:latin typeface="Cambria Math" panose="02040503050406030204" pitchFamily="18" charset="0"/>
                            </a:rPr>
                            <m:t>𝑑𝑒</m:t>
                          </m:r>
                        </m:e>
                      </m:mr>
                      <m:mr>
                        <m:e>
                          <m:r>
                            <a:rPr lang="es-CR" b="0" i="1" smtClean="0">
                              <a:latin typeface="Cambria Math" panose="02040503050406030204" pitchFamily="18" charset="0"/>
                            </a:rPr>
                            <m:t>𝑖𝑛𝑚𝑖𝑔𝑟𝑎𝑐𝑖</m:t>
                          </m:r>
                          <m:r>
                            <a:rPr lang="es-CR" b="0" i="1" smtClean="0">
                              <a:latin typeface="Cambria Math" panose="02040503050406030204" pitchFamily="18" charset="0"/>
                            </a:rPr>
                            <m:t>ó</m:t>
                          </m:r>
                          <m:r>
                            <a:rPr lang="es-CR" b="0" i="1" smtClean="0">
                              <a:latin typeface="Cambria Math" panose="02040503050406030204" pitchFamily="18" charset="0"/>
                            </a:rPr>
                            <m:t>𝑛</m:t>
                          </m:r>
                        </m:e>
                      </m:mr>
                    </m:m>
                    <m:r>
                      <a:rPr lang="es-CR" b="0" i="1" smtClean="0">
                        <a:latin typeface="Cambria Math" panose="02040503050406030204" pitchFamily="18" charset="0"/>
                      </a:rPr>
                      <m:t>=</m:t>
                    </m:r>
                    <m:f>
                      <m:fPr>
                        <m:ctrlPr>
                          <a:rPr lang="es-CR" b="0" i="1" smtClean="0">
                            <a:latin typeface="Cambria Math" panose="02040503050406030204" pitchFamily="18" charset="0"/>
                          </a:rPr>
                        </m:ctrlPr>
                      </m:fPr>
                      <m:num>
                        <m:eqArr>
                          <m:eqArrPr>
                            <m:ctrlPr>
                              <a:rPr lang="es-CR" b="0" i="1" smtClean="0">
                                <a:latin typeface="Cambria Math" panose="02040503050406030204" pitchFamily="18" charset="0"/>
                              </a:rPr>
                            </m:ctrlPr>
                          </m:eqArrPr>
                          <m:e>
                            <m:r>
                              <a:rPr lang="es-CR" b="0" i="1" smtClean="0">
                                <a:latin typeface="Cambria Math" panose="02040503050406030204" pitchFamily="18" charset="0"/>
                              </a:rPr>
                              <m:t>𝑃𝑟𝑜𝑚𝑒𝑑𝑖𝑜</m:t>
                            </m:r>
                            <m:r>
                              <a:rPr lang="es-CR" b="0" i="1" smtClean="0">
                                <a:latin typeface="Cambria Math" panose="02040503050406030204" pitchFamily="18" charset="0"/>
                              </a:rPr>
                              <m:t> </m:t>
                            </m:r>
                            <m:r>
                              <a:rPr lang="es-CR" b="0" i="1" smtClean="0">
                                <a:latin typeface="Cambria Math" panose="02040503050406030204" pitchFamily="18" charset="0"/>
                              </a:rPr>
                              <m:t>𝑎𝑛𝑢𝑎𝑙</m:t>
                            </m:r>
                            <m:r>
                              <a:rPr lang="es-CR" b="0" i="1" smtClean="0">
                                <a:latin typeface="Cambria Math" panose="02040503050406030204" pitchFamily="18" charset="0"/>
                              </a:rPr>
                              <m:t> </m:t>
                            </m:r>
                            <m:r>
                              <a:rPr lang="es-CR" b="0" i="1" smtClean="0">
                                <a:latin typeface="Cambria Math" panose="02040503050406030204" pitchFamily="18" charset="0"/>
                              </a:rPr>
                              <m:t>𝑑𝑒</m:t>
                            </m:r>
                            <m:r>
                              <a:rPr lang="es-CR" b="0" i="1" smtClean="0">
                                <a:latin typeface="Cambria Math" panose="02040503050406030204" pitchFamily="18" charset="0"/>
                              </a:rPr>
                              <m:t> </m:t>
                            </m:r>
                            <m:r>
                              <a:rPr lang="es-CR" b="0" i="1" smtClean="0">
                                <a:latin typeface="Cambria Math" panose="02040503050406030204" pitchFamily="18" charset="0"/>
                              </a:rPr>
                              <m:t>𝑖𝑛𝑚𝑖𝑔𝑟𝑎𝑛𝑡𝑒𝑠</m:t>
                            </m:r>
                            <m:r>
                              <a:rPr lang="es-CR" b="0" i="1" smtClean="0">
                                <a:latin typeface="Cambria Math" panose="02040503050406030204" pitchFamily="18" charset="0"/>
                              </a:rPr>
                              <m:t> </m:t>
                            </m:r>
                            <m:r>
                              <a:rPr lang="es-CR" b="0" i="1" smtClean="0">
                                <a:latin typeface="Cambria Math" panose="02040503050406030204" pitchFamily="18" charset="0"/>
                              </a:rPr>
                              <m:t>𝑑𝑢𝑟𝑎𝑛𝑡𝑒</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𝑝𝑒𝑟</m:t>
                            </m:r>
                            <m:r>
                              <a:rPr lang="es-CR" b="0" i="1" smtClean="0">
                                <a:latin typeface="Cambria Math" panose="02040503050406030204" pitchFamily="18" charset="0"/>
                              </a:rPr>
                              <m:t>í</m:t>
                            </m:r>
                            <m:r>
                              <a:rPr lang="es-CR" b="0" i="1" smtClean="0">
                                <a:latin typeface="Cambria Math" panose="02040503050406030204" pitchFamily="18" charset="0"/>
                              </a:rPr>
                              <m:t>𝑜𝑑𝑜</m:t>
                            </m:r>
                            <m:r>
                              <a:rPr lang="es-CR" b="0" i="1" smtClean="0">
                                <a:latin typeface="Cambria Math" panose="02040503050406030204" pitchFamily="18" charset="0"/>
                              </a:rPr>
                              <m:t> </m:t>
                            </m:r>
                            <m:r>
                              <a:rPr lang="es-CR" b="0" i="1" smtClean="0">
                                <a:latin typeface="Cambria Math" panose="02040503050406030204" pitchFamily="18" charset="0"/>
                              </a:rPr>
                              <m:t>𝑡</m:t>
                            </m:r>
                            <m:r>
                              <a:rPr lang="es-CR" b="0" i="1" smtClean="0">
                                <a:latin typeface="Cambria Math" panose="02040503050406030204" pitchFamily="18" charset="0"/>
                              </a:rPr>
                              <m:t> </m:t>
                            </m:r>
                          </m:e>
                          <m:e>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𝑘</m:t>
                            </m:r>
                          </m:e>
                        </m:eqArr>
                      </m:num>
                      <m:den>
                        <m:f>
                          <m:fPr>
                            <m:ctrlPr>
                              <a:rPr lang="es-CR" b="0" i="1" smtClean="0">
                                <a:latin typeface="Cambria Math" panose="02040503050406030204" pitchFamily="18" charset="0"/>
                              </a:rPr>
                            </m:ctrlPr>
                          </m:fPr>
                          <m:num>
                            <m:d>
                              <m:dPr>
                                <m:ctrlPr>
                                  <a:rPr lang="es-CR" b="0" i="1" smtClean="0">
                                    <a:latin typeface="Cambria Math" panose="02040503050406030204" pitchFamily="18" charset="0"/>
                                  </a:rPr>
                                </m:ctrlPr>
                              </m:dPr>
                              <m:e>
                                <m:r>
                                  <a:rPr lang="es-CR" b="0" i="1" smtClean="0">
                                    <a:latin typeface="Cambria Math" panose="02040503050406030204" pitchFamily="18" charset="0"/>
                                  </a:rPr>
                                  <m:t>𝑃𝑜𝑏𝑙𝑎𝑐𝑖𝑜𝑛</m:t>
                                </m:r>
                                <m:r>
                                  <a:rPr lang="es-CR" b="0" i="1" smtClean="0">
                                    <a:latin typeface="Cambria Math" panose="02040503050406030204" pitchFamily="18" charset="0"/>
                                  </a:rPr>
                                  <m:t> </m:t>
                                </m:r>
                                <m:r>
                                  <a:rPr lang="es-CR" b="0" i="1" smtClean="0">
                                    <a:latin typeface="Cambria Math" panose="02040503050406030204" pitchFamily="18" charset="0"/>
                                  </a:rPr>
                                  <m:t>𝑎𝑐𝑡𝑢𝑎𝑙</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𝑘</m:t>
                                </m:r>
                                <m:r>
                                  <a:rPr lang="es-CR" b="0" i="1" smtClean="0">
                                    <a:latin typeface="Cambria Math" panose="02040503050406030204" pitchFamily="18" charset="0"/>
                                  </a:rPr>
                                  <m:t>+</m:t>
                                </m:r>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𝑎𝑛𝑡𝑒𝑟𝑖𝑜𝑟</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𝑘</m:t>
                                </m:r>
                              </m:e>
                            </m:d>
                          </m:num>
                          <m:den>
                            <m:r>
                              <a:rPr lang="es-CR" b="0" i="1" smtClean="0">
                                <a:latin typeface="Cambria Math" panose="02040503050406030204" pitchFamily="18" charset="0"/>
                              </a:rPr>
                              <m:t>2</m:t>
                            </m:r>
                          </m:den>
                        </m:f>
                      </m:den>
                    </m:f>
                  </m:oMath>
                </a14:m>
                <a:r>
                  <a:rPr lang="es-ES" dirty="0"/>
                  <a:t>*1000</a:t>
                </a:r>
              </a:p>
              <a:p>
                <a14:m>
                  <m:oMath xmlns:m="http://schemas.openxmlformats.org/officeDocument/2006/math">
                    <m:m>
                      <m:mPr>
                        <m:mcs>
                          <m:mc>
                            <m:mcPr>
                              <m:count m:val="1"/>
                              <m:mcJc m:val="center"/>
                            </m:mcPr>
                          </m:mc>
                        </m:mcs>
                        <m:ctrlPr>
                          <a:rPr lang="es-ES" i="1" smtClean="0">
                            <a:latin typeface="Cambria Math" panose="02040503050406030204" pitchFamily="18" charset="0"/>
                          </a:rPr>
                        </m:ctrlPr>
                      </m:mPr>
                      <m:mr>
                        <m:e>
                          <m:r>
                            <m:rPr>
                              <m:brk m:alnAt="7"/>
                            </m:rPr>
                            <a:rPr lang="es-CR" b="0" i="1" smtClean="0">
                              <a:latin typeface="Cambria Math" panose="02040503050406030204" pitchFamily="18" charset="0"/>
                            </a:rPr>
                            <m:t>𝑇</m:t>
                          </m:r>
                          <m:r>
                            <a:rPr lang="es-CR" b="0" i="1" smtClean="0">
                              <a:latin typeface="Cambria Math" panose="02040503050406030204" pitchFamily="18" charset="0"/>
                            </a:rPr>
                            <m:t>𝑎𝑠𝑎</m:t>
                          </m:r>
                          <m:r>
                            <a:rPr lang="es-CR" b="0" i="1" smtClean="0">
                              <a:latin typeface="Cambria Math" panose="02040503050406030204" pitchFamily="18" charset="0"/>
                            </a:rPr>
                            <m:t> </m:t>
                          </m:r>
                          <m:r>
                            <a:rPr lang="es-CR" b="0" i="1" smtClean="0">
                              <a:latin typeface="Cambria Math" panose="02040503050406030204" pitchFamily="18" charset="0"/>
                            </a:rPr>
                            <m:t>𝑑𝑒</m:t>
                          </m:r>
                        </m:e>
                      </m:mr>
                      <m:mr>
                        <m:e>
                          <m:r>
                            <a:rPr lang="es-CR" b="0" i="1" smtClean="0">
                              <a:latin typeface="Cambria Math" panose="02040503050406030204" pitchFamily="18" charset="0"/>
                            </a:rPr>
                            <m:t>𝑒𝑚𝑖𝑔𝑟𝑎𝑐𝑖</m:t>
                          </m:r>
                          <m:r>
                            <a:rPr lang="es-CR" b="0" i="1" smtClean="0">
                              <a:latin typeface="Cambria Math" panose="02040503050406030204" pitchFamily="18" charset="0"/>
                            </a:rPr>
                            <m:t>ó</m:t>
                          </m:r>
                          <m:r>
                            <a:rPr lang="es-CR" b="0" i="1" smtClean="0">
                              <a:latin typeface="Cambria Math" panose="02040503050406030204" pitchFamily="18" charset="0"/>
                            </a:rPr>
                            <m:t>𝑛</m:t>
                          </m:r>
                        </m:e>
                      </m:mr>
                    </m:m>
                    <m:r>
                      <a:rPr lang="es-CR" b="0" i="1" smtClean="0">
                        <a:latin typeface="Cambria Math" panose="02040503050406030204" pitchFamily="18" charset="0"/>
                      </a:rPr>
                      <m:t>=</m:t>
                    </m:r>
                    <m:f>
                      <m:fPr>
                        <m:ctrlPr>
                          <a:rPr lang="es-CR" b="0" i="1" smtClean="0">
                            <a:latin typeface="Cambria Math" panose="02040503050406030204" pitchFamily="18" charset="0"/>
                          </a:rPr>
                        </m:ctrlPr>
                      </m:fPr>
                      <m:num>
                        <m:eqArr>
                          <m:eqArrPr>
                            <m:ctrlPr>
                              <a:rPr lang="es-CR" b="0" i="1" smtClean="0">
                                <a:latin typeface="Cambria Math" panose="02040503050406030204" pitchFamily="18" charset="0"/>
                              </a:rPr>
                            </m:ctrlPr>
                          </m:eqArrPr>
                          <m:e>
                            <m:r>
                              <a:rPr lang="es-CR" b="0" i="1" smtClean="0">
                                <a:latin typeface="Cambria Math" panose="02040503050406030204" pitchFamily="18" charset="0"/>
                              </a:rPr>
                              <m:t>𝑃𝑟𝑜𝑚𝑒𝑑𝑖𝑜</m:t>
                            </m:r>
                            <m:r>
                              <a:rPr lang="es-CR" b="0" i="1" smtClean="0">
                                <a:latin typeface="Cambria Math" panose="02040503050406030204" pitchFamily="18" charset="0"/>
                              </a:rPr>
                              <m:t> </m:t>
                            </m:r>
                            <m:r>
                              <a:rPr lang="es-CR" b="0" i="1" smtClean="0">
                                <a:latin typeface="Cambria Math" panose="02040503050406030204" pitchFamily="18" charset="0"/>
                              </a:rPr>
                              <m:t>𝑎𝑛𝑢𝑎𝑙</m:t>
                            </m:r>
                            <m:r>
                              <a:rPr lang="es-CR" b="0" i="1" smtClean="0">
                                <a:latin typeface="Cambria Math" panose="02040503050406030204" pitchFamily="18" charset="0"/>
                              </a:rPr>
                              <m:t> </m:t>
                            </m:r>
                            <m:r>
                              <a:rPr lang="es-CR" b="0" i="1" smtClean="0">
                                <a:latin typeface="Cambria Math" panose="02040503050406030204" pitchFamily="18" charset="0"/>
                              </a:rPr>
                              <m:t>𝑑𝑒</m:t>
                            </m:r>
                            <m:r>
                              <a:rPr lang="es-CR" b="0" i="1" smtClean="0">
                                <a:latin typeface="Cambria Math" panose="02040503050406030204" pitchFamily="18" charset="0"/>
                              </a:rPr>
                              <m:t> </m:t>
                            </m:r>
                            <m:r>
                              <a:rPr lang="es-CR" b="0" i="1" smtClean="0">
                                <a:latin typeface="Cambria Math" panose="02040503050406030204" pitchFamily="18" charset="0"/>
                              </a:rPr>
                              <m:t>𝑒𝑚𝑖𝑔𝑟𝑎𝑛𝑡𝑒𝑠</m:t>
                            </m:r>
                            <m:r>
                              <a:rPr lang="es-CR" b="0" i="1" smtClean="0">
                                <a:latin typeface="Cambria Math" panose="02040503050406030204" pitchFamily="18" charset="0"/>
                              </a:rPr>
                              <m:t> </m:t>
                            </m:r>
                            <m:r>
                              <a:rPr lang="es-CR" b="0" i="1" smtClean="0">
                                <a:latin typeface="Cambria Math" panose="02040503050406030204" pitchFamily="18" charset="0"/>
                              </a:rPr>
                              <m:t>𝑑𝑢𝑟𝑎𝑛𝑡𝑒</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𝑝𝑒𝑟</m:t>
                            </m:r>
                            <m:r>
                              <a:rPr lang="es-CR" b="0" i="1" smtClean="0">
                                <a:latin typeface="Cambria Math" panose="02040503050406030204" pitchFamily="18" charset="0"/>
                              </a:rPr>
                              <m:t>í</m:t>
                            </m:r>
                            <m:r>
                              <a:rPr lang="es-CR" b="0" i="1" smtClean="0">
                                <a:latin typeface="Cambria Math" panose="02040503050406030204" pitchFamily="18" charset="0"/>
                              </a:rPr>
                              <m:t>𝑜𝑑𝑜</m:t>
                            </m:r>
                            <m:r>
                              <a:rPr lang="es-CR" b="0" i="1" smtClean="0">
                                <a:latin typeface="Cambria Math" panose="02040503050406030204" pitchFamily="18" charset="0"/>
                              </a:rPr>
                              <m:t> </m:t>
                            </m:r>
                            <m:r>
                              <a:rPr lang="es-CR" b="0" i="1" smtClean="0">
                                <a:latin typeface="Cambria Math" panose="02040503050406030204" pitchFamily="18" charset="0"/>
                              </a:rPr>
                              <m:t>𝑡</m:t>
                            </m:r>
                            <m:r>
                              <a:rPr lang="es-CR" b="0" i="1" smtClean="0">
                                <a:latin typeface="Cambria Math" panose="02040503050406030204" pitchFamily="18" charset="0"/>
                              </a:rPr>
                              <m:t> </m:t>
                            </m:r>
                          </m:e>
                          <m:e>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𝑘</m:t>
                            </m:r>
                          </m:e>
                        </m:eqArr>
                      </m:num>
                      <m:den>
                        <m:f>
                          <m:fPr>
                            <m:ctrlPr>
                              <a:rPr lang="es-CR" b="0" i="1" smtClean="0">
                                <a:latin typeface="Cambria Math" panose="02040503050406030204" pitchFamily="18" charset="0"/>
                              </a:rPr>
                            </m:ctrlPr>
                          </m:fPr>
                          <m:num>
                            <m:d>
                              <m:dPr>
                                <m:ctrlPr>
                                  <a:rPr lang="es-CR" b="0" i="1" smtClean="0">
                                    <a:latin typeface="Cambria Math" panose="02040503050406030204" pitchFamily="18" charset="0"/>
                                  </a:rPr>
                                </m:ctrlPr>
                              </m:dPr>
                              <m:e>
                                <m:r>
                                  <a:rPr lang="es-CR" b="0" i="1" smtClean="0">
                                    <a:latin typeface="Cambria Math" panose="02040503050406030204" pitchFamily="18" charset="0"/>
                                  </a:rPr>
                                  <m:t>𝑃𝑜𝑏𝑙𝑎𝑐𝑖𝑜𝑛</m:t>
                                </m:r>
                                <m:r>
                                  <a:rPr lang="es-CR" b="0" i="1" smtClean="0">
                                    <a:latin typeface="Cambria Math" panose="02040503050406030204" pitchFamily="18" charset="0"/>
                                  </a:rPr>
                                  <m:t> </m:t>
                                </m:r>
                                <m:r>
                                  <a:rPr lang="es-CR" b="0" i="1" smtClean="0">
                                    <a:latin typeface="Cambria Math" panose="02040503050406030204" pitchFamily="18" charset="0"/>
                                  </a:rPr>
                                  <m:t>𝑎𝑐𝑡𝑢𝑎𝑙</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𝑘</m:t>
                                </m:r>
                                <m:r>
                                  <a:rPr lang="es-CR" b="0" i="1" smtClean="0">
                                    <a:latin typeface="Cambria Math" panose="02040503050406030204" pitchFamily="18" charset="0"/>
                                  </a:rPr>
                                  <m:t>+</m:t>
                                </m:r>
                                <m:r>
                                  <a:rPr lang="es-CR" b="0" i="1" smtClean="0">
                                    <a:latin typeface="Cambria Math" panose="02040503050406030204" pitchFamily="18" charset="0"/>
                                  </a:rPr>
                                  <m:t>𝑃𝑜𝑏𝑙𝑎𝑐𝑖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𝑎𝑛𝑡𝑒𝑟𝑖𝑜𝑟</m:t>
                                </m:r>
                                <m:r>
                                  <a:rPr lang="es-CR" b="0" i="1" smtClean="0">
                                    <a:latin typeface="Cambria Math" panose="02040503050406030204" pitchFamily="18" charset="0"/>
                                  </a:rPr>
                                  <m:t> </m:t>
                                </m:r>
                                <m:r>
                                  <a:rPr lang="es-CR" b="0" i="1" smtClean="0">
                                    <a:latin typeface="Cambria Math" panose="02040503050406030204" pitchFamily="18" charset="0"/>
                                  </a:rPr>
                                  <m:t>𝑒𝑛</m:t>
                                </m:r>
                                <m:r>
                                  <a:rPr lang="es-CR" b="0" i="1" smtClean="0">
                                    <a:latin typeface="Cambria Math" panose="02040503050406030204" pitchFamily="18" charset="0"/>
                                  </a:rPr>
                                  <m:t> </m:t>
                                </m:r>
                                <m:r>
                                  <a:rPr lang="es-CR" b="0" i="1" smtClean="0">
                                    <a:latin typeface="Cambria Math" panose="02040503050406030204" pitchFamily="18" charset="0"/>
                                  </a:rPr>
                                  <m:t>𝑒𝑙</m:t>
                                </m:r>
                                <m:r>
                                  <a:rPr lang="es-CR" b="0" i="1" smtClean="0">
                                    <a:latin typeface="Cambria Math" panose="02040503050406030204" pitchFamily="18" charset="0"/>
                                  </a:rPr>
                                  <m:t> </m:t>
                                </m:r>
                                <m:r>
                                  <a:rPr lang="es-CR" b="0" i="1" smtClean="0">
                                    <a:latin typeface="Cambria Math" panose="02040503050406030204" pitchFamily="18" charset="0"/>
                                  </a:rPr>
                                  <m:t>𝑙𝑢𝑔𝑎𝑟</m:t>
                                </m:r>
                                <m:r>
                                  <a:rPr lang="es-CR" b="0" i="1" smtClean="0">
                                    <a:latin typeface="Cambria Math" panose="02040503050406030204" pitchFamily="18" charset="0"/>
                                  </a:rPr>
                                  <m:t> </m:t>
                                </m:r>
                                <m:r>
                                  <a:rPr lang="es-CR" b="0" i="1" smtClean="0">
                                    <a:latin typeface="Cambria Math" panose="02040503050406030204" pitchFamily="18" charset="0"/>
                                  </a:rPr>
                                  <m:t>𝑘</m:t>
                                </m:r>
                              </m:e>
                            </m:d>
                          </m:num>
                          <m:den>
                            <m:r>
                              <a:rPr lang="es-CR" b="0" i="1" smtClean="0">
                                <a:latin typeface="Cambria Math" panose="02040503050406030204" pitchFamily="18" charset="0"/>
                              </a:rPr>
                              <m:t>2</m:t>
                            </m:r>
                          </m:den>
                        </m:f>
                      </m:den>
                    </m:f>
                  </m:oMath>
                </a14:m>
                <a:r>
                  <a:rPr lang="es-ES" dirty="0"/>
                  <a:t>*1000</a:t>
                </a:r>
              </a:p>
              <a:p>
                <a14:m>
                  <m:oMath xmlns:m="http://schemas.openxmlformats.org/officeDocument/2006/math">
                    <m:m>
                      <m:mPr>
                        <m:mcs>
                          <m:mc>
                            <m:mcPr>
                              <m:count m:val="1"/>
                              <m:mcJc m:val="center"/>
                            </m:mcPr>
                          </m:mc>
                        </m:mcs>
                        <m:ctrlPr>
                          <a:rPr lang="es-ES" i="1" smtClean="0">
                            <a:latin typeface="Cambria Math" panose="02040503050406030204" pitchFamily="18" charset="0"/>
                          </a:rPr>
                        </m:ctrlPr>
                      </m:mPr>
                      <m:mr>
                        <m:e>
                          <m:r>
                            <m:rPr>
                              <m:brk m:alnAt="7"/>
                            </m:rPr>
                            <a:rPr lang="es-CR" b="0" i="1" smtClean="0">
                              <a:latin typeface="Cambria Math" panose="02040503050406030204" pitchFamily="18" charset="0"/>
                            </a:rPr>
                            <m:t>𝑇</m:t>
                          </m:r>
                          <m:r>
                            <a:rPr lang="es-CR" b="0" i="1" smtClean="0">
                              <a:latin typeface="Cambria Math" panose="02040503050406030204" pitchFamily="18" charset="0"/>
                            </a:rPr>
                            <m:t>𝑎𝑠𝑎</m:t>
                          </m:r>
                          <m:r>
                            <a:rPr lang="es-CR" b="0" i="1" smtClean="0">
                              <a:latin typeface="Cambria Math" panose="02040503050406030204" pitchFamily="18" charset="0"/>
                            </a:rPr>
                            <m:t> </m:t>
                          </m:r>
                          <m:r>
                            <a:rPr lang="es-CR" b="0" i="1" smtClean="0">
                              <a:latin typeface="Cambria Math" panose="02040503050406030204" pitchFamily="18" charset="0"/>
                            </a:rPr>
                            <m:t>𝑑𝑒</m:t>
                          </m:r>
                        </m:e>
                      </m:mr>
                      <m:mr>
                        <m:e>
                          <m:r>
                            <a:rPr lang="es-CR" b="0" i="1" smtClean="0">
                              <a:latin typeface="Cambria Math" panose="02040503050406030204" pitchFamily="18" charset="0"/>
                            </a:rPr>
                            <m:t>𝑚𝑖𝑔𝑟𝑎𝑐𝑖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CR" b="0" i="1" smtClean="0">
                              <a:latin typeface="Cambria Math" panose="02040503050406030204" pitchFamily="18" charset="0"/>
                            </a:rPr>
                            <m:t>𝑛𝑒𝑡𝑎</m:t>
                          </m:r>
                        </m:e>
                      </m:mr>
                    </m:m>
                    <m:r>
                      <a:rPr lang="es-CR" b="0" i="1" smtClean="0">
                        <a:latin typeface="Cambria Math" panose="02040503050406030204" pitchFamily="18" charset="0"/>
                      </a:rPr>
                      <m:t>=</m:t>
                    </m:r>
                  </m:oMath>
                </a14:m>
                <a:r>
                  <a:rPr lang="es-ES" dirty="0"/>
                  <a:t>Tasa de inmigración-Tasa de emigración</a:t>
                </a:r>
              </a:p>
            </p:txBody>
          </p:sp>
        </mc:Choice>
        <mc:Fallback xmlns="">
          <p:sp>
            <p:nvSpPr>
              <p:cNvPr id="3" name="Marcador de contenido 2">
                <a:extLst>
                  <a:ext uri="{FF2B5EF4-FFF2-40B4-BE49-F238E27FC236}">
                    <a16:creationId xmlns:a16="http://schemas.microsoft.com/office/drawing/2014/main" id="{762B9BA2-0E93-1342-F58C-2674AF1E8EED}"/>
                  </a:ext>
                </a:extLst>
              </p:cNvPr>
              <p:cNvSpPr>
                <a:spLocks noGrp="1" noRot="1" noChangeAspect="1" noMove="1" noResize="1" noEditPoints="1" noAdjustHandles="1" noChangeArrowheads="1" noChangeShapeType="1" noTextEdit="1"/>
              </p:cNvSpPr>
              <p:nvPr>
                <p:ph idx="1"/>
              </p:nvPr>
            </p:nvSpPr>
            <p:spPr>
              <a:xfrm>
                <a:off x="457200" y="1355834"/>
                <a:ext cx="11430000" cy="5249917"/>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07688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F97AF-062F-A78A-1E59-9D1E99A083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EE92C6-A96B-776C-DA4F-92F0C3AED7E2}"/>
              </a:ext>
            </a:extLst>
          </p:cNvPr>
          <p:cNvSpPr>
            <a:spLocks noGrp="1"/>
          </p:cNvSpPr>
          <p:nvPr>
            <p:ph type="title"/>
          </p:nvPr>
        </p:nvSpPr>
        <p:spPr>
          <a:xfrm>
            <a:off x="838201" y="145644"/>
            <a:ext cx="6350876" cy="1325563"/>
          </a:xfrm>
        </p:spPr>
        <p:txBody>
          <a:bodyPr/>
          <a:lstStyle/>
          <a:p>
            <a:r>
              <a:rPr lang="es-CR" dirty="0"/>
              <a:t>Matriz de Origen-Destino</a:t>
            </a:r>
            <a:endParaRPr lang="en-US" dirty="0"/>
          </a:p>
        </p:txBody>
      </p:sp>
      <p:sp>
        <p:nvSpPr>
          <p:cNvPr id="8" name="Marcador de contenido 7">
            <a:extLst>
              <a:ext uri="{FF2B5EF4-FFF2-40B4-BE49-F238E27FC236}">
                <a16:creationId xmlns:a16="http://schemas.microsoft.com/office/drawing/2014/main" id="{6D9D4732-EF23-1973-D4DB-86620E258AE9}"/>
              </a:ext>
            </a:extLst>
          </p:cNvPr>
          <p:cNvSpPr>
            <a:spLocks noGrp="1"/>
          </p:cNvSpPr>
          <p:nvPr>
            <p:ph sz="half" idx="2"/>
          </p:nvPr>
        </p:nvSpPr>
        <p:spPr>
          <a:xfrm>
            <a:off x="7882758" y="365125"/>
            <a:ext cx="4020208" cy="5811838"/>
          </a:xfrm>
        </p:spPr>
        <p:txBody>
          <a:bodyPr>
            <a:normAutofit lnSpcReduction="10000"/>
          </a:bodyPr>
          <a:lstStyle/>
          <a:p>
            <a:r>
              <a:rPr lang="es-ES" dirty="0" err="1"/>
              <a:t>Nij</a:t>
            </a:r>
            <a:r>
              <a:rPr lang="es-ES" dirty="0"/>
              <a:t>:  Población con residencia pasada en la localidad "j" que ahora tiene su residencia en la localidad "i".</a:t>
            </a:r>
          </a:p>
          <a:p>
            <a:r>
              <a:rPr lang="es-ES" dirty="0" err="1"/>
              <a:t>Nia</a:t>
            </a:r>
            <a:r>
              <a:rPr lang="es-ES" dirty="0"/>
              <a:t>:  Población actual de la localidad "i".</a:t>
            </a:r>
          </a:p>
          <a:p>
            <a:r>
              <a:rPr lang="es-ES" dirty="0" err="1"/>
              <a:t>Npj</a:t>
            </a:r>
            <a:r>
              <a:rPr lang="es-ES" dirty="0"/>
              <a:t>:  Población pasada de la localidad "j".</a:t>
            </a:r>
          </a:p>
          <a:p>
            <a:r>
              <a:rPr lang="es-ES" dirty="0" err="1"/>
              <a:t>Nii</a:t>
            </a:r>
            <a:r>
              <a:rPr lang="es-ES" dirty="0"/>
              <a:t>:  Población pasada de la localidad "i", que aun se mantiene en esta localidad.</a:t>
            </a:r>
          </a:p>
          <a:p>
            <a:endParaRPr lang="en-US" dirty="0"/>
          </a:p>
        </p:txBody>
      </p:sp>
      <p:pic>
        <p:nvPicPr>
          <p:cNvPr id="6" name="Imagen 5">
            <a:extLst>
              <a:ext uri="{FF2B5EF4-FFF2-40B4-BE49-F238E27FC236}">
                <a16:creationId xmlns:a16="http://schemas.microsoft.com/office/drawing/2014/main" id="{6318B305-B43C-CF59-5D53-7271ED280DB1}"/>
              </a:ext>
            </a:extLst>
          </p:cNvPr>
          <p:cNvPicPr>
            <a:picLocks noChangeAspect="1"/>
          </p:cNvPicPr>
          <p:nvPr/>
        </p:nvPicPr>
        <p:blipFill>
          <a:blip r:embed="rId2"/>
          <a:stretch>
            <a:fillRect/>
          </a:stretch>
        </p:blipFill>
        <p:spPr>
          <a:xfrm>
            <a:off x="-502475" y="1246689"/>
            <a:ext cx="8385234" cy="4823364"/>
          </a:xfrm>
          <a:prstGeom prst="rect">
            <a:avLst/>
          </a:prstGeom>
        </p:spPr>
      </p:pic>
    </p:spTree>
    <p:extLst>
      <p:ext uri="{BB962C8B-B14F-4D97-AF65-F5344CB8AC3E}">
        <p14:creationId xmlns:p14="http://schemas.microsoft.com/office/powerpoint/2010/main" val="3922909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71958-7D88-D3B8-5D90-BCEB2F61A5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E4243D-469F-7490-DAC0-4BE132BA2DD3}"/>
              </a:ext>
            </a:extLst>
          </p:cNvPr>
          <p:cNvSpPr>
            <a:spLocks noGrp="1"/>
          </p:cNvSpPr>
          <p:nvPr>
            <p:ph type="title"/>
          </p:nvPr>
        </p:nvSpPr>
        <p:spPr>
          <a:xfrm>
            <a:off x="552996" y="319065"/>
            <a:ext cx="11098924" cy="1325563"/>
          </a:xfrm>
        </p:spPr>
        <p:txBody>
          <a:bodyPr>
            <a:normAutofit fontScale="90000"/>
          </a:bodyPr>
          <a:lstStyle/>
          <a:p>
            <a:r>
              <a:rPr lang="es-CR" dirty="0"/>
              <a:t>Matriz de Origen-Destino</a:t>
            </a:r>
            <a:br>
              <a:rPr lang="es-CR" dirty="0"/>
            </a:br>
            <a:r>
              <a:rPr lang="es-CR" sz="3600" dirty="0"/>
              <a:t>Cuadro 1.  Costa Rica: Población, por provincia de residencia actual, según provincia de residencia hace 5 años.</a:t>
            </a:r>
            <a:endParaRPr lang="en-US" sz="3600" dirty="0"/>
          </a:p>
        </p:txBody>
      </p:sp>
      <p:graphicFrame>
        <p:nvGraphicFramePr>
          <p:cNvPr id="5" name="Objeto 4">
            <a:extLst>
              <a:ext uri="{FF2B5EF4-FFF2-40B4-BE49-F238E27FC236}">
                <a16:creationId xmlns:a16="http://schemas.microsoft.com/office/drawing/2014/main" id="{5891B3AA-9DA0-4771-F6D6-7BDB6AAEE418}"/>
              </a:ext>
            </a:extLst>
          </p:cNvPr>
          <p:cNvGraphicFramePr>
            <a:graphicFrameLocks noChangeAspect="1"/>
          </p:cNvGraphicFramePr>
          <p:nvPr>
            <p:extLst>
              <p:ext uri="{D42A27DB-BD31-4B8C-83A1-F6EECF244321}">
                <p14:modId xmlns:p14="http://schemas.microsoft.com/office/powerpoint/2010/main" val="3163190610"/>
              </p:ext>
            </p:extLst>
          </p:nvPr>
        </p:nvGraphicFramePr>
        <p:xfrm>
          <a:off x="169863" y="1970088"/>
          <a:ext cx="12311062" cy="3054350"/>
        </p:xfrm>
        <a:graphic>
          <a:graphicData uri="http://schemas.openxmlformats.org/presentationml/2006/ole">
            <mc:AlternateContent xmlns:mc="http://schemas.openxmlformats.org/markup-compatibility/2006">
              <mc:Choice xmlns:v="urn:schemas-microsoft-com:vml" Requires="v">
                <p:oleObj name="Worksheet" r:id="rId2" imgW="8884991" imgH="2202377" progId="Excel.Sheet.12">
                  <p:embed/>
                </p:oleObj>
              </mc:Choice>
              <mc:Fallback>
                <p:oleObj name="Worksheet" r:id="rId2" imgW="8884991" imgH="2202377" progId="Excel.Sheet.12">
                  <p:embed/>
                  <p:pic>
                    <p:nvPicPr>
                      <p:cNvPr id="0" name=""/>
                      <p:cNvPicPr/>
                      <p:nvPr/>
                    </p:nvPicPr>
                    <p:blipFill>
                      <a:blip r:embed="rId3"/>
                      <a:stretch>
                        <a:fillRect/>
                      </a:stretch>
                    </p:blipFill>
                    <p:spPr>
                      <a:xfrm>
                        <a:off x="169863" y="1970088"/>
                        <a:ext cx="12311062" cy="3054350"/>
                      </a:xfrm>
                      <a:prstGeom prst="rect">
                        <a:avLst/>
                      </a:prstGeom>
                    </p:spPr>
                  </p:pic>
                </p:oleObj>
              </mc:Fallback>
            </mc:AlternateContent>
          </a:graphicData>
        </a:graphic>
      </p:graphicFrame>
      <p:sp>
        <p:nvSpPr>
          <p:cNvPr id="7" name="CuadroTexto 6">
            <a:extLst>
              <a:ext uri="{FF2B5EF4-FFF2-40B4-BE49-F238E27FC236}">
                <a16:creationId xmlns:a16="http://schemas.microsoft.com/office/drawing/2014/main" id="{6099C8B6-047A-B882-3631-DC00849FB710}"/>
              </a:ext>
            </a:extLst>
          </p:cNvPr>
          <p:cNvSpPr txBox="1"/>
          <p:nvPr/>
        </p:nvSpPr>
        <p:spPr>
          <a:xfrm>
            <a:off x="331076" y="5234152"/>
            <a:ext cx="7425558" cy="369332"/>
          </a:xfrm>
          <a:prstGeom prst="rect">
            <a:avLst/>
          </a:prstGeom>
          <a:noFill/>
        </p:spPr>
        <p:txBody>
          <a:bodyPr wrap="square" rtlCol="0">
            <a:spAutoFit/>
          </a:bodyPr>
          <a:lstStyle/>
          <a:p>
            <a:r>
              <a:rPr lang="es-CR" dirty="0"/>
              <a:t>Fuente: INEC (2012). Censo de Población y Vivienda 2011.</a:t>
            </a:r>
            <a:endParaRPr lang="en-US" dirty="0"/>
          </a:p>
        </p:txBody>
      </p:sp>
    </p:spTree>
    <p:extLst>
      <p:ext uri="{BB962C8B-B14F-4D97-AF65-F5344CB8AC3E}">
        <p14:creationId xmlns:p14="http://schemas.microsoft.com/office/powerpoint/2010/main" val="393523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72137-7910-C50A-D2FA-3F1E59A677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34FECF-543B-7AD8-F988-90E59172A7B9}"/>
              </a:ext>
            </a:extLst>
          </p:cNvPr>
          <p:cNvSpPr>
            <a:spLocks noGrp="1"/>
          </p:cNvSpPr>
          <p:nvPr>
            <p:ph type="title"/>
          </p:nvPr>
        </p:nvSpPr>
        <p:spPr>
          <a:xfrm>
            <a:off x="552996" y="319065"/>
            <a:ext cx="11098924" cy="1325563"/>
          </a:xfrm>
        </p:spPr>
        <p:txBody>
          <a:bodyPr>
            <a:normAutofit fontScale="90000"/>
          </a:bodyPr>
          <a:lstStyle/>
          <a:p>
            <a:r>
              <a:rPr lang="es-CR" dirty="0"/>
              <a:t>Matriz de Origen-Destino</a:t>
            </a:r>
            <a:br>
              <a:rPr lang="es-CR" dirty="0"/>
            </a:br>
            <a:r>
              <a:rPr lang="es-CR" sz="3600" dirty="0"/>
              <a:t>Cuadro 2.  Costa Rica: Migrantes y emigrantes internos por provincia, 2011.</a:t>
            </a:r>
            <a:endParaRPr lang="en-US" sz="3600" dirty="0"/>
          </a:p>
        </p:txBody>
      </p:sp>
      <p:sp>
        <p:nvSpPr>
          <p:cNvPr id="7" name="CuadroTexto 6">
            <a:extLst>
              <a:ext uri="{FF2B5EF4-FFF2-40B4-BE49-F238E27FC236}">
                <a16:creationId xmlns:a16="http://schemas.microsoft.com/office/drawing/2014/main" id="{B8C00D93-A0F5-3372-0ED3-9D043BEFD4B2}"/>
              </a:ext>
            </a:extLst>
          </p:cNvPr>
          <p:cNvSpPr txBox="1"/>
          <p:nvPr/>
        </p:nvSpPr>
        <p:spPr>
          <a:xfrm>
            <a:off x="378373" y="6169603"/>
            <a:ext cx="7425558" cy="369332"/>
          </a:xfrm>
          <a:prstGeom prst="rect">
            <a:avLst/>
          </a:prstGeom>
          <a:noFill/>
        </p:spPr>
        <p:txBody>
          <a:bodyPr wrap="square" rtlCol="0">
            <a:spAutoFit/>
          </a:bodyPr>
          <a:lstStyle/>
          <a:p>
            <a:r>
              <a:rPr lang="es-CR" dirty="0"/>
              <a:t>Fuente: INEC (2012). Censo de Población y Vivienda 2011.</a:t>
            </a:r>
            <a:endParaRPr lang="en-US" dirty="0"/>
          </a:p>
        </p:txBody>
      </p:sp>
      <p:graphicFrame>
        <p:nvGraphicFramePr>
          <p:cNvPr id="8" name="Objeto 7">
            <a:extLst>
              <a:ext uri="{FF2B5EF4-FFF2-40B4-BE49-F238E27FC236}">
                <a16:creationId xmlns:a16="http://schemas.microsoft.com/office/drawing/2014/main" id="{C4CD09C6-C9C4-0474-02A3-DA1D233F41D5}"/>
              </a:ext>
            </a:extLst>
          </p:cNvPr>
          <p:cNvGraphicFramePr>
            <a:graphicFrameLocks noChangeAspect="1"/>
          </p:cNvGraphicFramePr>
          <p:nvPr>
            <p:extLst>
              <p:ext uri="{D42A27DB-BD31-4B8C-83A1-F6EECF244321}">
                <p14:modId xmlns:p14="http://schemas.microsoft.com/office/powerpoint/2010/main" val="4173582027"/>
              </p:ext>
            </p:extLst>
          </p:nvPr>
        </p:nvGraphicFramePr>
        <p:xfrm>
          <a:off x="823913" y="1995488"/>
          <a:ext cx="11012487" cy="3244850"/>
        </p:xfrm>
        <a:graphic>
          <a:graphicData uri="http://schemas.openxmlformats.org/presentationml/2006/ole">
            <mc:AlternateContent xmlns:mc="http://schemas.openxmlformats.org/markup-compatibility/2006">
              <mc:Choice xmlns:v="urn:schemas-microsoft-com:vml" Requires="v">
                <p:oleObj name="Worksheet" r:id="rId2" imgW="8092653" imgH="2384878" progId="Excel.Sheet.12">
                  <p:embed/>
                </p:oleObj>
              </mc:Choice>
              <mc:Fallback>
                <p:oleObj name="Worksheet" r:id="rId2" imgW="8092653" imgH="2384878" progId="Excel.Sheet.12">
                  <p:embed/>
                  <p:pic>
                    <p:nvPicPr>
                      <p:cNvPr id="0" name=""/>
                      <p:cNvPicPr/>
                      <p:nvPr/>
                    </p:nvPicPr>
                    <p:blipFill>
                      <a:blip r:embed="rId3"/>
                      <a:stretch>
                        <a:fillRect/>
                      </a:stretch>
                    </p:blipFill>
                    <p:spPr>
                      <a:xfrm>
                        <a:off x="823913" y="1995488"/>
                        <a:ext cx="11012487" cy="3244850"/>
                      </a:xfrm>
                      <a:prstGeom prst="rect">
                        <a:avLst/>
                      </a:prstGeom>
                    </p:spPr>
                  </p:pic>
                </p:oleObj>
              </mc:Fallback>
            </mc:AlternateContent>
          </a:graphicData>
        </a:graphic>
      </p:graphicFrame>
    </p:spTree>
    <p:extLst>
      <p:ext uri="{BB962C8B-B14F-4D97-AF65-F5344CB8AC3E}">
        <p14:creationId xmlns:p14="http://schemas.microsoft.com/office/powerpoint/2010/main" val="398269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1650-0C3D-100D-B9D8-D94F63323B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57785-8937-32D3-19F0-5DB787064DD6}"/>
              </a:ext>
            </a:extLst>
          </p:cNvPr>
          <p:cNvSpPr>
            <a:spLocks noGrp="1"/>
          </p:cNvSpPr>
          <p:nvPr>
            <p:ph type="title"/>
          </p:nvPr>
        </p:nvSpPr>
        <p:spPr>
          <a:xfrm>
            <a:off x="552996" y="319065"/>
            <a:ext cx="11098924" cy="1325563"/>
          </a:xfrm>
        </p:spPr>
        <p:txBody>
          <a:bodyPr>
            <a:normAutofit fontScale="90000"/>
          </a:bodyPr>
          <a:lstStyle/>
          <a:p>
            <a:r>
              <a:rPr lang="es-CR" dirty="0"/>
              <a:t>Matriz de Origen-Destino</a:t>
            </a:r>
            <a:br>
              <a:rPr lang="es-CR" dirty="0"/>
            </a:br>
            <a:r>
              <a:rPr lang="es-CR" sz="3600" dirty="0"/>
              <a:t>Cuadro 3.  Costa Rica: Población, por provincia de residencia actual, según provincia de nacimiento.</a:t>
            </a:r>
            <a:endParaRPr lang="en-US" sz="3600" dirty="0"/>
          </a:p>
        </p:txBody>
      </p:sp>
      <p:sp>
        <p:nvSpPr>
          <p:cNvPr id="7" name="CuadroTexto 6">
            <a:extLst>
              <a:ext uri="{FF2B5EF4-FFF2-40B4-BE49-F238E27FC236}">
                <a16:creationId xmlns:a16="http://schemas.microsoft.com/office/drawing/2014/main" id="{092BB1B7-5767-FF9D-DD80-02BFC8A9C51C}"/>
              </a:ext>
            </a:extLst>
          </p:cNvPr>
          <p:cNvSpPr txBox="1"/>
          <p:nvPr/>
        </p:nvSpPr>
        <p:spPr>
          <a:xfrm>
            <a:off x="315310" y="5738649"/>
            <a:ext cx="7425558" cy="369332"/>
          </a:xfrm>
          <a:prstGeom prst="rect">
            <a:avLst/>
          </a:prstGeom>
          <a:noFill/>
        </p:spPr>
        <p:txBody>
          <a:bodyPr wrap="square" rtlCol="0">
            <a:spAutoFit/>
          </a:bodyPr>
          <a:lstStyle/>
          <a:p>
            <a:r>
              <a:rPr lang="es-CR" dirty="0"/>
              <a:t>Fuente: INEC (2012). Censo de Población y Vivienda 2011.</a:t>
            </a:r>
            <a:endParaRPr lang="en-US" dirty="0"/>
          </a:p>
        </p:txBody>
      </p:sp>
      <p:graphicFrame>
        <p:nvGraphicFramePr>
          <p:cNvPr id="3" name="Objeto 2">
            <a:extLst>
              <a:ext uri="{FF2B5EF4-FFF2-40B4-BE49-F238E27FC236}">
                <a16:creationId xmlns:a16="http://schemas.microsoft.com/office/drawing/2014/main" id="{BC55F626-A404-7565-A3C5-2C09095AFCDE}"/>
              </a:ext>
            </a:extLst>
          </p:cNvPr>
          <p:cNvGraphicFramePr>
            <a:graphicFrameLocks noChangeAspect="1"/>
          </p:cNvGraphicFramePr>
          <p:nvPr>
            <p:extLst>
              <p:ext uri="{D42A27DB-BD31-4B8C-83A1-F6EECF244321}">
                <p14:modId xmlns:p14="http://schemas.microsoft.com/office/powerpoint/2010/main" val="4166284795"/>
              </p:ext>
            </p:extLst>
          </p:nvPr>
        </p:nvGraphicFramePr>
        <p:xfrm>
          <a:off x="141288" y="1941513"/>
          <a:ext cx="12136437" cy="3008312"/>
        </p:xfrm>
        <a:graphic>
          <a:graphicData uri="http://schemas.openxmlformats.org/presentationml/2006/ole">
            <mc:AlternateContent xmlns:mc="http://schemas.openxmlformats.org/markup-compatibility/2006">
              <mc:Choice xmlns:v="urn:schemas-microsoft-com:vml" Requires="v">
                <p:oleObj name="Worksheet" r:id="rId2" imgW="8884991" imgH="2202377" progId="Excel.Sheet.12">
                  <p:embed/>
                </p:oleObj>
              </mc:Choice>
              <mc:Fallback>
                <p:oleObj name="Worksheet" r:id="rId2" imgW="8884991" imgH="2202377" progId="Excel.Sheet.12">
                  <p:embed/>
                  <p:pic>
                    <p:nvPicPr>
                      <p:cNvPr id="0" name=""/>
                      <p:cNvPicPr/>
                      <p:nvPr/>
                    </p:nvPicPr>
                    <p:blipFill>
                      <a:blip r:embed="rId3"/>
                      <a:stretch>
                        <a:fillRect/>
                      </a:stretch>
                    </p:blipFill>
                    <p:spPr>
                      <a:xfrm>
                        <a:off x="141288" y="1941513"/>
                        <a:ext cx="12136437" cy="3008312"/>
                      </a:xfrm>
                      <a:prstGeom prst="rect">
                        <a:avLst/>
                      </a:prstGeom>
                    </p:spPr>
                  </p:pic>
                </p:oleObj>
              </mc:Fallback>
            </mc:AlternateContent>
          </a:graphicData>
        </a:graphic>
      </p:graphicFrame>
    </p:spTree>
    <p:extLst>
      <p:ext uri="{BB962C8B-B14F-4D97-AF65-F5344CB8AC3E}">
        <p14:creationId xmlns:p14="http://schemas.microsoft.com/office/powerpoint/2010/main" val="216675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4366C-3325-50BF-1934-07A7CE1219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75A0F5-83CE-C035-BC2C-197C4663E8F2}"/>
              </a:ext>
            </a:extLst>
          </p:cNvPr>
          <p:cNvSpPr>
            <a:spLocks noGrp="1"/>
          </p:cNvSpPr>
          <p:nvPr>
            <p:ph type="title"/>
          </p:nvPr>
        </p:nvSpPr>
        <p:spPr>
          <a:xfrm>
            <a:off x="552996" y="319065"/>
            <a:ext cx="11098924" cy="1325563"/>
          </a:xfrm>
        </p:spPr>
        <p:txBody>
          <a:bodyPr>
            <a:normAutofit fontScale="90000"/>
          </a:bodyPr>
          <a:lstStyle/>
          <a:p>
            <a:r>
              <a:rPr lang="es-CR" dirty="0"/>
              <a:t>Matriz de Origen-Destino</a:t>
            </a:r>
            <a:br>
              <a:rPr lang="es-CR" dirty="0"/>
            </a:br>
            <a:r>
              <a:rPr lang="es-CR" sz="3600" dirty="0"/>
              <a:t>Cuadro 4.  Costa Rica: Proporción de población nativa y de población extranjera, por provincia, 2011.</a:t>
            </a:r>
            <a:endParaRPr lang="en-US" sz="3600" dirty="0"/>
          </a:p>
        </p:txBody>
      </p:sp>
      <p:sp>
        <p:nvSpPr>
          <p:cNvPr id="7" name="CuadroTexto 6">
            <a:extLst>
              <a:ext uri="{FF2B5EF4-FFF2-40B4-BE49-F238E27FC236}">
                <a16:creationId xmlns:a16="http://schemas.microsoft.com/office/drawing/2014/main" id="{61E6BC49-007E-230B-54FC-47922378FA08}"/>
              </a:ext>
            </a:extLst>
          </p:cNvPr>
          <p:cNvSpPr txBox="1"/>
          <p:nvPr/>
        </p:nvSpPr>
        <p:spPr>
          <a:xfrm>
            <a:off x="378373" y="6169603"/>
            <a:ext cx="7425558" cy="369332"/>
          </a:xfrm>
          <a:prstGeom prst="rect">
            <a:avLst/>
          </a:prstGeom>
          <a:noFill/>
        </p:spPr>
        <p:txBody>
          <a:bodyPr wrap="square" rtlCol="0">
            <a:spAutoFit/>
          </a:bodyPr>
          <a:lstStyle/>
          <a:p>
            <a:r>
              <a:rPr lang="es-CR" dirty="0"/>
              <a:t>Fuente: INEC (2012). Censo de Población y Vivienda 2011.</a:t>
            </a:r>
            <a:endParaRPr lang="en-US" dirty="0"/>
          </a:p>
        </p:txBody>
      </p:sp>
      <p:graphicFrame>
        <p:nvGraphicFramePr>
          <p:cNvPr id="6" name="Objeto 5">
            <a:extLst>
              <a:ext uri="{FF2B5EF4-FFF2-40B4-BE49-F238E27FC236}">
                <a16:creationId xmlns:a16="http://schemas.microsoft.com/office/drawing/2014/main" id="{B7EC0F47-08B3-ACDC-674F-78015C41EA57}"/>
              </a:ext>
            </a:extLst>
          </p:cNvPr>
          <p:cNvGraphicFramePr>
            <a:graphicFrameLocks noChangeAspect="1"/>
          </p:cNvGraphicFramePr>
          <p:nvPr>
            <p:extLst>
              <p:ext uri="{D42A27DB-BD31-4B8C-83A1-F6EECF244321}">
                <p14:modId xmlns:p14="http://schemas.microsoft.com/office/powerpoint/2010/main" val="2425072092"/>
              </p:ext>
            </p:extLst>
          </p:nvPr>
        </p:nvGraphicFramePr>
        <p:xfrm>
          <a:off x="2051050" y="2197100"/>
          <a:ext cx="9680575" cy="4040188"/>
        </p:xfrm>
        <a:graphic>
          <a:graphicData uri="http://schemas.openxmlformats.org/presentationml/2006/ole">
            <mc:AlternateContent xmlns:mc="http://schemas.openxmlformats.org/markup-compatibility/2006">
              <mc:Choice xmlns:v="urn:schemas-microsoft-com:vml" Requires="v">
                <p:oleObj name="Worksheet" r:id="rId2" imgW="5715213" imgH="2384878" progId="Excel.Sheet.12">
                  <p:embed/>
                </p:oleObj>
              </mc:Choice>
              <mc:Fallback>
                <p:oleObj name="Worksheet" r:id="rId2" imgW="5715213" imgH="2384878" progId="Excel.Sheet.12">
                  <p:embed/>
                  <p:pic>
                    <p:nvPicPr>
                      <p:cNvPr id="0" name=""/>
                      <p:cNvPicPr/>
                      <p:nvPr/>
                    </p:nvPicPr>
                    <p:blipFill>
                      <a:blip r:embed="rId3"/>
                      <a:stretch>
                        <a:fillRect/>
                      </a:stretch>
                    </p:blipFill>
                    <p:spPr>
                      <a:xfrm>
                        <a:off x="2051050" y="2197100"/>
                        <a:ext cx="9680575" cy="4040188"/>
                      </a:xfrm>
                      <a:prstGeom prst="rect">
                        <a:avLst/>
                      </a:prstGeom>
                    </p:spPr>
                  </p:pic>
                </p:oleObj>
              </mc:Fallback>
            </mc:AlternateContent>
          </a:graphicData>
        </a:graphic>
      </p:graphicFrame>
    </p:spTree>
    <p:extLst>
      <p:ext uri="{BB962C8B-B14F-4D97-AF65-F5344CB8AC3E}">
        <p14:creationId xmlns:p14="http://schemas.microsoft.com/office/powerpoint/2010/main" val="3122863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556D-6F74-271D-5E0A-A5EDCE5CF6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CF66A4-76FF-F785-2E85-CFDFC7EF4DBF}"/>
              </a:ext>
            </a:extLst>
          </p:cNvPr>
          <p:cNvSpPr>
            <a:spLocks noGrp="1"/>
          </p:cNvSpPr>
          <p:nvPr>
            <p:ph type="title"/>
          </p:nvPr>
        </p:nvSpPr>
        <p:spPr>
          <a:xfrm>
            <a:off x="552996" y="319065"/>
            <a:ext cx="11098924" cy="1325563"/>
          </a:xfrm>
        </p:spPr>
        <p:txBody>
          <a:bodyPr>
            <a:normAutofit fontScale="90000"/>
          </a:bodyPr>
          <a:lstStyle/>
          <a:p>
            <a:r>
              <a:rPr lang="es-CR" dirty="0"/>
              <a:t>Matriz de Origen-Destino</a:t>
            </a:r>
            <a:br>
              <a:rPr lang="es-CR" dirty="0"/>
            </a:br>
            <a:r>
              <a:rPr lang="es-CR" sz="3600" dirty="0"/>
              <a:t>Cuadro 5.  Costa Rica: Tasas de migración, por provincia, 2011.</a:t>
            </a:r>
            <a:endParaRPr lang="en-US" sz="3600" dirty="0"/>
          </a:p>
        </p:txBody>
      </p:sp>
      <p:sp>
        <p:nvSpPr>
          <p:cNvPr id="7" name="CuadroTexto 6">
            <a:extLst>
              <a:ext uri="{FF2B5EF4-FFF2-40B4-BE49-F238E27FC236}">
                <a16:creationId xmlns:a16="http://schemas.microsoft.com/office/drawing/2014/main" id="{2E23882A-BC5E-AE28-5C36-C5240B8C01CC}"/>
              </a:ext>
            </a:extLst>
          </p:cNvPr>
          <p:cNvSpPr txBox="1"/>
          <p:nvPr/>
        </p:nvSpPr>
        <p:spPr>
          <a:xfrm>
            <a:off x="425669" y="6354269"/>
            <a:ext cx="7425558" cy="369332"/>
          </a:xfrm>
          <a:prstGeom prst="rect">
            <a:avLst/>
          </a:prstGeom>
          <a:noFill/>
        </p:spPr>
        <p:txBody>
          <a:bodyPr wrap="square" rtlCol="0">
            <a:spAutoFit/>
          </a:bodyPr>
          <a:lstStyle/>
          <a:p>
            <a:r>
              <a:rPr lang="es-CR" dirty="0"/>
              <a:t>Fuente: INEC (2012). Censo de Población y Vivienda 2011.</a:t>
            </a:r>
            <a:endParaRPr lang="en-US" dirty="0"/>
          </a:p>
        </p:txBody>
      </p:sp>
      <p:graphicFrame>
        <p:nvGraphicFramePr>
          <p:cNvPr id="3" name="Objeto 2">
            <a:extLst>
              <a:ext uri="{FF2B5EF4-FFF2-40B4-BE49-F238E27FC236}">
                <a16:creationId xmlns:a16="http://schemas.microsoft.com/office/drawing/2014/main" id="{0C74BD46-6B3D-B9F2-4270-913CF5BCF177}"/>
              </a:ext>
            </a:extLst>
          </p:cNvPr>
          <p:cNvGraphicFramePr>
            <a:graphicFrameLocks noChangeAspect="1"/>
          </p:cNvGraphicFramePr>
          <p:nvPr>
            <p:extLst>
              <p:ext uri="{D42A27DB-BD31-4B8C-83A1-F6EECF244321}">
                <p14:modId xmlns:p14="http://schemas.microsoft.com/office/powerpoint/2010/main" val="63505092"/>
              </p:ext>
            </p:extLst>
          </p:nvPr>
        </p:nvGraphicFramePr>
        <p:xfrm>
          <a:off x="2511425" y="1644650"/>
          <a:ext cx="10615613" cy="4354513"/>
        </p:xfrm>
        <a:graphic>
          <a:graphicData uri="http://schemas.openxmlformats.org/presentationml/2006/ole">
            <mc:AlternateContent xmlns:mc="http://schemas.openxmlformats.org/markup-compatibility/2006">
              <mc:Choice xmlns:v="urn:schemas-microsoft-com:vml" Requires="v">
                <p:oleObj name="Worksheet" r:id="rId2" imgW="4922449" imgH="2019450" progId="Excel.Sheet.12">
                  <p:embed/>
                </p:oleObj>
              </mc:Choice>
              <mc:Fallback>
                <p:oleObj name="Worksheet" r:id="rId2" imgW="4922449" imgH="2019450" progId="Excel.Sheet.12">
                  <p:embed/>
                  <p:pic>
                    <p:nvPicPr>
                      <p:cNvPr id="0" name=""/>
                      <p:cNvPicPr/>
                      <p:nvPr/>
                    </p:nvPicPr>
                    <p:blipFill>
                      <a:blip r:embed="rId3"/>
                      <a:stretch>
                        <a:fillRect/>
                      </a:stretch>
                    </p:blipFill>
                    <p:spPr>
                      <a:xfrm>
                        <a:off x="2511425" y="1644650"/>
                        <a:ext cx="10615613" cy="4354513"/>
                      </a:xfrm>
                      <a:prstGeom prst="rect">
                        <a:avLst/>
                      </a:prstGeom>
                    </p:spPr>
                  </p:pic>
                </p:oleObj>
              </mc:Fallback>
            </mc:AlternateContent>
          </a:graphicData>
        </a:graphic>
      </p:graphicFrame>
    </p:spTree>
    <p:extLst>
      <p:ext uri="{BB962C8B-B14F-4D97-AF65-F5344CB8AC3E}">
        <p14:creationId xmlns:p14="http://schemas.microsoft.com/office/powerpoint/2010/main" val="18938598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2545</TotalTime>
  <Words>982</Words>
  <Application>Microsoft Office PowerPoint</Application>
  <PresentationFormat>Panorámica</PresentationFormat>
  <Paragraphs>78</Paragraphs>
  <Slides>17</Slides>
  <Notes>0</Notes>
  <HiddenSlides>0</HiddenSlides>
  <MMClips>0</MMClips>
  <ScaleCrop>false</ScaleCrop>
  <HeadingPairs>
    <vt:vector size="8" baseType="variant">
      <vt:variant>
        <vt:lpstr>Fuentes usadas</vt:lpstr>
      </vt:variant>
      <vt:variant>
        <vt:i4>4</vt:i4>
      </vt:variant>
      <vt:variant>
        <vt:lpstr>Tema</vt:lpstr>
      </vt:variant>
      <vt:variant>
        <vt:i4>1</vt:i4>
      </vt:variant>
      <vt:variant>
        <vt:lpstr>Servidores OLE incrustados</vt:lpstr>
      </vt:variant>
      <vt:variant>
        <vt:i4>2</vt:i4>
      </vt:variant>
      <vt:variant>
        <vt:lpstr>Títulos de diapositiva</vt:lpstr>
      </vt:variant>
      <vt:variant>
        <vt:i4>17</vt:i4>
      </vt:variant>
    </vt:vector>
  </HeadingPairs>
  <TitlesOfParts>
    <vt:vector size="24" baseType="lpstr">
      <vt:lpstr>Aptos</vt:lpstr>
      <vt:lpstr>Aptos Display</vt:lpstr>
      <vt:lpstr>Arial</vt:lpstr>
      <vt:lpstr>Cambria Math</vt:lpstr>
      <vt:lpstr>Tema de Office</vt:lpstr>
      <vt:lpstr>Microsoft Excel Worksheet</vt:lpstr>
      <vt:lpstr>Worksheet</vt:lpstr>
      <vt:lpstr>XS-3010 Introducción a la demografía y bioestadística 2025</vt:lpstr>
      <vt:lpstr>Guía</vt:lpstr>
      <vt:lpstr>Conceptos</vt:lpstr>
      <vt:lpstr>Conceptos</vt:lpstr>
      <vt:lpstr>Conceptos</vt:lpstr>
      <vt:lpstr>Conceptos</vt:lpstr>
      <vt:lpstr>Conceptos</vt:lpstr>
      <vt:lpstr>Conceptos</vt:lpstr>
      <vt:lpstr>Conceptos</vt:lpstr>
      <vt:lpstr>Medición de la migración</vt:lpstr>
      <vt:lpstr>Medición de la migración</vt:lpstr>
      <vt:lpstr>Matriz de Origen-Destino</vt:lpstr>
      <vt:lpstr>Matriz de Origen-Destino Cuadro 1.  Costa Rica: Población, por provincia de residencia actual, según provincia de residencia hace 5 años.</vt:lpstr>
      <vt:lpstr>Matriz de Origen-Destino Cuadro 2.  Costa Rica: Migrantes y emigrantes internos por provincia, 2011.</vt:lpstr>
      <vt:lpstr>Matriz de Origen-Destino Cuadro 3.  Costa Rica: Población, por provincia de residencia actual, según provincia de nacimiento.</vt:lpstr>
      <vt:lpstr>Matriz de Origen-Destino Cuadro 4.  Costa Rica: Proporción de población nativa y de población extranjera, por provincia, 2011.</vt:lpstr>
      <vt:lpstr>Matriz de Origen-Destino Cuadro 5.  Costa Rica: Tasas de migración, por provincia, 2011.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Gilbert Brenes-Camacho</dc:creator>
  <cp:lastModifiedBy>ANDERSON DAVID MARTINEZ ABARCA</cp:lastModifiedBy>
  <cp:revision>58</cp:revision>
  <dcterms:created xsi:type="dcterms:W3CDTF">2025-01-10T18:14:17Z</dcterms:created>
  <dcterms:modified xsi:type="dcterms:W3CDTF">2026-06-26T05:32:16Z</dcterms:modified>
</cp:coreProperties>
</file>