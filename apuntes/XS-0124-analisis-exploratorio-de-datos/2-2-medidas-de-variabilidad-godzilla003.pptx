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459" r:id="rId5"/>
    <p:sldId id="471" r:id="rId6"/>
    <p:sldId id="259" r:id="rId7"/>
    <p:sldId id="472" r:id="rId8"/>
    <p:sldId id="260" r:id="rId9"/>
    <p:sldId id="473" r:id="rId10"/>
    <p:sldId id="466" r:id="rId11"/>
    <p:sldId id="467" r:id="rId12"/>
    <p:sldId id="408" r:id="rId13"/>
    <p:sldId id="263" r:id="rId14"/>
    <p:sldId id="264" r:id="rId15"/>
    <p:sldId id="265" r:id="rId16"/>
    <p:sldId id="266" r:id="rId17"/>
    <p:sldId id="267" r:id="rId18"/>
    <p:sldId id="468" r:id="rId19"/>
    <p:sldId id="469" r:id="rId20"/>
    <p:sldId id="470" r:id="rId21"/>
    <p:sldId id="270" r:id="rId22"/>
    <p:sldId id="282" r:id="rId23"/>
  </p:sldIdLst>
  <p:sldSz cx="9144000" cy="6858000" type="screen4x3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AB827C-9208-4DA5-A5D2-22B4525075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5BB984-3A60-4819-A56E-FA9AB4B3B22C}">
      <dgm:prSet/>
      <dgm:spPr/>
      <dgm:t>
        <a:bodyPr/>
        <a:lstStyle/>
        <a:p>
          <a:r>
            <a:rPr lang="es-CR"/>
            <a:t>Peso: </a:t>
          </a:r>
          <a:endParaRPr lang="en-US"/>
        </a:p>
      </dgm:t>
    </dgm:pt>
    <dgm:pt modelId="{3AFB3AD4-EE70-4450-A3EB-02E15AFF92AE}" type="parTrans" cxnId="{6234D5B9-4958-43B7-9156-2FA9AB1D50B6}">
      <dgm:prSet/>
      <dgm:spPr/>
      <dgm:t>
        <a:bodyPr/>
        <a:lstStyle/>
        <a:p>
          <a:endParaRPr lang="en-US"/>
        </a:p>
      </dgm:t>
    </dgm:pt>
    <dgm:pt modelId="{52D21B40-6A11-41D0-9E64-23435EF80A71}" type="sibTrans" cxnId="{6234D5B9-4958-43B7-9156-2FA9AB1D50B6}">
      <dgm:prSet/>
      <dgm:spPr/>
      <dgm:t>
        <a:bodyPr/>
        <a:lstStyle/>
        <a:p>
          <a:endParaRPr lang="en-US"/>
        </a:p>
      </dgm:t>
    </dgm:pt>
    <dgm:pt modelId="{BBC897D8-49B4-4AA1-AE0F-974964C9733F}">
      <dgm:prSet/>
      <dgm:spPr/>
      <dgm:t>
        <a:bodyPr/>
        <a:lstStyle/>
        <a:p>
          <a:r>
            <a:rPr lang="es-CR" b="1"/>
            <a:t>conejos </a:t>
          </a:r>
          <a:r>
            <a:rPr lang="es-CR"/>
            <a:t>vrs </a:t>
          </a:r>
          <a:r>
            <a:rPr lang="es-CR" b="1"/>
            <a:t>caballos</a:t>
          </a:r>
          <a:endParaRPr lang="en-US"/>
        </a:p>
      </dgm:t>
    </dgm:pt>
    <dgm:pt modelId="{ACD9ABF8-875F-4DEF-B331-2DE66D5E1466}" type="parTrans" cxnId="{BBA9C8D2-DB5B-4474-AF1E-5AD219073E00}">
      <dgm:prSet/>
      <dgm:spPr/>
      <dgm:t>
        <a:bodyPr/>
        <a:lstStyle/>
        <a:p>
          <a:endParaRPr lang="en-US"/>
        </a:p>
      </dgm:t>
    </dgm:pt>
    <dgm:pt modelId="{94B0A281-7095-422F-AD65-1F9371AB90C8}" type="sibTrans" cxnId="{BBA9C8D2-DB5B-4474-AF1E-5AD219073E00}">
      <dgm:prSet/>
      <dgm:spPr/>
      <dgm:t>
        <a:bodyPr/>
        <a:lstStyle/>
        <a:p>
          <a:endParaRPr lang="en-US"/>
        </a:p>
      </dgm:t>
    </dgm:pt>
    <dgm:pt modelId="{8BC4BD73-C42E-4583-8BA8-DC11C513D2CA}">
      <dgm:prSet/>
      <dgm:spPr/>
      <dgm:t>
        <a:bodyPr/>
        <a:lstStyle/>
        <a:p>
          <a:r>
            <a:rPr lang="es-CR"/>
            <a:t>Diferentes medidas: </a:t>
          </a:r>
          <a:endParaRPr lang="en-US"/>
        </a:p>
      </dgm:t>
    </dgm:pt>
    <dgm:pt modelId="{6042BAF4-0C80-47A1-9970-309B4B48ACF9}" type="parTrans" cxnId="{153C4591-B5E9-4046-A7FD-EE493C9BEF95}">
      <dgm:prSet/>
      <dgm:spPr/>
      <dgm:t>
        <a:bodyPr/>
        <a:lstStyle/>
        <a:p>
          <a:endParaRPr lang="en-US"/>
        </a:p>
      </dgm:t>
    </dgm:pt>
    <dgm:pt modelId="{AA124BD7-F575-4340-AD0D-AA23AE24ADE7}" type="sibTrans" cxnId="{153C4591-B5E9-4046-A7FD-EE493C9BEF95}">
      <dgm:prSet/>
      <dgm:spPr/>
      <dgm:t>
        <a:bodyPr/>
        <a:lstStyle/>
        <a:p>
          <a:endParaRPr lang="en-US"/>
        </a:p>
      </dgm:t>
    </dgm:pt>
    <dgm:pt modelId="{336A77DF-DC29-4B3B-B9F2-CF5E3F0B60BB}">
      <dgm:prSet/>
      <dgm:spPr/>
      <dgm:t>
        <a:bodyPr/>
        <a:lstStyle/>
        <a:p>
          <a:r>
            <a:rPr lang="es-CR" b="1"/>
            <a:t>kilómetros </a:t>
          </a:r>
          <a:r>
            <a:rPr lang="es-CR"/>
            <a:t>vrs </a:t>
          </a:r>
          <a:r>
            <a:rPr lang="es-CR" b="1"/>
            <a:t>centímetros</a:t>
          </a:r>
          <a:r>
            <a:rPr lang="es-CR"/>
            <a:t> vrs </a:t>
          </a:r>
          <a:r>
            <a:rPr lang="es-CR" b="1"/>
            <a:t>minutos</a:t>
          </a:r>
          <a:r>
            <a:rPr lang="es-CR"/>
            <a:t>.</a:t>
          </a:r>
          <a:endParaRPr lang="en-US"/>
        </a:p>
      </dgm:t>
    </dgm:pt>
    <dgm:pt modelId="{5766A1BB-F4F5-4921-87AF-68DB6A9E4258}" type="parTrans" cxnId="{EA730C36-13E2-409E-B868-FF39C128038F}">
      <dgm:prSet/>
      <dgm:spPr/>
      <dgm:t>
        <a:bodyPr/>
        <a:lstStyle/>
        <a:p>
          <a:endParaRPr lang="en-US"/>
        </a:p>
      </dgm:t>
    </dgm:pt>
    <dgm:pt modelId="{91C88195-6191-4B29-A331-307EAFC0AA1B}" type="sibTrans" cxnId="{EA730C36-13E2-409E-B868-FF39C128038F}">
      <dgm:prSet/>
      <dgm:spPr/>
      <dgm:t>
        <a:bodyPr/>
        <a:lstStyle/>
        <a:p>
          <a:endParaRPr lang="en-US"/>
        </a:p>
      </dgm:t>
    </dgm:pt>
    <dgm:pt modelId="{7582609B-1241-4295-98EA-A05F2E2ED106}">
      <dgm:prSet/>
      <dgm:spPr/>
      <dgm:t>
        <a:bodyPr/>
        <a:lstStyle/>
        <a:p>
          <a:r>
            <a:rPr lang="es-CR"/>
            <a:t>Estatura: </a:t>
          </a:r>
          <a:endParaRPr lang="en-US"/>
        </a:p>
      </dgm:t>
    </dgm:pt>
    <dgm:pt modelId="{140AA17C-B6BC-47C7-B89F-33651C905C5E}" type="parTrans" cxnId="{20CD88AE-ADAE-4128-91F2-C24A06C5A05F}">
      <dgm:prSet/>
      <dgm:spPr/>
      <dgm:t>
        <a:bodyPr/>
        <a:lstStyle/>
        <a:p>
          <a:endParaRPr lang="en-US"/>
        </a:p>
      </dgm:t>
    </dgm:pt>
    <dgm:pt modelId="{AFA867EE-2B10-4CF3-9A16-F89BE35F8920}" type="sibTrans" cxnId="{20CD88AE-ADAE-4128-91F2-C24A06C5A05F}">
      <dgm:prSet/>
      <dgm:spPr/>
      <dgm:t>
        <a:bodyPr/>
        <a:lstStyle/>
        <a:p>
          <a:endParaRPr lang="en-US"/>
        </a:p>
      </dgm:t>
    </dgm:pt>
    <dgm:pt modelId="{3C5B94A2-1D6E-4F82-9789-409C3CAB43E9}">
      <dgm:prSet/>
      <dgm:spPr/>
      <dgm:t>
        <a:bodyPr/>
        <a:lstStyle/>
        <a:p>
          <a:r>
            <a:rPr lang="es-CR" b="1"/>
            <a:t>niñas de 2 años</a:t>
          </a:r>
          <a:r>
            <a:rPr lang="es-CR"/>
            <a:t> vrs </a:t>
          </a:r>
          <a:r>
            <a:rPr lang="es-CR" b="1"/>
            <a:t>niñas de 16 años</a:t>
          </a:r>
          <a:endParaRPr lang="en-US"/>
        </a:p>
      </dgm:t>
    </dgm:pt>
    <dgm:pt modelId="{84619885-1319-44B2-92B6-BEE1AF905BE0}" type="parTrans" cxnId="{2A93C934-1B0A-46F1-B785-5F421A53F175}">
      <dgm:prSet/>
      <dgm:spPr/>
      <dgm:t>
        <a:bodyPr/>
        <a:lstStyle/>
        <a:p>
          <a:endParaRPr lang="en-US"/>
        </a:p>
      </dgm:t>
    </dgm:pt>
    <dgm:pt modelId="{AB23C82F-452E-4D67-80C4-04CEAC233F20}" type="sibTrans" cxnId="{2A93C934-1B0A-46F1-B785-5F421A53F175}">
      <dgm:prSet/>
      <dgm:spPr/>
      <dgm:t>
        <a:bodyPr/>
        <a:lstStyle/>
        <a:p>
          <a:endParaRPr lang="en-US"/>
        </a:p>
      </dgm:t>
    </dgm:pt>
    <dgm:pt modelId="{0C884B5F-056A-4532-B00E-06A235097499}" type="pres">
      <dgm:prSet presAssocID="{CCAB827C-9208-4DA5-A5D2-22B45250752B}" presName="root" presStyleCnt="0">
        <dgm:presLayoutVars>
          <dgm:dir/>
          <dgm:resizeHandles val="exact"/>
        </dgm:presLayoutVars>
      </dgm:prSet>
      <dgm:spPr/>
    </dgm:pt>
    <dgm:pt modelId="{29CB5781-1FA7-4D1B-8FE3-486AE3AA19DF}" type="pres">
      <dgm:prSet presAssocID="{805BB984-3A60-4819-A56E-FA9AB4B3B22C}" presName="compNode" presStyleCnt="0"/>
      <dgm:spPr/>
    </dgm:pt>
    <dgm:pt modelId="{C056541F-B36F-40B6-BBE7-EDC28F08F94F}" type="pres">
      <dgm:prSet presAssocID="{805BB984-3A60-4819-A56E-FA9AB4B3B22C}" presName="bgRect" presStyleLbl="bgShp" presStyleIdx="0" presStyleCnt="3"/>
      <dgm:spPr/>
    </dgm:pt>
    <dgm:pt modelId="{0D26DB8C-CA0A-45E2-BBBE-EC1694B418F9}" type="pres">
      <dgm:prSet presAssocID="{805BB984-3A60-4819-A56E-FA9AB4B3B22C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rse"/>
        </a:ext>
      </dgm:extLst>
    </dgm:pt>
    <dgm:pt modelId="{1C803E5B-299C-4EB8-877A-F19316D40C24}" type="pres">
      <dgm:prSet presAssocID="{805BB984-3A60-4819-A56E-FA9AB4B3B22C}" presName="spaceRect" presStyleCnt="0"/>
      <dgm:spPr/>
    </dgm:pt>
    <dgm:pt modelId="{D61130DA-3D31-429D-800F-4B3D4C95D57F}" type="pres">
      <dgm:prSet presAssocID="{805BB984-3A60-4819-A56E-FA9AB4B3B22C}" presName="parTx" presStyleLbl="revTx" presStyleIdx="0" presStyleCnt="6">
        <dgm:presLayoutVars>
          <dgm:chMax val="0"/>
          <dgm:chPref val="0"/>
        </dgm:presLayoutVars>
      </dgm:prSet>
      <dgm:spPr/>
    </dgm:pt>
    <dgm:pt modelId="{47B3AD8E-FCD2-4A2A-B763-28D02768B2E4}" type="pres">
      <dgm:prSet presAssocID="{805BB984-3A60-4819-A56E-FA9AB4B3B22C}" presName="desTx" presStyleLbl="revTx" presStyleIdx="1" presStyleCnt="6">
        <dgm:presLayoutVars/>
      </dgm:prSet>
      <dgm:spPr/>
    </dgm:pt>
    <dgm:pt modelId="{405936C6-2E0C-4CE9-BC47-9764FC5240C9}" type="pres">
      <dgm:prSet presAssocID="{52D21B40-6A11-41D0-9E64-23435EF80A71}" presName="sibTrans" presStyleCnt="0"/>
      <dgm:spPr/>
    </dgm:pt>
    <dgm:pt modelId="{F3C31721-2B2F-4D4B-B04A-F51EFCD80261}" type="pres">
      <dgm:prSet presAssocID="{8BC4BD73-C42E-4583-8BA8-DC11C513D2CA}" presName="compNode" presStyleCnt="0"/>
      <dgm:spPr/>
    </dgm:pt>
    <dgm:pt modelId="{6F5D5C27-CE93-46DE-B20B-E3F28DCAFEF3}" type="pres">
      <dgm:prSet presAssocID="{8BC4BD73-C42E-4583-8BA8-DC11C513D2CA}" presName="bgRect" presStyleLbl="bgShp" presStyleIdx="1" presStyleCnt="3"/>
      <dgm:spPr/>
    </dgm:pt>
    <dgm:pt modelId="{8FD27813-17DE-4761-948C-7033CD23E424}" type="pres">
      <dgm:prSet presAssocID="{8BC4BD73-C42E-4583-8BA8-DC11C513D2CA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64D7CD13-FA58-434A-BDDA-C3BB9D53244A}" type="pres">
      <dgm:prSet presAssocID="{8BC4BD73-C42E-4583-8BA8-DC11C513D2CA}" presName="spaceRect" presStyleCnt="0"/>
      <dgm:spPr/>
    </dgm:pt>
    <dgm:pt modelId="{A6C943C8-28E0-41E5-87D1-8662673020DE}" type="pres">
      <dgm:prSet presAssocID="{8BC4BD73-C42E-4583-8BA8-DC11C513D2CA}" presName="parTx" presStyleLbl="revTx" presStyleIdx="2" presStyleCnt="6">
        <dgm:presLayoutVars>
          <dgm:chMax val="0"/>
          <dgm:chPref val="0"/>
        </dgm:presLayoutVars>
      </dgm:prSet>
      <dgm:spPr/>
    </dgm:pt>
    <dgm:pt modelId="{156AE0AF-FA7A-45C3-B8EC-DC721084DFE1}" type="pres">
      <dgm:prSet presAssocID="{8BC4BD73-C42E-4583-8BA8-DC11C513D2CA}" presName="desTx" presStyleLbl="revTx" presStyleIdx="3" presStyleCnt="6">
        <dgm:presLayoutVars/>
      </dgm:prSet>
      <dgm:spPr/>
    </dgm:pt>
    <dgm:pt modelId="{4B388B14-7840-4867-9DE0-6B12CDF1BC2F}" type="pres">
      <dgm:prSet presAssocID="{AA124BD7-F575-4340-AD0D-AA23AE24ADE7}" presName="sibTrans" presStyleCnt="0"/>
      <dgm:spPr/>
    </dgm:pt>
    <dgm:pt modelId="{29B10BEB-A674-4435-8113-0D470D11CF8F}" type="pres">
      <dgm:prSet presAssocID="{7582609B-1241-4295-98EA-A05F2E2ED106}" presName="compNode" presStyleCnt="0"/>
      <dgm:spPr/>
    </dgm:pt>
    <dgm:pt modelId="{2470E697-42B3-4927-8C0C-17040F4486DC}" type="pres">
      <dgm:prSet presAssocID="{7582609B-1241-4295-98EA-A05F2E2ED106}" presName="bgRect" presStyleLbl="bgShp" presStyleIdx="2" presStyleCnt="3"/>
      <dgm:spPr/>
    </dgm:pt>
    <dgm:pt modelId="{D7AD1567-7DDF-4CBC-B3C0-8B008058B4B5}" type="pres">
      <dgm:prSet presAssocID="{7582609B-1241-4295-98EA-A05F2E2ED106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mono"/>
        </a:ext>
      </dgm:extLst>
    </dgm:pt>
    <dgm:pt modelId="{B022AEA8-CC68-486D-8B15-EB5D77289A3A}" type="pres">
      <dgm:prSet presAssocID="{7582609B-1241-4295-98EA-A05F2E2ED106}" presName="spaceRect" presStyleCnt="0"/>
      <dgm:spPr/>
    </dgm:pt>
    <dgm:pt modelId="{40A3883A-7671-46E6-8B74-B305BF2FA24D}" type="pres">
      <dgm:prSet presAssocID="{7582609B-1241-4295-98EA-A05F2E2ED106}" presName="parTx" presStyleLbl="revTx" presStyleIdx="4" presStyleCnt="6">
        <dgm:presLayoutVars>
          <dgm:chMax val="0"/>
          <dgm:chPref val="0"/>
        </dgm:presLayoutVars>
      </dgm:prSet>
      <dgm:spPr/>
    </dgm:pt>
    <dgm:pt modelId="{533342A7-0CFF-4857-B9CF-F1618CE242F4}" type="pres">
      <dgm:prSet presAssocID="{7582609B-1241-4295-98EA-A05F2E2ED106}" presName="desTx" presStyleLbl="revTx" presStyleIdx="5" presStyleCnt="6">
        <dgm:presLayoutVars/>
      </dgm:prSet>
      <dgm:spPr/>
    </dgm:pt>
  </dgm:ptLst>
  <dgm:cxnLst>
    <dgm:cxn modelId="{7B93882E-7E56-4038-942F-D23752507824}" type="presOf" srcId="{BBC897D8-49B4-4AA1-AE0F-974964C9733F}" destId="{47B3AD8E-FCD2-4A2A-B763-28D02768B2E4}" srcOrd="0" destOrd="0" presId="urn:microsoft.com/office/officeart/2018/2/layout/IconVerticalSolidList"/>
    <dgm:cxn modelId="{2A93C934-1B0A-46F1-B785-5F421A53F175}" srcId="{7582609B-1241-4295-98EA-A05F2E2ED106}" destId="{3C5B94A2-1D6E-4F82-9789-409C3CAB43E9}" srcOrd="0" destOrd="0" parTransId="{84619885-1319-44B2-92B6-BEE1AF905BE0}" sibTransId="{AB23C82F-452E-4D67-80C4-04CEAC233F20}"/>
    <dgm:cxn modelId="{EA730C36-13E2-409E-B868-FF39C128038F}" srcId="{8BC4BD73-C42E-4583-8BA8-DC11C513D2CA}" destId="{336A77DF-DC29-4B3B-B9F2-CF5E3F0B60BB}" srcOrd="0" destOrd="0" parTransId="{5766A1BB-F4F5-4921-87AF-68DB6A9E4258}" sibTransId="{91C88195-6191-4B29-A331-307EAFC0AA1B}"/>
    <dgm:cxn modelId="{C04DAA53-F9F4-4CC0-A9A4-F29FFA9EC5E7}" type="presOf" srcId="{CCAB827C-9208-4DA5-A5D2-22B45250752B}" destId="{0C884B5F-056A-4532-B00E-06A235097499}" srcOrd="0" destOrd="0" presId="urn:microsoft.com/office/officeart/2018/2/layout/IconVerticalSolidList"/>
    <dgm:cxn modelId="{4D616654-8E00-4F27-8E84-BECBF12F9F28}" type="presOf" srcId="{3C5B94A2-1D6E-4F82-9789-409C3CAB43E9}" destId="{533342A7-0CFF-4857-B9CF-F1618CE242F4}" srcOrd="0" destOrd="0" presId="urn:microsoft.com/office/officeart/2018/2/layout/IconVerticalSolidList"/>
    <dgm:cxn modelId="{ED21FF59-AF5F-40B8-A3D7-5DAE8B6F4C9C}" type="presOf" srcId="{805BB984-3A60-4819-A56E-FA9AB4B3B22C}" destId="{D61130DA-3D31-429D-800F-4B3D4C95D57F}" srcOrd="0" destOrd="0" presId="urn:microsoft.com/office/officeart/2018/2/layout/IconVerticalSolidList"/>
    <dgm:cxn modelId="{81425681-68F6-4415-B11F-9B1A413260AF}" type="presOf" srcId="{8BC4BD73-C42E-4583-8BA8-DC11C513D2CA}" destId="{A6C943C8-28E0-41E5-87D1-8662673020DE}" srcOrd="0" destOrd="0" presId="urn:microsoft.com/office/officeart/2018/2/layout/IconVerticalSolidList"/>
    <dgm:cxn modelId="{153C4591-B5E9-4046-A7FD-EE493C9BEF95}" srcId="{CCAB827C-9208-4DA5-A5D2-22B45250752B}" destId="{8BC4BD73-C42E-4583-8BA8-DC11C513D2CA}" srcOrd="1" destOrd="0" parTransId="{6042BAF4-0C80-47A1-9970-309B4B48ACF9}" sibTransId="{AA124BD7-F575-4340-AD0D-AA23AE24ADE7}"/>
    <dgm:cxn modelId="{20CD88AE-ADAE-4128-91F2-C24A06C5A05F}" srcId="{CCAB827C-9208-4DA5-A5D2-22B45250752B}" destId="{7582609B-1241-4295-98EA-A05F2E2ED106}" srcOrd="2" destOrd="0" parTransId="{140AA17C-B6BC-47C7-B89F-33651C905C5E}" sibTransId="{AFA867EE-2B10-4CF3-9A16-F89BE35F8920}"/>
    <dgm:cxn modelId="{6234D5B9-4958-43B7-9156-2FA9AB1D50B6}" srcId="{CCAB827C-9208-4DA5-A5D2-22B45250752B}" destId="{805BB984-3A60-4819-A56E-FA9AB4B3B22C}" srcOrd="0" destOrd="0" parTransId="{3AFB3AD4-EE70-4450-A3EB-02E15AFF92AE}" sibTransId="{52D21B40-6A11-41D0-9E64-23435EF80A71}"/>
    <dgm:cxn modelId="{BBA9C8D2-DB5B-4474-AF1E-5AD219073E00}" srcId="{805BB984-3A60-4819-A56E-FA9AB4B3B22C}" destId="{BBC897D8-49B4-4AA1-AE0F-974964C9733F}" srcOrd="0" destOrd="0" parTransId="{ACD9ABF8-875F-4DEF-B331-2DE66D5E1466}" sibTransId="{94B0A281-7095-422F-AD65-1F9371AB90C8}"/>
    <dgm:cxn modelId="{F4FB14D3-2925-4421-AF7D-CABC710D21FD}" type="presOf" srcId="{7582609B-1241-4295-98EA-A05F2E2ED106}" destId="{40A3883A-7671-46E6-8B74-B305BF2FA24D}" srcOrd="0" destOrd="0" presId="urn:microsoft.com/office/officeart/2018/2/layout/IconVerticalSolidList"/>
    <dgm:cxn modelId="{8F61D2DA-480C-4E01-A9E9-1149D0CCA7BF}" type="presOf" srcId="{336A77DF-DC29-4B3B-B9F2-CF5E3F0B60BB}" destId="{156AE0AF-FA7A-45C3-B8EC-DC721084DFE1}" srcOrd="0" destOrd="0" presId="urn:microsoft.com/office/officeart/2018/2/layout/IconVerticalSolidList"/>
    <dgm:cxn modelId="{62421DDB-E25F-42E8-8A2A-931667F5B561}" type="presParOf" srcId="{0C884B5F-056A-4532-B00E-06A235097499}" destId="{29CB5781-1FA7-4D1B-8FE3-486AE3AA19DF}" srcOrd="0" destOrd="0" presId="urn:microsoft.com/office/officeart/2018/2/layout/IconVerticalSolidList"/>
    <dgm:cxn modelId="{B2A7FE2D-8854-4E2B-9B68-52195E5DFEB9}" type="presParOf" srcId="{29CB5781-1FA7-4D1B-8FE3-486AE3AA19DF}" destId="{C056541F-B36F-40B6-BBE7-EDC28F08F94F}" srcOrd="0" destOrd="0" presId="urn:microsoft.com/office/officeart/2018/2/layout/IconVerticalSolidList"/>
    <dgm:cxn modelId="{8860BAAA-78F4-44C6-93EA-3AD1CCDA8E4F}" type="presParOf" srcId="{29CB5781-1FA7-4D1B-8FE3-486AE3AA19DF}" destId="{0D26DB8C-CA0A-45E2-BBBE-EC1694B418F9}" srcOrd="1" destOrd="0" presId="urn:microsoft.com/office/officeart/2018/2/layout/IconVerticalSolidList"/>
    <dgm:cxn modelId="{D562D6A8-D7BC-43A5-A7A1-CA9AFF5B9F7D}" type="presParOf" srcId="{29CB5781-1FA7-4D1B-8FE3-486AE3AA19DF}" destId="{1C803E5B-299C-4EB8-877A-F19316D40C24}" srcOrd="2" destOrd="0" presId="urn:microsoft.com/office/officeart/2018/2/layout/IconVerticalSolidList"/>
    <dgm:cxn modelId="{B50DC5C8-0A4E-425C-8157-67222BF01676}" type="presParOf" srcId="{29CB5781-1FA7-4D1B-8FE3-486AE3AA19DF}" destId="{D61130DA-3D31-429D-800F-4B3D4C95D57F}" srcOrd="3" destOrd="0" presId="urn:microsoft.com/office/officeart/2018/2/layout/IconVerticalSolidList"/>
    <dgm:cxn modelId="{2AE25341-3AF6-44EF-B5BD-9D1F7F2DB6E3}" type="presParOf" srcId="{29CB5781-1FA7-4D1B-8FE3-486AE3AA19DF}" destId="{47B3AD8E-FCD2-4A2A-B763-28D02768B2E4}" srcOrd="4" destOrd="0" presId="urn:microsoft.com/office/officeart/2018/2/layout/IconVerticalSolidList"/>
    <dgm:cxn modelId="{AAC0E16F-C254-47A0-A812-7D0C78AE63DD}" type="presParOf" srcId="{0C884B5F-056A-4532-B00E-06A235097499}" destId="{405936C6-2E0C-4CE9-BC47-9764FC5240C9}" srcOrd="1" destOrd="0" presId="urn:microsoft.com/office/officeart/2018/2/layout/IconVerticalSolidList"/>
    <dgm:cxn modelId="{C216A52F-4044-4D86-907C-7274E7825E38}" type="presParOf" srcId="{0C884B5F-056A-4532-B00E-06A235097499}" destId="{F3C31721-2B2F-4D4B-B04A-F51EFCD80261}" srcOrd="2" destOrd="0" presId="urn:microsoft.com/office/officeart/2018/2/layout/IconVerticalSolidList"/>
    <dgm:cxn modelId="{ADDC64BA-C368-4AB3-B6BD-0654E6201D07}" type="presParOf" srcId="{F3C31721-2B2F-4D4B-B04A-F51EFCD80261}" destId="{6F5D5C27-CE93-46DE-B20B-E3F28DCAFEF3}" srcOrd="0" destOrd="0" presId="urn:microsoft.com/office/officeart/2018/2/layout/IconVerticalSolidList"/>
    <dgm:cxn modelId="{D38247AF-4268-4D13-BAF6-18199086F77F}" type="presParOf" srcId="{F3C31721-2B2F-4D4B-B04A-F51EFCD80261}" destId="{8FD27813-17DE-4761-948C-7033CD23E424}" srcOrd="1" destOrd="0" presId="urn:microsoft.com/office/officeart/2018/2/layout/IconVerticalSolidList"/>
    <dgm:cxn modelId="{93C7FDF1-04F8-4D60-8A70-28DCC07F1DD0}" type="presParOf" srcId="{F3C31721-2B2F-4D4B-B04A-F51EFCD80261}" destId="{64D7CD13-FA58-434A-BDDA-C3BB9D53244A}" srcOrd="2" destOrd="0" presId="urn:microsoft.com/office/officeart/2018/2/layout/IconVerticalSolidList"/>
    <dgm:cxn modelId="{C814A49F-F09C-4272-B1C0-CCC04029CDE0}" type="presParOf" srcId="{F3C31721-2B2F-4D4B-B04A-F51EFCD80261}" destId="{A6C943C8-28E0-41E5-87D1-8662673020DE}" srcOrd="3" destOrd="0" presId="urn:microsoft.com/office/officeart/2018/2/layout/IconVerticalSolidList"/>
    <dgm:cxn modelId="{E761574A-96E2-4BE1-BD7B-72B7DFFC62C1}" type="presParOf" srcId="{F3C31721-2B2F-4D4B-B04A-F51EFCD80261}" destId="{156AE0AF-FA7A-45C3-B8EC-DC721084DFE1}" srcOrd="4" destOrd="0" presId="urn:microsoft.com/office/officeart/2018/2/layout/IconVerticalSolidList"/>
    <dgm:cxn modelId="{731E993C-526C-4F81-B9E3-3D213699C417}" type="presParOf" srcId="{0C884B5F-056A-4532-B00E-06A235097499}" destId="{4B388B14-7840-4867-9DE0-6B12CDF1BC2F}" srcOrd="3" destOrd="0" presId="urn:microsoft.com/office/officeart/2018/2/layout/IconVerticalSolidList"/>
    <dgm:cxn modelId="{79CFC9AA-37E8-48D0-B32C-D512FEEC2EA8}" type="presParOf" srcId="{0C884B5F-056A-4532-B00E-06A235097499}" destId="{29B10BEB-A674-4435-8113-0D470D11CF8F}" srcOrd="4" destOrd="0" presId="urn:microsoft.com/office/officeart/2018/2/layout/IconVerticalSolidList"/>
    <dgm:cxn modelId="{542D8D7B-D984-4908-AC61-51799C60E2A8}" type="presParOf" srcId="{29B10BEB-A674-4435-8113-0D470D11CF8F}" destId="{2470E697-42B3-4927-8C0C-17040F4486DC}" srcOrd="0" destOrd="0" presId="urn:microsoft.com/office/officeart/2018/2/layout/IconVerticalSolidList"/>
    <dgm:cxn modelId="{52FC793D-2193-4FC5-9F7E-E0CD7882F8DF}" type="presParOf" srcId="{29B10BEB-A674-4435-8113-0D470D11CF8F}" destId="{D7AD1567-7DDF-4CBC-B3C0-8B008058B4B5}" srcOrd="1" destOrd="0" presId="urn:microsoft.com/office/officeart/2018/2/layout/IconVerticalSolidList"/>
    <dgm:cxn modelId="{BC7115CA-66C5-49FB-B7DB-DAF12F68CE78}" type="presParOf" srcId="{29B10BEB-A674-4435-8113-0D470D11CF8F}" destId="{B022AEA8-CC68-486D-8B15-EB5D77289A3A}" srcOrd="2" destOrd="0" presId="urn:microsoft.com/office/officeart/2018/2/layout/IconVerticalSolidList"/>
    <dgm:cxn modelId="{D11A0B54-CB20-45E2-BAF9-6D8EBFD89337}" type="presParOf" srcId="{29B10BEB-A674-4435-8113-0D470D11CF8F}" destId="{40A3883A-7671-46E6-8B74-B305BF2FA24D}" srcOrd="3" destOrd="0" presId="urn:microsoft.com/office/officeart/2018/2/layout/IconVerticalSolidList"/>
    <dgm:cxn modelId="{536D212D-2EDF-486E-82C9-98DFA28EDF63}" type="presParOf" srcId="{29B10BEB-A674-4435-8113-0D470D11CF8F}" destId="{533342A7-0CFF-4857-B9CF-F1618CE242F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6541F-B36F-40B6-BBE7-EDC28F08F94F}">
      <dsp:nvSpPr>
        <dsp:cNvPr id="0" name=""/>
        <dsp:cNvSpPr/>
      </dsp:nvSpPr>
      <dsp:spPr>
        <a:xfrm>
          <a:off x="0" y="462"/>
          <a:ext cx="5182790" cy="1082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26DB8C-CA0A-45E2-BBBE-EC1694B418F9}">
      <dsp:nvSpPr>
        <dsp:cNvPr id="0" name=""/>
        <dsp:cNvSpPr/>
      </dsp:nvSpPr>
      <dsp:spPr>
        <a:xfrm>
          <a:off x="327360" y="243953"/>
          <a:ext cx="595201" cy="595201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130DA-3D31-429D-800F-4B3D4C95D57F}">
      <dsp:nvSpPr>
        <dsp:cNvPr id="0" name=""/>
        <dsp:cNvSpPr/>
      </dsp:nvSpPr>
      <dsp:spPr>
        <a:xfrm>
          <a:off x="1249922" y="462"/>
          <a:ext cx="2332255" cy="1082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531" tIns="114531" rIns="114531" bIns="1145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500" kern="1200"/>
            <a:t>Peso: </a:t>
          </a:r>
          <a:endParaRPr lang="en-US" sz="2500" kern="1200"/>
        </a:p>
      </dsp:txBody>
      <dsp:txXfrm>
        <a:off x="1249922" y="462"/>
        <a:ext cx="2332255" cy="1082184"/>
      </dsp:txXfrm>
    </dsp:sp>
    <dsp:sp modelId="{47B3AD8E-FCD2-4A2A-B763-28D02768B2E4}">
      <dsp:nvSpPr>
        <dsp:cNvPr id="0" name=""/>
        <dsp:cNvSpPr/>
      </dsp:nvSpPr>
      <dsp:spPr>
        <a:xfrm>
          <a:off x="3582178" y="462"/>
          <a:ext cx="1600611" cy="1082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531" tIns="114531" rIns="114531" bIns="1145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700" b="1" kern="1200"/>
            <a:t>conejos </a:t>
          </a:r>
          <a:r>
            <a:rPr lang="es-CR" sz="1700" kern="1200"/>
            <a:t>vrs </a:t>
          </a:r>
          <a:r>
            <a:rPr lang="es-CR" sz="1700" b="1" kern="1200"/>
            <a:t>caballos</a:t>
          </a:r>
          <a:endParaRPr lang="en-US" sz="1700" kern="1200"/>
        </a:p>
      </dsp:txBody>
      <dsp:txXfrm>
        <a:off x="3582178" y="462"/>
        <a:ext cx="1600611" cy="1082184"/>
      </dsp:txXfrm>
    </dsp:sp>
    <dsp:sp modelId="{6F5D5C27-CE93-46DE-B20B-E3F28DCAFEF3}">
      <dsp:nvSpPr>
        <dsp:cNvPr id="0" name=""/>
        <dsp:cNvSpPr/>
      </dsp:nvSpPr>
      <dsp:spPr>
        <a:xfrm>
          <a:off x="0" y="1353192"/>
          <a:ext cx="5182790" cy="1082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27813-17DE-4761-948C-7033CD23E424}">
      <dsp:nvSpPr>
        <dsp:cNvPr id="0" name=""/>
        <dsp:cNvSpPr/>
      </dsp:nvSpPr>
      <dsp:spPr>
        <a:xfrm>
          <a:off x="327360" y="1596683"/>
          <a:ext cx="595201" cy="595201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C943C8-28E0-41E5-87D1-8662673020DE}">
      <dsp:nvSpPr>
        <dsp:cNvPr id="0" name=""/>
        <dsp:cNvSpPr/>
      </dsp:nvSpPr>
      <dsp:spPr>
        <a:xfrm>
          <a:off x="1249922" y="1353192"/>
          <a:ext cx="2332255" cy="1082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531" tIns="114531" rIns="114531" bIns="1145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500" kern="1200"/>
            <a:t>Diferentes medidas: </a:t>
          </a:r>
          <a:endParaRPr lang="en-US" sz="2500" kern="1200"/>
        </a:p>
      </dsp:txBody>
      <dsp:txXfrm>
        <a:off x="1249922" y="1353192"/>
        <a:ext cx="2332255" cy="1082184"/>
      </dsp:txXfrm>
    </dsp:sp>
    <dsp:sp modelId="{156AE0AF-FA7A-45C3-B8EC-DC721084DFE1}">
      <dsp:nvSpPr>
        <dsp:cNvPr id="0" name=""/>
        <dsp:cNvSpPr/>
      </dsp:nvSpPr>
      <dsp:spPr>
        <a:xfrm>
          <a:off x="3582178" y="1353192"/>
          <a:ext cx="1600611" cy="1082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531" tIns="114531" rIns="114531" bIns="1145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700" b="1" kern="1200"/>
            <a:t>kilómetros </a:t>
          </a:r>
          <a:r>
            <a:rPr lang="es-CR" sz="1700" kern="1200"/>
            <a:t>vrs </a:t>
          </a:r>
          <a:r>
            <a:rPr lang="es-CR" sz="1700" b="1" kern="1200"/>
            <a:t>centímetros</a:t>
          </a:r>
          <a:r>
            <a:rPr lang="es-CR" sz="1700" kern="1200"/>
            <a:t> vrs </a:t>
          </a:r>
          <a:r>
            <a:rPr lang="es-CR" sz="1700" b="1" kern="1200"/>
            <a:t>minutos</a:t>
          </a:r>
          <a:r>
            <a:rPr lang="es-CR" sz="1700" kern="1200"/>
            <a:t>.</a:t>
          </a:r>
          <a:endParaRPr lang="en-US" sz="1700" kern="1200"/>
        </a:p>
      </dsp:txBody>
      <dsp:txXfrm>
        <a:off x="3582178" y="1353192"/>
        <a:ext cx="1600611" cy="1082184"/>
      </dsp:txXfrm>
    </dsp:sp>
    <dsp:sp modelId="{2470E697-42B3-4927-8C0C-17040F4486DC}">
      <dsp:nvSpPr>
        <dsp:cNvPr id="0" name=""/>
        <dsp:cNvSpPr/>
      </dsp:nvSpPr>
      <dsp:spPr>
        <a:xfrm>
          <a:off x="0" y="2705922"/>
          <a:ext cx="5182790" cy="1082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AD1567-7DDF-4CBC-B3C0-8B008058B4B5}">
      <dsp:nvSpPr>
        <dsp:cNvPr id="0" name=""/>
        <dsp:cNvSpPr/>
      </dsp:nvSpPr>
      <dsp:spPr>
        <a:xfrm>
          <a:off x="327360" y="2949413"/>
          <a:ext cx="595201" cy="595201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3883A-7671-46E6-8B74-B305BF2FA24D}">
      <dsp:nvSpPr>
        <dsp:cNvPr id="0" name=""/>
        <dsp:cNvSpPr/>
      </dsp:nvSpPr>
      <dsp:spPr>
        <a:xfrm>
          <a:off x="1249922" y="2705922"/>
          <a:ext cx="2332255" cy="1082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531" tIns="114531" rIns="114531" bIns="1145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500" kern="1200"/>
            <a:t>Estatura: </a:t>
          </a:r>
          <a:endParaRPr lang="en-US" sz="2500" kern="1200"/>
        </a:p>
      </dsp:txBody>
      <dsp:txXfrm>
        <a:off x="1249922" y="2705922"/>
        <a:ext cx="2332255" cy="1082184"/>
      </dsp:txXfrm>
    </dsp:sp>
    <dsp:sp modelId="{533342A7-0CFF-4857-B9CF-F1618CE242F4}">
      <dsp:nvSpPr>
        <dsp:cNvPr id="0" name=""/>
        <dsp:cNvSpPr/>
      </dsp:nvSpPr>
      <dsp:spPr>
        <a:xfrm>
          <a:off x="3582178" y="2705922"/>
          <a:ext cx="1600611" cy="1082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531" tIns="114531" rIns="114531" bIns="1145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700" b="1" kern="1200"/>
            <a:t>niñas de 2 años</a:t>
          </a:r>
          <a:r>
            <a:rPr lang="es-CR" sz="1700" kern="1200"/>
            <a:t> vrs </a:t>
          </a:r>
          <a:r>
            <a:rPr lang="es-CR" sz="1700" b="1" kern="1200"/>
            <a:t>niñas de 16 años</a:t>
          </a:r>
          <a:endParaRPr lang="en-US" sz="1700" kern="1200"/>
        </a:p>
      </dsp:txBody>
      <dsp:txXfrm>
        <a:off x="3582178" y="2705922"/>
        <a:ext cx="1600611" cy="1082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922EB-3B4B-4DE7-B5C4-0030B5087B3E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62F9E-7738-4236-B39C-CC5BF8C23225}" type="slidenum">
              <a:rPr lang="es-CR" smtClean="0"/>
              <a:pPr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3703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20800" y="879475"/>
            <a:ext cx="4217988" cy="31638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61061" y="4349967"/>
            <a:ext cx="4731211" cy="3502490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es-C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062F9E-7738-4236-B39C-CC5BF8C23225}" type="slidenum">
              <a:rPr lang="es-CR" smtClean="0"/>
              <a:pPr/>
              <a:t>13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35659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09F82804-677A-439E-B8AA-9417AC572255}" type="datetimeFigureOut">
              <a:rPr lang="es-CR" smtClean="0"/>
              <a:pPr/>
              <a:t>5/5/2025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446D70CC-D1A5-4269-A167-6BC0B589707A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0.png"/><Relationship Id="rId4" Type="http://schemas.openxmlformats.org/officeDocument/2006/relationships/image" Target="../media/image7.emf"/><Relationship Id="rId9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71600" y="404664"/>
            <a:ext cx="7543800" cy="2663552"/>
          </a:xfrm>
        </p:spPr>
        <p:txBody>
          <a:bodyPr/>
          <a:lstStyle/>
          <a:p>
            <a:r>
              <a:rPr lang="es-CR" dirty="0"/>
              <a:t>Medidas de variabilidad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429911" y="5517232"/>
            <a:ext cx="3096344" cy="648072"/>
          </a:xfrm>
        </p:spPr>
        <p:txBody>
          <a:bodyPr/>
          <a:lstStyle/>
          <a:p>
            <a:r>
              <a:rPr lang="es-CR" dirty="0"/>
              <a:t>Eugenia Gallardo A.</a:t>
            </a:r>
          </a:p>
        </p:txBody>
      </p:sp>
    </p:spTree>
    <p:extLst>
      <p:ext uri="{BB962C8B-B14F-4D97-AF65-F5344CB8AC3E}">
        <p14:creationId xmlns:p14="http://schemas.microsoft.com/office/powerpoint/2010/main" val="41673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Medidas de variabilidad</a:t>
            </a:r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764704"/>
            <a:ext cx="580465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7801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764704"/>
            <a:ext cx="6280170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7064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FF246-0872-4EBB-8402-51E2AE4EC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373216"/>
            <a:ext cx="7914456" cy="798984"/>
          </a:xfrm>
        </p:spPr>
        <p:txBody>
          <a:bodyPr>
            <a:normAutofit/>
          </a:bodyPr>
          <a:lstStyle/>
          <a:p>
            <a:r>
              <a:rPr lang="es-CR" sz="3200" dirty="0"/>
              <a:t>Mismo promedio  pero diferente variabilidad</a:t>
            </a:r>
          </a:p>
        </p:txBody>
      </p:sp>
      <p:pic>
        <p:nvPicPr>
          <p:cNvPr id="10" name="Picture 2" descr="La importancia de la variabilidad en el ISTP NUEVA ESPERANZA ...">
            <a:extLst>
              <a:ext uri="{FF2B5EF4-FFF2-40B4-BE49-F238E27FC236}">
                <a16:creationId xmlns:a16="http://schemas.microsoft.com/office/drawing/2014/main" id="{EF2DFD4B-F73B-4BEE-A4FD-4AC842AFD3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89" b="3861"/>
          <a:stretch/>
        </p:blipFill>
        <p:spPr bwMode="auto">
          <a:xfrm>
            <a:off x="1187624" y="764704"/>
            <a:ext cx="6784102" cy="44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863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R" b="1" dirty="0"/>
              <a:t>Dispersión o variabilidad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43608" y="764704"/>
            <a:ext cx="6840760" cy="4464496"/>
          </a:xfrm>
        </p:spPr>
        <p:txBody>
          <a:bodyPr/>
          <a:lstStyle/>
          <a:p>
            <a:pPr marL="0" indent="0">
              <a:buNone/>
            </a:pPr>
            <a:r>
              <a:rPr lang="es-CR" sz="2100" b="1" dirty="0"/>
              <a:t>Medidas más utilizadas:</a:t>
            </a:r>
            <a:r>
              <a:rPr lang="es-CR" sz="2100" dirty="0"/>
              <a:t> </a:t>
            </a:r>
          </a:p>
          <a:p>
            <a:pPr marL="0" indent="0">
              <a:buNone/>
            </a:pPr>
            <a:endParaRPr lang="es-CR" sz="2100" dirty="0"/>
          </a:p>
          <a:p>
            <a:pPr marL="0" indent="0">
              <a:buNone/>
            </a:pPr>
            <a:endParaRPr lang="es-CR" sz="2100" dirty="0"/>
          </a:p>
          <a:p>
            <a:r>
              <a:rPr lang="es-CR" sz="2000" dirty="0"/>
              <a:t>- Recorrido o amplitud</a:t>
            </a:r>
          </a:p>
          <a:p>
            <a:r>
              <a:rPr lang="es-CR" sz="2000" dirty="0"/>
              <a:t>- Desviación media</a:t>
            </a:r>
          </a:p>
          <a:p>
            <a:r>
              <a:rPr lang="es-CR" sz="2000" dirty="0"/>
              <a:t>- Variancia o varianza</a:t>
            </a:r>
          </a:p>
          <a:p>
            <a:r>
              <a:rPr lang="es-CR" sz="2000" dirty="0"/>
              <a:t>- Desviación estándar</a:t>
            </a:r>
          </a:p>
          <a:p>
            <a:r>
              <a:rPr lang="es-CR" sz="2000" dirty="0"/>
              <a:t>- Recorrido </a:t>
            </a:r>
            <a:r>
              <a:rPr lang="es-CR" sz="2000" dirty="0" err="1"/>
              <a:t>intercuartil</a:t>
            </a:r>
            <a:endParaRPr lang="es-CR" sz="2000" dirty="0"/>
          </a:p>
          <a:p>
            <a:r>
              <a:rPr lang="es-CR" sz="2000" dirty="0"/>
              <a:t>- Coeficiente de variación</a:t>
            </a:r>
          </a:p>
          <a:p>
            <a:endParaRPr lang="es-CR" dirty="0"/>
          </a:p>
          <a:p>
            <a:endParaRPr lang="es-CR" dirty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5912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El recorrido o amplitud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Se representa con la letra R</a:t>
            </a:r>
          </a:p>
          <a:p>
            <a:r>
              <a:rPr lang="es-CR" dirty="0"/>
              <a:t>Se define como: R= Observación mayor – Observación menor</a:t>
            </a:r>
          </a:p>
          <a:p>
            <a:r>
              <a:rPr lang="es-CR" dirty="0"/>
              <a:t>No es muy recomendable si hay valores extremos</a:t>
            </a:r>
          </a:p>
        </p:txBody>
      </p:sp>
    </p:spTree>
    <p:extLst>
      <p:ext uri="{BB962C8B-B14F-4D97-AF65-F5344CB8AC3E}">
        <p14:creationId xmlns:p14="http://schemas.microsoft.com/office/powerpoint/2010/main" val="4265103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4759424"/>
          </a:xfrm>
        </p:spPr>
        <p:txBody>
          <a:bodyPr/>
          <a:lstStyle/>
          <a:p>
            <a:pPr marL="0" indent="0">
              <a:buNone/>
            </a:pPr>
            <a:r>
              <a:rPr lang="es-CR" b="1" dirty="0"/>
              <a:t>Ejemplo: </a:t>
            </a:r>
            <a:r>
              <a:rPr lang="es-CR" dirty="0"/>
              <a:t>Se consultó a una muestra de 10 graduados de la Universidad San Martín sobre la cantidad de meses que tardaron para conseguir trabajo luego de graduarse. </a:t>
            </a:r>
          </a:p>
          <a:p>
            <a:pPr marL="0" indent="0">
              <a:buNone/>
            </a:pPr>
            <a:r>
              <a:rPr lang="es-CR" sz="2000" b="1" dirty="0"/>
              <a:t>1  5  5  6  6  6  10	 12  15  18</a:t>
            </a:r>
          </a:p>
          <a:p>
            <a:pPr marL="0" indent="0">
              <a:buNone/>
            </a:pPr>
            <a:endParaRPr lang="es-CR" dirty="0"/>
          </a:p>
          <a:p>
            <a:pPr marL="0" indent="0" algn="ctr">
              <a:buNone/>
            </a:pPr>
            <a:r>
              <a:rPr lang="es-CR" sz="4000" b="1" dirty="0">
                <a:solidFill>
                  <a:srgbClr val="FF0000"/>
                </a:solidFill>
              </a:rPr>
              <a:t>R = 18 – 1 = 17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336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Calcular el recorrido de los datos sobre porcentaje de abstencionismo en la provincia de Cartago</a:t>
            </a:r>
          </a:p>
          <a:p>
            <a:endParaRPr lang="es-CR" dirty="0"/>
          </a:p>
          <a:p>
            <a:pPr marL="0" indent="0">
              <a:buNone/>
            </a:pPr>
            <a:r>
              <a:rPr lang="es-CR" dirty="0"/>
              <a:t>23,7; 25,9; 29,8; 24,3;26,3;25,0;25,4;22,4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/>
              <a:t>R=  29,8-22,4</a:t>
            </a:r>
          </a:p>
        </p:txBody>
      </p:sp>
    </p:spTree>
    <p:extLst>
      <p:ext uri="{BB962C8B-B14F-4D97-AF65-F5344CB8AC3E}">
        <p14:creationId xmlns:p14="http://schemas.microsoft.com/office/powerpoint/2010/main" val="1290686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b="1" dirty="0"/>
              <a:t>Recorrido </a:t>
            </a:r>
            <a:r>
              <a:rPr lang="es-CR" b="1" dirty="0" err="1"/>
              <a:t>intercuartil</a:t>
            </a:r>
            <a:endParaRPr lang="es-C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2000" y="1340768"/>
            <a:ext cx="7886700" cy="3498995"/>
          </a:xfrm>
        </p:spPr>
        <p:txBody>
          <a:bodyPr>
            <a:normAutofit fontScale="85000" lnSpcReduction="20000"/>
          </a:bodyPr>
          <a:lstStyle/>
          <a:p>
            <a:r>
              <a:rPr lang="es-CR" b="1" dirty="0"/>
              <a:t>Se obtiene como la diferencia entre el tercer cuartil y el primer cuartil</a:t>
            </a:r>
            <a:endParaRPr lang="es-CR" sz="2100" b="1" dirty="0">
              <a:solidFill>
                <a:srgbClr val="FF0000"/>
              </a:solidFill>
            </a:endParaRPr>
          </a:p>
          <a:p>
            <a:pPr algn="ctr"/>
            <a:r>
              <a:rPr lang="es-CR" sz="2100" b="1" dirty="0">
                <a:solidFill>
                  <a:srgbClr val="FF0000"/>
                </a:solidFill>
              </a:rPr>
              <a:t>RI= C3 - C1</a:t>
            </a:r>
          </a:p>
          <a:p>
            <a:pPr marL="0" indent="0">
              <a:buNone/>
            </a:pPr>
            <a:r>
              <a:rPr lang="es-CR" b="1" dirty="0"/>
              <a:t>Ejemplo: </a:t>
            </a:r>
            <a:r>
              <a:rPr lang="es-CR" dirty="0"/>
              <a:t>Se consultó a una muestra de 10 graduados de la Universidad San Martín sobre la cantidad de meses que tardaron para conseguir trabajo luego de graduarse. </a:t>
            </a:r>
          </a:p>
          <a:p>
            <a:pPr marL="0" indent="0" algn="ctr">
              <a:buNone/>
            </a:pPr>
            <a:r>
              <a:rPr lang="es-CR" sz="2100" b="1" dirty="0"/>
              <a:t>1	5	5	6	6     6	10	12	15	18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/>
              <a:t>Compruebe que  C3= 12,75 y C1=5</a:t>
            </a:r>
          </a:p>
          <a:p>
            <a:pPr marL="0" indent="0" algn="ctr">
              <a:buNone/>
            </a:pPr>
            <a:r>
              <a:rPr lang="es-CR" b="1" dirty="0">
                <a:solidFill>
                  <a:srgbClr val="FF0000"/>
                </a:solidFill>
              </a:rPr>
              <a:t>RI = 12,75 - 5 = 7,75</a:t>
            </a:r>
          </a:p>
          <a:p>
            <a:pPr marL="0" indent="0">
              <a:buNone/>
            </a:pPr>
            <a:r>
              <a:rPr lang="es-CR" b="1" i="1" dirty="0">
                <a:solidFill>
                  <a:srgbClr val="002060"/>
                </a:solidFill>
              </a:rPr>
              <a:t>¿Qué porcentaje de las observaciones está contenido en el recorrido </a:t>
            </a:r>
            <a:r>
              <a:rPr lang="es-CR" b="1" i="1" dirty="0" err="1">
                <a:solidFill>
                  <a:srgbClr val="002060"/>
                </a:solidFill>
              </a:rPr>
              <a:t>intercuartil</a:t>
            </a:r>
            <a:r>
              <a:rPr lang="es-CR" b="1" i="1" dirty="0">
                <a:solidFill>
                  <a:srgbClr val="002060"/>
                </a:solidFill>
              </a:rPr>
              <a:t>?</a:t>
            </a:r>
          </a:p>
          <a:p>
            <a:pPr marL="0" indent="0">
              <a:buNone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431867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F9E5-D210-41FC-8058-E181AEC4B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Desviación media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55B0231-98E2-4162-9890-F72E1BC3184D}"/>
              </a:ext>
            </a:extLst>
          </p:cNvPr>
          <p:cNvGrpSpPr>
            <a:grpSpLocks/>
          </p:cNvGrpSpPr>
          <p:nvPr/>
        </p:nvGrpSpPr>
        <p:grpSpPr bwMode="auto">
          <a:xfrm>
            <a:off x="843688" y="800099"/>
            <a:ext cx="5778500" cy="2971801"/>
            <a:chOff x="590" y="1611"/>
            <a:chExt cx="3640" cy="2496"/>
          </a:xfrm>
        </p:grpSpPr>
        <p:sp>
          <p:nvSpPr>
            <p:cNvPr id="5" name="Text Box 3">
              <a:extLst>
                <a:ext uri="{FF2B5EF4-FFF2-40B4-BE49-F238E27FC236}">
                  <a16:creationId xmlns:a16="http://schemas.microsoft.com/office/drawing/2014/main" id="{452C0A9F-6D84-4405-B303-824FE2C83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" y="1611"/>
              <a:ext cx="3640" cy="2496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67500" tIns="35100" rIns="67500" bIns="35100">
              <a:spAutoFit/>
            </a:bodyPr>
            <a:lstStyle/>
            <a:p>
              <a:pPr eaLnBrk="0" hangingPunct="0">
                <a:spcBef>
                  <a:spcPts val="1500"/>
                </a:spcBef>
                <a:tabLst>
                  <a:tab pos="0" algn="l"/>
                  <a:tab pos="335756" algn="l"/>
                  <a:tab pos="672704" algn="l"/>
                  <a:tab pos="1009650" algn="l"/>
                  <a:tab pos="1346597" algn="l"/>
                  <a:tab pos="1683544" algn="l"/>
                  <a:tab pos="2020491" algn="l"/>
                  <a:tab pos="2357438" algn="l"/>
                  <a:tab pos="2694385" algn="l"/>
                  <a:tab pos="3031331" algn="l"/>
                  <a:tab pos="3368279" algn="l"/>
                  <a:tab pos="3705225" algn="l"/>
                  <a:tab pos="4042172" algn="l"/>
                  <a:tab pos="4379119" algn="l"/>
                  <a:tab pos="4716066" algn="l"/>
                  <a:tab pos="5053013" algn="l"/>
                  <a:tab pos="5389960" algn="l"/>
                  <a:tab pos="5726906" algn="l"/>
                  <a:tab pos="6063854" algn="l"/>
                  <a:tab pos="6400800" algn="l"/>
                  <a:tab pos="6737747" algn="l"/>
                </a:tabLst>
              </a:pPr>
              <a:r>
                <a:rPr lang="es-ES" sz="2100" dirty="0">
                  <a:latin typeface="Tahoma" pitchFamily="32" charset="0"/>
                </a:rPr>
                <a:t>En donde:</a:t>
              </a:r>
            </a:p>
            <a:p>
              <a:pPr eaLnBrk="0" hangingPunct="0">
                <a:spcBef>
                  <a:spcPts val="1500"/>
                </a:spcBef>
                <a:tabLst>
                  <a:tab pos="0" algn="l"/>
                  <a:tab pos="335756" algn="l"/>
                  <a:tab pos="672704" algn="l"/>
                  <a:tab pos="1009650" algn="l"/>
                  <a:tab pos="1346597" algn="l"/>
                  <a:tab pos="1683544" algn="l"/>
                  <a:tab pos="2020491" algn="l"/>
                  <a:tab pos="2357438" algn="l"/>
                  <a:tab pos="2694385" algn="l"/>
                  <a:tab pos="3031331" algn="l"/>
                  <a:tab pos="3368279" algn="l"/>
                  <a:tab pos="3705225" algn="l"/>
                  <a:tab pos="4042172" algn="l"/>
                  <a:tab pos="4379119" algn="l"/>
                  <a:tab pos="4716066" algn="l"/>
                  <a:tab pos="5053013" algn="l"/>
                  <a:tab pos="5389960" algn="l"/>
                  <a:tab pos="5726906" algn="l"/>
                  <a:tab pos="6063854" algn="l"/>
                  <a:tab pos="6400800" algn="l"/>
                  <a:tab pos="6737747" algn="l"/>
                </a:tabLst>
              </a:pPr>
              <a:r>
                <a:rPr lang="es-ES" sz="2100" dirty="0">
                  <a:latin typeface="Tahoma" pitchFamily="32" charset="0"/>
                </a:rPr>
                <a:t>x es la observación</a:t>
              </a:r>
            </a:p>
            <a:p>
              <a:pPr eaLnBrk="0" hangingPunct="0">
                <a:spcBef>
                  <a:spcPts val="1500"/>
                </a:spcBef>
                <a:tabLst>
                  <a:tab pos="0" algn="l"/>
                  <a:tab pos="335756" algn="l"/>
                  <a:tab pos="672704" algn="l"/>
                  <a:tab pos="1009650" algn="l"/>
                  <a:tab pos="1346597" algn="l"/>
                  <a:tab pos="1683544" algn="l"/>
                  <a:tab pos="2020491" algn="l"/>
                  <a:tab pos="2357438" algn="l"/>
                  <a:tab pos="2694385" algn="l"/>
                  <a:tab pos="3031331" algn="l"/>
                  <a:tab pos="3368279" algn="l"/>
                  <a:tab pos="3705225" algn="l"/>
                  <a:tab pos="4042172" algn="l"/>
                  <a:tab pos="4379119" algn="l"/>
                  <a:tab pos="4716066" algn="l"/>
                  <a:tab pos="5053013" algn="l"/>
                  <a:tab pos="5389960" algn="l"/>
                  <a:tab pos="5726906" algn="l"/>
                  <a:tab pos="6063854" algn="l"/>
                  <a:tab pos="6400800" algn="l"/>
                  <a:tab pos="6737747" algn="l"/>
                </a:tabLst>
              </a:pPr>
              <a:r>
                <a:rPr lang="es-ES" sz="2100" dirty="0">
                  <a:latin typeface="Tahoma" pitchFamily="32" charset="0"/>
                </a:rPr>
                <a:t>x  promedio muestra</a:t>
              </a:r>
            </a:p>
            <a:p>
              <a:pPr eaLnBrk="0" hangingPunct="0">
                <a:spcBef>
                  <a:spcPts val="1500"/>
                </a:spcBef>
                <a:tabLst>
                  <a:tab pos="0" algn="l"/>
                  <a:tab pos="335756" algn="l"/>
                  <a:tab pos="672704" algn="l"/>
                  <a:tab pos="1009650" algn="l"/>
                  <a:tab pos="1346597" algn="l"/>
                  <a:tab pos="1683544" algn="l"/>
                  <a:tab pos="2020491" algn="l"/>
                  <a:tab pos="2357438" algn="l"/>
                  <a:tab pos="2694385" algn="l"/>
                  <a:tab pos="3031331" algn="l"/>
                  <a:tab pos="3368279" algn="l"/>
                  <a:tab pos="3705225" algn="l"/>
                  <a:tab pos="4042172" algn="l"/>
                  <a:tab pos="4379119" algn="l"/>
                  <a:tab pos="4716066" algn="l"/>
                  <a:tab pos="5053013" algn="l"/>
                  <a:tab pos="5389960" algn="l"/>
                  <a:tab pos="5726906" algn="l"/>
                  <a:tab pos="6063854" algn="l"/>
                  <a:tab pos="6400800" algn="l"/>
                  <a:tab pos="6737747" algn="l"/>
                </a:tabLst>
              </a:pPr>
              <a:r>
                <a:rPr lang="es-ES" sz="2100" dirty="0">
                  <a:cs typeface="Times New Roman" pitchFamily="16" charset="0"/>
                </a:rPr>
                <a:t> μ</a:t>
              </a:r>
              <a:r>
                <a:rPr lang="es-ES" sz="2100" dirty="0">
                  <a:latin typeface="Tahoma" pitchFamily="32" charset="0"/>
                </a:rPr>
                <a:t> Promedio de la población</a:t>
              </a:r>
            </a:p>
            <a:p>
              <a:pPr eaLnBrk="0" hangingPunct="0">
                <a:spcBef>
                  <a:spcPts val="1500"/>
                </a:spcBef>
                <a:tabLst>
                  <a:tab pos="0" algn="l"/>
                  <a:tab pos="335756" algn="l"/>
                  <a:tab pos="672704" algn="l"/>
                  <a:tab pos="1009650" algn="l"/>
                  <a:tab pos="1346597" algn="l"/>
                  <a:tab pos="1683544" algn="l"/>
                  <a:tab pos="2020491" algn="l"/>
                  <a:tab pos="2357438" algn="l"/>
                  <a:tab pos="2694385" algn="l"/>
                  <a:tab pos="3031331" algn="l"/>
                  <a:tab pos="3368279" algn="l"/>
                  <a:tab pos="3705225" algn="l"/>
                  <a:tab pos="4042172" algn="l"/>
                  <a:tab pos="4379119" algn="l"/>
                  <a:tab pos="4716066" algn="l"/>
                  <a:tab pos="5053013" algn="l"/>
                  <a:tab pos="5389960" algn="l"/>
                  <a:tab pos="5726906" algn="l"/>
                  <a:tab pos="6063854" algn="l"/>
                  <a:tab pos="6400800" algn="l"/>
                  <a:tab pos="6737747" algn="l"/>
                </a:tabLst>
              </a:pPr>
              <a:r>
                <a:rPr lang="es-ES" sz="2100" dirty="0">
                  <a:latin typeface="Tahoma" pitchFamily="32" charset="0"/>
                </a:rPr>
                <a:t>n es el tamaño de la muestra</a:t>
              </a:r>
            </a:p>
            <a:p>
              <a:pPr eaLnBrk="0" hangingPunct="0">
                <a:spcBef>
                  <a:spcPts val="1500"/>
                </a:spcBef>
                <a:tabLst>
                  <a:tab pos="0" algn="l"/>
                  <a:tab pos="335756" algn="l"/>
                  <a:tab pos="672704" algn="l"/>
                  <a:tab pos="1009650" algn="l"/>
                  <a:tab pos="1346597" algn="l"/>
                  <a:tab pos="1683544" algn="l"/>
                  <a:tab pos="2020491" algn="l"/>
                  <a:tab pos="2357438" algn="l"/>
                  <a:tab pos="2694385" algn="l"/>
                  <a:tab pos="3031331" algn="l"/>
                  <a:tab pos="3368279" algn="l"/>
                  <a:tab pos="3705225" algn="l"/>
                  <a:tab pos="4042172" algn="l"/>
                  <a:tab pos="4379119" algn="l"/>
                  <a:tab pos="4716066" algn="l"/>
                  <a:tab pos="5053013" algn="l"/>
                  <a:tab pos="5389960" algn="l"/>
                  <a:tab pos="5726906" algn="l"/>
                  <a:tab pos="6063854" algn="l"/>
                  <a:tab pos="6400800" algn="l"/>
                  <a:tab pos="6737747" algn="l"/>
                </a:tabLst>
              </a:pPr>
              <a:r>
                <a:rPr lang="es-ES" sz="2100" dirty="0">
                  <a:latin typeface="Tahoma" pitchFamily="32" charset="0"/>
                </a:rPr>
                <a:t>N es el tamaño de la población</a:t>
              </a: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7B020A84-85E5-4E8A-BBE2-AF27F97F9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" y="2546"/>
              <a:ext cx="136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s-CR" sz="1350">
                <a:ln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7" name="Text Box 5">
            <a:extLst>
              <a:ext uri="{FF2B5EF4-FFF2-40B4-BE49-F238E27FC236}">
                <a16:creationId xmlns:a16="http://schemas.microsoft.com/office/drawing/2014/main" id="{55DE8E75-C96E-4037-B4AF-72BAD7890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8698" y="2385836"/>
            <a:ext cx="1676400" cy="809549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67500" tIns="35100" rIns="67500" bIns="35100">
            <a:spAutoFit/>
          </a:bodyPr>
          <a:lstStyle/>
          <a:p>
            <a:pPr eaLnBrk="0" hangingPunct="0">
              <a:spcBef>
                <a:spcPts val="1500"/>
              </a:spcBef>
              <a:tabLst>
                <a:tab pos="0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es-ES" sz="2400" dirty="0">
                <a:latin typeface="Tahoma" pitchFamily="32" charset="0"/>
              </a:rPr>
              <a:t>Para la Muestra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A5AA2B5-0C2E-49B8-A6BD-72AFF5AB1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2537" y="4396738"/>
            <a:ext cx="1905000" cy="809549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67500" tIns="35100" rIns="67500" bIns="35100">
            <a:spAutoFit/>
          </a:bodyPr>
          <a:lstStyle/>
          <a:p>
            <a:pPr eaLnBrk="0" hangingPunct="0">
              <a:spcBef>
                <a:spcPts val="1500"/>
              </a:spcBef>
              <a:tabLst>
                <a:tab pos="0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es-ES" sz="2400" dirty="0">
                <a:latin typeface="Tahoma" pitchFamily="32" charset="0"/>
              </a:rPr>
              <a:t>Para la Población</a:t>
            </a:r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C83499AE-66F5-4FC1-A4A4-9AA10D33F5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693723"/>
              </p:ext>
            </p:extLst>
          </p:nvPr>
        </p:nvGraphicFramePr>
        <p:xfrm>
          <a:off x="4771548" y="1108012"/>
          <a:ext cx="2597150" cy="1907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22030" imgH="609336" progId="">
                  <p:embed/>
                </p:oleObj>
              </mc:Choice>
              <mc:Fallback>
                <p:oleObj r:id="rId2" imgW="622030" imgH="609336" progId="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C83499AE-66F5-4FC1-A4A4-9AA10D33F5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1548" y="1108012"/>
                        <a:ext cx="2597150" cy="19073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4">
            <a:extLst>
              <a:ext uri="{FF2B5EF4-FFF2-40B4-BE49-F238E27FC236}">
                <a16:creationId xmlns:a16="http://schemas.microsoft.com/office/drawing/2014/main" id="{71A0D79E-8B56-475F-B707-DE8258ECA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08595" y="3650725"/>
            <a:ext cx="1830406" cy="1751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B1466487-8CF2-4D07-B0C7-E48A9F58C107}"/>
              </a:ext>
            </a:extLst>
          </p:cNvPr>
          <p:cNvSpPr/>
          <p:nvPr/>
        </p:nvSpPr>
        <p:spPr>
          <a:xfrm>
            <a:off x="6723669" y="3133824"/>
            <a:ext cx="402664" cy="67873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 sz="13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2B68C3-7820-4791-8EE4-8510C728F2A3}"/>
              </a:ext>
            </a:extLst>
          </p:cNvPr>
          <p:cNvSpPr/>
          <p:nvPr/>
        </p:nvSpPr>
        <p:spPr>
          <a:xfrm>
            <a:off x="5613662" y="4774087"/>
            <a:ext cx="1237268" cy="80073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 sz="135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E8E0880-D88B-47DE-8CE0-1CE76B92C84F}"/>
              </a:ext>
            </a:extLst>
          </p:cNvPr>
          <p:cNvSpPr/>
          <p:nvPr/>
        </p:nvSpPr>
        <p:spPr>
          <a:xfrm>
            <a:off x="5373733" y="2479993"/>
            <a:ext cx="1237268" cy="80073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 sz="1350"/>
          </a:p>
        </p:txBody>
      </p:sp>
    </p:spTree>
    <p:extLst>
      <p:ext uri="{BB962C8B-B14F-4D97-AF65-F5344CB8AC3E}">
        <p14:creationId xmlns:p14="http://schemas.microsoft.com/office/powerpoint/2010/main" val="944599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B59ED-A247-49AF-AF43-D6BA8DE2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5BA89F-FF59-4BE1-96F1-70AA33BA04FD}"/>
              </a:ext>
            </a:extLst>
          </p:cNvPr>
          <p:cNvSpPr/>
          <p:nvPr/>
        </p:nvSpPr>
        <p:spPr>
          <a:xfrm>
            <a:off x="1187624" y="1052378"/>
            <a:ext cx="66967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ES" dirty="0"/>
              <a:t>Ventaja: Es una mejor medida que la amplitud pues toma en cuenta todas las observaciones. Indica a que distancia de la media se encuentra en promedio cada observación.</a:t>
            </a:r>
            <a:endParaRPr lang="es-CR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02D504C-84CA-42BB-B644-4A7AF27E95DF}"/>
              </a:ext>
            </a:extLst>
          </p:cNvPr>
          <p:cNvSpPr/>
          <p:nvPr/>
        </p:nvSpPr>
        <p:spPr>
          <a:xfrm>
            <a:off x="1187624" y="2270438"/>
            <a:ext cx="7488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CR" dirty="0"/>
              <a:t>Desventaja: Poco práctica por el uso de valores absolutos.</a:t>
            </a:r>
          </a:p>
          <a:p>
            <a:pPr lvl="0"/>
            <a:r>
              <a:rPr lang="es-CR" dirty="0"/>
              <a:t>Limitado desarrollo de teoría estadística a partir de esta fórmula.</a:t>
            </a:r>
          </a:p>
        </p:txBody>
      </p:sp>
    </p:spTree>
    <p:extLst>
      <p:ext uri="{BB962C8B-B14F-4D97-AF65-F5344CB8AC3E}">
        <p14:creationId xmlns:p14="http://schemas.microsoft.com/office/powerpoint/2010/main" val="3601192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57251" y="1338263"/>
            <a:ext cx="4711700" cy="3248025"/>
            <a:chOff x="540" y="404"/>
            <a:chExt cx="2968" cy="2728"/>
          </a:xfrm>
        </p:grpSpPr>
        <p:graphicFrame>
          <p:nvGraphicFramePr>
            <p:cNvPr id="37891" name="Object 3"/>
            <p:cNvGraphicFramePr>
              <a:graphicFrameLocks noChangeAspect="1"/>
            </p:cNvGraphicFramePr>
            <p:nvPr/>
          </p:nvGraphicFramePr>
          <p:xfrm>
            <a:off x="540" y="404"/>
            <a:ext cx="2968" cy="2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202840" imgH="2076120" progId="Excel.Sheet.8">
                    <p:embed/>
                  </p:oleObj>
                </mc:Choice>
                <mc:Fallback>
                  <p:oleObj r:id="rId3" imgW="2202840" imgH="2076120" progId="Excel.Sheet.8">
                    <p:embed/>
                    <p:pic>
                      <p:nvPicPr>
                        <p:cNvPr id="3789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" y="404"/>
                          <a:ext cx="2968" cy="27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2" name="Object 4"/>
            <p:cNvGraphicFramePr>
              <a:graphicFrameLocks noChangeAspect="1"/>
            </p:cNvGraphicFramePr>
            <p:nvPr/>
          </p:nvGraphicFramePr>
          <p:xfrm>
            <a:off x="2130" y="615"/>
            <a:ext cx="501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00231" imgH="419000" progId="PBrush">
                    <p:embed/>
                  </p:oleObj>
                </mc:Choice>
                <mc:Fallback>
                  <p:oleObj r:id="rId5" imgW="800231" imgH="419000" progId="PBrush">
                    <p:embed/>
                    <p:pic>
                      <p:nvPicPr>
                        <p:cNvPr id="3789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0" y="615"/>
                          <a:ext cx="501" cy="2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3" name="Object 5"/>
            <p:cNvGraphicFramePr>
              <a:graphicFrameLocks noChangeAspect="1"/>
            </p:cNvGraphicFramePr>
            <p:nvPr/>
          </p:nvGraphicFramePr>
          <p:xfrm>
            <a:off x="2741" y="615"/>
            <a:ext cx="602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923867" imgH="390555" progId="PBrush">
                    <p:embed/>
                  </p:oleObj>
                </mc:Choice>
                <mc:Fallback>
                  <p:oleObj r:id="rId7" imgW="923867" imgH="390555" progId="PBrush">
                    <p:embed/>
                    <p:pic>
                      <p:nvPicPr>
                        <p:cNvPr id="3789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1" y="615"/>
                          <a:ext cx="602" cy="2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4" name="Object 6"/>
            <p:cNvGraphicFramePr>
              <a:graphicFrameLocks noChangeAspect="1"/>
            </p:cNvGraphicFramePr>
            <p:nvPr/>
          </p:nvGraphicFramePr>
          <p:xfrm>
            <a:off x="1673" y="677"/>
            <a:ext cx="19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324000" imgH="314305" progId="PBrush">
                    <p:embed/>
                  </p:oleObj>
                </mc:Choice>
                <mc:Fallback>
                  <p:oleObj r:id="rId9" imgW="324000" imgH="314305" progId="PBrush">
                    <p:embed/>
                    <p:pic>
                      <p:nvPicPr>
                        <p:cNvPr id="3789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3" y="677"/>
                          <a:ext cx="195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5" name="Line 7"/>
            <p:cNvSpPr>
              <a:spLocks noChangeShapeType="1"/>
            </p:cNvSpPr>
            <p:nvPr/>
          </p:nvSpPr>
          <p:spPr bwMode="auto">
            <a:xfrm>
              <a:off x="706" y="862"/>
              <a:ext cx="2739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s-CR" sz="1350"/>
            </a:p>
          </p:txBody>
        </p:sp>
        <p:sp>
          <p:nvSpPr>
            <p:cNvPr id="37896" name="Line 8"/>
            <p:cNvSpPr>
              <a:spLocks noChangeShapeType="1"/>
            </p:cNvSpPr>
            <p:nvPr/>
          </p:nvSpPr>
          <p:spPr bwMode="auto">
            <a:xfrm>
              <a:off x="655" y="2547"/>
              <a:ext cx="2739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s-CR" sz="1350"/>
            </a:p>
          </p:txBody>
        </p:sp>
      </p:grpSp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6081074" y="2962275"/>
            <a:ext cx="2590800" cy="809549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67500" tIns="35100" rIns="67500" bIns="35100">
            <a:spAutoFit/>
          </a:bodyPr>
          <a:lstStyle/>
          <a:p>
            <a:pPr algn="ctr" eaLnBrk="0" hangingPunct="0">
              <a:spcBef>
                <a:spcPts val="1500"/>
              </a:spcBef>
              <a:tabLst>
                <a:tab pos="0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es-ES" sz="2400" dirty="0">
                <a:latin typeface="Tahoma" pitchFamily="32" charset="0"/>
              </a:rPr>
              <a:t>Desviación Media:  24/7 =3,42</a:t>
            </a:r>
          </a:p>
        </p:txBody>
      </p:sp>
      <p:graphicFrame>
        <p:nvGraphicFramePr>
          <p:cNvPr id="378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457583"/>
              </p:ext>
            </p:extLst>
          </p:nvPr>
        </p:nvGraphicFramePr>
        <p:xfrm>
          <a:off x="3028949" y="4525535"/>
          <a:ext cx="5257800" cy="1248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877221" imgH="1228531" progId="PBrush">
                  <p:embed/>
                </p:oleObj>
              </mc:Choice>
              <mc:Fallback>
                <p:oleObj r:id="rId11" imgW="3877221" imgH="1228531" progId="PBrush">
                  <p:embed/>
                  <p:pic>
                    <p:nvPicPr>
                      <p:cNvPr id="378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49" y="4525535"/>
                        <a:ext cx="5257800" cy="12489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BDA8250-1073-43C2-B119-C0B285BF3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203675"/>
            <a:ext cx="7406640" cy="269081"/>
          </a:xfrm>
        </p:spPr>
        <p:txBody>
          <a:bodyPr>
            <a:normAutofit fontScale="90000"/>
          </a:bodyPr>
          <a:lstStyle/>
          <a:p>
            <a:r>
              <a:rPr lang="es-CR" dirty="0"/>
              <a:t>Ejemplo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5085184"/>
            <a:ext cx="7410400" cy="1087016"/>
          </a:xfrm>
        </p:spPr>
        <p:txBody>
          <a:bodyPr>
            <a:normAutofit/>
          </a:bodyPr>
          <a:lstStyle/>
          <a:p>
            <a:r>
              <a:rPr lang="es-CR" sz="2800" dirty="0"/>
              <a:t>La varianza y la desviación estándar Poblacional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00808"/>
            <a:ext cx="6120678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255715" y="522311"/>
            <a:ext cx="66325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2000" dirty="0"/>
              <a:t>Sean X</a:t>
            </a:r>
            <a:r>
              <a:rPr lang="es-CR" sz="2000" baseline="-25000" dirty="0"/>
              <a:t>1</a:t>
            </a:r>
            <a:r>
              <a:rPr lang="es-CR" sz="2000" dirty="0"/>
              <a:t>, X</a:t>
            </a:r>
            <a:r>
              <a:rPr lang="es-CR" sz="2000" baseline="-25000" dirty="0"/>
              <a:t>2</a:t>
            </a:r>
            <a:r>
              <a:rPr lang="es-CR" sz="2000" dirty="0"/>
              <a:t>, …X</a:t>
            </a:r>
            <a:r>
              <a:rPr lang="es-CR" sz="2000" baseline="-25000" dirty="0"/>
              <a:t>N   </a:t>
            </a:r>
            <a:r>
              <a:rPr lang="es-CR" sz="2000" dirty="0"/>
              <a:t>los valores que toma una variable cuantitativa X en los N elementos de una población. La varianza poblacional  de la N observaciones se denota como:</a:t>
            </a:r>
            <a:endParaRPr lang="es-CR" sz="2000" baseline="-25000" dirty="0"/>
          </a:p>
        </p:txBody>
      </p:sp>
      <p:sp>
        <p:nvSpPr>
          <p:cNvPr id="5" name="4 CuadroTexto"/>
          <p:cNvSpPr txBox="1"/>
          <p:nvPr/>
        </p:nvSpPr>
        <p:spPr>
          <a:xfrm>
            <a:off x="1115616" y="3645024"/>
            <a:ext cx="70567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2000" dirty="0"/>
              <a:t>La varianza poblacional mide la variabilidad de la X</a:t>
            </a:r>
            <a:r>
              <a:rPr lang="es-CR" sz="2000" baseline="-25000" dirty="0"/>
              <a:t>i</a:t>
            </a:r>
            <a:r>
              <a:rPr lang="es-CR" sz="2000" dirty="0"/>
              <a:t> alrededor de </a:t>
            </a:r>
            <a:r>
              <a:rPr lang="el-GR" sz="2000" dirty="0"/>
              <a:t>μ </a:t>
            </a:r>
            <a:r>
              <a:rPr lang="es-CR" sz="2000" dirty="0"/>
              <a:t>mediante un promedio de los cuadrados de las distancias de cada X</a:t>
            </a:r>
            <a:r>
              <a:rPr lang="es-CR" sz="2000" baseline="-25000" dirty="0"/>
              <a:t>i</a:t>
            </a:r>
            <a:r>
              <a:rPr lang="es-CR" sz="2000" dirty="0"/>
              <a:t> a</a:t>
            </a:r>
            <a:r>
              <a:rPr lang="el-GR" sz="2000" dirty="0"/>
              <a:t> μ</a:t>
            </a:r>
            <a:r>
              <a:rPr lang="es-CR"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95887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¿Qué pasa si todas las X</a:t>
            </a:r>
            <a:r>
              <a:rPr lang="es-CR" baseline="-25000" dirty="0"/>
              <a:t>i</a:t>
            </a:r>
            <a:r>
              <a:rPr lang="es-CR" dirty="0"/>
              <a:t> son iguales?</a:t>
            </a:r>
          </a:p>
          <a:p>
            <a:endParaRPr lang="es-CR" dirty="0"/>
          </a:p>
          <a:p>
            <a:r>
              <a:rPr lang="es-CR" dirty="0"/>
              <a:t>¿A qué es igual la variancia?</a:t>
            </a:r>
          </a:p>
          <a:p>
            <a:endParaRPr lang="es-CR" dirty="0"/>
          </a:p>
          <a:p>
            <a:r>
              <a:rPr lang="es-CR" dirty="0"/>
              <a:t>Ej. 5,5,5,5,5,5</a:t>
            </a:r>
          </a:p>
        </p:txBody>
      </p:sp>
    </p:spTree>
    <p:extLst>
      <p:ext uri="{BB962C8B-B14F-4D97-AF65-F5344CB8AC3E}">
        <p14:creationId xmlns:p14="http://schemas.microsoft.com/office/powerpoint/2010/main" val="2367803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28" y="4941168"/>
            <a:ext cx="8640960" cy="1087016"/>
          </a:xfrm>
        </p:spPr>
        <p:txBody>
          <a:bodyPr>
            <a:normAutofit fontScale="90000"/>
          </a:bodyPr>
          <a:lstStyle/>
          <a:p>
            <a:r>
              <a:rPr lang="es-CR" dirty="0"/>
              <a:t>Desviación estándar poblacional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s-CR" dirty="0"/>
              <a:t>Es la raíz cuadrada de la variancia.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s-CR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s-ES" dirty="0"/>
              <a:t>La desviación estándar mide la dispersión de una distribución de datos. </a:t>
            </a:r>
            <a:r>
              <a:rPr lang="es-ES" b="1" dirty="0"/>
              <a:t>Entre más dispersa está una distribución de datos, más grande es su desviación estándar.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s-ES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s-ES" dirty="0"/>
              <a:t>Es interesante que la desviación estándar no puede ser negativa. Una desviación estándar cercana a CERO indica que los datos tienden a estar más cerca a la media. Entre más lejos estén los datos de la media, más grande es la desviación estándar.</a:t>
            </a:r>
            <a:endParaRPr lang="es-CR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s-ES" b="1" dirty="0"/>
          </a:p>
          <a:p>
            <a:r>
              <a:rPr lang="es-CR" dirty="0"/>
              <a:t>Tiene la ventaja de que está expresadas en las mismas unidades de medidas. Por ejemplo si es la variables peso esta expresada en Kg y la variancia en Kg</a:t>
            </a:r>
            <a:r>
              <a:rPr lang="es-CR" baseline="30000" dirty="0"/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2374161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Variancia </a:t>
            </a:r>
            <a:r>
              <a:rPr lang="es-CR" dirty="0" err="1"/>
              <a:t>muestral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2239144"/>
          </a:xfrm>
        </p:spPr>
        <p:txBody>
          <a:bodyPr/>
          <a:lstStyle/>
          <a:p>
            <a:r>
              <a:rPr lang="es-CR" dirty="0"/>
              <a:t>Sean X</a:t>
            </a:r>
            <a:r>
              <a:rPr lang="es-CR" baseline="-25000" dirty="0"/>
              <a:t>1</a:t>
            </a:r>
            <a:r>
              <a:rPr lang="es-CR" dirty="0"/>
              <a:t>, X</a:t>
            </a:r>
            <a:r>
              <a:rPr lang="es-CR" baseline="-25000" dirty="0"/>
              <a:t>2</a:t>
            </a:r>
            <a:r>
              <a:rPr lang="es-CR" dirty="0"/>
              <a:t>, …</a:t>
            </a:r>
            <a:r>
              <a:rPr lang="es-CR" dirty="0" err="1"/>
              <a:t>X</a:t>
            </a:r>
            <a:r>
              <a:rPr lang="es-CR" baseline="-25000" dirty="0" err="1"/>
              <a:t>n</a:t>
            </a:r>
            <a:r>
              <a:rPr lang="es-CR" baseline="-25000" dirty="0"/>
              <a:t>   </a:t>
            </a:r>
            <a:r>
              <a:rPr lang="es-CR" dirty="0"/>
              <a:t>los valores que toma una variable cuantitativa X en los n elementos de una muestra. La varianza poblacional  de la n observaciones se denota como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819" y="2924944"/>
            <a:ext cx="4054363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8027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R" dirty="0"/>
              <a:t>Ejemplos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62000" y="692696"/>
            <a:ext cx="7543800" cy="4392488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s-CR" dirty="0"/>
              <a:t>Las estaturas en </a:t>
            </a:r>
            <a:r>
              <a:rPr lang="es-CR" dirty="0" err="1"/>
              <a:t>cms</a:t>
            </a:r>
            <a:r>
              <a:rPr lang="es-CR" dirty="0"/>
              <a:t> de una muestra simple al azar de 10 </a:t>
            </a:r>
          </a:p>
          <a:p>
            <a:pPr algn="just">
              <a:buNone/>
            </a:pPr>
            <a:r>
              <a:rPr lang="es-CR" dirty="0"/>
              <a:t>estudiantes de colegio fueron: 157, 165, 173, 152, 170, 160, </a:t>
            </a:r>
          </a:p>
          <a:p>
            <a:pPr algn="just">
              <a:buNone/>
            </a:pPr>
            <a:r>
              <a:rPr lang="es-CR" dirty="0"/>
              <a:t>165, 159, 176, 161. Calcular la desviación estándar </a:t>
            </a:r>
          </a:p>
          <a:p>
            <a:pPr algn="just">
              <a:buNone/>
            </a:pPr>
            <a:r>
              <a:rPr lang="es-CR" dirty="0" err="1"/>
              <a:t>muestral</a:t>
            </a:r>
            <a:r>
              <a:rPr lang="es-CR" dirty="0"/>
              <a:t>.</a:t>
            </a:r>
          </a:p>
          <a:p>
            <a:pPr algn="just">
              <a:buNone/>
            </a:pPr>
            <a:endParaRPr lang="es-CR" dirty="0"/>
          </a:p>
          <a:p>
            <a:pPr algn="just">
              <a:buNone/>
            </a:pPr>
            <a:r>
              <a:rPr lang="es-CR" dirty="0"/>
              <a:t> Los siguientes datos son los porcentajes de </a:t>
            </a:r>
          </a:p>
          <a:p>
            <a:pPr algn="just">
              <a:buNone/>
            </a:pPr>
            <a:r>
              <a:rPr lang="es-CR" dirty="0"/>
              <a:t>abstencionismo de los 8 cantones de Cartago en la elección </a:t>
            </a:r>
          </a:p>
          <a:p>
            <a:pPr algn="just">
              <a:buNone/>
            </a:pPr>
            <a:r>
              <a:rPr lang="es-CR" dirty="0"/>
              <a:t>presidencial de 1998, lo cuales podemos considerar como </a:t>
            </a:r>
          </a:p>
          <a:p>
            <a:pPr algn="just">
              <a:buNone/>
            </a:pPr>
            <a:r>
              <a:rPr lang="es-CR" dirty="0"/>
              <a:t>una población:</a:t>
            </a:r>
          </a:p>
          <a:p>
            <a:pPr>
              <a:buNone/>
            </a:pPr>
            <a:endParaRPr lang="es-CR" dirty="0"/>
          </a:p>
          <a:p>
            <a:pPr>
              <a:buNone/>
            </a:pPr>
            <a:r>
              <a:rPr lang="es-CR" dirty="0"/>
              <a:t>23,7  25,9  29,8  24,3  26,3  25,0  25,4  22,4</a:t>
            </a:r>
          </a:p>
        </p:txBody>
      </p:sp>
    </p:spTree>
    <p:extLst>
      <p:ext uri="{BB962C8B-B14F-4D97-AF65-F5344CB8AC3E}">
        <p14:creationId xmlns:p14="http://schemas.microsoft.com/office/powerpoint/2010/main" val="3930320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7F2DD-D08E-4E39-B64D-AABC6B4A7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695" y="1333460"/>
            <a:ext cx="2529397" cy="3791928"/>
          </a:xfrm>
        </p:spPr>
        <p:txBody>
          <a:bodyPr anchor="ctr">
            <a:normAutofit/>
          </a:bodyPr>
          <a:lstStyle/>
          <a:p>
            <a:r>
              <a:rPr lang="es-CR" sz="1800" dirty="0"/>
              <a:t>¿Cómo comparo la variabilidad de datos expresados en </a:t>
            </a:r>
            <a:r>
              <a:rPr lang="es-CR" sz="1800" b="1" u="sng" dirty="0">
                <a:solidFill>
                  <a:srgbClr val="FF0000"/>
                </a:solidFill>
              </a:rPr>
              <a:t>diferentes unidades </a:t>
            </a:r>
            <a:r>
              <a:rPr lang="es-CR" sz="1800" dirty="0"/>
              <a:t>o con </a:t>
            </a:r>
            <a:r>
              <a:rPr lang="es-CR" sz="1800" u="sng" dirty="0">
                <a:solidFill>
                  <a:srgbClr val="FF0000"/>
                </a:solidFill>
              </a:rPr>
              <a:t>promedios muy diferentes</a:t>
            </a:r>
            <a:r>
              <a:rPr lang="es-CR" sz="1800" dirty="0"/>
              <a:t>?</a:t>
            </a:r>
            <a:br>
              <a:rPr lang="es-CR" sz="1800" dirty="0"/>
            </a:br>
            <a:br>
              <a:rPr lang="es-CR" sz="1800" dirty="0"/>
            </a:br>
            <a:br>
              <a:rPr lang="es-CR" sz="1800" dirty="0"/>
            </a:br>
            <a:r>
              <a:rPr lang="es-CR" sz="1800" dirty="0"/>
              <a:t>El coeficiente de variación</a:t>
            </a:r>
            <a:endParaRPr lang="en-US" sz="1800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3A8BD6E-7C85-46CF-9231-CE9F23C99D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486151" y="1337073"/>
          <a:ext cx="5182790" cy="3788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3603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3029D-C4E2-4CF3-9772-273E3AFC4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Medida de dispersión relativa</a:t>
            </a:r>
            <a:endParaRPr lang="en-US" dirty="0"/>
          </a:p>
        </p:txBody>
      </p:sp>
      <p:pic>
        <p:nvPicPr>
          <p:cNvPr id="8194" name="Picture 2" descr="Formula coeficiente de variacion – Dietas de nutricion y alimentos">
            <a:extLst>
              <a:ext uri="{FF2B5EF4-FFF2-40B4-BE49-F238E27FC236}">
                <a16:creationId xmlns:a16="http://schemas.microsoft.com/office/drawing/2014/main" id="{7314D0DE-2799-4454-8FE0-EC2DA15354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832" y="1412776"/>
            <a:ext cx="2736056" cy="117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685C1F2F-1F90-42F6-B7D6-348D237363EA}"/>
              </a:ext>
            </a:extLst>
          </p:cNvPr>
          <p:cNvSpPr txBox="1">
            <a:spLocks/>
          </p:cNvSpPr>
          <p:nvPr/>
        </p:nvSpPr>
        <p:spPr>
          <a:xfrm>
            <a:off x="899592" y="3140968"/>
            <a:ext cx="7543800" cy="1178719"/>
          </a:xfrm>
          <a:prstGeom prst="rect">
            <a:avLst/>
          </a:prstGeom>
        </p:spPr>
        <p:txBody>
          <a:bodyPr vert="horz" lIns="0" tIns="34290" rIns="0" bIns="34290" rtlCol="0">
            <a:norm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-68580" defTabSz="685800">
              <a:spcBef>
                <a:spcPts val="900"/>
              </a:spcBef>
              <a:spcAft>
                <a:spcPts val="150"/>
              </a:spcAft>
              <a:buClr>
                <a:srgbClr val="3FB67A"/>
              </a:buClr>
              <a:defRPr/>
            </a:pPr>
            <a:r>
              <a:rPr lang="es-CR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Sagona Book" panose="020F0502020204030204"/>
              </a:rPr>
              <a:t>Independiente de las unidad de medida y la magnitud general de los datos</a:t>
            </a:r>
          </a:p>
          <a:p>
            <a:pPr marL="288036" lvl="1" indent="-137160" defTabSz="685800">
              <a:spcBef>
                <a:spcPts val="150"/>
              </a:spcBef>
              <a:spcAft>
                <a:spcPts val="300"/>
              </a:spcAft>
              <a:defRPr/>
            </a:pPr>
            <a:r>
              <a:rPr lang="es-CR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Sagona Book" panose="020F0502020204030204"/>
              </a:rPr>
              <a:t>Elimina las unidades de medida </a:t>
            </a:r>
          </a:p>
          <a:p>
            <a:pPr marL="288036" lvl="1" indent="-137160" defTabSz="685800">
              <a:spcBef>
                <a:spcPts val="150"/>
              </a:spcBef>
              <a:spcAft>
                <a:spcPts val="300"/>
              </a:spcAft>
              <a:defRPr/>
            </a:pPr>
            <a:r>
              <a:rPr lang="es-CR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Sagona Book" panose="020F0502020204030204"/>
              </a:rPr>
              <a:t>Corrige el efecto de la magnitud general de los datos sobre la desviación estándar.</a:t>
            </a:r>
          </a:p>
          <a:p>
            <a:pPr marL="288036" lvl="1" indent="-137160" defTabSz="685800">
              <a:spcBef>
                <a:spcPts val="150"/>
              </a:spcBef>
              <a:spcAft>
                <a:spcPts val="300"/>
              </a:spcAft>
              <a:defRPr/>
            </a:pPr>
            <a:r>
              <a:rPr lang="es-CR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Sagona Book" panose="020F0502020204030204"/>
              </a:rPr>
              <a:t>Se amplifica por 100 para hacer más cómodo su uso.</a:t>
            </a:r>
            <a:endParaRPr lang="en-US" sz="1400" dirty="0">
              <a:solidFill>
                <a:srgbClr val="000000">
                  <a:lumMod val="75000"/>
                  <a:lumOff val="25000"/>
                </a:srgbClr>
              </a:solidFill>
              <a:latin typeface="Sagona Book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56125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A7A3E-F5EC-499A-B45F-31B477FF3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Ejemplo: Coeficiente de variación</a:t>
            </a:r>
            <a:endParaRPr lang="en-US" dirty="0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3F4C4DC8-0E76-4C6B-9348-1E092CB044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1078722"/>
              </p:ext>
            </p:extLst>
          </p:nvPr>
        </p:nvGraphicFramePr>
        <p:xfrm>
          <a:off x="827584" y="1738811"/>
          <a:ext cx="7543797" cy="84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599">
                  <a:extLst>
                    <a:ext uri="{9D8B030D-6E8A-4147-A177-3AD203B41FA5}">
                      <a16:colId xmlns:a16="http://schemas.microsoft.com/office/drawing/2014/main" val="3518798461"/>
                    </a:ext>
                  </a:extLst>
                </a:gridCol>
                <a:gridCol w="2514599">
                  <a:extLst>
                    <a:ext uri="{9D8B030D-6E8A-4147-A177-3AD203B41FA5}">
                      <a16:colId xmlns:a16="http://schemas.microsoft.com/office/drawing/2014/main" val="723621657"/>
                    </a:ext>
                  </a:extLst>
                </a:gridCol>
                <a:gridCol w="2514599">
                  <a:extLst>
                    <a:ext uri="{9D8B030D-6E8A-4147-A177-3AD203B41FA5}">
                      <a16:colId xmlns:a16="http://schemas.microsoft.com/office/drawing/2014/main" val="215470517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s-CR" sz="1400" dirty="0"/>
                        <a:t>Edad en años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400" dirty="0"/>
                        <a:t>Estatura promedio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400" dirty="0"/>
                        <a:t>Desviación estándar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285996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s-CR" sz="1400" dirty="0"/>
                        <a:t>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400" dirty="0"/>
                        <a:t>84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400" dirty="0"/>
                        <a:t>3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071687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s-CR" sz="1400" dirty="0"/>
                        <a:t>16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400" dirty="0"/>
                        <a:t>160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400" dirty="0"/>
                        <a:t>5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79770526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E8356579-3AE7-4359-AFB6-461F863D15FB}"/>
              </a:ext>
            </a:extLst>
          </p:cNvPr>
          <p:cNvSpPr txBox="1"/>
          <p:nvPr/>
        </p:nvSpPr>
        <p:spPr>
          <a:xfrm>
            <a:off x="933450" y="3429000"/>
            <a:ext cx="70866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s-CR" sz="1350" dirty="0">
                <a:solidFill>
                  <a:srgbClr val="000000"/>
                </a:solidFill>
                <a:latin typeface="Sagona Book" panose="020F0502020204030204"/>
              </a:rPr>
              <a:t>¿Cuál grupo de niñas posee mayor variabilidad relativa?</a:t>
            </a:r>
            <a:endParaRPr lang="en-US" sz="1350" dirty="0">
              <a:solidFill>
                <a:srgbClr val="000000"/>
              </a:solidFill>
              <a:latin typeface="Sagona Book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58338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50031" y="1124744"/>
            <a:ext cx="7543800" cy="3886200"/>
          </a:xfrm>
        </p:spPr>
        <p:txBody>
          <a:bodyPr>
            <a:normAutofit fontScale="92500" lnSpcReduction="20000"/>
          </a:bodyPr>
          <a:lstStyle/>
          <a:p>
            <a:pPr indent="-182880">
              <a:lnSpc>
                <a:spcPct val="90000"/>
              </a:lnSpc>
              <a:spcBef>
                <a:spcPts val="1750"/>
              </a:spcBef>
              <a:buSzPct val="80000"/>
              <a:buFont typeface="Corbel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s-CR" dirty="0">
                <a:solidFill>
                  <a:schemeClr val="tx1"/>
                </a:solidFill>
              </a:rPr>
              <a:t>Se miden dos objetos varias veces con dos medidores de precisión diferentes, uno con sistema métrico (centímetros) y otro con sistema inglés (pulgadas). </a:t>
            </a:r>
          </a:p>
          <a:p>
            <a:pPr indent="-182880">
              <a:lnSpc>
                <a:spcPct val="90000"/>
              </a:lnSpc>
              <a:spcBef>
                <a:spcPts val="1750"/>
              </a:spcBef>
              <a:buSzPct val="80000"/>
              <a:buFont typeface="Corbel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s-CR" dirty="0">
                <a:solidFill>
                  <a:schemeClr val="tx1"/>
                </a:solidFill>
              </a:rPr>
              <a:t>Los resultados son: para el primero el promedio es 3.25 mm y desviación estándar 0.01 mm; para el segundo el promedio es 0.8 pulgadas y desviación estándar 0.002 pulgadas. </a:t>
            </a:r>
          </a:p>
          <a:p>
            <a:pPr indent="-182880">
              <a:lnSpc>
                <a:spcPct val="90000"/>
              </a:lnSpc>
              <a:spcBef>
                <a:spcPts val="1750"/>
              </a:spcBef>
              <a:buSzPct val="80000"/>
              <a:buFont typeface="Corbel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s-CR" dirty="0">
                <a:solidFill>
                  <a:schemeClr val="tx1"/>
                </a:solidFill>
              </a:rPr>
              <a:t>¿Cuál instrumento es más preciso?</a:t>
            </a:r>
          </a:p>
          <a:p>
            <a:pPr indent="-182880">
              <a:lnSpc>
                <a:spcPct val="90000"/>
              </a:lnSpc>
              <a:spcBef>
                <a:spcPts val="1750"/>
              </a:spcBef>
              <a:buSzPct val="80000"/>
              <a:buFont typeface="Corbel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s-CR" dirty="0">
                <a:solidFill>
                  <a:schemeClr val="tx1"/>
                </a:solidFill>
              </a:rPr>
              <a:t>Primero: 	CV= 0.01 / 3.25 = 0.31%</a:t>
            </a:r>
          </a:p>
          <a:p>
            <a:pPr indent="-182880">
              <a:lnSpc>
                <a:spcPct val="90000"/>
              </a:lnSpc>
              <a:spcBef>
                <a:spcPts val="1750"/>
              </a:spcBef>
              <a:buSzPct val="80000"/>
              <a:buFont typeface="Corbel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s-CR" dirty="0">
                <a:solidFill>
                  <a:schemeClr val="tx1"/>
                </a:solidFill>
              </a:rPr>
              <a:t>Segundo:	CV= 0.002 / 0.8 = 0.25%</a:t>
            </a:r>
          </a:p>
          <a:p>
            <a:pPr indent="-182880">
              <a:lnSpc>
                <a:spcPct val="90000"/>
              </a:lnSpc>
              <a:spcBef>
                <a:spcPts val="1750"/>
              </a:spcBef>
              <a:buSzPct val="80000"/>
              <a:buFont typeface="Corbel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s-CR" dirty="0">
                <a:solidFill>
                  <a:schemeClr val="tx1"/>
                </a:solidFill>
              </a:rPr>
              <a:t>El instrumento más preciso es el segundo!</a:t>
            </a: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323051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B7500-425D-4EDD-AA74-94DBDDFC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301208"/>
            <a:ext cx="7698432" cy="870992"/>
          </a:xfrm>
        </p:spPr>
        <p:txBody>
          <a:bodyPr>
            <a:normAutofit/>
          </a:bodyPr>
          <a:lstStyle/>
          <a:p>
            <a:r>
              <a:rPr lang="en-US" sz="2400" b="1" cap="all" dirty="0" err="1">
                <a:solidFill>
                  <a:schemeClr val="accent1">
                    <a:lumMod val="75000"/>
                  </a:schemeClr>
                </a:solidFill>
              </a:rPr>
              <a:t>Medidas</a:t>
            </a:r>
            <a:r>
              <a:rPr lang="en-US" sz="2400" b="1" cap="all" dirty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lang="en-US" sz="2400" b="1" cap="all" dirty="0" err="1">
                <a:solidFill>
                  <a:schemeClr val="accent1">
                    <a:lumMod val="75000"/>
                  </a:schemeClr>
                </a:solidFill>
              </a:rPr>
              <a:t>posición</a:t>
            </a:r>
            <a:r>
              <a:rPr lang="en-US" sz="2400" b="1" cap="all" dirty="0">
                <a:solidFill>
                  <a:schemeClr val="accent1">
                    <a:lumMod val="75000"/>
                  </a:schemeClr>
                </a:solidFill>
              </a:rPr>
              <a:t> y </a:t>
            </a:r>
            <a:r>
              <a:rPr lang="en-US" sz="2400" b="1" cap="all" dirty="0" err="1">
                <a:solidFill>
                  <a:schemeClr val="accent1">
                    <a:lumMod val="75000"/>
                  </a:schemeClr>
                </a:solidFill>
              </a:rPr>
              <a:t>variabilidad</a:t>
            </a:r>
            <a:r>
              <a:rPr lang="en-US" sz="2400" b="1" cap="all" dirty="0">
                <a:solidFill>
                  <a:schemeClr val="accent1">
                    <a:lumMod val="75000"/>
                  </a:schemeClr>
                </a:solidFill>
              </a:rPr>
              <a:t> para una variable </a:t>
            </a:r>
            <a:r>
              <a:rPr lang="en-US" sz="2400" b="1" cap="all" dirty="0" err="1">
                <a:solidFill>
                  <a:schemeClr val="accent1">
                    <a:lumMod val="75000"/>
                  </a:schemeClr>
                </a:solidFill>
              </a:rPr>
              <a:t>cualitativa</a:t>
            </a:r>
            <a:endParaRPr lang="es-CR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DA438C9-9D58-4253-BCB3-FEB25F99FA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09725" y="733425"/>
            <a:ext cx="5848350" cy="3790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57724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1376</TotalTime>
  <Words>893</Words>
  <Application>Microsoft Office PowerPoint</Application>
  <PresentationFormat>Presentación en pantalla (4:3)</PresentationFormat>
  <Paragraphs>115</Paragraphs>
  <Slides>22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32" baseType="lpstr">
      <vt:lpstr>Arial</vt:lpstr>
      <vt:lpstr>Calibri</vt:lpstr>
      <vt:lpstr>Corbel</vt:lpstr>
      <vt:lpstr>Impact</vt:lpstr>
      <vt:lpstr>Sagona Book</vt:lpstr>
      <vt:lpstr>Tahoma</vt:lpstr>
      <vt:lpstr>Times New Roman</vt:lpstr>
      <vt:lpstr>NewsPrint</vt:lpstr>
      <vt:lpstr>Microsoft Excel 97-2003 Worksheet</vt:lpstr>
      <vt:lpstr>PBrush</vt:lpstr>
      <vt:lpstr>Medidas de variabilidad</vt:lpstr>
      <vt:lpstr>Medidas de variabilidad</vt:lpstr>
      <vt:lpstr>Presentación de PowerPoint</vt:lpstr>
      <vt:lpstr>Mismo promedio  pero diferente variabilidad</vt:lpstr>
      <vt:lpstr>Dispersión o variabilidad</vt:lpstr>
      <vt:lpstr>El recorrido o amplitud</vt:lpstr>
      <vt:lpstr>Presentación de PowerPoint</vt:lpstr>
      <vt:lpstr>Ejemplo</vt:lpstr>
      <vt:lpstr>Recorrido intercuartil</vt:lpstr>
      <vt:lpstr>Desviación media</vt:lpstr>
      <vt:lpstr>Presentación de PowerPoint</vt:lpstr>
      <vt:lpstr>Ejemplo</vt:lpstr>
      <vt:lpstr>La varianza y la desviación estándar Poblacional</vt:lpstr>
      <vt:lpstr>Presentación de PowerPoint</vt:lpstr>
      <vt:lpstr>Desviación estándar poblacional</vt:lpstr>
      <vt:lpstr>Variancia muestral</vt:lpstr>
      <vt:lpstr>Ejemplos</vt:lpstr>
      <vt:lpstr>¿Cómo comparo la variabilidad de datos expresados en diferentes unidades o con promedios muy diferentes?   El coeficiente de variación</vt:lpstr>
      <vt:lpstr>Medida de dispersión relativa</vt:lpstr>
      <vt:lpstr>Ejemplo: Coeficiente de variación</vt:lpstr>
      <vt:lpstr>Ejemplo</vt:lpstr>
      <vt:lpstr>Medidas de posición y variabilidad para una variable cualitativa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Medidas de variabilidad</dc:title>
  <dc:creator>Cagenio</dc:creator>
  <cp:lastModifiedBy>Eugenia Gallardo Allen</cp:lastModifiedBy>
  <cp:revision>53</cp:revision>
  <dcterms:created xsi:type="dcterms:W3CDTF">2012-05-15T01:23:45Z</dcterms:created>
  <dcterms:modified xsi:type="dcterms:W3CDTF">2025-05-05T15:42:15Z</dcterms:modified>
</cp:coreProperties>
</file>