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479" r:id="rId3"/>
    <p:sldId id="265" r:id="rId4"/>
    <p:sldId id="266" r:id="rId5"/>
    <p:sldId id="474" r:id="rId6"/>
    <p:sldId id="475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476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478" r:id="rId30"/>
    <p:sldId id="289" r:id="rId31"/>
    <p:sldId id="290" r:id="rId32"/>
    <p:sldId id="291" r:id="rId33"/>
    <p:sldId id="293" r:id="rId34"/>
    <p:sldId id="294" r:id="rId35"/>
    <p:sldId id="295" r:id="rId36"/>
    <p:sldId id="301" r:id="rId37"/>
    <p:sldId id="302" r:id="rId38"/>
    <p:sldId id="305" r:id="rId39"/>
    <p:sldId id="306" r:id="rId40"/>
    <p:sldId id="307" r:id="rId41"/>
    <p:sldId id="308" r:id="rId42"/>
    <p:sldId id="309" r:id="rId43"/>
    <p:sldId id="303" r:id="rId44"/>
    <p:sldId id="472" r:id="rId45"/>
    <p:sldId id="473" r:id="rId46"/>
    <p:sldId id="298" r:id="rId47"/>
    <p:sldId id="299" r:id="rId48"/>
    <p:sldId id="480" r:id="rId49"/>
  </p:sldIdLst>
  <p:sldSz cx="9144000" cy="6858000" type="screen4x3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4E59-F08A-4AA8-8B1B-F4BFC4F005DD}" type="datetimeFigureOut">
              <a:rPr lang="es-CR" smtClean="0"/>
              <a:pPr/>
              <a:t>5/5/2025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9651-3D8A-473A-91A5-D36F2C763B2E}" type="slidenum">
              <a:rPr lang="es-CR" smtClean="0"/>
              <a:pPr/>
              <a:t>‹Nº›</a:t>
            </a:fld>
            <a:endParaRPr lang="es-CR" dirty="0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4E59-F08A-4AA8-8B1B-F4BFC4F005DD}" type="datetimeFigureOut">
              <a:rPr lang="es-CR" smtClean="0"/>
              <a:pPr/>
              <a:t>5/5/2025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9651-3D8A-473A-91A5-D36F2C763B2E}" type="slidenum">
              <a:rPr lang="es-CR" smtClean="0"/>
              <a:pPr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4E59-F08A-4AA8-8B1B-F4BFC4F005DD}" type="datetimeFigureOut">
              <a:rPr lang="es-CR" smtClean="0"/>
              <a:pPr/>
              <a:t>5/5/2025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9651-3D8A-473A-91A5-D36F2C763B2E}" type="slidenum">
              <a:rPr lang="es-CR" smtClean="0"/>
              <a:pPr/>
              <a:t>‹Nº›</a:t>
            </a:fld>
            <a:endParaRPr lang="es-CR" dirty="0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4E59-F08A-4AA8-8B1B-F4BFC4F005DD}" type="datetimeFigureOut">
              <a:rPr lang="es-CR" smtClean="0"/>
              <a:pPr/>
              <a:t>5/5/2025</a:t>
            </a:fld>
            <a:endParaRPr lang="es-C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9651-3D8A-473A-91A5-D36F2C763B2E}" type="slidenum">
              <a:rPr lang="es-CR" smtClean="0"/>
              <a:pPr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4E59-F08A-4AA8-8B1B-F4BFC4F005DD}" type="datetimeFigureOut">
              <a:rPr lang="es-CR" smtClean="0"/>
              <a:pPr/>
              <a:t>5/5/2025</a:t>
            </a:fld>
            <a:endParaRPr lang="es-C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9651-3D8A-473A-91A5-D36F2C763B2E}" type="slidenum">
              <a:rPr lang="es-CR" smtClean="0"/>
              <a:pPr/>
              <a:t>‹Nº›</a:t>
            </a:fld>
            <a:endParaRPr lang="es-CR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4E59-F08A-4AA8-8B1B-F4BFC4F005DD}" type="datetimeFigureOut">
              <a:rPr lang="es-CR" smtClean="0"/>
              <a:pPr/>
              <a:t>5/5/2025</a:t>
            </a:fld>
            <a:endParaRPr lang="es-C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9651-3D8A-473A-91A5-D36F2C763B2E}" type="slidenum">
              <a:rPr lang="es-CR" smtClean="0"/>
              <a:pPr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4E59-F08A-4AA8-8B1B-F4BFC4F005DD}" type="datetimeFigureOut">
              <a:rPr lang="es-CR" smtClean="0"/>
              <a:pPr/>
              <a:t>5/5/2025</a:t>
            </a:fld>
            <a:endParaRPr lang="es-C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9651-3D8A-473A-91A5-D36F2C763B2E}" type="slidenum">
              <a:rPr lang="es-CR" smtClean="0"/>
              <a:pPr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4E59-F08A-4AA8-8B1B-F4BFC4F005DD}" type="datetimeFigureOut">
              <a:rPr lang="es-CR" smtClean="0"/>
              <a:pPr/>
              <a:t>5/5/2025</a:t>
            </a:fld>
            <a:endParaRPr lang="es-C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9651-3D8A-473A-91A5-D36F2C763B2E}" type="slidenum">
              <a:rPr lang="es-CR" smtClean="0"/>
              <a:pPr/>
              <a:t>‹Nº›</a:t>
            </a:fld>
            <a:endParaRPr lang="es-CR" dirty="0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4E59-F08A-4AA8-8B1B-F4BFC4F005DD}" type="datetimeFigureOut">
              <a:rPr lang="es-CR" smtClean="0"/>
              <a:pPr/>
              <a:t>5/5/2025</a:t>
            </a:fld>
            <a:endParaRPr lang="es-C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9651-3D8A-473A-91A5-D36F2C763B2E}" type="slidenum">
              <a:rPr lang="es-CR" smtClean="0"/>
              <a:pPr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4E59-F08A-4AA8-8B1B-F4BFC4F005DD}" type="datetimeFigureOut">
              <a:rPr lang="es-CR" smtClean="0"/>
              <a:pPr/>
              <a:t>5/5/2025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9651-3D8A-473A-91A5-D36F2C763B2E}" type="slidenum">
              <a:rPr lang="es-CR" smtClean="0"/>
              <a:pPr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4E59-F08A-4AA8-8B1B-F4BFC4F005DD}" type="datetimeFigureOut">
              <a:rPr lang="es-CR" smtClean="0"/>
              <a:pPr/>
              <a:t>5/5/2025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79651-3D8A-473A-91A5-D36F2C763B2E}" type="slidenum">
              <a:rPr lang="es-CR" smtClean="0"/>
              <a:pPr/>
              <a:t>‹Nº›</a:t>
            </a:fld>
            <a:endParaRPr lang="es-C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4ED24E59-F08A-4AA8-8B1B-F4BFC4F005DD}" type="datetimeFigureOut">
              <a:rPr lang="es-CR" smtClean="0"/>
              <a:pPr/>
              <a:t>5/5/2025</a:t>
            </a:fld>
            <a:endParaRPr lang="es-C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es-C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FE979651-3D8A-473A-91A5-D36F2C763B2E}" type="slidenum">
              <a:rPr lang="es-CR" smtClean="0"/>
              <a:pPr/>
              <a:t>‹Nº›</a:t>
            </a:fld>
            <a:endParaRPr lang="es-CR" dirty="0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00100" y="548680"/>
            <a:ext cx="7543800" cy="16764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CR" sz="4200" dirty="0"/>
              <a:t>Medidas de Tendencia Central, Posición y Variabilidad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body" idx="1"/>
          </p:nvPr>
        </p:nvSpPr>
        <p:spPr>
          <a:xfrm>
            <a:off x="4716016" y="5157192"/>
            <a:ext cx="3888432" cy="914400"/>
          </a:xfrm>
        </p:spPr>
        <p:txBody>
          <a:bodyPr anchor="t">
            <a:normAutofit/>
          </a:bodyPr>
          <a:lstStyle/>
          <a:p>
            <a:r>
              <a:rPr lang="es-CR" dirty="0"/>
              <a:t>Eugenia Gallardo Allen</a:t>
            </a:r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72278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57218EA7-2B80-78F1-55C6-3D3259AB3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151" y="1367259"/>
            <a:ext cx="8590305" cy="3909576"/>
          </a:xfrm>
        </p:spPr>
      </p:pic>
    </p:spTree>
    <p:extLst>
      <p:ext uri="{BB962C8B-B14F-4D97-AF65-F5344CB8AC3E}">
        <p14:creationId xmlns:p14="http://schemas.microsoft.com/office/powerpoint/2010/main" val="2784064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CR" sz="3800" dirty="0"/>
              <a:t>Medidas de posición , tendencia central y variabilidad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type="body" idx="1"/>
          </p:nvPr>
        </p:nvSpPr>
        <p:spPr>
          <a:xfrm>
            <a:off x="4788024" y="1483161"/>
            <a:ext cx="3657600" cy="1462881"/>
          </a:xfrm>
        </p:spPr>
        <p:txBody>
          <a:bodyPr anchor="b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s-CR" sz="2200" b="1" dirty="0">
                <a:latin typeface="+mn-lt"/>
              </a:rPr>
              <a:t>2. Medidas de variabilidad:  </a:t>
            </a:r>
            <a:r>
              <a:rPr lang="es-CR" sz="2200" dirty="0">
                <a:latin typeface="+mn-lt"/>
              </a:rPr>
              <a:t>las que miden la dispersión  de las observaciones alrededor de ese punto.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2"/>
          </p:nvPr>
        </p:nvSpPr>
        <p:spPr>
          <a:xfrm>
            <a:off x="911289" y="1484784"/>
            <a:ext cx="3657600" cy="1791072"/>
          </a:xfrm>
        </p:spPr>
        <p:txBody>
          <a:bodyPr anchor="t">
            <a:normAutofit fontScale="92500"/>
          </a:bodyPr>
          <a:lstStyle/>
          <a:p>
            <a:pPr marL="0" indent="0">
              <a:buNone/>
            </a:pPr>
            <a:r>
              <a:rPr lang="es-CR" dirty="0"/>
              <a:t>1. </a:t>
            </a:r>
            <a:r>
              <a:rPr lang="es-CR" b="1" dirty="0"/>
              <a:t>Medidas  de posición central: </a:t>
            </a:r>
            <a:r>
              <a:rPr lang="es-CR" dirty="0"/>
              <a:t>de diversa manera definen un punto central donde tienden a concentrarse las observaciones.</a:t>
            </a:r>
          </a:p>
        </p:txBody>
      </p:sp>
    </p:spTree>
    <p:extLst>
      <p:ext uri="{BB962C8B-B14F-4D97-AF65-F5344CB8AC3E}">
        <p14:creationId xmlns:p14="http://schemas.microsoft.com/office/powerpoint/2010/main" val="472923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000" y="836713"/>
            <a:ext cx="7543800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5509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B73EA-01B9-4466-B558-9FF0EEF42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0"/>
            <a:ext cx="7698432" cy="16002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s-CR" dirty="0"/>
              <a:t>Medidas de posición y tendencia central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EE95B-3C46-4798-BD15-477F5B01F5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368" r="3" b="8947"/>
          <a:stretch/>
        </p:blipFill>
        <p:spPr>
          <a:xfrm>
            <a:off x="762000" y="685800"/>
            <a:ext cx="7543800" cy="3886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9625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802" y="5517232"/>
            <a:ext cx="6781800" cy="1168152"/>
          </a:xfrm>
        </p:spPr>
        <p:txBody>
          <a:bodyPr>
            <a:noAutofit/>
          </a:bodyPr>
          <a:lstStyle/>
          <a:p>
            <a:r>
              <a:rPr lang="es-CR" sz="3200" b="1" dirty="0"/>
              <a:t>Propósito de las Medidas de tendencia central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67544" y="836712"/>
            <a:ext cx="3952858" cy="4680520"/>
          </a:xfrm>
        </p:spPr>
        <p:txBody>
          <a:bodyPr>
            <a:normAutofit fontScale="92500"/>
          </a:bodyPr>
          <a:lstStyle/>
          <a:p>
            <a:r>
              <a:rPr lang="es-CR" dirty="0"/>
              <a:t>Punto en el que se tienden a concentrar las observaciones. </a:t>
            </a:r>
          </a:p>
          <a:p>
            <a:r>
              <a:rPr lang="es-CR" dirty="0"/>
              <a:t>Se les llama de “tendencia central” pues resumen en un solo número “el centro de los datos”.</a:t>
            </a:r>
          </a:p>
          <a:p>
            <a:r>
              <a:rPr lang="es-CR" dirty="0"/>
              <a:t>Tratan de resumir en un solo número, la posición o localización de la distribución.</a:t>
            </a:r>
          </a:p>
          <a:p>
            <a:endParaRPr lang="es-CR" dirty="0"/>
          </a:p>
        </p:txBody>
      </p:sp>
      <p:sp>
        <p:nvSpPr>
          <p:cNvPr id="6" name="Marcador de contenido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609601"/>
            <a:ext cx="3672408" cy="3480387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9A7E443-2093-44C3-9795-9669A2775219}"/>
              </a:ext>
            </a:extLst>
          </p:cNvPr>
          <p:cNvCxnSpPr>
            <a:cxnSpLocks/>
          </p:cNvCxnSpPr>
          <p:nvPr/>
        </p:nvCxnSpPr>
        <p:spPr>
          <a:xfrm>
            <a:off x="5580112" y="993644"/>
            <a:ext cx="72008" cy="3096344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654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R" dirty="0"/>
              <a:t>Medidas de tendencia central y posición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62000" y="980728"/>
            <a:ext cx="7543800" cy="359127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CR" sz="4800" dirty="0"/>
              <a:t>Las tres más usada son:</a:t>
            </a:r>
          </a:p>
          <a:p>
            <a:pPr marL="0" indent="0">
              <a:buNone/>
            </a:pPr>
            <a:r>
              <a:rPr lang="es-CR" sz="4800" dirty="0"/>
              <a:t>1. La media aritmética</a:t>
            </a:r>
          </a:p>
          <a:p>
            <a:pPr marL="0" indent="0">
              <a:buNone/>
            </a:pPr>
            <a:r>
              <a:rPr lang="es-CR" sz="4800" dirty="0"/>
              <a:t>2. La mediana</a:t>
            </a:r>
          </a:p>
          <a:p>
            <a:pPr marL="0" indent="0">
              <a:buNone/>
            </a:pPr>
            <a:r>
              <a:rPr lang="es-CR" sz="4800" dirty="0"/>
              <a:t>3. La moda</a:t>
            </a:r>
          </a:p>
          <a:p>
            <a:pPr marL="0" indent="0">
              <a:buNone/>
            </a:pPr>
            <a:r>
              <a:rPr lang="es-CR" sz="4800" dirty="0"/>
              <a:t>Otras menos usadas:</a:t>
            </a:r>
          </a:p>
          <a:p>
            <a:pPr marL="0" indent="0">
              <a:buNone/>
            </a:pPr>
            <a:r>
              <a:rPr lang="es-CR" sz="4800" dirty="0"/>
              <a:t>Media geométrica</a:t>
            </a:r>
          </a:p>
          <a:p>
            <a:pPr marL="0" indent="0">
              <a:buNone/>
            </a:pPr>
            <a:r>
              <a:rPr lang="es-CR" sz="4800" dirty="0"/>
              <a:t>Media armónica</a:t>
            </a:r>
          </a:p>
          <a:p>
            <a:pPr marL="0" indent="0">
              <a:buNone/>
            </a:pPr>
            <a:r>
              <a:rPr lang="es-CR" sz="4800" dirty="0"/>
              <a:t>Otros cuartiles</a:t>
            </a:r>
          </a:p>
          <a:p>
            <a:pPr marL="0" indent="0">
              <a:buNone/>
            </a:pPr>
            <a:endParaRPr lang="es-CR" sz="4800" dirty="0"/>
          </a:p>
          <a:p>
            <a:pPr marL="0" indent="0">
              <a:buNone/>
            </a:pP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60099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4572000"/>
            <a:ext cx="8640960" cy="1600200"/>
          </a:xfrm>
        </p:spPr>
        <p:txBody>
          <a:bodyPr>
            <a:normAutofit fontScale="90000"/>
          </a:bodyPr>
          <a:lstStyle/>
          <a:p>
            <a:r>
              <a:rPr lang="es-CR" dirty="0"/>
              <a:t>La media aritmética o promedio simple</a:t>
            </a:r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72" y="685800"/>
            <a:ext cx="7037255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6317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08719"/>
            <a:ext cx="7986464" cy="57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5596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1" y="1080096"/>
            <a:ext cx="9087659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4035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706030"/>
            <a:ext cx="7543800" cy="4739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5907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08719"/>
            <a:ext cx="9001000" cy="56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209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R" dirty="0"/>
              <a:t>Media aritmética simple o promedio </a:t>
            </a:r>
            <a:r>
              <a:rPr lang="es-CR" dirty="0">
                <a:solidFill>
                  <a:srgbClr val="FF0000"/>
                </a:solidFill>
              </a:rPr>
              <a:t>poblacional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3 CuadroTexto"/>
              <p:cNvSpPr txBox="1"/>
              <p:nvPr/>
            </p:nvSpPr>
            <p:spPr>
              <a:xfrm>
                <a:off x="1835696" y="1196751"/>
                <a:ext cx="5976000" cy="1240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sz="4000" i="1" smtClean="0">
                          <a:latin typeface="Cambria Math"/>
                          <a:ea typeface="Cambria Math"/>
                        </a:rPr>
                        <m:t>𝜇</m:t>
                      </m:r>
                      <m:r>
                        <a:rPr lang="es-CR" sz="400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CR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R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R" sz="40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CR" sz="4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s-CR" sz="4000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s-CR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R" sz="40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CR" sz="4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s-CR" sz="4000" b="0" i="1" smtClean="0">
                              <a:latin typeface="Cambria Math"/>
                            </a:rPr>
                            <m:t>+…</m:t>
                          </m:r>
                          <m:sSub>
                            <m:sSubPr>
                              <m:ctrlPr>
                                <a:rPr lang="es-CR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R" sz="40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CR" sz="4000" b="0" i="1" smtClean="0">
                                  <a:latin typeface="Cambria Math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r>
                            <a:rPr lang="es-CR" sz="4000" b="0" i="1" smtClean="0">
                              <a:latin typeface="Cambria Math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s-CR" sz="4000" dirty="0"/>
              </a:p>
            </p:txBody>
          </p:sp>
        </mc:Choice>
        <mc:Fallback xmlns="">
          <p:sp>
            <p:nvSpPr>
              <p:cNvPr id="4" name="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1196751"/>
                <a:ext cx="5976000" cy="1240789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645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000" y="5301208"/>
            <a:ext cx="2873896" cy="870992"/>
          </a:xfrm>
        </p:spPr>
        <p:txBody>
          <a:bodyPr>
            <a:normAutofit fontScale="90000"/>
          </a:bodyPr>
          <a:lstStyle/>
          <a:p>
            <a:r>
              <a:rPr lang="es-CR" dirty="0"/>
              <a:t>Ejemplo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908720"/>
                <a:ext cx="7543800" cy="43924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CR" b="1" dirty="0"/>
                  <a:t>Numerador: </a:t>
                </a:r>
                <a:r>
                  <a:rPr lang="es-CR" dirty="0"/>
                  <a:t>Suma de todas las observaciones </a:t>
                </a:r>
              </a:p>
              <a:p>
                <a:pPr marL="0" indent="0">
                  <a:buNone/>
                </a:pPr>
                <a:r>
                  <a:rPr lang="es-CR" b="1" dirty="0"/>
                  <a:t>Denominador: </a:t>
                </a:r>
                <a:r>
                  <a:rPr lang="es-CR" dirty="0"/>
                  <a:t>Número de observaciones 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b="1" dirty="0"/>
                  <a:t>Ejemplo: </a:t>
                </a:r>
                <a:r>
                  <a:rPr lang="es-CR" dirty="0"/>
                  <a:t>Obtenga la media aritmética del número de casos de </a:t>
                </a:r>
                <a:r>
                  <a:rPr lang="es-CR" dirty="0" err="1"/>
                  <a:t>zika</a:t>
                </a:r>
                <a:r>
                  <a:rPr lang="es-CR" dirty="0"/>
                  <a:t> reportados en los 11 países. 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/>
                  <a:t>Numerador: 30+30+30+60+66+5+8+40+12+14+20= 315</a:t>
                </a:r>
              </a:p>
              <a:p>
                <a:pPr marL="0" indent="0">
                  <a:buNone/>
                </a:pPr>
                <a:r>
                  <a:rPr lang="es-CR" dirty="0"/>
                  <a:t>Denominador: 11</a:t>
                </a:r>
              </a:p>
              <a:p>
                <a:pPr marL="0" indent="0">
                  <a:buNone/>
                </a:pPr>
                <a:r>
                  <a:rPr lang="es-CR" dirty="0"/>
                  <a:t>Promedio: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R" i="1" dirty="0">
                            <a:latin typeface="Cambria Math" panose="02040503050406030204" pitchFamily="18" charset="0"/>
                          </a:rPr>
                          <m:t>315</m:t>
                        </m:r>
                      </m:num>
                      <m:den>
                        <m:r>
                          <a:rPr lang="es-CR" i="1" dirty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s-CR" i="1" dirty="0">
                        <a:latin typeface="Cambria Math" panose="02040503050406030204" pitchFamily="18" charset="0"/>
                      </a:rPr>
                      <m:t>= 28,63</m:t>
                    </m:r>
                  </m:oMath>
                </a14:m>
                <a:endParaRPr lang="es-CR" dirty="0"/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908720"/>
                <a:ext cx="7543800" cy="4392488"/>
              </a:xfrm>
              <a:blipFill>
                <a:blip r:embed="rId2"/>
                <a:stretch>
                  <a:fillRect l="-1212" t="-7628" r="-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183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Ejemplo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R" dirty="0"/>
              <a:t>En una institución publica ha ocurrido una huelga casi todos los años de los últimos 10 años. Un sociólogo encontró que en una muestra de 5 huelgas los días de duración de la huelga fueron: 8, 5. 10, 5 y 12.  ¿En promedio cuánto duraron las huelgas?</a:t>
            </a:r>
          </a:p>
        </p:txBody>
      </p:sp>
    </p:spTree>
    <p:extLst>
      <p:ext uri="{BB962C8B-B14F-4D97-AF65-F5344CB8AC3E}">
        <p14:creationId xmlns:p14="http://schemas.microsoft.com/office/powerpoint/2010/main" val="3193812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2000" y="5157192"/>
            <a:ext cx="6781800" cy="1015008"/>
          </a:xfrm>
        </p:spPr>
        <p:txBody>
          <a:bodyPr/>
          <a:lstStyle/>
          <a:p>
            <a:r>
              <a:rPr lang="es-CR" dirty="0"/>
              <a:t>Ejemplo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10248" y="404664"/>
            <a:ext cx="7543800" cy="2671192"/>
          </a:xfrm>
        </p:spPr>
        <p:txBody>
          <a:bodyPr/>
          <a:lstStyle/>
          <a:p>
            <a:pPr marL="0" indent="0">
              <a:buNone/>
            </a:pPr>
            <a:r>
              <a:rPr lang="es-CR" dirty="0"/>
              <a:t>Los porcentajes de abstencionismo de los 81 cantones de Costa Rica en las elecciones de 1998, listados en el Capítulo 3, constituye una población de N=81 observaciones. El promedio poblacional es: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3 CuadroTexto"/>
              <p:cNvSpPr txBox="1"/>
              <p:nvPr/>
            </p:nvSpPr>
            <p:spPr>
              <a:xfrm>
                <a:off x="755576" y="3068960"/>
                <a:ext cx="7344816" cy="18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sz="4000" i="1" smtClean="0">
                          <a:latin typeface="Cambria Math"/>
                          <a:ea typeface="Cambria Math"/>
                        </a:rPr>
                        <m:t>𝜇</m:t>
                      </m:r>
                      <m:r>
                        <a:rPr lang="es-CR" sz="400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CR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R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R" sz="40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CR" sz="4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s-CR" sz="4000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s-CR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R" sz="40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CR" sz="4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s-CR" sz="4000" b="0" i="1" smtClean="0">
                              <a:latin typeface="Cambria Math"/>
                            </a:rPr>
                            <m:t>+…</m:t>
                          </m:r>
                          <m:sSub>
                            <m:sSubPr>
                              <m:ctrlPr>
                                <a:rPr lang="es-CR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R" sz="40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CR" sz="4000" b="0" i="1" smtClean="0">
                                  <a:latin typeface="Cambria Math"/>
                                </a:rPr>
                                <m:t>81</m:t>
                              </m:r>
                            </m:sub>
                          </m:sSub>
                        </m:num>
                        <m:den>
                          <m:r>
                            <a:rPr lang="es-CR" sz="4000" b="0" i="1" smtClean="0">
                              <a:latin typeface="Cambria Math"/>
                            </a:rPr>
                            <m:t>81</m:t>
                          </m:r>
                        </m:den>
                      </m:f>
                      <m:r>
                        <a:rPr lang="es-CR" sz="4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CR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R" sz="4000" b="0" i="1" smtClean="0">
                              <a:latin typeface="Cambria Math"/>
                            </a:rPr>
                            <m:t>2305,9</m:t>
                          </m:r>
                        </m:num>
                        <m:den>
                          <m:r>
                            <a:rPr lang="es-CR" sz="4000" b="0" i="1" smtClean="0">
                              <a:latin typeface="Cambria Math"/>
                            </a:rPr>
                            <m:t>81</m:t>
                          </m:r>
                        </m:den>
                      </m:f>
                      <m:r>
                        <a:rPr lang="es-CR" sz="4000" b="0" i="1" smtClean="0">
                          <a:latin typeface="Cambria Math"/>
                        </a:rPr>
                        <m:t>=28,47</m:t>
                      </m:r>
                    </m:oMath>
                  </m:oMathPara>
                </a14:m>
                <a:endParaRPr lang="es-CR" sz="4000" dirty="0"/>
              </a:p>
            </p:txBody>
          </p:sp>
        </mc:Choice>
        <mc:Fallback xmlns="">
          <p:sp>
            <p:nvSpPr>
              <p:cNvPr id="4" name="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068960"/>
                <a:ext cx="7344816" cy="1876860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999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2000" y="4572000"/>
            <a:ext cx="7554416" cy="1600200"/>
          </a:xfrm>
        </p:spPr>
        <p:txBody>
          <a:bodyPr>
            <a:normAutofit/>
          </a:bodyPr>
          <a:lstStyle/>
          <a:p>
            <a:r>
              <a:rPr lang="es-CR" sz="3200" dirty="0"/>
              <a:t>La media aritmética ponderada o promedio ponderado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62000" y="685800"/>
            <a:ext cx="7543800" cy="4255368"/>
          </a:xfrm>
        </p:spPr>
        <p:txBody>
          <a:bodyPr/>
          <a:lstStyle/>
          <a:p>
            <a:r>
              <a:rPr lang="es-CR" dirty="0"/>
              <a:t>En el cálculo del promedio simple todas las observaciones tiene la misma importancia o ponderación. Hay situaciones donde se desea o se debe dar mayor importancia o ponderación diferente a cada observación.</a:t>
            </a:r>
          </a:p>
          <a:p>
            <a:r>
              <a:rPr lang="es-CR" dirty="0"/>
              <a:t>Si un conjunto tiene k observaciones: X</a:t>
            </a:r>
            <a:r>
              <a:rPr lang="es-CR" baseline="-25000" dirty="0"/>
              <a:t>1</a:t>
            </a:r>
            <a:r>
              <a:rPr lang="es-CR" dirty="0"/>
              <a:t>, X</a:t>
            </a:r>
            <a:r>
              <a:rPr lang="es-CR" baseline="-25000" dirty="0"/>
              <a:t>2</a:t>
            </a:r>
            <a:r>
              <a:rPr lang="es-CR" dirty="0"/>
              <a:t>, …, </a:t>
            </a:r>
            <a:r>
              <a:rPr lang="es-CR" dirty="0" err="1"/>
              <a:t>X</a:t>
            </a:r>
            <a:r>
              <a:rPr lang="es-CR" baseline="-25000" dirty="0" err="1"/>
              <a:t>k</a:t>
            </a:r>
            <a:r>
              <a:rPr lang="es-CR" dirty="0"/>
              <a:t> con ponderaciones respectiva p</a:t>
            </a:r>
            <a:r>
              <a:rPr lang="es-CR" baseline="-25000" dirty="0"/>
              <a:t>1</a:t>
            </a:r>
            <a:r>
              <a:rPr lang="es-CR" dirty="0"/>
              <a:t>, p</a:t>
            </a:r>
            <a:r>
              <a:rPr lang="es-CR" baseline="-25000" dirty="0"/>
              <a:t>2</a:t>
            </a:r>
            <a:r>
              <a:rPr lang="es-CR" dirty="0"/>
              <a:t>, …., </a:t>
            </a:r>
            <a:r>
              <a:rPr lang="es-CR" dirty="0" err="1"/>
              <a:t>p</a:t>
            </a:r>
            <a:r>
              <a:rPr lang="es-CR" baseline="-25000" dirty="0" err="1"/>
              <a:t>k</a:t>
            </a:r>
            <a:r>
              <a:rPr lang="es-CR" dirty="0"/>
              <a:t>, la media aritmética ponderada o promedio ponderado de las k observaciones se define como:</a:t>
            </a:r>
          </a:p>
          <a:p>
            <a:r>
              <a:rPr lang="es-CR" dirty="0"/>
              <a:t>Promedio ponderado =  </a:t>
            </a:r>
            <a:r>
              <a:rPr lang="es-CR" u="sng" dirty="0"/>
              <a:t>p</a:t>
            </a:r>
            <a:r>
              <a:rPr lang="es-CR" u="sng" baseline="-25000" dirty="0"/>
              <a:t>1</a:t>
            </a:r>
            <a:r>
              <a:rPr lang="es-CR" u="sng" dirty="0"/>
              <a:t>X</a:t>
            </a:r>
            <a:r>
              <a:rPr lang="es-CR" u="sng" baseline="-25000" dirty="0"/>
              <a:t>1</a:t>
            </a:r>
            <a:r>
              <a:rPr lang="es-CR" u="sng" dirty="0"/>
              <a:t>+p</a:t>
            </a:r>
            <a:r>
              <a:rPr lang="es-CR" u="sng" baseline="-25000" dirty="0"/>
              <a:t>2</a:t>
            </a:r>
            <a:r>
              <a:rPr lang="es-CR" u="sng" dirty="0"/>
              <a:t>X</a:t>
            </a:r>
            <a:r>
              <a:rPr lang="es-CR" u="sng" baseline="-25000" dirty="0"/>
              <a:t>2</a:t>
            </a:r>
            <a:r>
              <a:rPr lang="es-CR" u="sng" dirty="0"/>
              <a:t>+…+</a:t>
            </a:r>
            <a:r>
              <a:rPr lang="es-CR" u="sng" dirty="0" err="1"/>
              <a:t>p</a:t>
            </a:r>
            <a:r>
              <a:rPr lang="es-CR" u="sng" baseline="-25000" dirty="0" err="1"/>
              <a:t>k</a:t>
            </a:r>
            <a:r>
              <a:rPr lang="es-CR" u="sng" dirty="0" err="1"/>
              <a:t>X</a:t>
            </a:r>
            <a:r>
              <a:rPr lang="es-CR" u="sng" baseline="-25000" dirty="0" err="1"/>
              <a:t>k</a:t>
            </a:r>
            <a:endParaRPr lang="es-CR" baseline="-25000" dirty="0"/>
          </a:p>
          <a:p>
            <a:pPr marL="0" indent="0">
              <a:buNone/>
            </a:pPr>
            <a:r>
              <a:rPr lang="es-CR" dirty="0"/>
              <a:t>				p</a:t>
            </a:r>
            <a:r>
              <a:rPr lang="es-CR" baseline="-25000" dirty="0"/>
              <a:t>1</a:t>
            </a:r>
            <a:r>
              <a:rPr lang="es-CR" dirty="0"/>
              <a:t>+p</a:t>
            </a:r>
            <a:r>
              <a:rPr lang="es-CR" baseline="-25000" dirty="0"/>
              <a:t>2</a:t>
            </a:r>
            <a:r>
              <a:rPr lang="es-CR" dirty="0"/>
              <a:t>+….+</a:t>
            </a:r>
            <a:r>
              <a:rPr lang="es-CR" dirty="0" err="1"/>
              <a:t>p</a:t>
            </a:r>
            <a:r>
              <a:rPr lang="es-CR" baseline="-25000" dirty="0" err="1"/>
              <a:t>k</a:t>
            </a:r>
            <a:endParaRPr lang="es-CR" baseline="-25000" dirty="0"/>
          </a:p>
        </p:txBody>
      </p:sp>
    </p:spTree>
    <p:extLst>
      <p:ext uri="{BB962C8B-B14F-4D97-AF65-F5344CB8AC3E}">
        <p14:creationId xmlns:p14="http://schemas.microsoft.com/office/powerpoint/2010/main" val="3188753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Ejemplo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R" dirty="0"/>
              <a:t>En un curso el profesor define las ponderaciones de los exámenes, trabajos y tareas para obtener la nota final de la siguiente manera:</a:t>
            </a:r>
          </a:p>
          <a:p>
            <a:pPr marL="0" indent="0">
              <a:buNone/>
            </a:pPr>
            <a:r>
              <a:rPr lang="es-CR" dirty="0"/>
              <a:t>Parcial I			30%</a:t>
            </a:r>
          </a:p>
          <a:p>
            <a:pPr marL="0" indent="0">
              <a:buNone/>
            </a:pPr>
            <a:r>
              <a:rPr lang="es-CR" dirty="0"/>
              <a:t>Parcial II			30%</a:t>
            </a:r>
          </a:p>
          <a:p>
            <a:pPr marL="0" indent="0">
              <a:buNone/>
            </a:pPr>
            <a:r>
              <a:rPr lang="es-CR" dirty="0"/>
              <a:t>Tareas				15%</a:t>
            </a:r>
          </a:p>
          <a:p>
            <a:pPr marL="0" indent="0">
              <a:buNone/>
            </a:pPr>
            <a:r>
              <a:rPr lang="es-CR" dirty="0"/>
              <a:t>Trabajos de Investigación	25%</a:t>
            </a:r>
          </a:p>
          <a:p>
            <a:pPr marL="0" indent="0">
              <a:buNone/>
            </a:pPr>
            <a:r>
              <a:rPr lang="es-CR" dirty="0"/>
              <a:t>Total				100%</a:t>
            </a:r>
          </a:p>
        </p:txBody>
      </p:sp>
    </p:spTree>
    <p:extLst>
      <p:ext uri="{BB962C8B-B14F-4D97-AF65-F5344CB8AC3E}">
        <p14:creationId xmlns:p14="http://schemas.microsoft.com/office/powerpoint/2010/main" val="2064884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Ejemplo 1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R" dirty="0"/>
              <a:t>Si un estudiante obtuvo un 8,5 en el primer parcial, un 8 en el Parcial II, un 9,0 en las tareas y un 9,5 en el trabajo de investigación, su nota final del curso será:</a:t>
            </a:r>
          </a:p>
          <a:p>
            <a:pPr marL="0" indent="0">
              <a:buNone/>
            </a:pPr>
            <a:endParaRPr lang="es-CR" dirty="0"/>
          </a:p>
          <a:p>
            <a:pPr marL="0" indent="0">
              <a:buNone/>
            </a:pPr>
            <a:r>
              <a:rPr lang="es-CR" dirty="0"/>
              <a:t>Nota final = 30(8,5)+30(8.0)+15(9,0)+25(9,5)/100 </a:t>
            </a:r>
          </a:p>
        </p:txBody>
      </p:sp>
    </p:spTree>
    <p:extLst>
      <p:ext uri="{BB962C8B-B14F-4D97-AF65-F5344CB8AC3E}">
        <p14:creationId xmlns:p14="http://schemas.microsoft.com/office/powerpoint/2010/main" val="727287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Ejemplo 2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R" dirty="0"/>
              <a:t>Al finalizar el semestre un estudiante obtuvo las siguientes notas en 7 cursos:</a:t>
            </a:r>
          </a:p>
          <a:p>
            <a:pPr marL="0" indent="0">
              <a:buNone/>
            </a:pPr>
            <a:r>
              <a:rPr lang="es-CR" dirty="0"/>
              <a:t>Curso 1: 8,5	con 4 créditos</a:t>
            </a:r>
          </a:p>
          <a:p>
            <a:pPr marL="0" indent="0">
              <a:buNone/>
            </a:pPr>
            <a:r>
              <a:rPr lang="es-CR" dirty="0"/>
              <a:t>Curso 2: 7,5 	con 4 créditos </a:t>
            </a:r>
          </a:p>
          <a:p>
            <a:pPr marL="0" indent="0">
              <a:buNone/>
            </a:pPr>
            <a:r>
              <a:rPr lang="es-CR" dirty="0"/>
              <a:t>Curso 3: 9,5	con 2 créditos</a:t>
            </a:r>
          </a:p>
          <a:p>
            <a:pPr marL="0" indent="0">
              <a:buNone/>
            </a:pPr>
            <a:r>
              <a:rPr lang="es-CR" dirty="0"/>
              <a:t>Curso 4: 6,0 	con 4 créditos</a:t>
            </a:r>
          </a:p>
          <a:p>
            <a:pPr marL="0" indent="0">
              <a:buNone/>
            </a:pPr>
            <a:r>
              <a:rPr lang="es-CR" dirty="0"/>
              <a:t>Curso 5: 9,5	con 5 créditos</a:t>
            </a:r>
          </a:p>
          <a:p>
            <a:pPr marL="0" indent="0">
              <a:buNone/>
            </a:pPr>
            <a:r>
              <a:rPr lang="es-CR" dirty="0"/>
              <a:t>Curso 6: 9,0 	con 3 créditos </a:t>
            </a:r>
          </a:p>
          <a:p>
            <a:pPr marL="0" indent="0">
              <a:buNone/>
            </a:pPr>
            <a:r>
              <a:rPr lang="es-CR" dirty="0"/>
              <a:t>Curso 7: 7,0	con 4 créditos</a:t>
            </a:r>
          </a:p>
        </p:txBody>
      </p:sp>
    </p:spTree>
    <p:extLst>
      <p:ext uri="{BB962C8B-B14F-4D97-AF65-F5344CB8AC3E}">
        <p14:creationId xmlns:p14="http://schemas.microsoft.com/office/powerpoint/2010/main" val="2858300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R" dirty="0"/>
              <a:t>Ejemplo </a:t>
            </a:r>
            <a:br>
              <a:rPr lang="es-CR" dirty="0"/>
            </a:br>
            <a:endParaRPr lang="es-C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R" sz="3600" dirty="0"/>
              <a:t>Promedio ponderado= 4(8,5)+4(7,5)+….+4(7,0) = 209,5/26= 8,06</a:t>
            </a:r>
          </a:p>
        </p:txBody>
      </p:sp>
    </p:spTree>
    <p:extLst>
      <p:ext uri="{BB962C8B-B14F-4D97-AF65-F5344CB8AC3E}">
        <p14:creationId xmlns:p14="http://schemas.microsoft.com/office/powerpoint/2010/main" val="2698546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R" dirty="0"/>
              <a:t>Propiedades del promedio</a:t>
            </a:r>
          </a:p>
        </p:txBody>
      </p:sp>
      <p:sp>
        <p:nvSpPr>
          <p:cNvPr id="3" name="2 Marcador de contenido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 cstate="print"/>
            <a:stretch>
              <a:fillRect l="-1212"/>
            </a:stretch>
          </a:blipFill>
        </p:spPr>
        <p:txBody>
          <a:bodyPr/>
          <a:lstStyle/>
          <a:p>
            <a:pPr marL="0" indent="0">
              <a:buNone/>
            </a:pPr>
            <a:r>
              <a:rPr lang="es-CR" dirty="0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35276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Ejemplo</a:t>
            </a:r>
          </a:p>
        </p:txBody>
      </p:sp>
      <p:sp>
        <p:nvSpPr>
          <p:cNvPr id="3" name="2 Marcador de contenido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 cstate="print"/>
            <a:stretch>
              <a:fillRect l="-1050" r="-1292"/>
            </a:stretch>
          </a:blipFill>
        </p:spPr>
        <p:txBody>
          <a:bodyPr/>
          <a:lstStyle/>
          <a:p>
            <a:pPr>
              <a:buNone/>
            </a:pPr>
            <a:r>
              <a:rPr lang="es-CR" dirty="0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3728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CR" dirty="0"/>
                  <a:t>b) (X1-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R" i="1">
                            <a:latin typeface="Cambria Math"/>
                          </a:rPr>
                          <m:t> </m:t>
                        </m:r>
                        <m:r>
                          <a:rPr lang="es-CR" i="1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es-CR" dirty="0"/>
                  <a:t>) +(X2-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R" i="1">
                            <a:latin typeface="Cambria Math"/>
                          </a:rPr>
                          <m:t> </m:t>
                        </m:r>
                        <m:r>
                          <a:rPr lang="es-CR" i="1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es-CR" dirty="0"/>
                  <a:t>)+…+(</a:t>
                </a:r>
                <a:r>
                  <a:rPr lang="es-CR" dirty="0" err="1"/>
                  <a:t>Xn</a:t>
                </a:r>
                <a:r>
                  <a:rPr lang="es-CR" dirty="0"/>
                  <a:t> -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R" i="1">
                            <a:latin typeface="Cambria Math"/>
                          </a:rPr>
                          <m:t> </m:t>
                        </m:r>
                        <m:r>
                          <a:rPr lang="es-CR" i="1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es-CR" dirty="0"/>
                  <a:t>) = 0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:pPr marL="0" indent="0">
                  <a:buNone/>
                </a:pPr>
                <a:r>
                  <a:rPr lang="es-CR" dirty="0"/>
                  <a:t>Es decir si a cada observación se le resta el promedio de las n observaciones, la suma de la n diferencias debe ser igual a 0.</a:t>
                </a:r>
              </a:p>
              <a:p>
                <a:pPr marL="0" indent="0">
                  <a:buNone/>
                </a:pPr>
                <a:r>
                  <a:rPr lang="es-CR" dirty="0"/>
                  <a:t>Ejemplo días de huelga</a:t>
                </a:r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 cstate="print"/>
                <a:stretch>
                  <a:fillRect l="-1212" r="-1696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433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3" name="2 Marcador de contenido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 cstate="print"/>
            <a:stretch>
              <a:fillRect l="-1050"/>
            </a:stretch>
          </a:blipFill>
        </p:spPr>
        <p:txBody>
          <a:bodyPr/>
          <a:lstStyle/>
          <a:p>
            <a:pPr>
              <a:buNone/>
            </a:pPr>
            <a:r>
              <a:rPr lang="es-CR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152292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Ejemplo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R" dirty="0"/>
              <a:t>En una empresa el salario promedio es igual a 120 000 colones. Si se aprobó aumentar el salario en 5 000 colones, el nuevo salario promedio fue: 120 000 + 5 000 colones.</a:t>
            </a:r>
          </a:p>
        </p:txBody>
      </p:sp>
    </p:spTree>
    <p:extLst>
      <p:ext uri="{BB962C8B-B14F-4D97-AF65-F5344CB8AC3E}">
        <p14:creationId xmlns:p14="http://schemas.microsoft.com/office/powerpoint/2010/main" val="1647888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2000" y="4509120"/>
            <a:ext cx="6781800" cy="1600200"/>
          </a:xfrm>
        </p:spPr>
        <p:txBody>
          <a:bodyPr/>
          <a:lstStyle/>
          <a:p>
            <a:endParaRPr lang="es-C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CR" dirty="0"/>
                  <a:t>Si se multiplica cada Xi por una constante K, el promedio del nuevo conjunto de observaciones: </a:t>
                </a:r>
              </a:p>
              <a:p>
                <a:pPr marL="0" indent="0">
                  <a:buNone/>
                </a:pPr>
                <a:r>
                  <a:rPr lang="es-CR" dirty="0"/>
                  <a:t>	K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R" i="1">
                            <a:latin typeface="Cambria Math"/>
                          </a:rPr>
                          <m:t> </m:t>
                        </m:r>
                        <m:r>
                          <a:rPr lang="es-CR" i="1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endParaRPr lang="es-CR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 cstate="print"/>
                <a:stretch>
                  <a:fillRect l="-1050" r="-1616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393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Ejemplo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/>
              <a:t>Si en el ejemplo anterior, la empresa hubiera decidido aumentar el salario a cada empleado en 10 %.</a:t>
            </a:r>
          </a:p>
          <a:p>
            <a:r>
              <a:rPr lang="es-CR" dirty="0"/>
              <a:t>Nuevo salario promedio 1.10 (120 000) = 132 000</a:t>
            </a:r>
          </a:p>
        </p:txBody>
      </p:sp>
    </p:spTree>
    <p:extLst>
      <p:ext uri="{BB962C8B-B14F-4D97-AF65-F5344CB8AC3E}">
        <p14:creationId xmlns:p14="http://schemas.microsoft.com/office/powerpoint/2010/main" val="3290610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29D53-0698-422C-AA70-0479C02BA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196751"/>
            <a:ext cx="2654046" cy="776193"/>
          </a:xfrm>
        </p:spPr>
        <p:txBody>
          <a:bodyPr>
            <a:normAutofit/>
          </a:bodyPr>
          <a:lstStyle/>
          <a:p>
            <a:r>
              <a:rPr lang="es-CR" sz="3600" dirty="0"/>
              <a:t>La mediana</a:t>
            </a:r>
            <a:endParaRPr lang="en-US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65B021-556B-4530-8C79-6B371874D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433" y="2664729"/>
            <a:ext cx="4525874" cy="131243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R" sz="1500" dirty="0"/>
              <a:t>Valor central de una serie de datos ordenados (Mitad la precede y la otra mitad la supera).</a:t>
            </a:r>
          </a:p>
          <a:p>
            <a:pPr marL="342900" indent="-342900">
              <a:buFont typeface="+mj-lt"/>
              <a:buAutoNum type="arabicPeriod"/>
            </a:pPr>
            <a:endParaRPr lang="es-CR" sz="1500" dirty="0"/>
          </a:p>
          <a:p>
            <a:pPr marL="0" indent="0">
              <a:buNone/>
            </a:pPr>
            <a:r>
              <a:rPr lang="es-CR" sz="1500" dirty="0"/>
              <a:t>Conjunto impar de datos</a:t>
            </a:r>
          </a:p>
          <a:p>
            <a:pPr lvl="1">
              <a:lnSpc>
                <a:spcPct val="100000"/>
              </a:lnSpc>
            </a:pPr>
            <a:endParaRPr lang="es-CR" sz="1500" dirty="0"/>
          </a:p>
        </p:txBody>
      </p:sp>
      <p:pic>
        <p:nvPicPr>
          <p:cNvPr id="2052" name="Picture 4" descr="Media, moda, mediana, rango">
            <a:extLst>
              <a:ext uri="{FF2B5EF4-FFF2-40B4-BE49-F238E27FC236}">
                <a16:creationId xmlns:a16="http://schemas.microsoft.com/office/drawing/2014/main" id="{E3CDFDAC-8301-4504-BF3E-26915739F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05910" y="999416"/>
            <a:ext cx="3061274" cy="4859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La mediana en medidas de tendencia central – TEMAS DE ENFERMERÍA">
            <a:extLst>
              <a:ext uri="{FF2B5EF4-FFF2-40B4-BE49-F238E27FC236}">
                <a16:creationId xmlns:a16="http://schemas.microsoft.com/office/drawing/2014/main" id="{531E6F2F-3EB7-4B49-9B49-1B91AEC182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88"/>
          <a:stretch/>
        </p:blipFill>
        <p:spPr bwMode="auto">
          <a:xfrm>
            <a:off x="262585" y="3745308"/>
            <a:ext cx="4419112" cy="154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347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2000" y="4941168"/>
            <a:ext cx="6781800" cy="1231032"/>
          </a:xfrm>
        </p:spPr>
        <p:txBody>
          <a:bodyPr/>
          <a:lstStyle/>
          <a:p>
            <a:r>
              <a:rPr lang="es-MX" dirty="0"/>
              <a:t>La mediana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83568" y="620688"/>
            <a:ext cx="7543800" cy="475252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dirty="0"/>
              <a:t>Se tienen n datos de un conjunto de datos: </a:t>
            </a:r>
          </a:p>
          <a:p>
            <a:pPr>
              <a:buNone/>
            </a:pPr>
            <a:r>
              <a:rPr lang="es-MX" dirty="0"/>
              <a:t>X</a:t>
            </a:r>
            <a:r>
              <a:rPr lang="es-MX" sz="1800" dirty="0"/>
              <a:t>1</a:t>
            </a:r>
            <a:r>
              <a:rPr lang="es-MX" dirty="0"/>
              <a:t>, X</a:t>
            </a:r>
            <a:r>
              <a:rPr lang="es-MX" sz="2000" dirty="0"/>
              <a:t>2</a:t>
            </a:r>
            <a:r>
              <a:rPr lang="es-MX" dirty="0"/>
              <a:t>,X</a:t>
            </a:r>
            <a:r>
              <a:rPr lang="es-MX" sz="2000" dirty="0"/>
              <a:t>3</a:t>
            </a:r>
            <a:r>
              <a:rPr lang="es-MX" dirty="0"/>
              <a:t>, … </a:t>
            </a:r>
            <a:r>
              <a:rPr lang="es-MX" dirty="0" err="1"/>
              <a:t>X</a:t>
            </a:r>
            <a:r>
              <a:rPr lang="es-MX" sz="2000" dirty="0" err="1"/>
              <a:t>n</a:t>
            </a:r>
            <a:r>
              <a:rPr lang="es-MX" sz="2000" dirty="0"/>
              <a:t>, </a:t>
            </a:r>
          </a:p>
          <a:p>
            <a:pPr>
              <a:buNone/>
            </a:pPr>
            <a:r>
              <a:rPr lang="es-MX" dirty="0"/>
              <a:t>Ordenados de menor a mayor donde Y</a:t>
            </a:r>
            <a:r>
              <a:rPr lang="es-MX" sz="2000" dirty="0"/>
              <a:t>1</a:t>
            </a:r>
            <a:r>
              <a:rPr lang="es-MX" dirty="0"/>
              <a:t> es menos que Y</a:t>
            </a:r>
            <a:r>
              <a:rPr lang="es-MX" sz="1800" dirty="0"/>
              <a:t>2</a:t>
            </a:r>
            <a:r>
              <a:rPr lang="es-MX" dirty="0"/>
              <a:t> y </a:t>
            </a:r>
          </a:p>
          <a:p>
            <a:pPr>
              <a:buNone/>
            </a:pPr>
            <a:r>
              <a:rPr lang="es-MX" dirty="0"/>
              <a:t>así sucesivamente.</a:t>
            </a:r>
          </a:p>
          <a:p>
            <a:pPr>
              <a:buNone/>
            </a:pPr>
            <a:r>
              <a:rPr lang="es-MX" dirty="0"/>
              <a:t> Definición de mediana </a:t>
            </a:r>
            <a:r>
              <a:rPr lang="es-MX" b="1" dirty="0"/>
              <a:t>n impar: </a:t>
            </a:r>
            <a:r>
              <a:rPr lang="es-MX" dirty="0"/>
              <a:t>es igual a la observación </a:t>
            </a:r>
          </a:p>
          <a:p>
            <a:pPr>
              <a:buNone/>
            </a:pPr>
            <a:r>
              <a:rPr lang="es-MX" dirty="0"/>
              <a:t>ordenada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endParaRPr lang="es-MX" dirty="0"/>
          </a:p>
          <a:p>
            <a:pPr>
              <a:buNone/>
            </a:pPr>
            <a:r>
              <a:rPr lang="es-MX" dirty="0"/>
              <a:t>Es el valor central del conjunto de observaciones cuando </a:t>
            </a:r>
          </a:p>
          <a:p>
            <a:pPr>
              <a:buNone/>
            </a:pPr>
            <a:r>
              <a:rPr lang="es-MX" dirty="0"/>
              <a:t>han sido ordenados según su magnitud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endParaRPr lang="es-MX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32040" y="2564904"/>
            <a:ext cx="1080120" cy="1044116"/>
          </a:xfrm>
          <a:prstGeom prst="rect">
            <a:avLst/>
          </a:prstGeom>
          <a:noFill/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E3E1302-678C-4BB6-AD92-E9A0DDA45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904" y="5080237"/>
            <a:ext cx="3664014" cy="66452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 Mediana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MX" dirty="0"/>
              <a:t> Definición de mediana </a:t>
            </a:r>
            <a:r>
              <a:rPr lang="es-MX" b="1" dirty="0"/>
              <a:t>n par: </a:t>
            </a:r>
            <a:r>
              <a:rPr lang="es-MX" dirty="0"/>
              <a:t>es igual a la observación </a:t>
            </a:r>
          </a:p>
          <a:p>
            <a:pPr>
              <a:buNone/>
            </a:pPr>
            <a:r>
              <a:rPr lang="es-MX" dirty="0"/>
              <a:t>Ordenada</a:t>
            </a:r>
          </a:p>
          <a:p>
            <a:pPr>
              <a:buNone/>
            </a:pPr>
            <a:endParaRPr lang="es-MX" dirty="0"/>
          </a:p>
          <a:p>
            <a:pPr>
              <a:buNone/>
            </a:pPr>
            <a:endParaRPr lang="es-MX" dirty="0"/>
          </a:p>
          <a:p>
            <a:pPr>
              <a:buNone/>
            </a:pPr>
            <a:endParaRPr lang="es-MX" dirty="0"/>
          </a:p>
        </p:txBody>
      </p:sp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pic>
        <p:nvPicPr>
          <p:cNvPr id="39937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43808" y="2780928"/>
            <a:ext cx="1741908" cy="1125540"/>
          </a:xfrm>
          <a:prstGeom prst="rect">
            <a:avLst/>
          </a:prstGeom>
          <a:noFill/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A4E698A-B621-42DA-AE10-FCA27D2C6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4010031"/>
            <a:ext cx="4267200" cy="8947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 Mediana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62000" y="685800"/>
            <a:ext cx="7543800" cy="2023120"/>
          </a:xfrm>
        </p:spPr>
        <p:txBody>
          <a:bodyPr/>
          <a:lstStyle/>
          <a:p>
            <a:r>
              <a:rPr lang="es-MX" dirty="0"/>
              <a:t>La definición implica que la mediana es un valor tal que no más del 50% de las observaciones son menores que él, y no más del 50% son mayores que él.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 Mediana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No se ve afectada por valores atípicos o extremos, como si se ve afectado el promedio.</a:t>
            </a:r>
          </a:p>
          <a:p>
            <a:r>
              <a:rPr lang="es-MX" dirty="0"/>
              <a:t>En distribuciones muy asimétricas la mediana es una medida de posición central más apropiada que la media. Por ejemplo: Ingresos.</a:t>
            </a:r>
          </a:p>
          <a:p>
            <a:r>
              <a:rPr lang="es-MX" dirty="0"/>
              <a:t>Es apropiada para medir niveles de medición ordinal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Moda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24661" y="588049"/>
            <a:ext cx="7543800" cy="2007096"/>
          </a:xfrm>
        </p:spPr>
        <p:txBody>
          <a:bodyPr/>
          <a:lstStyle/>
          <a:p>
            <a:pPr marL="0" indent="0" algn="just">
              <a:buNone/>
            </a:pPr>
            <a:r>
              <a:rPr lang="es-MX" dirty="0"/>
              <a:t>La moda de un conjunto de observaciones, es la observación que más se repite. Es apropiada para describir datos de nivel ordinal. Algunas puede tener dos o más modas (multimodal)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61" y="2636912"/>
            <a:ext cx="7242676" cy="254834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2000" y="4572000"/>
            <a:ext cx="8202488" cy="1600200"/>
          </a:xfrm>
        </p:spPr>
        <p:txBody>
          <a:bodyPr>
            <a:normAutofit fontScale="90000"/>
          </a:bodyPr>
          <a:lstStyle/>
          <a:p>
            <a:r>
              <a:rPr lang="es-MX" dirty="0"/>
              <a:t>¿Cuál es la moda de los siguientes datos?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MX" dirty="0"/>
              <a:t>24, 26, 30, 24, 26, 25,25, 22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2000" y="4869160"/>
            <a:ext cx="7986464" cy="1303040"/>
          </a:xfrm>
        </p:spPr>
        <p:txBody>
          <a:bodyPr>
            <a:normAutofit/>
          </a:bodyPr>
          <a:lstStyle/>
          <a:p>
            <a:r>
              <a:rPr lang="es-MX" sz="2800" dirty="0" err="1"/>
              <a:t>Cuantiles</a:t>
            </a:r>
            <a:r>
              <a:rPr lang="es-MX" sz="2800" dirty="0"/>
              <a:t>: otras medidas descriptivas en distribuciones de frecuencia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Dividen al conjunto de  observaciones, ordenadas de menor a mayor, en un número determinado de sub-intervalos cada uno de los cuales contiene el mismo número o porcentaje de observaciones.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</a:t>
            </a:r>
            <a:r>
              <a:rPr lang="es-MX" dirty="0" err="1"/>
              <a:t>cuartiles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62000" y="685800"/>
            <a:ext cx="7543800" cy="4255368"/>
          </a:xfrm>
        </p:spPr>
        <p:txBody>
          <a:bodyPr/>
          <a:lstStyle/>
          <a:p>
            <a:r>
              <a:rPr lang="es-MX" dirty="0"/>
              <a:t>Son tres valores Q</a:t>
            </a:r>
            <a:r>
              <a:rPr lang="es-MX" sz="2000" dirty="0"/>
              <a:t>1</a:t>
            </a:r>
            <a:r>
              <a:rPr lang="es-MX" dirty="0"/>
              <a:t>, Q</a:t>
            </a:r>
            <a:r>
              <a:rPr lang="es-MX" sz="2000" dirty="0"/>
              <a:t>2</a:t>
            </a:r>
            <a:r>
              <a:rPr lang="es-MX" dirty="0"/>
              <a:t> y Q</a:t>
            </a:r>
            <a:r>
              <a:rPr lang="es-MX" sz="2000" dirty="0"/>
              <a:t>3, </a:t>
            </a:r>
            <a:r>
              <a:rPr lang="es-MX" dirty="0"/>
              <a:t>con Q</a:t>
            </a:r>
            <a:r>
              <a:rPr lang="es-MX" sz="2000" dirty="0"/>
              <a:t>1</a:t>
            </a:r>
            <a:r>
              <a:rPr lang="es-MX" dirty="0"/>
              <a:t>&lt; Q</a:t>
            </a:r>
            <a:r>
              <a:rPr lang="es-MX" sz="2000" dirty="0"/>
              <a:t>2</a:t>
            </a:r>
            <a:r>
              <a:rPr lang="es-MX" dirty="0"/>
              <a:t> &lt; Q</a:t>
            </a:r>
            <a:r>
              <a:rPr lang="es-MX" sz="2000" dirty="0"/>
              <a:t>3 </a:t>
            </a:r>
            <a:r>
              <a:rPr lang="es-MX" dirty="0"/>
              <a:t>que dividen al conjunto de observaciones, ordenadas de mayo a menor, en cuatro sub-intervalos que contiene cada uno el 25% de las observaciones.</a:t>
            </a:r>
          </a:p>
          <a:p>
            <a:pPr>
              <a:buNone/>
            </a:pPr>
            <a:r>
              <a:rPr lang="es-MX" b="1" dirty="0"/>
              <a:t>Q</a:t>
            </a:r>
            <a:r>
              <a:rPr lang="es-MX" sz="2000" b="1" dirty="0"/>
              <a:t>1</a:t>
            </a:r>
            <a:r>
              <a:rPr lang="es-MX" dirty="0"/>
              <a:t>= no más del 25% de las observaciones son menores que él y 75% mayores</a:t>
            </a:r>
          </a:p>
          <a:p>
            <a:pPr>
              <a:buNone/>
            </a:pPr>
            <a:r>
              <a:rPr lang="es-MX" b="1" dirty="0"/>
              <a:t>Q</a:t>
            </a:r>
            <a:r>
              <a:rPr lang="es-MX" sz="2000" b="1" dirty="0"/>
              <a:t>2</a:t>
            </a:r>
            <a:r>
              <a:rPr lang="es-MX" dirty="0"/>
              <a:t> = a la mediana</a:t>
            </a:r>
          </a:p>
          <a:p>
            <a:pPr>
              <a:buNone/>
            </a:pPr>
            <a:r>
              <a:rPr lang="es-MX" b="1" dirty="0"/>
              <a:t>Q</a:t>
            </a:r>
            <a:r>
              <a:rPr lang="es-MX" sz="2000" b="1" dirty="0"/>
              <a:t>3</a:t>
            </a:r>
            <a:r>
              <a:rPr lang="es-MX" dirty="0"/>
              <a:t>= no más del 75% de las observaciones son menores que él y 25% mayores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124744"/>
            <a:ext cx="7912969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</a:t>
            </a:r>
            <a:r>
              <a:rPr lang="es-MX" dirty="0" err="1"/>
              <a:t>deciles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Son 9 valores, que dividen al conjunto de observaciones, ordenadas de menor a mayor, en 10 </a:t>
            </a:r>
            <a:r>
              <a:rPr lang="es-MX" dirty="0" err="1"/>
              <a:t>subintervalos</a:t>
            </a:r>
            <a:r>
              <a:rPr lang="es-MX" dirty="0"/>
              <a:t> cada uno contiene el 10% de las observaciones.</a:t>
            </a:r>
          </a:p>
          <a:p>
            <a:r>
              <a:rPr lang="es-MX" dirty="0" err="1"/>
              <a:t>Dk</a:t>
            </a:r>
            <a:r>
              <a:rPr lang="es-MX" dirty="0"/>
              <a:t>, para i = 1,2,…,9, es un valor tal que no más del 10K% de las observaciones son menores que él, mientras que no más del (100-10k)% son mayores que él.</a:t>
            </a:r>
          </a:p>
          <a:p>
            <a:r>
              <a:rPr lang="es-MX" dirty="0"/>
              <a:t>D</a:t>
            </a:r>
            <a:r>
              <a:rPr lang="es-MX" sz="2000" dirty="0"/>
              <a:t>5</a:t>
            </a:r>
            <a:r>
              <a:rPr lang="es-MX" dirty="0"/>
              <a:t> es igual a la mediana.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2124" y="1124744"/>
            <a:ext cx="8229611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percentiles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Son 99 valores que dividen al conjunto de observaciones ordenadas de la menor a la mayor en 100 sub-intervalos cada uno contiene un 1% de ellas.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2000" y="5229200"/>
            <a:ext cx="7986464" cy="943000"/>
          </a:xfrm>
        </p:spPr>
        <p:txBody>
          <a:bodyPr>
            <a:normAutofit fontScale="90000"/>
          </a:bodyPr>
          <a:lstStyle/>
          <a:p>
            <a:r>
              <a:rPr lang="es-MX" dirty="0"/>
              <a:t>Para calcular los percentiles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</a:t>
            </a:r>
            <a:r>
              <a:rPr lang="es-MX" sz="2000" dirty="0"/>
              <a:t>m</a:t>
            </a:r>
            <a:r>
              <a:rPr lang="es-MX" dirty="0"/>
              <a:t> (1&lt;m&lt;99) es un conjunto de observaciones X</a:t>
            </a:r>
            <a:r>
              <a:rPr lang="es-MX" sz="2000" dirty="0"/>
              <a:t>1</a:t>
            </a:r>
            <a:r>
              <a:rPr lang="es-MX" dirty="0"/>
              <a:t>, X</a:t>
            </a:r>
            <a:r>
              <a:rPr lang="es-MX" sz="2000" dirty="0"/>
              <a:t>2</a:t>
            </a:r>
            <a:r>
              <a:rPr lang="es-MX" dirty="0"/>
              <a:t>,…</a:t>
            </a:r>
            <a:r>
              <a:rPr lang="es-MX" dirty="0" err="1"/>
              <a:t>X</a:t>
            </a:r>
            <a:r>
              <a:rPr lang="es-MX" sz="2000" dirty="0" err="1"/>
              <a:t>n</a:t>
            </a:r>
            <a:r>
              <a:rPr lang="es-MX" sz="2000" dirty="0"/>
              <a:t>, </a:t>
            </a:r>
            <a:r>
              <a:rPr lang="es-MX" dirty="0"/>
              <a:t>se deben realizar los siguientes pasos:</a:t>
            </a:r>
          </a:p>
          <a:p>
            <a:pPr marL="457200" indent="-457200">
              <a:buAutoNum type="alphaLcPeriod"/>
            </a:pPr>
            <a:r>
              <a:rPr lang="es-MX" dirty="0"/>
              <a:t>Ordenar las observaciones X</a:t>
            </a:r>
            <a:r>
              <a:rPr lang="es-MX" sz="2000" dirty="0"/>
              <a:t>i</a:t>
            </a:r>
            <a:r>
              <a:rPr lang="es-MX" dirty="0"/>
              <a:t> de la menor a la mayor. Sea </a:t>
            </a:r>
          </a:p>
          <a:p>
            <a:pPr marL="457200" indent="-457200">
              <a:buNone/>
            </a:pPr>
            <a:r>
              <a:rPr lang="es-MX" dirty="0"/>
              <a:t>Y</a:t>
            </a:r>
            <a:r>
              <a:rPr lang="es-MX" sz="1800" dirty="0"/>
              <a:t>1</a:t>
            </a:r>
            <a:r>
              <a:rPr lang="es-MX" dirty="0"/>
              <a:t> = la menor observación</a:t>
            </a:r>
          </a:p>
          <a:p>
            <a:pPr marL="457200" indent="-457200">
              <a:buNone/>
            </a:pPr>
            <a:r>
              <a:rPr lang="es-MX" dirty="0"/>
              <a:t>Y</a:t>
            </a:r>
            <a:r>
              <a:rPr lang="es-MX" sz="1800" dirty="0"/>
              <a:t>2</a:t>
            </a:r>
            <a:r>
              <a:rPr lang="es-MX" sz="2000" dirty="0"/>
              <a:t>= </a:t>
            </a:r>
            <a:r>
              <a:rPr lang="es-MX" dirty="0"/>
              <a:t>la siguiente</a:t>
            </a:r>
          </a:p>
          <a:p>
            <a:pPr marL="457200" indent="-457200">
              <a:buNone/>
            </a:pPr>
            <a:r>
              <a:rPr lang="es-MX" dirty="0" err="1"/>
              <a:t>Y</a:t>
            </a:r>
            <a:r>
              <a:rPr lang="es-MX" sz="2000" dirty="0" err="1"/>
              <a:t>n</a:t>
            </a:r>
            <a:r>
              <a:rPr lang="es-MX" dirty="0"/>
              <a:t>= la mayor de las observaciones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55576" y="692696"/>
            <a:ext cx="7550224" cy="4392488"/>
          </a:xfrm>
        </p:spPr>
        <p:txBody>
          <a:bodyPr/>
          <a:lstStyle/>
          <a:p>
            <a:pPr>
              <a:buNone/>
            </a:pPr>
            <a:r>
              <a:rPr lang="es-MX" dirty="0">
                <a:solidFill>
                  <a:srgbClr val="FF0000"/>
                </a:solidFill>
              </a:rPr>
              <a:t>b</a:t>
            </a:r>
            <a:r>
              <a:rPr lang="es-MX" dirty="0"/>
              <a:t>. Calcular la cantidad m(n+1) /100. Sea:</a:t>
            </a:r>
          </a:p>
          <a:p>
            <a:pPr>
              <a:buNone/>
            </a:pPr>
            <a:r>
              <a:rPr lang="es-MX" b="1" dirty="0"/>
              <a:t>j= parte entera</a:t>
            </a:r>
            <a:r>
              <a:rPr lang="es-MX" dirty="0"/>
              <a:t> de m(n+1)/100</a:t>
            </a:r>
          </a:p>
          <a:p>
            <a:pPr>
              <a:buNone/>
            </a:pPr>
            <a:r>
              <a:rPr lang="es-MX" dirty="0"/>
              <a:t>= la cantidad m(n+1)/100 </a:t>
            </a:r>
            <a:r>
              <a:rPr lang="es-MX" b="1" dirty="0"/>
              <a:t>eliminándole la parte decimal</a:t>
            </a:r>
          </a:p>
          <a:p>
            <a:pPr>
              <a:buNone/>
            </a:pPr>
            <a:r>
              <a:rPr lang="es-MX" dirty="0"/>
              <a:t>El  percentil m se calcula entonces como:</a:t>
            </a:r>
          </a:p>
          <a:p>
            <a:pPr>
              <a:buNone/>
            </a:pPr>
            <a:endParaRPr lang="es-MX" dirty="0"/>
          </a:p>
        </p:txBody>
      </p:sp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762000" y="5085184"/>
            <a:ext cx="7914456" cy="1087016"/>
          </a:xfrm>
        </p:spPr>
        <p:txBody>
          <a:bodyPr>
            <a:normAutofit fontScale="90000"/>
          </a:bodyPr>
          <a:lstStyle/>
          <a:p>
            <a:r>
              <a:rPr lang="es-MX" dirty="0"/>
              <a:t>Para calcular los percentiles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35696" y="3933056"/>
            <a:ext cx="4818535" cy="7920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2000" y="5013176"/>
            <a:ext cx="7410400" cy="1159024"/>
          </a:xfrm>
        </p:spPr>
        <p:txBody>
          <a:bodyPr>
            <a:normAutofit/>
          </a:bodyPr>
          <a:lstStyle/>
          <a:p>
            <a:r>
              <a:rPr lang="es-MX" sz="3200" dirty="0"/>
              <a:t>Asimétricas y relaciones entre el promedio, la mediana y moda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476672"/>
            <a:ext cx="7543800" cy="1046071"/>
          </a:xfrm>
        </p:spPr>
        <p:txBody>
          <a:bodyPr>
            <a:normAutofit/>
          </a:bodyPr>
          <a:lstStyle/>
          <a:p>
            <a:r>
              <a:rPr lang="es-MX" sz="1600" b="1" dirty="0"/>
              <a:t>Asimetría positiva: </a:t>
            </a:r>
            <a:r>
              <a:rPr lang="es-MX" sz="1600" dirty="0"/>
              <a:t>Mo &lt; Me&lt; Promedio</a:t>
            </a:r>
          </a:p>
          <a:p>
            <a:r>
              <a:rPr lang="es-MX" sz="1600" b="1" dirty="0"/>
              <a:t>Asimetría negativa: </a:t>
            </a:r>
            <a:r>
              <a:rPr lang="es-MX" sz="1600" dirty="0"/>
              <a:t>Promedio&lt;Me&lt;Moda</a:t>
            </a:r>
          </a:p>
          <a:p>
            <a:r>
              <a:rPr lang="es-MX" sz="1600" b="1" dirty="0"/>
              <a:t>Simétrica:  </a:t>
            </a:r>
            <a:r>
              <a:rPr lang="es-MX" sz="1600" dirty="0"/>
              <a:t>Promedio=Mediana=Moda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C874622-B33B-4A74-BC91-FCB41191E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488471"/>
            <a:ext cx="3744416" cy="155152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3AA7F5D-5D3A-4363-BE88-DC869A875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840" y="3346426"/>
            <a:ext cx="3744416" cy="163818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75EA839-5835-4F37-8CB6-B355F48CD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3408829"/>
            <a:ext cx="3744416" cy="158491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0A2B245-B675-43C9-8D10-786D1FC8B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158" y="548680"/>
            <a:ext cx="2540786" cy="219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300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B42D6-6D74-48F2-BEA0-043762EE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Curtosis</a:t>
            </a:r>
            <a:endParaRPr lang="es-CR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CF46795-8EAC-4984-802C-50D36A4024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010" y="1533817"/>
            <a:ext cx="7886700" cy="298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805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4A0995-5116-428D-A3ED-0254DD20D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Media Geométrica</a:t>
            </a:r>
            <a:endParaRPr lang="es-CR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42BA9145-C92C-4C4F-B860-C63E15B81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2492896"/>
            <a:ext cx="4094371" cy="83517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9CB23BC-58F1-47A6-BDDD-9556C32187D4}"/>
              </a:ext>
            </a:extLst>
          </p:cNvPr>
          <p:cNvSpPr/>
          <p:nvPr/>
        </p:nvSpPr>
        <p:spPr>
          <a:xfrm>
            <a:off x="474484" y="754649"/>
            <a:ext cx="79208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R" dirty="0"/>
              <a:t>La media geométrica se utiliza para determinar el cambio promedio de porcentajes, razones, índices o tasas de crecimiento. </a:t>
            </a:r>
          </a:p>
          <a:p>
            <a:r>
              <a:rPr lang="es-CR" dirty="0"/>
              <a:t>La media geométrica siempre será menor o igual que la media aritmética. </a:t>
            </a:r>
          </a:p>
          <a:p>
            <a:r>
              <a:rPr lang="es-CR" dirty="0"/>
              <a:t>La media geométrica de un conjunto de n números positivos se define como la raíz enésima de un producto de n variables, matemáticamente sería.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4C38A59-96B7-4EE7-A341-FDCCCDAD9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3356992"/>
            <a:ext cx="3923403" cy="158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099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296C5-4A4A-40CA-A48C-38530FD4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Media Armónica</a:t>
            </a:r>
            <a:endParaRPr lang="es-CR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1AAA73D-17F5-4B05-BC88-225CD712A2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6037" y="5214400"/>
            <a:ext cx="2635036" cy="80084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D921D35-BA8D-4830-939A-E767DDD42A4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73778" y="898941"/>
            <a:ext cx="5026414" cy="3855752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0CC2572-78FC-7D20-AD40-4B244CAA1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80" y="4230745"/>
            <a:ext cx="7430537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64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F9ED5D-99CC-45C9-9E7B-81B54883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Actividad 4</a:t>
            </a:r>
            <a:endParaRPr lang="es-C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E9E9EA-DB65-3A22-5AC8-3DD35180C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s-MX" dirty="0"/>
          </a:p>
          <a:p>
            <a:pPr marL="457200" indent="-457200" algn="just">
              <a:buAutoNum type="arabicPeriod"/>
            </a:pPr>
            <a:r>
              <a:rPr lang="es-MX" dirty="0"/>
              <a:t>Buscar en la web cuáles son la funciones que tiene R, para calcular cada uno de las medidas de posición, tendencia central y variabilidad.</a:t>
            </a:r>
          </a:p>
          <a:p>
            <a:pPr marL="457200" indent="-457200" algn="just">
              <a:buAutoNum type="arabicPeriod"/>
            </a:pPr>
            <a:r>
              <a:rPr lang="es-MX" dirty="0"/>
              <a:t>Recolectar los datos de las edades de los miembros de las familias suyos y de sus compañeros hasta contar con 20 datos y calcular las medidas con las funciones de R. Para el caso de la media geométrica y armónica busque datos en la web que le puedan funcionar. El conjunto de datos de tener en una columna el nombre del familiar y en otra columna la edad. </a:t>
            </a:r>
          </a:p>
          <a:p>
            <a:pPr marL="457200" indent="-457200" algn="just">
              <a:buAutoNum type="arabicPeriod"/>
            </a:pPr>
            <a:r>
              <a:rPr lang="es-MX" dirty="0"/>
              <a:t>Interpretar cada una de las medidas</a:t>
            </a:r>
          </a:p>
          <a:p>
            <a:pPr marL="457200" indent="-457200" algn="just">
              <a:buAutoNum type="arabicPeriod"/>
            </a:pPr>
            <a:r>
              <a:rPr lang="es-MX" dirty="0"/>
              <a:t>Presentar a los y las compañeras y subir a mediación virtual (Actividad 4) un R-</a:t>
            </a:r>
            <a:r>
              <a:rPr lang="es-MX" dirty="0" err="1"/>
              <a:t>Markdown</a:t>
            </a:r>
            <a:r>
              <a:rPr lang="es-MX" dirty="0"/>
              <a:t> con esta información y subirlo a mediación virtual.</a:t>
            </a:r>
          </a:p>
          <a:p>
            <a:pPr marL="457200" indent="-457200">
              <a:buAutoNum type="arabicPeriod"/>
            </a:pP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7778582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12752</TotalTime>
  <Words>1585</Words>
  <Application>Microsoft Office PowerPoint</Application>
  <PresentationFormat>Presentación en pantalla (4:3)</PresentationFormat>
  <Paragraphs>148</Paragraphs>
  <Slides>48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3" baseType="lpstr">
      <vt:lpstr>Arial</vt:lpstr>
      <vt:lpstr>Cambria Math</vt:lpstr>
      <vt:lpstr>Impact</vt:lpstr>
      <vt:lpstr>Times New Roman</vt:lpstr>
      <vt:lpstr>NewsPrint</vt:lpstr>
      <vt:lpstr>Medidas de Tendencia Central, Posición y Variabilidad</vt:lpstr>
      <vt:lpstr>Presentación de PowerPoint</vt:lpstr>
      <vt:lpstr>Medidas de posición , tendencia central y variabilidad</vt:lpstr>
      <vt:lpstr>Presentación de PowerPoint</vt:lpstr>
      <vt:lpstr>Medidas de posición y tendencia central</vt:lpstr>
      <vt:lpstr>Propósito de las Medidas de tendencia central</vt:lpstr>
      <vt:lpstr>Medidas de tendencia central y posición</vt:lpstr>
      <vt:lpstr>La media aritmética o promedio simple</vt:lpstr>
      <vt:lpstr>Presentación de PowerPoint</vt:lpstr>
      <vt:lpstr>Presentación de PowerPoint</vt:lpstr>
      <vt:lpstr>Presentación de PowerPoint</vt:lpstr>
      <vt:lpstr>Presentación de PowerPoint</vt:lpstr>
      <vt:lpstr>Media aritmética simple o promedio poblacional</vt:lpstr>
      <vt:lpstr>Ejemplo</vt:lpstr>
      <vt:lpstr>Ejemplo</vt:lpstr>
      <vt:lpstr>Ejemplo</vt:lpstr>
      <vt:lpstr>La media aritmética ponderada o promedio ponderado</vt:lpstr>
      <vt:lpstr>Ejemplo</vt:lpstr>
      <vt:lpstr>Ejemplo 1</vt:lpstr>
      <vt:lpstr>Ejemplo 2</vt:lpstr>
      <vt:lpstr>Ejemplo  </vt:lpstr>
      <vt:lpstr>Propiedades del promedio</vt:lpstr>
      <vt:lpstr>Ejemplo</vt:lpstr>
      <vt:lpstr>Presentación de PowerPoint</vt:lpstr>
      <vt:lpstr>Presentación de PowerPoint</vt:lpstr>
      <vt:lpstr>Ejemplo</vt:lpstr>
      <vt:lpstr>Presentación de PowerPoint</vt:lpstr>
      <vt:lpstr>Ejemplo</vt:lpstr>
      <vt:lpstr>La mediana</vt:lpstr>
      <vt:lpstr>La mediana</vt:lpstr>
      <vt:lpstr>La Mediana</vt:lpstr>
      <vt:lpstr>La Mediana</vt:lpstr>
      <vt:lpstr>La Mediana</vt:lpstr>
      <vt:lpstr>Moda</vt:lpstr>
      <vt:lpstr>¿Cuál es la moda de los siguientes datos?</vt:lpstr>
      <vt:lpstr>Cuantiles: otras medidas descriptivas en distribuciones de frecuencia</vt:lpstr>
      <vt:lpstr>Los cuartiles</vt:lpstr>
      <vt:lpstr>Presentación de PowerPoint</vt:lpstr>
      <vt:lpstr>Los deciles</vt:lpstr>
      <vt:lpstr>Presentación de PowerPoint</vt:lpstr>
      <vt:lpstr>Los percentiles</vt:lpstr>
      <vt:lpstr>Para calcular los percentiles</vt:lpstr>
      <vt:lpstr>Para calcular los percentiles</vt:lpstr>
      <vt:lpstr>Asimétricas y relaciones entre el promedio, la mediana y moda</vt:lpstr>
      <vt:lpstr>Curtosis</vt:lpstr>
      <vt:lpstr>Media Geométrica</vt:lpstr>
      <vt:lpstr>Media Armónica</vt:lpstr>
      <vt:lpstr>Actividad 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Cagenio</dc:creator>
  <cp:lastModifiedBy>Eugenia Gallardo Allen</cp:lastModifiedBy>
  <cp:revision>122</cp:revision>
  <dcterms:created xsi:type="dcterms:W3CDTF">2012-05-05T21:52:03Z</dcterms:created>
  <dcterms:modified xsi:type="dcterms:W3CDTF">2025-05-05T15:53:14Z</dcterms:modified>
</cp:coreProperties>
</file>